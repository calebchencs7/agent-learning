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74" r:id="rId8"/>
  </p:sldMasterIdLst>
  <p:notesMasterIdLst>
    <p:notesMasterId r:id="rId11"/>
  </p:notesMasterIdLst>
  <p:handoutMasterIdLst>
    <p:handoutMasterId r:id="rId59"/>
  </p:handoutMasterIdLst>
  <p:sldIdLst>
    <p:sldId id="462" r:id="rId9"/>
    <p:sldId id="639" r:id="rId10"/>
    <p:sldId id="640" r:id="rId12"/>
    <p:sldId id="641" r:id="rId13"/>
    <p:sldId id="642" r:id="rId14"/>
    <p:sldId id="643" r:id="rId15"/>
    <p:sldId id="644" r:id="rId16"/>
    <p:sldId id="714" r:id="rId17"/>
    <p:sldId id="715" r:id="rId18"/>
    <p:sldId id="716" r:id="rId19"/>
    <p:sldId id="647" r:id="rId20"/>
    <p:sldId id="703" r:id="rId21"/>
    <p:sldId id="700" r:id="rId22"/>
    <p:sldId id="701" r:id="rId23"/>
    <p:sldId id="718" r:id="rId24"/>
    <p:sldId id="719" r:id="rId25"/>
    <p:sldId id="720" r:id="rId26"/>
    <p:sldId id="721" r:id="rId27"/>
    <p:sldId id="722" r:id="rId28"/>
    <p:sldId id="723" r:id="rId29"/>
    <p:sldId id="724" r:id="rId30"/>
    <p:sldId id="725" r:id="rId31"/>
    <p:sldId id="702" r:id="rId32"/>
    <p:sldId id="704" r:id="rId33"/>
    <p:sldId id="705" r:id="rId34"/>
    <p:sldId id="727" r:id="rId35"/>
    <p:sldId id="728" r:id="rId36"/>
    <p:sldId id="729" r:id="rId37"/>
    <p:sldId id="730" r:id="rId38"/>
    <p:sldId id="731" r:id="rId39"/>
    <p:sldId id="706" r:id="rId40"/>
    <p:sldId id="707" r:id="rId41"/>
    <p:sldId id="708" r:id="rId42"/>
    <p:sldId id="732" r:id="rId43"/>
    <p:sldId id="733" r:id="rId44"/>
    <p:sldId id="734" r:id="rId45"/>
    <p:sldId id="735" r:id="rId46"/>
    <p:sldId id="736" r:id="rId47"/>
    <p:sldId id="709" r:id="rId48"/>
    <p:sldId id="710" r:id="rId49"/>
    <p:sldId id="711" r:id="rId50"/>
    <p:sldId id="737" r:id="rId51"/>
    <p:sldId id="738" r:id="rId52"/>
    <p:sldId id="739" r:id="rId53"/>
    <p:sldId id="740" r:id="rId54"/>
    <p:sldId id="741" r:id="rId55"/>
    <p:sldId id="712" r:id="rId56"/>
    <p:sldId id="713" r:id="rId57"/>
    <p:sldId id="264" r:id="rId5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0206"/>
    <a:srgbClr val="FFFFFF"/>
    <a:srgbClr val="FFFFE4"/>
    <a:srgbClr val="AD2B26"/>
    <a:srgbClr val="49504F"/>
    <a:srgbClr val="B70006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38" autoAdjust="0"/>
    <p:restoredTop sz="95855" autoAdjust="0"/>
  </p:normalViewPr>
  <p:slideViewPr>
    <p:cSldViewPr snapToGrid="0">
      <p:cViewPr varScale="1">
        <p:scale>
          <a:sx n="125" d="100"/>
          <a:sy n="125" d="100"/>
        </p:scale>
        <p:origin x="184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Master" Target="slideMasters/slideMaster5.xml"/><Relationship Id="rId59" Type="http://schemas.openxmlformats.org/officeDocument/2006/relationships/handoutMaster" Target="handoutMasters/handoutMaster1.xml"/><Relationship Id="rId58" Type="http://schemas.openxmlformats.org/officeDocument/2006/relationships/slide" Target="slides/slide49.xml"/><Relationship Id="rId57" Type="http://schemas.openxmlformats.org/officeDocument/2006/relationships/slide" Target="slides/slide48.xml"/><Relationship Id="rId56" Type="http://schemas.openxmlformats.org/officeDocument/2006/relationships/slide" Target="slides/slide47.xml"/><Relationship Id="rId55" Type="http://schemas.openxmlformats.org/officeDocument/2006/relationships/slide" Target="slides/slide46.xml"/><Relationship Id="rId54" Type="http://schemas.openxmlformats.org/officeDocument/2006/relationships/slide" Target="slides/slide45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0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CC63F50-FC71-46DD-9BDC-11F985EF41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7" Type="http://schemas.openxmlformats.org/officeDocument/2006/relationships/theme" Target="../theme/theme6.xml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781" y="2224847"/>
            <a:ext cx="11565835" cy="1158875"/>
          </a:xfrm>
        </p:spPr>
        <p:txBody>
          <a:bodyPr/>
          <a:lstStyle/>
          <a:p>
            <a:r>
              <a:rPr kumimoji="1" lang="en-US" altLang="zh-CN" sz="6600" dirty="0">
                <a:latin typeface="Alibaba PuHuiTi M"/>
              </a:rPr>
              <a:t>Python</a:t>
            </a:r>
            <a:r>
              <a:rPr kumimoji="1" lang="zh-CN" altLang="en-US" sz="6600" dirty="0">
                <a:latin typeface="Alibaba PuHuiTi M"/>
              </a:rPr>
              <a:t>正则表达式</a:t>
            </a:r>
            <a:endParaRPr kumimoji="1" lang="zh-CN" altLang="en-US" sz="6600" dirty="0">
              <a:latin typeface="Alibaba PuHuiTi M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、为什么要学习正则表达式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在实际开发过程中经常会有查找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符合某些规则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的字符串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     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比如：邮箱、图片地址、手机号码等。想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匹配或者查找符合某些规则的字符串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就可以使用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正则表达式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了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994" y="2906216"/>
            <a:ext cx="10494332" cy="23056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、什么是正则表达式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正则表达式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(regular expression)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描述了一种字符串匹配的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模式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      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	1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、比如：检索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一个串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是否含有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某种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子串（</a:t>
            </a:r>
            <a:r>
              <a:rPr lang="zh-CN" altLang="en-US" dirty="0">
                <a:solidFill>
                  <a:srgbClr val="C00000"/>
                </a:solidFill>
                <a:latin typeface="Helvetica Neue"/>
              </a:rPr>
              <a:t>检索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                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、比如：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匹配的子串做替换（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替换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）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	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、比如：从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一个串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中取出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符合某个条件的子串（提取）</a:t>
            </a:r>
            <a:endParaRPr lang="en-US" altLang="zh-CN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模式：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一种特定的字符串模式，这个模式是通过一些特殊的符号组成的。</a:t>
            </a:r>
            <a:endParaRPr lang="en-US" altLang="zh-CN" b="0" i="0" dirty="0">
              <a:solidFill>
                <a:schemeClr val="tx1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0" indent="0" algn="l">
              <a:buNone/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正则表达式并不是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Python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所特有的，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在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Helvetica Neue"/>
              </a:rPr>
              <a:t>Java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、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Helvetica Neue"/>
              </a:rPr>
              <a:t>PHP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、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Helvetica Neue"/>
              </a:rPr>
              <a:t>Go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以及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Helvetica Neue"/>
              </a:rPr>
              <a:t>JavaScript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Helvetica Neue"/>
              </a:rPr>
              <a:t>等语言中都是支持正则表达式的。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、正则表达式的功能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① 数据验证（表单验证、如手机、邮箱、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IP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地址）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② 数据检索（数据检索、数据抓取）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=&gt; 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爬虫功能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③ 数据隐藏（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135****6235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王先生）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④ 数据过滤（论坛敏感关键词过滤）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…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re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模块的介绍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、什么是</a:t>
            </a:r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re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模块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Python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中需要通过正则表达式对字符串进行匹配时，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Helvetica Neue"/>
              </a:rPr>
              <a:t>可使用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Helvetica Neue"/>
              </a:rPr>
              <a:t>re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Helvetica Neue"/>
              </a:rPr>
              <a:t>模块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re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模块使用三步走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#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第一步：导入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re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模块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import re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#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第二步：使用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match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方法进行匹配操作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result =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re.match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(pattern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正则表达式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 string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要匹配的字符串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 flags=0)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#</a:t>
            </a:r>
            <a:r>
              <a:rPr lang="en-GB" altLang="zh-CN" b="0" i="0" dirty="0">
                <a:solidFill>
                  <a:srgbClr val="4D4D4D"/>
                </a:solidFill>
                <a:effectLst/>
                <a:latin typeface="-apple-system"/>
              </a:rPr>
              <a:t>flags :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可选，表示匹配模式，比如忽略大小写，多行模式等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# 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第三步：如果数据匹配成功，使用</a:t>
            </a:r>
            <a:r>
              <a:rPr lang="en-US" altLang="zh-CN" b="0" i="0" dirty="0">
                <a:solidFill>
                  <a:srgbClr val="C00000"/>
                </a:solidFill>
                <a:effectLst/>
                <a:latin typeface="Helvetica Neue"/>
              </a:rPr>
              <a:t>group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Helvetica Neue"/>
              </a:rPr>
              <a:t>方法来提取数据</a:t>
            </a:r>
            <a:endParaRPr lang="zh-CN" altLang="en-US" b="0" i="0" dirty="0">
              <a:solidFill>
                <a:srgbClr val="C00000"/>
              </a:solidFill>
              <a:effectLst/>
              <a:latin typeface="Helvetica Neue"/>
            </a:endParaRPr>
          </a:p>
          <a:p>
            <a:pPr marL="0" indent="0" algn="l">
              <a:buNone/>
            </a:pP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result.group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()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、举个栗子 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899112" y="1542350"/>
            <a:ext cx="8394555" cy="440120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4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dm01_match</a:t>
            </a:r>
            <a:r>
              <a:rPr lang="zh-CN" altLang="en-US" sz="1400" dirty="0">
                <a:solidFill>
                  <a:srgbClr val="00627A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匹配字符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():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b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“”“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匹配字符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从大字符串中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按照规则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匹配符合条件的子串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”“”</a:t>
            </a:r>
            <a:b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1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导入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</a:t>
            </a: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</a:t>
            </a:r>
            <a:b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b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match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方法进行匹配操作</a:t>
            </a: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2-1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在大</a:t>
            </a:r>
            <a:r>
              <a:rPr lang="zh-CN" altLang="en-US" sz="1400" i="1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的字符串中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按照规则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:“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任意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个字符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”+“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it”+“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任意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个字符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”,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提取符合要求的子串</a:t>
            </a: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提取出来的子串一定要符合规则</a:t>
            </a: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result = </a:t>
            </a:r>
            <a:r>
              <a:rPr lang="en-GB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re.match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GB" altLang="zh-CN" sz="1400" dirty="0">
                <a:solidFill>
                  <a:srgbClr val="067D17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".it."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en-GB" altLang="zh-CN" sz="1400" dirty="0">
                <a:solidFill>
                  <a:srgbClr val="067D17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aitcast</a:t>
            </a:r>
            <a:r>
              <a:rPr lang="en-GB" altLang="zh-CN" sz="1400" dirty="0">
                <a:solidFill>
                  <a:srgbClr val="067D17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b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b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2-2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从左到右的匹配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不能跳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不能从中间匹配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),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一个字符一个字符的匹配</a:t>
            </a: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(".it.", "</a:t>
            </a:r>
            <a:r>
              <a:rPr lang="en-GB" altLang="zh-CN" sz="1400" i="1" dirty="0" err="1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iloveitcast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")</a:t>
            </a:r>
            <a:b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b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# 3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使用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group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方法来提取数据</a:t>
            </a: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 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result:</a:t>
            </a:r>
            <a:b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info = </a:t>
            </a:r>
            <a:r>
              <a:rPr lang="en-GB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result.group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b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GB" altLang="zh-CN" sz="1400" dirty="0">
                <a:solidFill>
                  <a:srgbClr val="00008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(info)</a:t>
            </a:r>
            <a:b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else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</a:t>
            </a:r>
            <a:b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  </a:t>
            </a:r>
            <a:r>
              <a:rPr lang="en-GB" altLang="zh-CN" sz="1400" dirty="0">
                <a:solidFill>
                  <a:srgbClr val="00008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GB" altLang="zh-CN" sz="1400" dirty="0">
                <a:solidFill>
                  <a:srgbClr val="067D17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没有找到符合规则的子串</a:t>
            </a:r>
            <a:r>
              <a:rPr lang="en-US" altLang="zh-CN" sz="1400" dirty="0">
                <a:solidFill>
                  <a:srgbClr val="067D17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899112" y="6163235"/>
            <a:ext cx="2668841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aitc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、举个栗子 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-2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899112" y="1542350"/>
            <a:ext cx="8394555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400" dirty="0">
                <a:solidFill>
                  <a:srgbClr val="0033B3"/>
                </a:solidFill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</a:rPr>
              <a:t>dm02_search</a:t>
            </a:r>
            <a:r>
              <a:rPr lang="zh-CN" altLang="en-US" sz="1400" dirty="0">
                <a:solidFill>
                  <a:srgbClr val="00627A"/>
                </a:solidFill>
              </a:rPr>
              <a:t>扫描字符串</a:t>
            </a:r>
            <a:r>
              <a:rPr lang="en-US" altLang="zh-CN" sz="1400" dirty="0"/>
              <a:t>():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''' # </a:t>
            </a:r>
            <a:r>
              <a:rPr lang="zh-CN" altLang="en-US" sz="1400" i="1" dirty="0">
                <a:solidFill>
                  <a:srgbClr val="8C8C8C"/>
                </a:solidFill>
              </a:rPr>
              <a:t>扫描字符返回第一个成功的匹配 </a:t>
            </a:r>
            <a:r>
              <a:rPr lang="en-GB" altLang="zh-CN" sz="1400" i="1" dirty="0">
                <a:solidFill>
                  <a:srgbClr val="8C8C8C"/>
                </a:solidFill>
              </a:rPr>
              <a:t>def search(pattern, string, flags=0) '''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import </a:t>
            </a:r>
            <a:r>
              <a:rPr lang="en-GB" altLang="zh-CN" sz="1400" dirty="0"/>
              <a:t>re</a:t>
            </a:r>
            <a:br>
              <a:rPr lang="en-GB" altLang="zh-CN" sz="1400" dirty="0"/>
            </a:br>
            <a:r>
              <a:rPr lang="en-GB" altLang="zh-CN" sz="1400" dirty="0"/>
              <a:t>    result = </a:t>
            </a:r>
            <a:r>
              <a:rPr lang="en-GB" altLang="zh-CN" sz="1400" dirty="0" err="1"/>
              <a:t>re.search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"\d.*"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"city:1beijing2.shanghai"</a:t>
            </a:r>
            <a:r>
              <a:rPr lang="en-GB" altLang="zh-CN" sz="1400" dirty="0"/>
              <a:t>)  </a:t>
            </a:r>
            <a:r>
              <a:rPr lang="en-GB" altLang="zh-CN" sz="1400" i="1" dirty="0">
                <a:solidFill>
                  <a:srgbClr val="8C8C8C"/>
                </a:solidFill>
              </a:rPr>
              <a:t># "\d.*": </a:t>
            </a:r>
            <a:r>
              <a:rPr lang="zh-CN" altLang="en-US" sz="1400" i="1" dirty="0">
                <a:solidFill>
                  <a:srgbClr val="8C8C8C"/>
                </a:solidFill>
              </a:rPr>
              <a:t>数字开头</a:t>
            </a:r>
            <a:r>
              <a:rPr lang="en-US" altLang="zh-CN" sz="1400" i="1" dirty="0">
                <a:solidFill>
                  <a:srgbClr val="8C8C8C"/>
                </a:solidFill>
              </a:rPr>
              <a:t>,</a:t>
            </a:r>
            <a:r>
              <a:rPr lang="zh-CN" altLang="en-US" sz="1400" i="1" dirty="0">
                <a:solidFill>
                  <a:srgbClr val="8C8C8C"/>
                </a:solidFill>
              </a:rPr>
              <a:t>任意多个字符字符结尾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re.search</a:t>
            </a:r>
            <a:r>
              <a:rPr lang="en-GB" altLang="zh-CN" sz="1400" i="1" dirty="0">
                <a:solidFill>
                  <a:srgbClr val="8C8C8C"/>
                </a:solidFill>
              </a:rPr>
              <a:t>(".\d.", "cityp.1.beijing2.shanghai")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'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pass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899112" y="4523622"/>
            <a:ext cx="3651867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1beijing2.shanghai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正则表达式概述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10880" y="750895"/>
            <a:ext cx="10749599" cy="517190"/>
          </a:xfrm>
        </p:spPr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、举个栗子 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Helvetica Neue"/>
              </a:rPr>
              <a:t>-3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245953" y="1200596"/>
            <a:ext cx="8394555" cy="461664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400" dirty="0">
                <a:solidFill>
                  <a:srgbClr val="0033B3"/>
                </a:solidFill>
              </a:rPr>
              <a:t>def </a:t>
            </a:r>
            <a:r>
              <a:rPr lang="en-GB" altLang="zh-CN" sz="1400" dirty="0">
                <a:solidFill>
                  <a:srgbClr val="00627A"/>
                </a:solidFill>
              </a:rPr>
              <a:t>dm03_replace</a:t>
            </a:r>
            <a:r>
              <a:rPr lang="zh-CN" altLang="en-US" sz="1400" dirty="0">
                <a:solidFill>
                  <a:srgbClr val="00627A"/>
                </a:solidFill>
              </a:rPr>
              <a:t>替换字符串</a:t>
            </a:r>
            <a:r>
              <a:rPr lang="en-US" altLang="zh-CN" sz="1400" dirty="0"/>
              <a:t>():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import </a:t>
            </a:r>
            <a:r>
              <a:rPr lang="en-GB" altLang="zh-CN" sz="1400" dirty="0"/>
              <a:t>re</a:t>
            </a:r>
            <a:br>
              <a:rPr lang="en-GB" altLang="zh-CN" sz="1400" dirty="0"/>
            </a:br>
            <a:r>
              <a:rPr lang="en-GB" altLang="zh-CN" sz="1400" dirty="0"/>
              <a:t>    sentence =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车主说</a:t>
            </a:r>
            <a:r>
              <a:rPr lang="en-US" altLang="zh-CN" sz="1400" dirty="0">
                <a:solidFill>
                  <a:srgbClr val="067D17"/>
                </a:solidFill>
              </a:rPr>
              <a:t>:</a:t>
            </a:r>
            <a:r>
              <a:rPr lang="zh-CN" altLang="en-US" sz="1400" dirty="0">
                <a:solidFill>
                  <a:srgbClr val="067D17"/>
                </a:solidFill>
              </a:rPr>
              <a:t>你的刹车片应该更换了啊</a:t>
            </a:r>
            <a:r>
              <a:rPr lang="en-US" altLang="zh-CN" sz="1400" dirty="0">
                <a:solidFill>
                  <a:srgbClr val="067D17"/>
                </a:solidFill>
              </a:rPr>
              <a:t>,</a:t>
            </a:r>
            <a:r>
              <a:rPr lang="zh-CN" altLang="en-US" sz="1400" dirty="0">
                <a:solidFill>
                  <a:srgbClr val="067D17"/>
                </a:solidFill>
              </a:rPr>
              <a:t>嘿嘿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br>
              <a:rPr lang="en-US" altLang="zh-CN" sz="1400" dirty="0">
                <a:solidFill>
                  <a:srgbClr val="067D17"/>
                </a:solidFill>
              </a:rPr>
            </a:br>
            <a:r>
              <a:rPr lang="en-US" altLang="zh-CN" sz="1400" dirty="0">
                <a:solidFill>
                  <a:srgbClr val="067D17"/>
                </a:solidFill>
              </a:rPr>
              <a:t>    </a:t>
            </a:r>
            <a:br>
              <a:rPr lang="en-US" altLang="zh-CN" sz="1400" dirty="0">
                <a:solidFill>
                  <a:srgbClr val="067D17"/>
                </a:solidFill>
              </a:rPr>
            </a:br>
            <a:r>
              <a:rPr lang="en-US" altLang="zh-CN" sz="1400" dirty="0">
                <a:solidFill>
                  <a:srgbClr val="067D17"/>
                </a:solidFill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正则表达式</a:t>
            </a:r>
            <a:r>
              <a:rPr lang="en-US" altLang="zh-CN" sz="1400" i="1" dirty="0">
                <a:solidFill>
                  <a:srgbClr val="8C8C8C"/>
                </a:solidFill>
              </a:rPr>
              <a:t>: </a:t>
            </a:r>
            <a:r>
              <a:rPr lang="zh-CN" altLang="en-US" sz="1400" i="1" dirty="0">
                <a:solidFill>
                  <a:srgbClr val="8C8C8C"/>
                </a:solidFill>
              </a:rPr>
              <a:t>去除多余字符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/>
              <a:t>p = </a:t>
            </a:r>
            <a:r>
              <a:rPr lang="en-GB" altLang="zh-CN" sz="1400" dirty="0">
                <a:solidFill>
                  <a:srgbClr val="067D17"/>
                </a:solidFill>
              </a:rPr>
              <a:t>r"</a:t>
            </a:r>
            <a:r>
              <a:rPr lang="zh-CN" altLang="en-US" sz="1400" dirty="0">
                <a:solidFill>
                  <a:srgbClr val="067D17"/>
                </a:solidFill>
              </a:rPr>
              <a:t>呢</a:t>
            </a:r>
            <a:r>
              <a:rPr lang="en-US" altLang="zh-CN" sz="1400" dirty="0">
                <a:solidFill>
                  <a:srgbClr val="067D17"/>
                </a:solidFill>
              </a:rPr>
              <a:t>|</a:t>
            </a:r>
            <a:r>
              <a:rPr lang="zh-CN" altLang="en-US" sz="1400" dirty="0">
                <a:solidFill>
                  <a:srgbClr val="067D17"/>
                </a:solidFill>
              </a:rPr>
              <a:t>吧</a:t>
            </a:r>
            <a:r>
              <a:rPr lang="en-US" altLang="zh-CN" sz="1400" dirty="0">
                <a:solidFill>
                  <a:srgbClr val="067D17"/>
                </a:solidFill>
              </a:rPr>
              <a:t>|</a:t>
            </a:r>
            <a:r>
              <a:rPr lang="zh-CN" altLang="en-US" sz="1400" dirty="0">
                <a:solidFill>
                  <a:srgbClr val="067D17"/>
                </a:solidFill>
              </a:rPr>
              <a:t>哈</a:t>
            </a:r>
            <a:r>
              <a:rPr lang="en-US" altLang="zh-CN" sz="1400" dirty="0">
                <a:solidFill>
                  <a:srgbClr val="067D17"/>
                </a:solidFill>
              </a:rPr>
              <a:t>|</a:t>
            </a:r>
            <a:r>
              <a:rPr lang="zh-CN" altLang="en-US" sz="1400" dirty="0">
                <a:solidFill>
                  <a:srgbClr val="067D17"/>
                </a:solidFill>
              </a:rPr>
              <a:t>啊</a:t>
            </a:r>
            <a:r>
              <a:rPr lang="en-US" altLang="zh-CN" sz="1400" dirty="0">
                <a:solidFill>
                  <a:srgbClr val="067D17"/>
                </a:solidFill>
              </a:rPr>
              <a:t>|</a:t>
            </a:r>
            <a:r>
              <a:rPr lang="zh-CN" altLang="en-US" sz="1400" dirty="0">
                <a:solidFill>
                  <a:srgbClr val="067D17"/>
                </a:solidFill>
              </a:rPr>
              <a:t>啦</a:t>
            </a:r>
            <a:r>
              <a:rPr lang="en-US" altLang="zh-CN" sz="1400" dirty="0">
                <a:solidFill>
                  <a:srgbClr val="067D17"/>
                </a:solidFill>
              </a:rPr>
              <a:t>|</a:t>
            </a:r>
            <a:r>
              <a:rPr lang="zh-CN" altLang="en-US" sz="1400" dirty="0">
                <a:solidFill>
                  <a:srgbClr val="067D17"/>
                </a:solidFill>
              </a:rPr>
              <a:t>嘿</a:t>
            </a:r>
            <a:r>
              <a:rPr lang="en-US" altLang="zh-CN" sz="1400" dirty="0">
                <a:solidFill>
                  <a:srgbClr val="067D17"/>
                </a:solidFill>
              </a:rPr>
              <a:t>|</a:t>
            </a:r>
            <a:r>
              <a:rPr lang="zh-CN" altLang="en-US" sz="1400" dirty="0">
                <a:solidFill>
                  <a:srgbClr val="067D17"/>
                </a:solidFill>
              </a:rPr>
              <a:t>嘿嘿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br>
              <a:rPr lang="en-US" altLang="zh-CN" sz="1400" dirty="0">
                <a:solidFill>
                  <a:srgbClr val="067D17"/>
                </a:solidFill>
              </a:rPr>
            </a:br>
            <a:r>
              <a:rPr lang="en-US" altLang="zh-CN" sz="1400" dirty="0">
                <a:solidFill>
                  <a:srgbClr val="067D17"/>
                </a:solidFill>
              </a:rPr>
              <a:t>    </a:t>
            </a:r>
            <a:r>
              <a:rPr lang="en-GB" altLang="zh-CN" sz="1400" dirty="0"/>
              <a:t>r = </a:t>
            </a:r>
            <a:r>
              <a:rPr lang="en-GB" altLang="zh-CN" sz="1400" dirty="0" err="1"/>
              <a:t>re.compile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660099"/>
                </a:solidFill>
              </a:rPr>
              <a:t>pattern</a:t>
            </a:r>
            <a:r>
              <a:rPr lang="en-GB" altLang="zh-CN" sz="1400" dirty="0"/>
              <a:t>=p)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mystr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r.sub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''</a:t>
            </a:r>
            <a:r>
              <a:rPr lang="en-GB" altLang="zh-CN" sz="1400" dirty="0"/>
              <a:t>, sentence)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</a:rPr>
              <a:t>mystr</a:t>
            </a:r>
            <a:r>
              <a:rPr lang="en-GB" altLang="zh-CN" sz="1400" dirty="0">
                <a:solidFill>
                  <a:srgbClr val="067D17"/>
                </a:solidFill>
              </a:rPr>
              <a:t>--&gt;'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mystr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正则表达</a:t>
            </a:r>
            <a:r>
              <a:rPr lang="en-US" altLang="zh-CN" sz="1400" i="1" dirty="0">
                <a:solidFill>
                  <a:srgbClr val="8C8C8C"/>
                </a:solidFill>
              </a:rPr>
              <a:t>: </a:t>
            </a:r>
            <a:r>
              <a:rPr lang="zh-CN" altLang="en-US" sz="1400" i="1" dirty="0">
                <a:solidFill>
                  <a:srgbClr val="8C8C8C"/>
                </a:solidFill>
              </a:rPr>
              <a:t>删除除了汉字数字字母和，！？。</a:t>
            </a:r>
            <a:r>
              <a:rPr lang="en-US" altLang="zh-CN" sz="1400" i="1" dirty="0">
                <a:solidFill>
                  <a:srgbClr val="8C8C8C"/>
                </a:solidFill>
              </a:rPr>
              <a:t>.- </a:t>
            </a:r>
            <a:r>
              <a:rPr lang="zh-CN" altLang="en-US" sz="1400" i="1" dirty="0">
                <a:solidFill>
                  <a:srgbClr val="8C8C8C"/>
                </a:solidFill>
              </a:rPr>
              <a:t>以外的字符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US" altLang="zh-CN" sz="1400" i="1" dirty="0">
                <a:solidFill>
                  <a:srgbClr val="8C8C8C"/>
                </a:solidFill>
              </a:rPr>
              <a:t># \</a:t>
            </a:r>
            <a:r>
              <a:rPr lang="en-GB" altLang="zh-CN" sz="1400" i="1" dirty="0">
                <a:solidFill>
                  <a:srgbClr val="8C8C8C"/>
                </a:solidFill>
              </a:rPr>
              <a:t>u4e00-\u9fa5 </a:t>
            </a:r>
            <a:r>
              <a:rPr lang="zh-CN" altLang="en-US" sz="1400" i="1" dirty="0">
                <a:solidFill>
                  <a:srgbClr val="8C8C8C"/>
                </a:solidFill>
              </a:rPr>
              <a:t>是用来判断是不是中文的一个条件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/>
              <a:t>p = </a:t>
            </a:r>
            <a:r>
              <a:rPr lang="en-GB" altLang="zh-CN" sz="1400" dirty="0">
                <a:solidFill>
                  <a:srgbClr val="067D17"/>
                </a:solidFill>
              </a:rPr>
              <a:t>"[^</a:t>
            </a:r>
            <a:r>
              <a:rPr lang="zh-CN" altLang="en-GB" sz="1400" dirty="0">
                <a:solidFill>
                  <a:srgbClr val="067D17"/>
                </a:solidFill>
              </a:rPr>
              <a:t>，！？。</a:t>
            </a:r>
            <a:r>
              <a:rPr lang="en-GB" altLang="zh-CN" sz="1400" dirty="0">
                <a:solidFill>
                  <a:srgbClr val="067D17"/>
                </a:solidFill>
              </a:rPr>
              <a:t>\.\-</a:t>
            </a:r>
            <a:r>
              <a:rPr lang="en-GB" altLang="zh-CN" sz="1400" dirty="0">
                <a:solidFill>
                  <a:srgbClr val="0037A6"/>
                </a:solidFill>
              </a:rPr>
              <a:t>\u4e00</a:t>
            </a:r>
            <a:r>
              <a:rPr lang="en-GB" altLang="zh-CN" sz="1400" dirty="0">
                <a:solidFill>
                  <a:srgbClr val="067D17"/>
                </a:solidFill>
              </a:rPr>
              <a:t>-</a:t>
            </a:r>
            <a:r>
              <a:rPr lang="en-GB" altLang="zh-CN" sz="1400" dirty="0">
                <a:solidFill>
                  <a:srgbClr val="0037A6"/>
                </a:solidFill>
              </a:rPr>
              <a:t>\u9fa5</a:t>
            </a:r>
            <a:r>
              <a:rPr lang="en-GB" altLang="zh-CN" sz="1400" dirty="0">
                <a:solidFill>
                  <a:srgbClr val="067D17"/>
                </a:solidFill>
              </a:rPr>
              <a:t>_a-zA-Z0-9]"</a:t>
            </a:r>
            <a:br>
              <a:rPr lang="en-GB" altLang="zh-CN" sz="1400" dirty="0">
                <a:solidFill>
                  <a:srgbClr val="067D17"/>
                </a:solidFill>
              </a:rPr>
            </a:br>
            <a:r>
              <a:rPr lang="en-GB" altLang="zh-CN" sz="1400" dirty="0">
                <a:solidFill>
                  <a:srgbClr val="067D17"/>
                </a:solidFill>
              </a:rPr>
              <a:t>    </a:t>
            </a:r>
            <a:r>
              <a:rPr lang="en-GB" altLang="zh-CN" sz="1400" dirty="0"/>
              <a:t>r = </a:t>
            </a:r>
            <a:r>
              <a:rPr lang="en-GB" altLang="zh-CN" sz="1400" dirty="0" err="1"/>
              <a:t>re.compile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660099"/>
                </a:solidFill>
              </a:rPr>
              <a:t>pattern</a:t>
            </a:r>
            <a:r>
              <a:rPr lang="en-GB" altLang="zh-CN" sz="1400" dirty="0"/>
              <a:t>=p)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mystr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r.sub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''</a:t>
            </a:r>
            <a:r>
              <a:rPr lang="en-GB" altLang="zh-CN" sz="1400" dirty="0"/>
              <a:t>, sentence)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</a:rPr>
              <a:t>mystr</a:t>
            </a:r>
            <a:r>
              <a:rPr lang="en-GB" altLang="zh-CN" sz="1400" dirty="0">
                <a:solidFill>
                  <a:srgbClr val="067D17"/>
                </a:solidFill>
              </a:rPr>
              <a:t>--&gt;'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mystr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半角变为全角  </a:t>
            </a:r>
            <a:r>
              <a:rPr lang="en-GB" altLang="zh-CN" sz="1400" i="1" dirty="0" err="1">
                <a:solidFill>
                  <a:srgbClr val="8C8C8C"/>
                </a:solidFill>
              </a:rPr>
              <a:t>sentence.replace</a:t>
            </a:r>
            <a:r>
              <a:rPr lang="en-GB" altLang="zh-CN" sz="1400" i="1" dirty="0">
                <a:solidFill>
                  <a:srgbClr val="8C8C8C"/>
                </a:solidFill>
              </a:rPr>
              <a:t>(",", "</a:t>
            </a:r>
            <a:r>
              <a:rPr lang="zh-CN" altLang="en-GB" sz="1400" i="1" dirty="0">
                <a:solidFill>
                  <a:srgbClr val="8C8C8C"/>
                </a:solidFill>
              </a:rPr>
              <a:t>，</a:t>
            </a:r>
            <a:r>
              <a:rPr lang="en-GB" altLang="zh-CN" sz="1400" i="1" dirty="0">
                <a:solidFill>
                  <a:srgbClr val="8C8C8C"/>
                </a:solidFill>
              </a:rPr>
              <a:t>") </a:t>
            </a:r>
            <a:r>
              <a:rPr lang="zh-CN" altLang="en-US" sz="1400" i="1" dirty="0">
                <a:solidFill>
                  <a:srgbClr val="8C8C8C"/>
                </a:solidFill>
              </a:rPr>
              <a:t>逗号 感叹号 问号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/>
              <a:t>sentence =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你好</a:t>
            </a:r>
            <a:r>
              <a:rPr lang="en-US" altLang="zh-CN" sz="1400" dirty="0">
                <a:solidFill>
                  <a:srgbClr val="067D17"/>
                </a:solidFill>
              </a:rPr>
              <a:t>."</a:t>
            </a:r>
            <a:br>
              <a:rPr lang="en-US" altLang="zh-CN" sz="1400" dirty="0">
                <a:solidFill>
                  <a:srgbClr val="067D17"/>
                </a:solidFill>
              </a:rPr>
            </a:br>
            <a:r>
              <a:rPr lang="en-US" altLang="zh-CN" sz="1400" dirty="0">
                <a:solidFill>
                  <a:srgbClr val="067D17"/>
                </a:solidFill>
              </a:rPr>
              <a:t>    </a:t>
            </a:r>
            <a:r>
              <a:rPr lang="en-GB" altLang="zh-CN" sz="1400" dirty="0" err="1"/>
              <a:t>mystr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sentence.replace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"."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GB" sz="1400" dirty="0">
                <a:solidFill>
                  <a:srgbClr val="067D17"/>
                </a:solidFill>
              </a:rPr>
              <a:t>。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en-GB" altLang="zh-CN" sz="1400" dirty="0" err="1">
                <a:solidFill>
                  <a:srgbClr val="067D17"/>
                </a:solidFill>
              </a:rPr>
              <a:t>mystr</a:t>
            </a:r>
            <a:r>
              <a:rPr lang="en-GB" altLang="zh-CN" sz="1400" dirty="0">
                <a:solidFill>
                  <a:srgbClr val="067D17"/>
                </a:solidFill>
              </a:rPr>
              <a:t>--&gt;'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mystr</a:t>
            </a:r>
            <a:r>
              <a:rPr lang="en-GB" altLang="zh-CN" sz="1400" dirty="0"/>
              <a:t>)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1252300" y="5914676"/>
            <a:ext cx="4759615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mystr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--&gt;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车主说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你的刹车片应该更换了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,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lang="en-GB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mystr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--&gt;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车主说你的刹车片应该更换了啊嘿嘿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r>
              <a:rPr lang="en-GB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mystr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--&gt;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你好。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正则表达式编写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正则表达式编写</a:t>
            </a:r>
            <a:endParaRPr lang="zh-CN" altLang="en-US" dirty="0"/>
          </a:p>
        </p:txBody>
      </p:sp>
      <p:sp>
        <p:nvSpPr>
          <p:cNvPr id="5" name="标题占位符 1"/>
          <p:cNvSpPr txBox="1">
            <a:spLocks noChangeArrowheads="1"/>
          </p:cNvSpPr>
          <p:nvPr/>
        </p:nvSpPr>
        <p:spPr bwMode="auto">
          <a:xfrm>
            <a:off x="2538413" y="2581275"/>
            <a:ext cx="17208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32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</a:t>
            </a:r>
            <a:endParaRPr lang="zh-TW" altLang="zh-CN" sz="32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843463" y="2041525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4806950" y="2005013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806950" y="4489450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标题占位符 1"/>
          <p:cNvSpPr txBox="1">
            <a:spLocks noChangeArrowheads="1"/>
          </p:cNvSpPr>
          <p:nvPr/>
        </p:nvSpPr>
        <p:spPr bwMode="auto">
          <a:xfrm>
            <a:off x="2754313" y="3230563"/>
            <a:ext cx="2116137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TARGET</a:t>
            </a:r>
            <a:endParaRPr lang="zh-TW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75337" y="2796927"/>
            <a:ext cx="3833037" cy="15476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模块匹配单个字符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模块匹配单个字符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798196" y="2234449"/>
          <a:ext cx="10749598" cy="3284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4526"/>
                <a:gridCol w="8435072"/>
              </a:tblGrid>
              <a:tr h="39513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5654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.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匹配任意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个字符（除了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\n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65473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 ]</a:t>
                      </a:r>
                      <a:endParaRPr lang="pt-BR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 ]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中列举的字符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654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[^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指定字符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]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匹配除了指定字符以外的所有字符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654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\d</a:t>
                      </a:r>
                      <a:endParaRPr lang="en-US" altLang="zh-CN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匹配数字，即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0-9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6547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\D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匹配非数字，即不是数字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模块匹配单个字符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800149" y="2262343"/>
          <a:ext cx="10680970" cy="271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01"/>
                <a:gridCol w="8299769"/>
              </a:tblGrid>
              <a:tr h="44275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5636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\s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匹配空白，即 空格，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tab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键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636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\S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匹配非空白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6365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\w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匹配非特殊字符，即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a-z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A-Z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0-9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_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、汉字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63652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\W</a:t>
                      </a:r>
                      <a:endParaRPr 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匹配特殊字符，即非字母、非数字、非汉字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# 1 .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匹配任意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个字符（除了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\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n）</a:t>
            </a:r>
            <a:b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匹配数据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从左向右匹配，一个字符接着一个字符的匹配</a:t>
            </a:r>
            <a:b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result = </a:t>
            </a:r>
            <a:r>
              <a:rPr lang="en-GB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re.match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("</a:t>
            </a:r>
            <a:r>
              <a:rPr lang="en-GB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.", "itcast2")</a:t>
            </a:r>
            <a:b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</a:br>
            <a:b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获取数据</a:t>
            </a:r>
            <a:b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if result:</a:t>
            </a:r>
            <a:b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info = </a:t>
            </a:r>
            <a:r>
              <a:rPr lang="en-GB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result.group</a:t>
            </a: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()</a:t>
            </a:r>
            <a:b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print(info)</a:t>
            </a:r>
            <a:b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else:</a:t>
            </a:r>
            <a:b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</a:br>
            <a:r>
              <a:rPr lang="en-GB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print("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没有匹配到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")</a:t>
            </a:r>
            <a:endParaRPr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169959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itcast2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</a:rPr>
              <a:t># 2 [ ] </a:t>
            </a:r>
            <a:r>
              <a:rPr lang="zh-CN" altLang="en-US" sz="1400" i="1" dirty="0">
                <a:solidFill>
                  <a:srgbClr val="8C8C8C"/>
                </a:solidFill>
              </a:rPr>
              <a:t>匹配</a:t>
            </a:r>
            <a:r>
              <a:rPr lang="en-US" altLang="zh-CN" sz="1400" i="1" dirty="0">
                <a:solidFill>
                  <a:srgbClr val="8C8C8C"/>
                </a:solidFill>
              </a:rPr>
              <a:t>[ ]</a:t>
            </a:r>
            <a:r>
              <a:rPr lang="zh-CN" altLang="en-US" sz="1400" i="1" dirty="0">
                <a:solidFill>
                  <a:srgbClr val="8C8C8C"/>
                </a:solidFill>
              </a:rPr>
              <a:t>中列举的字符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[</a:t>
            </a:r>
            <a:r>
              <a:rPr lang="en-GB" altLang="zh-CN" sz="1400" i="1" dirty="0">
                <a:solidFill>
                  <a:srgbClr val="8C8C8C"/>
                </a:solidFill>
              </a:rPr>
              <a:t>a-z]  [A-Z] [0-9]   [a-zA-Z0-9]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[123abc]"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"itcast376"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169959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altLang="zh-CN" sz="1400" i="1" dirty="0">
                <a:solidFill>
                  <a:srgbClr val="8C8C8C"/>
                </a:solidFill>
              </a:rPr>
              <a:t># 3 \d  </a:t>
            </a:r>
            <a:r>
              <a:rPr lang="zh-CN" altLang="en-US" sz="1400" i="1" dirty="0">
                <a:solidFill>
                  <a:srgbClr val="8C8C8C"/>
                </a:solidFill>
              </a:rPr>
              <a:t>匹配数字</a:t>
            </a:r>
            <a:r>
              <a:rPr lang="en-US" altLang="zh-CN" sz="1400" i="1" dirty="0">
                <a:solidFill>
                  <a:srgbClr val="8C8C8C"/>
                </a:solidFill>
              </a:rPr>
              <a:t>,</a:t>
            </a:r>
            <a:r>
              <a:rPr lang="zh-CN" altLang="en-US" sz="1400" i="1" dirty="0">
                <a:solidFill>
                  <a:srgbClr val="8C8C8C"/>
                </a:solidFill>
              </a:rPr>
              <a:t>即</a:t>
            </a:r>
            <a:r>
              <a:rPr lang="en-US" altLang="zh-CN" sz="1400" i="1" dirty="0">
                <a:solidFill>
                  <a:srgbClr val="8C8C8C"/>
                </a:solidFill>
              </a:rPr>
              <a:t>0-9 =&gt; [0123456789] =&gt; [0-9]</a:t>
            </a:r>
            <a:br>
              <a:rPr lang="en-US" altLang="zh-CN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\d"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"itcast5"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169959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kumimoji="0" lang="en-GB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5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-4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altLang="zh-CN" sz="1400" i="1" dirty="0">
                <a:solidFill>
                  <a:srgbClr val="8C8C8C"/>
                </a:solidFill>
              </a:rPr>
              <a:t># 4 \D  </a:t>
            </a:r>
            <a:r>
              <a:rPr lang="zh-CN" altLang="en-US" sz="1400" i="1" dirty="0">
                <a:solidFill>
                  <a:srgbClr val="8C8C8C"/>
                </a:solidFill>
              </a:rPr>
              <a:t>匹配非数字</a:t>
            </a:r>
            <a:r>
              <a:rPr lang="en-US" altLang="zh-CN" sz="1400" i="1" dirty="0">
                <a:solidFill>
                  <a:srgbClr val="8C8C8C"/>
                </a:solidFill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</a:rPr>
              <a:t>即不是数字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\D", 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-")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if result: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    info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result.group</a:t>
            </a:r>
            <a:r>
              <a:rPr lang="en-GB" altLang="zh-CN" sz="1400" i="1" dirty="0">
                <a:solidFill>
                  <a:srgbClr val="8C8C8C"/>
                </a:solidFill>
              </a:rPr>
              <a:t>()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    print(info)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else: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    print("</a:t>
            </a:r>
            <a:r>
              <a:rPr lang="zh-CN" altLang="en-US" sz="1400" i="1" dirty="0">
                <a:solidFill>
                  <a:srgbClr val="8C8C8C"/>
                </a:solidFill>
              </a:rPr>
              <a:t>没有匹配到</a:t>
            </a:r>
            <a:r>
              <a:rPr lang="en-US" altLang="zh-CN" sz="1400" i="1" dirty="0">
                <a:solidFill>
                  <a:srgbClr val="8C8C8C"/>
                </a:solidFill>
              </a:rPr>
              <a:t>")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27506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-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-5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altLang="zh-CN" sz="1400" i="1" dirty="0">
                <a:solidFill>
                  <a:srgbClr val="8C8C8C"/>
                </a:solidFill>
              </a:rPr>
              <a:t># 5 \s  </a:t>
            </a:r>
            <a:r>
              <a:rPr lang="zh-CN" altLang="en-US" sz="1400" i="1" dirty="0">
                <a:solidFill>
                  <a:srgbClr val="8C8C8C"/>
                </a:solidFill>
              </a:rPr>
              <a:t>匹配空白</a:t>
            </a:r>
            <a:r>
              <a:rPr lang="en-US" altLang="zh-CN" sz="1400" i="1" dirty="0">
                <a:solidFill>
                  <a:srgbClr val="8C8C8C"/>
                </a:solidFill>
              </a:rPr>
              <a:t>,</a:t>
            </a:r>
            <a:r>
              <a:rPr lang="zh-CN" altLang="en-US" sz="1400" i="1" dirty="0">
                <a:solidFill>
                  <a:srgbClr val="8C8C8C"/>
                </a:solidFill>
              </a:rPr>
              <a:t>即空格</a:t>
            </a:r>
            <a:r>
              <a:rPr lang="en-US" altLang="zh-CN" sz="1400" i="1" dirty="0">
                <a:solidFill>
                  <a:srgbClr val="8C8C8C"/>
                </a:solidFill>
              </a:rPr>
              <a:t>,</a:t>
            </a:r>
            <a:r>
              <a:rPr lang="en-GB" altLang="zh-CN" sz="1400" i="1" dirty="0">
                <a:solidFill>
                  <a:srgbClr val="8C8C8C"/>
                </a:solidFill>
              </a:rPr>
              <a:t>tab</a:t>
            </a:r>
            <a:r>
              <a:rPr lang="zh-CN" altLang="en-US" sz="1400" i="1" dirty="0">
                <a:solidFill>
                  <a:srgbClr val="8C8C8C"/>
                </a:solidFill>
              </a:rPr>
              <a:t>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\s111"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037A6"/>
                </a:solidFill>
              </a:rPr>
              <a:t>\t</a:t>
            </a:r>
            <a:r>
              <a:rPr lang="en-GB" altLang="zh-CN" sz="1400" dirty="0">
                <a:solidFill>
                  <a:srgbClr val="067D17"/>
                </a:solidFill>
              </a:rPr>
              <a:t>111"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169959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	111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-6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altLang="zh-CN" sz="1400" i="1" dirty="0">
                <a:solidFill>
                  <a:srgbClr val="8C8C8C"/>
                </a:solidFill>
              </a:rPr>
              <a:t># 6 \S  </a:t>
            </a:r>
            <a:r>
              <a:rPr lang="zh-CN" altLang="en-US" sz="1400" i="1" dirty="0">
                <a:solidFill>
                  <a:srgbClr val="8C8C8C"/>
                </a:solidFill>
              </a:rPr>
              <a:t>匹配非空白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\S"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037A6"/>
                </a:solidFill>
              </a:rPr>
              <a:t>\t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169959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结果：没有匹配到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-7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altLang="zh-CN" sz="1400" i="1" dirty="0">
                <a:solidFill>
                  <a:srgbClr val="8C8C8C"/>
                </a:solidFill>
              </a:rPr>
              <a:t># 7 \w  </a:t>
            </a:r>
            <a:r>
              <a:rPr lang="zh-CN" altLang="en-US" sz="1400" i="1" dirty="0">
                <a:solidFill>
                  <a:srgbClr val="8C8C8C"/>
                </a:solidFill>
              </a:rPr>
              <a:t>匹配非特殊字符，即</a:t>
            </a:r>
            <a:r>
              <a:rPr lang="en-GB" altLang="zh-CN" sz="1400" i="1" dirty="0">
                <a:solidFill>
                  <a:srgbClr val="8C8C8C"/>
                </a:solidFill>
              </a:rPr>
              <a:t>a-z, A-Z, 0-9, _, </a:t>
            </a:r>
            <a:r>
              <a:rPr lang="zh-CN" altLang="en-US" sz="1400" i="1" dirty="0">
                <a:solidFill>
                  <a:srgbClr val="8C8C8C"/>
                </a:solidFill>
              </a:rPr>
              <a:t>汉字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\w"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itcasta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\w", 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!")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169959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itcasta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3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-8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394555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altLang="zh-CN" sz="1400" i="1" dirty="0">
                <a:solidFill>
                  <a:srgbClr val="8C8C8C"/>
                </a:solidFill>
              </a:rPr>
              <a:t># 8 \W  </a:t>
            </a:r>
            <a:r>
              <a:rPr lang="zh-CN" altLang="en-US" sz="1400" i="1" dirty="0">
                <a:solidFill>
                  <a:srgbClr val="8C8C8C"/>
                </a:solidFill>
              </a:rPr>
              <a:t>匹配特殊字符</a:t>
            </a:r>
            <a:r>
              <a:rPr lang="en-US" altLang="zh-CN" sz="1400" i="1" dirty="0">
                <a:solidFill>
                  <a:srgbClr val="8C8C8C"/>
                </a:solidFill>
              </a:rPr>
              <a:t>,</a:t>
            </a:r>
            <a:r>
              <a:rPr lang="zh-CN" altLang="en-US" sz="1400" i="1" dirty="0">
                <a:solidFill>
                  <a:srgbClr val="8C8C8C"/>
                </a:solidFill>
              </a:rPr>
              <a:t>即非字母</a:t>
            </a:r>
            <a:r>
              <a:rPr lang="en-US" altLang="zh-CN" sz="1400" i="1" dirty="0">
                <a:solidFill>
                  <a:srgbClr val="8C8C8C"/>
                </a:solidFill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</a:rPr>
              <a:t>非数字</a:t>
            </a:r>
            <a:r>
              <a:rPr lang="en-US" altLang="zh-CN" sz="1400" i="1" dirty="0">
                <a:solidFill>
                  <a:srgbClr val="8C8C8C"/>
                </a:solidFill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</a:rPr>
              <a:t>非</a:t>
            </a:r>
            <a:r>
              <a:rPr lang="en-US" altLang="zh-CN" sz="1400" i="1" dirty="0">
                <a:solidFill>
                  <a:srgbClr val="8C8C8C"/>
                </a:solidFill>
              </a:rPr>
              <a:t>_, </a:t>
            </a:r>
            <a:r>
              <a:rPr lang="zh-CN" altLang="en-US" sz="1400" i="1" dirty="0">
                <a:solidFill>
                  <a:srgbClr val="8C8C8C"/>
                </a:solidFill>
              </a:rPr>
              <a:t>非汉字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\W"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037A6"/>
                </a:solidFill>
              </a:rPr>
              <a:t>\t</a:t>
            </a:r>
            <a:r>
              <a:rPr lang="en-GB" altLang="zh-CN" sz="1400" dirty="0">
                <a:solidFill>
                  <a:srgbClr val="067D17"/>
                </a:solidFill>
              </a:rPr>
              <a:t>2aa"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169959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13" name="矩形 12"/>
          <p:cNvSpPr/>
          <p:nvPr/>
        </p:nvSpPr>
        <p:spPr>
          <a:xfrm rot="2700000">
            <a:off x="1341438" y="2738438"/>
            <a:ext cx="1544637" cy="154463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 rot="2700000">
            <a:off x="1125538" y="2730500"/>
            <a:ext cx="1544638" cy="15446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占位符 1"/>
          <p:cNvSpPr txBox="1">
            <a:spLocks noChangeArrowheads="1"/>
          </p:cNvSpPr>
          <p:nvPr/>
        </p:nvSpPr>
        <p:spPr bwMode="auto">
          <a:xfrm>
            <a:off x="0" y="3143250"/>
            <a:ext cx="38290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36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TW" altLang="zh-CN" sz="36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3482495" y="1621557"/>
          <a:ext cx="8242780" cy="45776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730"/>
                <a:gridCol w="6115050"/>
              </a:tblGrid>
              <a:tr h="5831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398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.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匹配任意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个字符（除了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\n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398479"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 ]</a:t>
                      </a:r>
                      <a:endParaRPr lang="pt-BR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 ]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中列举的字符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398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[^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指定字符</a:t>
                      </a:r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]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匹配除了指定字符以外的所有字符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398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\d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匹配数字，即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0-9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，等价于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[0-9]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398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\D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匹配非数字，即不是数字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398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\s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匹配空白，即 空格，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tab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键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回车符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3984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\S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匹配非空白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60257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\w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匹配非特殊字符，即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a-z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A-Z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0-9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_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、汉字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602578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\W</a:t>
                      </a:r>
                      <a:endParaRPr 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匹配特殊字符，即非字母、非数字、非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_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、非汉字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正则表达式编写</a:t>
            </a:r>
            <a:endParaRPr lang="zh-CN" altLang="en-US" dirty="0"/>
          </a:p>
        </p:txBody>
      </p:sp>
      <p:sp>
        <p:nvSpPr>
          <p:cNvPr id="5" name="标题占位符 1"/>
          <p:cNvSpPr txBox="1">
            <a:spLocks noChangeArrowheads="1"/>
          </p:cNvSpPr>
          <p:nvPr/>
        </p:nvSpPr>
        <p:spPr bwMode="auto">
          <a:xfrm>
            <a:off x="2538413" y="2581275"/>
            <a:ext cx="17208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32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</a:t>
            </a:r>
            <a:endParaRPr lang="zh-TW" altLang="zh-CN" sz="32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843463" y="2041525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4806950" y="2005013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806950" y="4489450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标题占位符 1"/>
          <p:cNvSpPr txBox="1">
            <a:spLocks noChangeArrowheads="1"/>
          </p:cNvSpPr>
          <p:nvPr/>
        </p:nvSpPr>
        <p:spPr bwMode="auto">
          <a:xfrm>
            <a:off x="2754313" y="3230563"/>
            <a:ext cx="2116137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TARGET</a:t>
            </a:r>
            <a:endParaRPr lang="zh-TW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75337" y="2796927"/>
            <a:ext cx="3833037" cy="5627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模块匹配多个字符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模块匹配多个字符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71599" y="1923678"/>
          <a:ext cx="10488880" cy="353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401"/>
                <a:gridCol w="8031479"/>
              </a:tblGrid>
              <a:tr h="50519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6631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*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次或者无限次，即可有可无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6631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次或者无限次，即至少有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66562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?</a:t>
                      </a:r>
                      <a:endParaRPr lang="ru-RU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次或者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次，即要么有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次，要么没有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2050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{m}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20508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{m,n}</a:t>
                      </a:r>
                      <a:endParaRPr lang="da-DK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匹配前一个字符出现从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67765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400" i="1" dirty="0">
                <a:solidFill>
                  <a:srgbClr val="8C8C8C"/>
                </a:solidFill>
              </a:rPr>
              <a:t># 1 *   </a:t>
            </a:r>
            <a:r>
              <a:rPr lang="zh-CN" altLang="en-US" sz="1400" i="1" dirty="0">
                <a:solidFill>
                  <a:srgbClr val="8C8C8C"/>
                </a:solidFill>
              </a:rPr>
              <a:t>匹配前一个字符出现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次或者无限次，即可有可无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"itcast1*"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"itcast111123333itcast"</a:t>
            </a:r>
            <a:r>
              <a:rPr lang="en-GB" altLang="zh-CN" sz="1400" dirty="0"/>
              <a:t>)        </a:t>
            </a:r>
            <a:r>
              <a:rPr lang="en-GB" altLang="zh-CN" sz="1400" i="1" dirty="0">
                <a:solidFill>
                  <a:srgbClr val="8C8C8C"/>
                </a:solidFill>
              </a:rPr>
              <a:t># 1</a:t>
            </a:r>
            <a:r>
              <a:rPr lang="zh-CN" altLang="en-US" sz="1400" i="1" dirty="0">
                <a:solidFill>
                  <a:srgbClr val="8C8C8C"/>
                </a:solidFill>
              </a:rPr>
              <a:t>出现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次或者多次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\d*", "itcast23333itcast")          # </a:t>
            </a:r>
            <a:r>
              <a:rPr lang="zh-CN" altLang="en-US" sz="1400" i="1" dirty="0">
                <a:solidFill>
                  <a:srgbClr val="8C8C8C"/>
                </a:solidFill>
              </a:rPr>
              <a:t>数字出现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次或者多次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\d*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", "itcast123333itcast")    # </a:t>
            </a:r>
            <a:r>
              <a:rPr lang="zh-CN" altLang="en-US" sz="1400" i="1" dirty="0">
                <a:solidFill>
                  <a:srgbClr val="8C8C8C"/>
                </a:solidFill>
              </a:rPr>
              <a:t>数字出现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次或者多次 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zh-CN" altLang="en-US" sz="1400" i="1" dirty="0">
                <a:solidFill>
                  <a:srgbClr val="8C8C8C"/>
                </a:solidFill>
              </a:rPr>
              <a:t>开始 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zh-CN" altLang="en-US" sz="1400" i="1" dirty="0">
                <a:solidFill>
                  <a:srgbClr val="8C8C8C"/>
                </a:solidFill>
              </a:rPr>
              <a:t>结束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\d*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en-GB" altLang="zh-CN" sz="1400" i="1" dirty="0">
                <a:solidFill>
                  <a:srgbClr val="8C8C8C"/>
                </a:solidFill>
              </a:rPr>
              <a:t>", "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itcastitcast</a:t>
            </a:r>
            <a:r>
              <a:rPr lang="en-GB" altLang="zh-CN" sz="1400" i="1" dirty="0">
                <a:solidFill>
                  <a:srgbClr val="8C8C8C"/>
                </a:solidFill>
              </a:rPr>
              <a:t>")    # </a:t>
            </a:r>
            <a:r>
              <a:rPr lang="zh-CN" altLang="en-US" sz="1400" i="1" dirty="0">
                <a:solidFill>
                  <a:srgbClr val="8C8C8C"/>
                </a:solidFill>
              </a:rPr>
              <a:t>数字出现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次或者多次 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zh-CN" altLang="en-US" sz="1400" i="1" dirty="0">
                <a:solidFill>
                  <a:srgbClr val="8C8C8C"/>
                </a:solidFill>
              </a:rPr>
              <a:t>开始 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r>
              <a:rPr lang="zh-CN" altLang="en-US" sz="1400" i="1" dirty="0">
                <a:solidFill>
                  <a:srgbClr val="8C8C8C"/>
                </a:solidFill>
              </a:rPr>
              <a:t>结束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itcast1111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400" i="1" dirty="0">
                <a:solidFill>
                  <a:srgbClr val="8C8C8C"/>
                </a:solidFill>
              </a:rPr>
              <a:t># 2 +   </a:t>
            </a:r>
            <a:r>
              <a:rPr lang="zh-CN" altLang="en-US" sz="1400" i="1" dirty="0">
                <a:solidFill>
                  <a:srgbClr val="8C8C8C"/>
                </a:solidFill>
              </a:rPr>
              <a:t>匹配前一个字符出现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次或者无限次，即至少有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数字必须出现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次或者多次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</a:t>
            </a:r>
            <a:r>
              <a:rPr lang="en-GB" altLang="zh-CN" sz="1400" dirty="0" err="1">
                <a:solidFill>
                  <a:srgbClr val="067D17"/>
                </a:solidFill>
              </a:rPr>
              <a:t>d+itcast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"itcast11333444itcast"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itcast11333444itcast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03132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</a:rPr>
              <a:t># 3 ?   </a:t>
            </a:r>
            <a:r>
              <a:rPr lang="zh-CN" altLang="en-US" sz="1400" i="1" dirty="0">
                <a:solidFill>
                  <a:srgbClr val="8C8C8C"/>
                </a:solidFill>
              </a:rPr>
              <a:t>匹配前一个字符出现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次或者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次，即要么有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次，要么没有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数字出现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次或者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</a:t>
            </a:r>
            <a:r>
              <a:rPr lang="en-GB" altLang="zh-CN" sz="1400" dirty="0" err="1">
                <a:solidFill>
                  <a:srgbClr val="067D17"/>
                </a:solidFill>
              </a:rPr>
              <a:t>d?itcast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itcastitcast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itcastitcast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-4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400" i="1" dirty="0">
                <a:solidFill>
                  <a:srgbClr val="8C8C8C"/>
                </a:solidFill>
              </a:rPr>
              <a:t># 4 {m} </a:t>
            </a:r>
            <a:r>
              <a:rPr lang="zh-CN" altLang="en-US" sz="1400" i="1" dirty="0">
                <a:solidFill>
                  <a:srgbClr val="8C8C8C"/>
                </a:solidFill>
              </a:rPr>
              <a:t>匹配前一个字符出现</a:t>
            </a:r>
            <a:r>
              <a:rPr lang="en-GB" altLang="zh-CN" sz="1400" i="1" dirty="0">
                <a:solidFill>
                  <a:srgbClr val="8C8C8C"/>
                </a:solidFill>
              </a:rPr>
              <a:t>m</a:t>
            </a:r>
            <a:r>
              <a:rPr lang="zh-CN" altLang="en-US" sz="1400" i="1" dirty="0">
                <a:solidFill>
                  <a:srgbClr val="8C8C8C"/>
                </a:solidFill>
              </a:rPr>
              <a:t>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\d{2}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"itcast12itcast"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itcast12itcast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2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、</a:t>
            </a:r>
            <a:r>
              <a:rPr lang="zh-CN" altLang="en-US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举个栗子 </a:t>
            </a:r>
            <a:r>
              <a:rPr lang="en-US" altLang="zh-CN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-5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GB" altLang="zh-CN" sz="1400" i="1" dirty="0">
                <a:solidFill>
                  <a:srgbClr val="8C8C8C"/>
                </a:solidFill>
              </a:rPr>
              <a:t># 5 {</a:t>
            </a:r>
            <a:r>
              <a:rPr lang="en-GB" altLang="zh-CN" sz="1400" i="1" dirty="0" err="1">
                <a:solidFill>
                  <a:srgbClr val="8C8C8C"/>
                </a:solidFill>
              </a:rPr>
              <a:t>m,n</a:t>
            </a:r>
            <a:r>
              <a:rPr lang="en-GB" altLang="zh-CN" sz="1400" i="1" dirty="0">
                <a:solidFill>
                  <a:srgbClr val="8C8C8C"/>
                </a:solidFill>
              </a:rPr>
              <a:t>}   </a:t>
            </a:r>
            <a:r>
              <a:rPr lang="zh-CN" altLang="en-US" sz="1400" i="1" dirty="0">
                <a:solidFill>
                  <a:srgbClr val="8C8C8C"/>
                </a:solidFill>
              </a:rPr>
              <a:t>匹配前一个字符出现从</a:t>
            </a:r>
            <a:r>
              <a:rPr lang="en-GB" altLang="zh-CN" sz="1400" i="1" dirty="0">
                <a:solidFill>
                  <a:srgbClr val="8C8C8C"/>
                </a:solidFill>
              </a:rPr>
              <a:t>m</a:t>
            </a:r>
            <a:r>
              <a:rPr lang="zh-CN" altLang="en-US" sz="1400" i="1" dirty="0">
                <a:solidFill>
                  <a:srgbClr val="8C8C8C"/>
                </a:solidFill>
              </a:rPr>
              <a:t>到</a:t>
            </a:r>
            <a:r>
              <a:rPr lang="en-GB" altLang="zh-CN" sz="1400" i="1" dirty="0">
                <a:solidFill>
                  <a:srgbClr val="8C8C8C"/>
                </a:solidFill>
              </a:rPr>
              <a:t>n</a:t>
            </a:r>
            <a:r>
              <a:rPr lang="zh-CN" altLang="en-US" sz="1400" i="1" dirty="0">
                <a:solidFill>
                  <a:srgbClr val="8C8C8C"/>
                </a:solidFill>
              </a:rPr>
              <a:t>次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注意</a:t>
            </a:r>
            <a:r>
              <a:rPr lang="en-US" altLang="zh-CN" sz="1400" i="1" dirty="0">
                <a:solidFill>
                  <a:srgbClr val="8C8C8C"/>
                </a:solidFill>
              </a:rPr>
              <a:t>1:{2, 5} </a:t>
            </a:r>
            <a:r>
              <a:rPr lang="zh-CN" altLang="en-US" sz="1400" i="1" dirty="0">
                <a:solidFill>
                  <a:srgbClr val="8C8C8C"/>
                </a:solidFill>
              </a:rPr>
              <a:t>中括号里面</a:t>
            </a:r>
            <a:r>
              <a:rPr lang="en-US" altLang="zh-CN" sz="1400" i="1" dirty="0">
                <a:solidFill>
                  <a:srgbClr val="8C8C8C"/>
                </a:solidFill>
              </a:rPr>
              <a:t>,</a:t>
            </a:r>
            <a:r>
              <a:rPr lang="zh-CN" altLang="en-US" sz="1400" i="1" dirty="0">
                <a:solidFill>
                  <a:srgbClr val="8C8C8C"/>
                </a:solidFill>
              </a:rPr>
              <a:t>逗号之后不能加空格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\d{2,5}</a:t>
            </a:r>
            <a:r>
              <a:rPr lang="en-GB" altLang="zh-CN" sz="1400" dirty="0" err="1">
                <a:solidFill>
                  <a:srgbClr val="067D17"/>
                </a:solidFill>
              </a:rPr>
              <a:t>itcast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"itcast111itcast"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itcast111itcast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、总结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矩形 4"/>
          <p:cNvSpPr/>
          <p:nvPr/>
        </p:nvSpPr>
        <p:spPr>
          <a:xfrm rot="2700000">
            <a:off x="1716088" y="2586038"/>
            <a:ext cx="1544637" cy="154463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 rot="2700000">
            <a:off x="1500188" y="2578100"/>
            <a:ext cx="1544638" cy="15446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占位符 1"/>
          <p:cNvSpPr txBox="1">
            <a:spLocks noChangeArrowheads="1"/>
          </p:cNvSpPr>
          <p:nvPr/>
        </p:nvSpPr>
        <p:spPr bwMode="auto">
          <a:xfrm>
            <a:off x="374650" y="2990850"/>
            <a:ext cx="38290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36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TW" altLang="zh-CN" sz="36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796530" y="1877287"/>
          <a:ext cx="7557502" cy="3365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370"/>
                <a:gridCol w="5677132"/>
              </a:tblGrid>
              <a:tr h="40860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5277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*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次或者无限次，即可有可无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70654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次或者无限次，即至少有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706547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?</a:t>
                      </a:r>
                      <a:endParaRPr lang="ru-RU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次或者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次，即要么有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次，要么没有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43951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{m}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27782">
                <a:tc>
                  <a:txBody>
                    <a:bodyPr/>
                    <a:lstStyle/>
                    <a:p>
                      <a:pPr algn="ctr"/>
                      <a:r>
                        <a:rPr lang="da-DK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{m,n}</a:t>
                      </a:r>
                      <a:endParaRPr lang="da-DK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匹配前一个字符出现从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m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到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正则表达式编写</a:t>
            </a:r>
            <a:endParaRPr lang="zh-CN" altLang="en-US" dirty="0"/>
          </a:p>
        </p:txBody>
      </p:sp>
      <p:sp>
        <p:nvSpPr>
          <p:cNvPr id="5" name="标题占位符 1"/>
          <p:cNvSpPr txBox="1">
            <a:spLocks noChangeArrowheads="1"/>
          </p:cNvSpPr>
          <p:nvPr/>
        </p:nvSpPr>
        <p:spPr bwMode="auto">
          <a:xfrm>
            <a:off x="2538413" y="2581275"/>
            <a:ext cx="17208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32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</a:t>
            </a:r>
            <a:endParaRPr lang="zh-TW" altLang="zh-CN" sz="32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843463" y="2041525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4806950" y="2005013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806950" y="4489450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标题占位符 1"/>
          <p:cNvSpPr txBox="1">
            <a:spLocks noChangeArrowheads="1"/>
          </p:cNvSpPr>
          <p:nvPr/>
        </p:nvSpPr>
        <p:spPr bwMode="auto">
          <a:xfrm>
            <a:off x="2754313" y="3230563"/>
            <a:ext cx="2116137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TARGET</a:t>
            </a:r>
            <a:endParaRPr lang="zh-TW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75337" y="2796927"/>
            <a:ext cx="5448864" cy="56278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模块匹配指定字符串开头或者结尾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模块匹配指定字符串开头或者结尾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79995" y="2422864"/>
          <a:ext cx="10480484" cy="1486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2680"/>
                <a:gridCol w="9107804"/>
              </a:tblGrid>
              <a:tr h="52268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代码</a:t>
                      </a:r>
                      <a:endParaRPr lang="zh-CN" altLang="en-US" sz="24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功能</a:t>
                      </a:r>
                      <a:endParaRPr lang="zh-CN" altLang="en-US" sz="24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75337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^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匹配字符串开头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388578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$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匹配字符串结尾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、举个栗子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400" i="1" dirty="0">
                <a:solidFill>
                  <a:srgbClr val="8C8C8C"/>
                </a:solidFill>
              </a:rPr>
              <a:t># 1-1 ^ </a:t>
            </a:r>
            <a:r>
              <a:rPr lang="zh-CN" altLang="en-US" sz="1400" i="1" dirty="0">
                <a:solidFill>
                  <a:srgbClr val="8C8C8C"/>
                </a:solidFill>
              </a:rPr>
              <a:t>匹配字符串开头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匹配数据</a:t>
            </a:r>
            <a:r>
              <a:rPr lang="en-US" altLang="zh-CN" sz="1400" i="1" dirty="0">
                <a:solidFill>
                  <a:srgbClr val="8C8C8C"/>
                </a:solidFill>
              </a:rPr>
              <a:t>: </a:t>
            </a:r>
            <a:r>
              <a:rPr lang="zh-CN" altLang="en-US" sz="1400" i="1" dirty="0">
                <a:solidFill>
                  <a:srgbClr val="8C8C8C"/>
                </a:solidFill>
              </a:rPr>
              <a:t>匹配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个数字开头的子串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"^\</a:t>
            </a:r>
            <a:r>
              <a:rPr lang="en-GB" altLang="zh-CN" sz="1400" dirty="0" err="1">
                <a:solidFill>
                  <a:srgbClr val="067D17"/>
                </a:solidFill>
              </a:rPr>
              <a:t>ditcast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"2itcast"</a:t>
            </a:r>
            <a:r>
              <a:rPr lang="en-GB" altLang="zh-CN" sz="1400" dirty="0"/>
              <a:t>)   </a:t>
            </a:r>
            <a:r>
              <a:rPr lang="en-GB" altLang="zh-CN" sz="1400" i="1" dirty="0">
                <a:solidFill>
                  <a:srgbClr val="8C8C8C"/>
                </a:solidFill>
              </a:rPr>
              <a:t># 1 </a:t>
            </a:r>
            <a:r>
              <a:rPr lang="zh-CN" altLang="en-US" sz="1400" i="1" dirty="0">
                <a:solidFill>
                  <a:srgbClr val="8C8C8C"/>
                </a:solidFill>
              </a:rPr>
              <a:t>匹配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个数字开头 </a:t>
            </a:r>
            <a:r>
              <a:rPr lang="en-US" altLang="zh-CN" sz="1400" i="1" dirty="0">
                <a:solidFill>
                  <a:srgbClr val="8C8C8C"/>
                </a:solidFill>
              </a:rPr>
              <a:t>+ </a:t>
            </a:r>
            <a:r>
              <a:rPr lang="en-GB" altLang="zh-CN" sz="1400" i="1" dirty="0" err="1">
                <a:solidFill>
                  <a:srgbClr val="8C8C8C"/>
                </a:solidFill>
              </a:rPr>
              <a:t>itcast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# 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("^\</a:t>
            </a:r>
            <a:r>
              <a:rPr lang="en-GB" altLang="zh-CN" sz="1400" i="1" dirty="0" err="1">
                <a:solidFill>
                  <a:srgbClr val="8C8C8C"/>
                </a:solidFill>
              </a:rPr>
              <a:t>ditcast</a:t>
            </a:r>
            <a:r>
              <a:rPr lang="en-GB" altLang="zh-CN" sz="1400" i="1" dirty="0">
                <a:solidFill>
                  <a:srgbClr val="8C8C8C"/>
                </a:solidFill>
              </a:rPr>
              <a:t>", "22itcast")  # 2 </a:t>
            </a:r>
            <a:r>
              <a:rPr lang="zh-CN" altLang="en-US" sz="1400" i="1" dirty="0">
                <a:solidFill>
                  <a:srgbClr val="8C8C8C"/>
                </a:solidFill>
              </a:rPr>
              <a:t>匹配不上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2itcast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、举个栗子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</a:rPr>
              <a:t># 1-2 </a:t>
            </a:r>
            <a:r>
              <a:rPr lang="zh-CN" altLang="en-US" sz="1400" i="1" dirty="0">
                <a:solidFill>
                  <a:srgbClr val="8C8C8C"/>
                </a:solidFill>
              </a:rPr>
              <a:t>以数字为开头的字符串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"^\d.*"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"22itcast"</a:t>
            </a:r>
            <a:r>
              <a:rPr lang="en-GB" altLang="zh-CN" sz="1400" dirty="0"/>
              <a:t>)  </a:t>
            </a:r>
            <a:r>
              <a:rPr lang="en-GB" altLang="zh-CN" sz="1400" i="1" dirty="0">
                <a:solidFill>
                  <a:srgbClr val="8C8C8C"/>
                </a:solidFill>
              </a:rPr>
              <a:t># "^\d":</a:t>
            </a:r>
            <a:r>
              <a:rPr lang="zh-CN" altLang="en-US" sz="1400" i="1" dirty="0">
                <a:solidFill>
                  <a:srgbClr val="8C8C8C"/>
                </a:solidFill>
              </a:rPr>
              <a:t>以数字开头</a:t>
            </a:r>
            <a:r>
              <a:rPr lang="en-US" altLang="zh-CN" sz="1400" i="1" dirty="0">
                <a:solidFill>
                  <a:srgbClr val="8C8C8C"/>
                </a:solidFill>
              </a:rPr>
              <a:t>, ".*":</a:t>
            </a:r>
            <a:r>
              <a:rPr lang="zh-CN" altLang="en-US" sz="1400" i="1" dirty="0">
                <a:solidFill>
                  <a:srgbClr val="8C8C8C"/>
                </a:solidFill>
              </a:rPr>
              <a:t>以字符结尾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("^\d{1,3}it", "1itcast")  # "^\d{1,3}":</a:t>
            </a:r>
            <a:r>
              <a:rPr lang="zh-CN" altLang="en-US" sz="1400" i="1" dirty="0">
                <a:solidFill>
                  <a:srgbClr val="8C8C8C"/>
                </a:solidFill>
              </a:rPr>
              <a:t>以</a:t>
            </a:r>
            <a:r>
              <a:rPr lang="en-US" altLang="zh-CN" sz="1400" i="1" dirty="0">
                <a:solidFill>
                  <a:srgbClr val="8C8C8C"/>
                </a:solidFill>
              </a:rPr>
              <a:t>1~3</a:t>
            </a:r>
            <a:r>
              <a:rPr lang="zh-CN" altLang="en-US" sz="1400" i="1" dirty="0">
                <a:solidFill>
                  <a:srgbClr val="8C8C8C"/>
                </a:solidFill>
              </a:rPr>
              <a:t>个数字开头</a:t>
            </a:r>
            <a:r>
              <a:rPr lang="en-US" altLang="zh-CN" sz="1400" i="1" dirty="0">
                <a:solidFill>
                  <a:srgbClr val="8C8C8C"/>
                </a:solidFill>
              </a:rPr>
              <a:t>, ".*":</a:t>
            </a:r>
            <a:r>
              <a:rPr lang="zh-CN" altLang="en-US" sz="1400" i="1" dirty="0">
                <a:solidFill>
                  <a:srgbClr val="8C8C8C"/>
                </a:solidFill>
              </a:rPr>
              <a:t>以字符结尾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22itcast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、举个栗子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-3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46221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</a:rPr>
              <a:t># 2-1 $ </a:t>
            </a:r>
            <a:r>
              <a:rPr lang="zh-CN" altLang="en-US" sz="1400" i="1" dirty="0">
                <a:solidFill>
                  <a:srgbClr val="8C8C8C"/>
                </a:solidFill>
              </a:rPr>
              <a:t>匹配字符串结尾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".*\d$"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"itcast66"</a:t>
            </a:r>
            <a:r>
              <a:rPr lang="en-GB" altLang="zh-CN" sz="1400" dirty="0"/>
              <a:t>)  </a:t>
            </a:r>
            <a:r>
              <a:rPr lang="en-GB" altLang="zh-CN" sz="1400" i="1" dirty="0">
                <a:solidFill>
                  <a:srgbClr val="8C8C8C"/>
                </a:solidFill>
              </a:rPr>
              <a:t># ".*" : 0</a:t>
            </a:r>
            <a:r>
              <a:rPr lang="zh-CN" altLang="en-US" sz="1400" i="1" dirty="0">
                <a:solidFill>
                  <a:srgbClr val="8C8C8C"/>
                </a:solidFill>
              </a:rPr>
              <a:t>个多个字符开头</a:t>
            </a:r>
            <a:r>
              <a:rPr lang="en-US" altLang="zh-CN" sz="1400" i="1" dirty="0">
                <a:solidFill>
                  <a:srgbClr val="8C8C8C"/>
                </a:solidFill>
              </a:rPr>
              <a:t>, "\</a:t>
            </a:r>
            <a:r>
              <a:rPr lang="en-GB" altLang="zh-CN" sz="1400" i="1" dirty="0">
                <a:solidFill>
                  <a:srgbClr val="8C8C8C"/>
                </a:solidFill>
              </a:rPr>
              <a:t>d$":</a:t>
            </a:r>
            <a:r>
              <a:rPr lang="zh-CN" altLang="en-US" sz="1400" i="1" dirty="0">
                <a:solidFill>
                  <a:srgbClr val="8C8C8C"/>
                </a:solidFill>
              </a:rPr>
              <a:t>数字结尾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(".*\d{5}$", "itcast666")  # ".*" : 0</a:t>
            </a:r>
            <a:r>
              <a:rPr lang="zh-CN" altLang="en-US" sz="1400" i="1" dirty="0">
                <a:solidFill>
                  <a:srgbClr val="8C8C8C"/>
                </a:solidFill>
              </a:rPr>
              <a:t>个多个字符开头</a:t>
            </a:r>
            <a:r>
              <a:rPr lang="en-US" altLang="zh-CN" sz="1400" i="1" dirty="0">
                <a:solidFill>
                  <a:srgbClr val="8C8C8C"/>
                </a:solidFill>
              </a:rPr>
              <a:t>, "\</a:t>
            </a:r>
            <a:r>
              <a:rPr lang="en-GB" altLang="zh-CN" sz="1400" i="1" dirty="0">
                <a:solidFill>
                  <a:srgbClr val="8C8C8C"/>
                </a:solidFill>
              </a:rPr>
              <a:t>d{5}$": </a:t>
            </a:r>
            <a:r>
              <a:rPr lang="zh-CN" altLang="en-US" sz="1400" i="1" dirty="0">
                <a:solidFill>
                  <a:srgbClr val="8C8C8C"/>
                </a:solidFill>
              </a:rPr>
              <a:t>以</a:t>
            </a:r>
            <a:r>
              <a:rPr lang="en-US" altLang="zh-CN" sz="1400" i="1" dirty="0">
                <a:solidFill>
                  <a:srgbClr val="8C8C8C"/>
                </a:solidFill>
              </a:rPr>
              <a:t>5</a:t>
            </a:r>
            <a:r>
              <a:rPr lang="zh-CN" altLang="en-US" sz="1400" i="1" dirty="0">
                <a:solidFill>
                  <a:srgbClr val="8C8C8C"/>
                </a:solidFill>
              </a:rPr>
              <a:t>个数字结尾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itcast66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、举个栗子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-4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03132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400" i="1" dirty="0">
                <a:solidFill>
                  <a:srgbClr val="8C8C8C"/>
                </a:solidFill>
              </a:rPr>
              <a:t># 3 </a:t>
            </a:r>
            <a:r>
              <a:rPr lang="zh-CN" altLang="en-US" sz="1400" i="1" dirty="0">
                <a:solidFill>
                  <a:srgbClr val="8C8C8C"/>
                </a:solidFill>
              </a:rPr>
              <a:t>匹配以数字为开头以数字为结尾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"^\d.*\d$"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"11itcast22"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11itcast22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、举个栗子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-5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67765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br>
              <a:rPr lang="zh-CN" altLang="en-US" sz="1400" dirty="0"/>
            </a:br>
            <a:r>
              <a:rPr lang="en-US" altLang="zh-CN" sz="1400" i="1" dirty="0">
                <a:solidFill>
                  <a:srgbClr val="8C8C8C"/>
                </a:solidFill>
              </a:rPr>
              <a:t># 4 [^</a:t>
            </a:r>
            <a:r>
              <a:rPr lang="zh-CN" altLang="en-US" sz="1400" i="1" dirty="0">
                <a:solidFill>
                  <a:srgbClr val="8C8C8C"/>
                </a:solidFill>
              </a:rPr>
              <a:t>指定字符</a:t>
            </a:r>
            <a:r>
              <a:rPr lang="en-US" altLang="zh-CN" sz="1400" i="1" dirty="0">
                <a:solidFill>
                  <a:srgbClr val="8C8C8C"/>
                </a:solidFill>
              </a:rPr>
              <a:t>]  </a:t>
            </a:r>
            <a:r>
              <a:rPr lang="zh-CN" altLang="en-US" sz="1400" i="1" dirty="0">
                <a:solidFill>
                  <a:srgbClr val="8C8C8C"/>
                </a:solidFill>
              </a:rPr>
              <a:t>匹配除了指定字符以外的所有字符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"^\d.*[^4]$"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"11itcast@"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("^\d.*[^4]$", "11itcast4")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没有匹配到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1172381" y="4621902"/>
            <a:ext cx="4759615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11itcast@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、总结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矩形 5"/>
          <p:cNvSpPr/>
          <p:nvPr/>
        </p:nvSpPr>
        <p:spPr>
          <a:xfrm rot="2700000">
            <a:off x="1668463" y="2700338"/>
            <a:ext cx="1544637" cy="154463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 rot="2700000">
            <a:off x="1452563" y="2692400"/>
            <a:ext cx="1544638" cy="15446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标题占位符 1"/>
          <p:cNvSpPr txBox="1">
            <a:spLocks noChangeArrowheads="1"/>
          </p:cNvSpPr>
          <p:nvPr/>
        </p:nvSpPr>
        <p:spPr bwMode="auto">
          <a:xfrm>
            <a:off x="327025" y="3105150"/>
            <a:ext cx="38290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36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TW" altLang="zh-CN" sz="36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3874020" y="2487364"/>
          <a:ext cx="7519784" cy="1395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8655"/>
                <a:gridCol w="5231129"/>
              </a:tblGrid>
              <a:tr h="43883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代码</a:t>
                      </a:r>
                      <a:endParaRPr lang="zh-CN" altLang="en-US" sz="24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功能</a:t>
                      </a:r>
                      <a:endParaRPr lang="zh-CN" altLang="en-US" sz="2400" b="1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43883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^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匹配字符串开头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438839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$</a:t>
                      </a:r>
                      <a:endParaRPr 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匹配字符串结尾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8079" y="4249544"/>
            <a:ext cx="7772400" cy="94856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079" y="5322844"/>
            <a:ext cx="6731000" cy="825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sp>
        <p:nvSpPr>
          <p:cNvPr id="5" name="标题占位符 1"/>
          <p:cNvSpPr txBox="1">
            <a:spLocks noChangeArrowheads="1"/>
          </p:cNvSpPr>
          <p:nvPr/>
        </p:nvSpPr>
        <p:spPr bwMode="auto">
          <a:xfrm>
            <a:off x="2519363" y="2714625"/>
            <a:ext cx="17208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3200" b="1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目标</a:t>
            </a:r>
            <a:endParaRPr lang="zh-TW" altLang="zh-CN" sz="3200" b="1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824413" y="2174875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椭圆 6"/>
          <p:cNvSpPr/>
          <p:nvPr/>
        </p:nvSpPr>
        <p:spPr>
          <a:xfrm>
            <a:off x="4787900" y="2138363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787900" y="4622800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标题占位符 1"/>
          <p:cNvSpPr txBox="1">
            <a:spLocks noChangeArrowheads="1"/>
          </p:cNvSpPr>
          <p:nvPr/>
        </p:nvSpPr>
        <p:spPr bwMode="auto">
          <a:xfrm>
            <a:off x="2735263" y="3363913"/>
            <a:ext cx="2116137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TARGET</a:t>
            </a:r>
            <a:endParaRPr lang="zh-TW" altLang="zh-CN" sz="24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256287" y="2930277"/>
            <a:ext cx="4536504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、能够使用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模块提取分组数据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971600" y="1923678"/>
          <a:ext cx="10420300" cy="2499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875"/>
                <a:gridCol w="8353425"/>
              </a:tblGrid>
              <a:tr h="52424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658409"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|</a:t>
                      </a:r>
                      <a:endParaRPr lang="hr-HR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匹配左右任意一个表达式</a:t>
                      </a:r>
                      <a:r>
                        <a:rPr lang="en-US" altLang="zh-CN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[ab]|[12]</a:t>
                      </a:r>
                      <a:endParaRPr lang="en-US" altLang="zh-CN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658409">
                <a:tc>
                  <a:txBody>
                    <a:bodyPr/>
                    <a:lstStyle/>
                    <a:p>
                      <a:pPr algn="ctr"/>
                      <a:r>
                        <a:rPr lang="is-I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(ab)</a:t>
                      </a:r>
                      <a:endParaRPr lang="is-I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将括号中字符作为一个分组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65840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num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引用分组</a:t>
                      </a:r>
                      <a:r>
                        <a:rPr lang="en-US" altLang="zh-CN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num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匹配到的字符串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  <p:sp>
        <p:nvSpPr>
          <p:cNvPr id="12" name="文本占位符 3"/>
          <p:cNvSpPr txBox="1"/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、匹配分组</a:t>
            </a:r>
            <a:endParaRPr lang="zh-CN" altLang="en-US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sp>
        <p:nvSpPr>
          <p:cNvPr id="12" name="文本占位符 3"/>
          <p:cNvSpPr txBox="1"/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、举个栗子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-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172381" y="1635973"/>
            <a:ext cx="8728364" cy="267765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400" i="1" dirty="0">
                <a:solidFill>
                  <a:srgbClr val="8C8C8C"/>
                </a:solidFill>
              </a:rPr>
              <a:t># 1 </a:t>
            </a:r>
            <a:r>
              <a:rPr lang="zh-CN" altLang="en-US" sz="1400" i="1" dirty="0">
                <a:solidFill>
                  <a:srgbClr val="8C8C8C"/>
                </a:solidFill>
              </a:rPr>
              <a:t>需求：在列表中</a:t>
            </a:r>
            <a:r>
              <a:rPr lang="en-US" altLang="zh-CN" sz="1400" i="1" dirty="0">
                <a:solidFill>
                  <a:srgbClr val="8C8C8C"/>
                </a:solidFill>
              </a:rPr>
              <a:t>["</a:t>
            </a:r>
            <a:r>
              <a:rPr lang="en-GB" altLang="zh-CN" sz="1400" i="1" dirty="0">
                <a:solidFill>
                  <a:srgbClr val="8C8C8C"/>
                </a:solidFill>
              </a:rPr>
              <a:t>apple", "banana", "orange", "pear"]</a:t>
            </a:r>
            <a:r>
              <a:rPr lang="zh-CN" altLang="en-GB" sz="1400" i="1" dirty="0">
                <a:solidFill>
                  <a:srgbClr val="8C8C8C"/>
                </a:solidFill>
              </a:rPr>
              <a:t>，</a:t>
            </a:r>
            <a:r>
              <a:rPr lang="zh-CN" altLang="en-US" sz="1400" i="1" dirty="0">
                <a:solidFill>
                  <a:srgbClr val="8C8C8C"/>
                </a:solidFill>
              </a:rPr>
              <a:t>匹配</a:t>
            </a:r>
            <a:r>
              <a:rPr lang="en-GB" altLang="zh-CN" sz="1400" i="1" dirty="0">
                <a:solidFill>
                  <a:srgbClr val="8C8C8C"/>
                </a:solidFill>
              </a:rPr>
              <a:t>apple</a:t>
            </a:r>
            <a:r>
              <a:rPr lang="zh-CN" altLang="en-US" sz="1400" i="1" dirty="0">
                <a:solidFill>
                  <a:srgbClr val="8C8C8C"/>
                </a:solidFill>
              </a:rPr>
              <a:t>和</a:t>
            </a:r>
            <a:r>
              <a:rPr lang="en-GB" altLang="zh-CN" sz="1400" i="1" dirty="0">
                <a:solidFill>
                  <a:srgbClr val="8C8C8C"/>
                </a:solidFill>
              </a:rPr>
              <a:t>pear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fruit = [</a:t>
            </a:r>
            <a:r>
              <a:rPr lang="en-GB" altLang="zh-CN" sz="1400" dirty="0">
                <a:solidFill>
                  <a:srgbClr val="067D17"/>
                </a:solidFill>
              </a:rPr>
              <a:t>"apple"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"banana"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"orange"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"pear"</a:t>
            </a:r>
            <a:r>
              <a:rPr lang="en-GB" altLang="zh-CN" sz="1400" dirty="0"/>
              <a:t>]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获取字符串数据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for </a:t>
            </a:r>
            <a:r>
              <a:rPr lang="en-GB" altLang="zh-CN" sz="1400" dirty="0"/>
              <a:t>value </a:t>
            </a:r>
            <a:r>
              <a:rPr lang="en-GB" altLang="zh-CN" sz="1400" dirty="0">
                <a:solidFill>
                  <a:srgbClr val="0033B3"/>
                </a:solidFill>
              </a:rPr>
              <a:t>in </a:t>
            </a:r>
            <a:r>
              <a:rPr lang="en-GB" altLang="zh-CN" sz="1400" dirty="0"/>
              <a:t>fruit:</a:t>
            </a:r>
            <a:br>
              <a:rPr lang="en-GB" altLang="zh-CN" sz="1400" dirty="0"/>
            </a:br>
            <a:r>
              <a:rPr lang="en-GB" altLang="zh-CN" sz="1400" dirty="0"/>
              <a:t>    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</a:rPr>
              <a:t>apple|pear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, value)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判断匹配是否成功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zh-CN" altLang="en-US" sz="1400" i="1" dirty="0">
                <a:solidFill>
                  <a:srgbClr val="8C8C8C"/>
                </a:solidFill>
              </a:rPr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我想吃的水果</a:t>
            </a:r>
            <a:r>
              <a:rPr lang="en-US" altLang="zh-CN" sz="1400" dirty="0">
                <a:solidFill>
                  <a:srgbClr val="067D17"/>
                </a:solidFill>
              </a:rPr>
              <a:t>:"</a:t>
            </a:r>
            <a:r>
              <a:rPr lang="en-US" altLang="zh-CN" sz="1400" dirty="0"/>
              <a:t>,</a:t>
            </a:r>
            <a:r>
              <a:rPr lang="en-GB" altLang="zh-CN" sz="1400" dirty="0"/>
              <a:t>value)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f"</a:t>
            </a:r>
            <a:r>
              <a:rPr lang="zh-CN" altLang="en-US" sz="1400" dirty="0">
                <a:solidFill>
                  <a:srgbClr val="067D17"/>
                </a:solidFill>
              </a:rPr>
              <a:t>这个不是我想吃的水果</a:t>
            </a:r>
            <a:r>
              <a:rPr lang="en-US" altLang="zh-CN" sz="1400" dirty="0">
                <a:solidFill>
                  <a:srgbClr val="0037A6"/>
                </a:solidFill>
              </a:rPr>
              <a:t>{</a:t>
            </a:r>
            <a:r>
              <a:rPr lang="en-GB" altLang="zh-CN" sz="1400" dirty="0"/>
              <a:t>value</a:t>
            </a:r>
            <a:r>
              <a:rPr lang="en-GB" altLang="zh-CN" sz="1400" dirty="0">
                <a:solidFill>
                  <a:srgbClr val="0037A6"/>
                </a:solidFill>
              </a:rPr>
              <a:t>}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en-GB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72381" y="4621902"/>
            <a:ext cx="4759615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endParaRPr lang="en-GB" altLang="zh-CN" sz="1400" noProof="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我想吃的水果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apple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这个不是我想吃的水果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banana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这个不是我想吃的水果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orange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我想吃的水果</a:t>
            </a:r>
            <a:r>
              <a:rPr lang="en-US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pear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sp>
        <p:nvSpPr>
          <p:cNvPr id="12" name="文本占位符 3"/>
          <p:cNvSpPr txBox="1"/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、举个栗子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-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313219" y="1364929"/>
            <a:ext cx="10147260" cy="461664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需求：匹配出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163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126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、</a:t>
            </a:r>
            <a:r>
              <a:rPr lang="en-GB" altLang="zh-CN" sz="1400" i="1" dirty="0" err="1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qq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等邮箱</a:t>
            </a: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|   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匹配左右任意一个表达式</a:t>
            </a: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(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ab)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将括号中字符作为一个分组</a:t>
            </a: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\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转义字符</a:t>
            </a: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2-1</a:t>
            </a:r>
            <a:b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("[a-zA-Z0-9_]{4,20}@163|126|qq.com", "hello@163.com")  #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只能把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hello@163"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匹配出来</a:t>
            </a: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2-2</a:t>
            </a:r>
            <a:b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不能匹配出来子串 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因为分解成</a:t>
            </a: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"{4,20}@163" | "126" |  "</a:t>
            </a:r>
            <a:r>
              <a:rPr lang="en-GB" altLang="zh-CN" sz="1400" i="1" dirty="0" err="1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qq.com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b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result = </a:t>
            </a:r>
            <a:r>
              <a:rPr lang="en-GB" altLang="zh-CN" sz="1400" i="1" dirty="0" err="1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("[a-zA-Z0-9_]{4,20}@163|126|qq.com", "</a:t>
            </a:r>
            <a:r>
              <a:rPr lang="en-GB" altLang="zh-CN" sz="1400" i="1" dirty="0" err="1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hello@qq.com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")  #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不能匹配出来子串</a:t>
            </a: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2-3 (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ab)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将括号中字符作为一个分组</a:t>
            </a: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US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("[a-zA-Z0-9_]{4,20}@(163|126|qq).com", "</a:t>
            </a:r>
            <a:r>
              <a:rPr lang="en-GB" altLang="zh-CN" sz="1400" i="1" dirty="0" err="1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hello@qq.com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")</a:t>
            </a:r>
            <a:b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result = </a:t>
            </a:r>
            <a:r>
              <a:rPr lang="en-GB" altLang="zh-CN" sz="1400" i="1" dirty="0" err="1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("[a-zA-Z0-9_]{4,20}@(163|126|qq).com", "</a:t>
            </a:r>
            <a:r>
              <a:rPr lang="en-GB" altLang="zh-CN" sz="1400" i="1" dirty="0" err="1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hello@qqxcom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")</a:t>
            </a:r>
            <a:b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result = </a:t>
            </a:r>
            <a:r>
              <a:rPr lang="en-GB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re.match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GB" altLang="zh-CN" sz="1400" dirty="0">
                <a:solidFill>
                  <a:srgbClr val="067D17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"[a-zA-Z0-9_]{4,20}@(163|126|qq)\.com"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en-GB" altLang="zh-CN" sz="1400" dirty="0">
                <a:solidFill>
                  <a:srgbClr val="067D17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en-GB" altLang="zh-CN" sz="1400" dirty="0" err="1">
                <a:solidFill>
                  <a:srgbClr val="067D17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hello@qq.com</a:t>
            </a:r>
            <a:r>
              <a:rPr lang="en-GB" altLang="zh-CN" sz="1400" dirty="0">
                <a:solidFill>
                  <a:srgbClr val="067D17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 </a:t>
            </a:r>
            <a:r>
              <a:rPr lang="en-GB" altLang="zh-CN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需要使用转义字符</a:t>
            </a: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br>
              <a:rPr lang="zh-CN" altLang="en-US" sz="1400" i="1" dirty="0">
                <a:solidFill>
                  <a:srgbClr val="8C8C8C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info = </a:t>
            </a:r>
            <a:r>
              <a:rPr lang="en-GB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result.group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b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b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GB" altLang="zh-CN" sz="1400" dirty="0">
                <a:solidFill>
                  <a:srgbClr val="00008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en-GB" altLang="zh-CN" sz="1400" dirty="0">
                <a:solidFill>
                  <a:srgbClr val="067D17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'result--&gt;'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result)</a:t>
            </a:r>
            <a:b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en-GB" altLang="zh-CN" sz="1400" dirty="0">
                <a:solidFill>
                  <a:srgbClr val="00008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</a:t>
            </a:r>
            <a:r>
              <a:rPr lang="en-GB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(info)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2096336" y="7428164"/>
            <a:ext cx="4759615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apple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banana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orange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pear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313219" y="6062290"/>
            <a:ext cx="8482422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endParaRPr lang="en-GB" altLang="zh-CN" sz="1400" noProof="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result--&gt; &lt;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re.Match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object; span=(0, 12), match='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hello@qq.com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‘&gt;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hello@qq.com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sp>
        <p:nvSpPr>
          <p:cNvPr id="12" name="文本占位符 3"/>
          <p:cNvSpPr txBox="1"/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、举个栗子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-3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313219" y="1364929"/>
            <a:ext cx="10147260" cy="332398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</a:rPr>
              <a:t># 3 </a:t>
            </a:r>
            <a:r>
              <a:rPr lang="zh-CN" altLang="en-US" sz="1400" i="1" dirty="0">
                <a:solidFill>
                  <a:srgbClr val="8C8C8C"/>
                </a:solidFill>
              </a:rPr>
              <a:t>需求：匹配</a:t>
            </a:r>
            <a:r>
              <a:rPr lang="en-GB" altLang="zh-CN" sz="1400" i="1" dirty="0">
                <a:solidFill>
                  <a:srgbClr val="8C8C8C"/>
                </a:solidFill>
              </a:rPr>
              <a:t>qq:10567</a:t>
            </a:r>
            <a:r>
              <a:rPr lang="zh-CN" altLang="en-US" sz="1400" i="1" dirty="0">
                <a:solidFill>
                  <a:srgbClr val="8C8C8C"/>
                </a:solidFill>
              </a:rPr>
              <a:t>这样的数据，提取出来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zh-CN" altLang="en-US" sz="1400" i="1" dirty="0">
                <a:solidFill>
                  <a:srgbClr val="8C8C8C"/>
                </a:solidFill>
              </a:rPr>
              <a:t>文字和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zh-CN" altLang="en-US" sz="1400" i="1" dirty="0">
                <a:solidFill>
                  <a:srgbClr val="8C8C8C"/>
                </a:solidFill>
              </a:rPr>
              <a:t>号码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group(0)/group() </a:t>
            </a:r>
            <a:r>
              <a:rPr lang="zh-CN" altLang="en-US" sz="1400" i="1" dirty="0">
                <a:solidFill>
                  <a:srgbClr val="8C8C8C"/>
                </a:solidFill>
              </a:rPr>
              <a:t>代表的是匹配的所有数据 </a:t>
            </a:r>
            <a:r>
              <a:rPr lang="en-US" altLang="zh-CN" sz="1400" i="1" dirty="0">
                <a:solidFill>
                  <a:srgbClr val="8C8C8C"/>
                </a:solidFill>
              </a:rPr>
              <a:t>1:</a:t>
            </a:r>
            <a:r>
              <a:rPr lang="zh-CN" altLang="en-US" sz="1400" i="1" dirty="0">
                <a:solidFill>
                  <a:srgbClr val="8C8C8C"/>
                </a:solidFill>
              </a:rPr>
              <a:t>第一个分组的数据 </a:t>
            </a:r>
            <a:r>
              <a:rPr lang="en-US" altLang="zh-CN" sz="1400" i="1" dirty="0">
                <a:solidFill>
                  <a:srgbClr val="8C8C8C"/>
                </a:solidFill>
              </a:rPr>
              <a:t>2:</a:t>
            </a:r>
            <a:r>
              <a:rPr lang="zh-CN" altLang="en-US" sz="1400" i="1" dirty="0">
                <a:solidFill>
                  <a:srgbClr val="8C8C8C"/>
                </a:solidFill>
              </a:rPr>
              <a:t>第二个分组的数据 顺序是从左到右依次排序的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("(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en-GB" altLang="zh-CN" sz="1400" i="1" dirty="0">
                <a:solidFill>
                  <a:srgbClr val="8C8C8C"/>
                </a:solidFill>
              </a:rPr>
              <a:t>):([0-9]\d{4,11})", "qq:10567")  # </a:t>
            </a:r>
            <a:r>
              <a:rPr lang="zh-CN" altLang="en-US" sz="1400" i="1" dirty="0">
                <a:solidFill>
                  <a:srgbClr val="8C8C8C"/>
                </a:solidFill>
              </a:rPr>
              <a:t>一般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zh-CN" altLang="en-US" sz="1400" i="1" dirty="0">
                <a:solidFill>
                  <a:srgbClr val="8C8C8C"/>
                </a:solidFill>
              </a:rPr>
              <a:t>号不以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开头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"(</a:t>
            </a:r>
            <a:r>
              <a:rPr lang="en-GB" altLang="zh-CN" sz="1400" dirty="0" err="1">
                <a:solidFill>
                  <a:srgbClr val="067D17"/>
                </a:solidFill>
              </a:rPr>
              <a:t>qq</a:t>
            </a:r>
            <a:r>
              <a:rPr lang="en-GB" altLang="zh-CN" sz="1400" dirty="0">
                <a:solidFill>
                  <a:srgbClr val="067D17"/>
                </a:solidFill>
              </a:rPr>
              <a:t>):([1-9]\d{4,11})"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"qq:10567"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</a:rPr>
              <a:t>0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num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</a:rPr>
              <a:t>2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(num)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type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</a:rPr>
              <a:t>1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(type)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匹配失败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2096336" y="7428164"/>
            <a:ext cx="4759615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apple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banana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orange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pear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313219" y="5319876"/>
            <a:ext cx="8482422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zh-CN" altLang="en-GB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运行效果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qq:10567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10567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qq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sp>
        <p:nvSpPr>
          <p:cNvPr id="12" name="文本占位符 3"/>
          <p:cNvSpPr txBox="1"/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、举个栗子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-3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313219" y="1364929"/>
            <a:ext cx="10147260" cy="332398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8C8C8C"/>
                </a:solidFill>
              </a:rPr>
              <a:t># 3 </a:t>
            </a:r>
            <a:r>
              <a:rPr lang="zh-CN" altLang="en-US" sz="1400" i="1" dirty="0">
                <a:solidFill>
                  <a:srgbClr val="8C8C8C"/>
                </a:solidFill>
              </a:rPr>
              <a:t>需求：匹配</a:t>
            </a:r>
            <a:r>
              <a:rPr lang="en-GB" altLang="zh-CN" sz="1400" i="1" dirty="0">
                <a:solidFill>
                  <a:srgbClr val="8C8C8C"/>
                </a:solidFill>
              </a:rPr>
              <a:t>qq:10567</a:t>
            </a:r>
            <a:r>
              <a:rPr lang="zh-CN" altLang="en-US" sz="1400" i="1" dirty="0">
                <a:solidFill>
                  <a:srgbClr val="8C8C8C"/>
                </a:solidFill>
              </a:rPr>
              <a:t>这样的数据，提取出来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zh-CN" altLang="en-US" sz="1400" i="1" dirty="0">
                <a:solidFill>
                  <a:srgbClr val="8C8C8C"/>
                </a:solidFill>
              </a:rPr>
              <a:t>文字和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zh-CN" altLang="en-US" sz="1400" i="1" dirty="0">
                <a:solidFill>
                  <a:srgbClr val="8C8C8C"/>
                </a:solidFill>
              </a:rPr>
              <a:t>号码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group(0)/group() </a:t>
            </a:r>
            <a:r>
              <a:rPr lang="zh-CN" altLang="en-US" sz="1400" i="1" dirty="0">
                <a:solidFill>
                  <a:srgbClr val="8C8C8C"/>
                </a:solidFill>
              </a:rPr>
              <a:t>代表的是匹配的所有数据 </a:t>
            </a:r>
            <a:r>
              <a:rPr lang="en-US" altLang="zh-CN" sz="1400" i="1" dirty="0">
                <a:solidFill>
                  <a:srgbClr val="8C8C8C"/>
                </a:solidFill>
              </a:rPr>
              <a:t>1:</a:t>
            </a:r>
            <a:r>
              <a:rPr lang="zh-CN" altLang="en-US" sz="1400" i="1" dirty="0">
                <a:solidFill>
                  <a:srgbClr val="8C8C8C"/>
                </a:solidFill>
              </a:rPr>
              <a:t>第一个分组的数据 </a:t>
            </a:r>
            <a:r>
              <a:rPr lang="en-US" altLang="zh-CN" sz="1400" i="1" dirty="0">
                <a:solidFill>
                  <a:srgbClr val="8C8C8C"/>
                </a:solidFill>
              </a:rPr>
              <a:t>2:</a:t>
            </a:r>
            <a:r>
              <a:rPr lang="zh-CN" altLang="en-US" sz="1400" i="1" dirty="0">
                <a:solidFill>
                  <a:srgbClr val="8C8C8C"/>
                </a:solidFill>
              </a:rPr>
              <a:t>第二个分组的数据 顺序是从左到右依次排序的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("(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en-GB" altLang="zh-CN" sz="1400" i="1" dirty="0">
                <a:solidFill>
                  <a:srgbClr val="8C8C8C"/>
                </a:solidFill>
              </a:rPr>
              <a:t>):([0-9]\d{4,11})", "qq:10567")  # </a:t>
            </a:r>
            <a:r>
              <a:rPr lang="zh-CN" altLang="en-US" sz="1400" i="1" dirty="0">
                <a:solidFill>
                  <a:srgbClr val="8C8C8C"/>
                </a:solidFill>
              </a:rPr>
              <a:t>一般</a:t>
            </a:r>
            <a:r>
              <a:rPr lang="en-GB" altLang="zh-CN" sz="1400" i="1" dirty="0" err="1">
                <a:solidFill>
                  <a:srgbClr val="8C8C8C"/>
                </a:solidFill>
              </a:rPr>
              <a:t>qq</a:t>
            </a:r>
            <a:r>
              <a:rPr lang="zh-CN" altLang="en-US" sz="1400" i="1" dirty="0">
                <a:solidFill>
                  <a:srgbClr val="8C8C8C"/>
                </a:solidFill>
              </a:rPr>
              <a:t>号不以</a:t>
            </a:r>
            <a:r>
              <a:rPr lang="en-US" altLang="zh-CN" sz="1400" i="1" dirty="0">
                <a:solidFill>
                  <a:srgbClr val="8C8C8C"/>
                </a:solidFill>
              </a:rPr>
              <a:t>0</a:t>
            </a:r>
            <a:r>
              <a:rPr lang="zh-CN" altLang="en-US" sz="1400" i="1" dirty="0">
                <a:solidFill>
                  <a:srgbClr val="8C8C8C"/>
                </a:solidFill>
              </a:rPr>
              <a:t>开头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"(</a:t>
            </a:r>
            <a:r>
              <a:rPr lang="en-GB" altLang="zh-CN" sz="1400" dirty="0" err="1">
                <a:solidFill>
                  <a:srgbClr val="067D17"/>
                </a:solidFill>
              </a:rPr>
              <a:t>qq</a:t>
            </a:r>
            <a:r>
              <a:rPr lang="en-GB" altLang="zh-CN" sz="1400" dirty="0">
                <a:solidFill>
                  <a:srgbClr val="067D17"/>
                </a:solidFill>
              </a:rPr>
              <a:t>):([1-9]\d{4,11})"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"qq:10567"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</a:rPr>
              <a:t>0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num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</a:rPr>
              <a:t>2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(num)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type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1750EB"/>
                </a:solidFill>
              </a:rPr>
              <a:t>1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(type)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"</a:t>
            </a:r>
            <a:r>
              <a:rPr lang="zh-CN" altLang="en-US" sz="1400" dirty="0">
                <a:solidFill>
                  <a:srgbClr val="067D17"/>
                </a:solidFill>
              </a:rPr>
              <a:t>匹配失败</a:t>
            </a:r>
            <a:r>
              <a:rPr lang="en-US" altLang="zh-CN" sz="1400" dirty="0">
                <a:solidFill>
                  <a:srgbClr val="067D17"/>
                </a:solidFill>
              </a:rPr>
              <a:t>"</a:t>
            </a:r>
            <a:r>
              <a:rPr lang="en-US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2096336" y="7428164"/>
            <a:ext cx="4759615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apple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banana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orange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pear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313219" y="5319876"/>
            <a:ext cx="8482422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zh-CN" altLang="en-GB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运行效果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qq:10567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10567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lvl="0"/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qq</a:t>
            </a:r>
            <a:endParaRPr lang="en-GB" altLang="zh-CN" sz="1400" dirty="0">
              <a:solidFill>
                <a:prstClr val="black">
                  <a:lumMod val="85000"/>
                  <a:lumOff val="15000"/>
                </a:prst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sp>
        <p:nvSpPr>
          <p:cNvPr id="12" name="文本占位符 3"/>
          <p:cNvSpPr txBox="1"/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2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、举个栗子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阿里巴巴普惠体" panose="00020600040101010101" pitchFamily="18" charset="-122"/>
              </a:rPr>
              <a:t>-</a:t>
            </a:r>
            <a:r>
              <a:rPr lang="en-US" altLang="zh-CN" dirty="0">
                <a:solidFill>
                  <a:prstClr val="black">
                    <a:lumMod val="85000"/>
                    <a:lumOff val="1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Helvetica Neue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1313219" y="1364929"/>
            <a:ext cx="10147260" cy="332398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有关分组</a:t>
            </a:r>
            <a:r>
              <a:rPr lang="en-US" altLang="zh-CN" sz="1400" i="1" dirty="0">
                <a:solidFill>
                  <a:srgbClr val="8C8C8C"/>
                </a:solidFill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</a:rPr>
              <a:t>分组的引用</a:t>
            </a:r>
            <a:r>
              <a:rPr lang="en-US" altLang="zh-CN" sz="1400" i="1" dirty="0">
                <a:solidFill>
                  <a:srgbClr val="8C8C8C"/>
                </a:solidFill>
              </a:rPr>
              <a:t>, </a:t>
            </a:r>
            <a:r>
              <a:rPr lang="zh-CN" altLang="en-US" sz="1400" i="1" dirty="0">
                <a:solidFill>
                  <a:srgbClr val="8C8C8C"/>
                </a:solidFill>
              </a:rPr>
              <a:t>给分组起个别名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4 </a:t>
            </a:r>
            <a:r>
              <a:rPr lang="zh-CN" altLang="en-US" sz="1400" i="1" dirty="0">
                <a:solidFill>
                  <a:srgbClr val="8C8C8C"/>
                </a:solidFill>
              </a:rPr>
              <a:t>需求：匹配出</a:t>
            </a:r>
            <a:r>
              <a:rPr lang="en-US" altLang="zh-CN" sz="1400" i="1" dirty="0">
                <a:solidFill>
                  <a:srgbClr val="8C8C8C"/>
                </a:solidFill>
              </a:rPr>
              <a:t>&lt;</a:t>
            </a:r>
            <a:r>
              <a:rPr lang="en-GB" altLang="zh-CN" sz="1400" i="1" dirty="0">
                <a:solidFill>
                  <a:srgbClr val="8C8C8C"/>
                </a:solidFill>
              </a:rPr>
              <a:t>html&gt;</a:t>
            </a:r>
            <a:r>
              <a:rPr lang="en-GB" altLang="zh-CN" sz="1400" i="1" dirty="0" err="1">
                <a:solidFill>
                  <a:srgbClr val="8C8C8C"/>
                </a:solidFill>
              </a:rPr>
              <a:t>hh</a:t>
            </a:r>
            <a:r>
              <a:rPr lang="en-GB" altLang="zh-CN" sz="1400" i="1" dirty="0">
                <a:solidFill>
                  <a:srgbClr val="8C8C8C"/>
                </a:solidFill>
              </a:rPr>
              <a:t>&lt;/html&gt;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# \num </a:t>
            </a:r>
            <a:r>
              <a:rPr lang="zh-CN" altLang="en-US" sz="1400" i="1" dirty="0">
                <a:solidFill>
                  <a:srgbClr val="8C8C8C"/>
                </a:solidFill>
              </a:rPr>
              <a:t>引用分组</a:t>
            </a:r>
            <a:r>
              <a:rPr lang="en-GB" altLang="zh-CN" sz="1400" i="1" dirty="0">
                <a:solidFill>
                  <a:srgbClr val="8C8C8C"/>
                </a:solidFill>
              </a:rPr>
              <a:t>num</a:t>
            </a:r>
            <a:r>
              <a:rPr lang="zh-CN" altLang="en-US" sz="1400" i="1" dirty="0">
                <a:solidFill>
                  <a:srgbClr val="8C8C8C"/>
                </a:solidFill>
              </a:rPr>
              <a:t>匹配到的字符串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en-GB" altLang="zh-CN" sz="1400" i="1" dirty="0">
                <a:solidFill>
                  <a:srgbClr val="8C8C8C"/>
                </a:solidFill>
              </a:rPr>
              <a:t>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(“&lt;([a-zA-Z1-6]{4})&gt;.*&lt;/([a-zA-Z1-6]{4})&gt;”, “&lt;html&gt;</a:t>
            </a:r>
            <a:r>
              <a:rPr lang="en-GB" altLang="zh-CN" sz="1400" i="1" dirty="0" err="1">
                <a:solidFill>
                  <a:srgbClr val="8C8C8C"/>
                </a:solidFill>
              </a:rPr>
              <a:t>hh</a:t>
            </a:r>
            <a:r>
              <a:rPr lang="en-GB" altLang="zh-CN" sz="1400" i="1" dirty="0">
                <a:solidFill>
                  <a:srgbClr val="8C8C8C"/>
                </a:solidFill>
              </a:rPr>
              <a:t>&lt;/html&gt;”)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i="1" dirty="0">
                <a:solidFill>
                  <a:srgbClr val="8C8C8C"/>
                </a:solidFill>
              </a:rPr>
              <a:t># result = </a:t>
            </a:r>
            <a:r>
              <a:rPr lang="en-GB" altLang="zh-CN" sz="1400" i="1" dirty="0" err="1">
                <a:solidFill>
                  <a:srgbClr val="8C8C8C"/>
                </a:solidFill>
              </a:rPr>
              <a:t>re.match</a:t>
            </a:r>
            <a:r>
              <a:rPr lang="en-GB" altLang="zh-CN" sz="1400" i="1" dirty="0">
                <a:solidFill>
                  <a:srgbClr val="8C8C8C"/>
                </a:solidFill>
              </a:rPr>
              <a:t>(“&lt;([a-zA-Z1-6]{4})&gt;.*&lt;/\\1&gt;”, “&lt;html&gt;</a:t>
            </a:r>
            <a:r>
              <a:rPr lang="en-GB" altLang="zh-CN" sz="1400" i="1" dirty="0" err="1">
                <a:solidFill>
                  <a:srgbClr val="8C8C8C"/>
                </a:solidFill>
              </a:rPr>
              <a:t>hh</a:t>
            </a:r>
            <a:r>
              <a:rPr lang="en-GB" altLang="zh-CN" sz="1400" i="1" dirty="0">
                <a:solidFill>
                  <a:srgbClr val="8C8C8C"/>
                </a:solidFill>
              </a:rPr>
              <a:t>&lt;/html&gt;”)</a:t>
            </a:r>
            <a:br>
              <a:rPr lang="en-GB" altLang="zh-CN" sz="1400" i="1" dirty="0">
                <a:solidFill>
                  <a:srgbClr val="8C8C8C"/>
                </a:solidFill>
              </a:rPr>
            </a:br>
            <a:r>
              <a:rPr lang="en-GB" altLang="zh-CN" sz="1400" dirty="0"/>
              <a:t>result = </a:t>
            </a:r>
            <a:r>
              <a:rPr lang="en-GB" altLang="zh-CN" sz="1400" dirty="0" err="1"/>
              <a:t>re.match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r“&lt;([a-zA-Z1-6]{4})&gt;.*&lt;/\1&gt;”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067D17"/>
                </a:solidFill>
              </a:rPr>
              <a:t>“&lt;html&gt;</a:t>
            </a:r>
            <a:r>
              <a:rPr lang="en-GB" altLang="zh-CN" sz="1400" dirty="0" err="1">
                <a:solidFill>
                  <a:srgbClr val="067D17"/>
                </a:solidFill>
              </a:rPr>
              <a:t>hh</a:t>
            </a:r>
            <a:r>
              <a:rPr lang="en-GB" altLang="zh-CN" sz="1400" dirty="0">
                <a:solidFill>
                  <a:srgbClr val="067D17"/>
                </a:solidFill>
              </a:rPr>
              <a:t>&lt;/html&gt;”</a:t>
            </a:r>
            <a:r>
              <a:rPr lang="en-GB" altLang="zh-CN" sz="1400" dirty="0"/>
              <a:t>)  </a:t>
            </a:r>
            <a:r>
              <a:rPr lang="en-GB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前面加</a:t>
            </a:r>
            <a:r>
              <a:rPr lang="en-US" altLang="zh-CN" sz="1400" i="1" dirty="0">
                <a:solidFill>
                  <a:srgbClr val="8C8C8C"/>
                </a:solidFill>
              </a:rPr>
              <a:t>1</a:t>
            </a:r>
            <a:r>
              <a:rPr lang="zh-CN" altLang="en-US" sz="1400" i="1" dirty="0">
                <a:solidFill>
                  <a:srgbClr val="8C8C8C"/>
                </a:solidFill>
              </a:rPr>
              <a:t>个</a:t>
            </a:r>
            <a:r>
              <a:rPr lang="en-GB" altLang="zh-CN" sz="1400" i="1" dirty="0">
                <a:solidFill>
                  <a:srgbClr val="8C8C8C"/>
                </a:solidFill>
              </a:rPr>
              <a:t>r,</a:t>
            </a:r>
            <a:r>
              <a:rPr lang="zh-CN" altLang="en-US" sz="1400" i="1" dirty="0">
                <a:solidFill>
                  <a:srgbClr val="8C8C8C"/>
                </a:solidFill>
              </a:rPr>
              <a:t>也不用转义了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GB" altLang="zh-CN" sz="1400" dirty="0">
                <a:solidFill>
                  <a:srgbClr val="0033B3"/>
                </a:solidFill>
              </a:rPr>
              <a:t>if </a:t>
            </a:r>
            <a:r>
              <a:rPr lang="en-GB" altLang="zh-CN" sz="1400" dirty="0"/>
              <a:t>result:</a:t>
            </a:r>
            <a:br>
              <a:rPr lang="en-GB" altLang="zh-CN" sz="1400" dirty="0"/>
            </a:br>
            <a:r>
              <a:rPr lang="en-GB" altLang="zh-CN" sz="1400" dirty="0"/>
              <a:t>    info = </a:t>
            </a:r>
            <a:r>
              <a:rPr lang="en-GB" altLang="zh-CN" sz="1400" dirty="0" err="1"/>
              <a:t>result.group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(info)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33B3"/>
                </a:solidFill>
              </a:rPr>
              <a:t>else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“</a:t>
            </a:r>
            <a:r>
              <a:rPr lang="zh-CN" altLang="en-US" sz="1400" dirty="0">
                <a:solidFill>
                  <a:srgbClr val="067D17"/>
                </a:solidFill>
              </a:rPr>
              <a:t>匹配失败</a:t>
            </a:r>
            <a:r>
              <a:rPr lang="en-US" altLang="zh-CN" sz="1400" dirty="0">
                <a:solidFill>
                  <a:srgbClr val="067D17"/>
                </a:solidFill>
              </a:rPr>
              <a:t>”</a:t>
            </a:r>
            <a:r>
              <a:rPr lang="en-US" altLang="zh-CN" sz="1400" dirty="0"/>
              <a:t>)</a:t>
            </a:r>
            <a:br>
              <a:rPr lang="en-US" altLang="zh-CN" sz="1400" dirty="0"/>
            </a:br>
            <a:br>
              <a:rPr lang="en-US" altLang="zh-CN" sz="1400" dirty="0"/>
            </a:br>
            <a:r>
              <a:rPr lang="en-US" altLang="zh-CN" sz="1400" i="1" dirty="0">
                <a:solidFill>
                  <a:srgbClr val="8C8C8C"/>
                </a:solidFill>
              </a:rPr>
              <a:t># </a:t>
            </a:r>
            <a:r>
              <a:rPr lang="zh-CN" altLang="en-US" sz="1400" i="1" dirty="0">
                <a:solidFill>
                  <a:srgbClr val="8C8C8C"/>
                </a:solidFill>
              </a:rPr>
              <a:t>测试打印</a:t>
            </a:r>
            <a:r>
              <a:rPr lang="en-US" altLang="zh-CN" sz="1400" i="1" dirty="0">
                <a:solidFill>
                  <a:srgbClr val="8C8C8C"/>
                </a:solidFill>
              </a:rPr>
              <a:t>,</a:t>
            </a:r>
            <a:r>
              <a:rPr lang="zh-CN" altLang="en-US" sz="1400" i="1" dirty="0">
                <a:solidFill>
                  <a:srgbClr val="8C8C8C"/>
                </a:solidFill>
              </a:rPr>
              <a:t>比较不同</a:t>
            </a:r>
            <a:br>
              <a:rPr lang="zh-CN" altLang="en-US" sz="1400" i="1" dirty="0">
                <a:solidFill>
                  <a:srgbClr val="8C8C8C"/>
                </a:solidFill>
              </a:rPr>
            </a:br>
            <a:r>
              <a:rPr lang="en-US" altLang="zh-CN" sz="1400" i="1" dirty="0">
                <a:solidFill>
                  <a:srgbClr val="8C8C8C"/>
                </a:solidFill>
              </a:rPr>
              <a:t>#</a:t>
            </a:r>
            <a:r>
              <a:rPr lang="zh-CN" altLang="en-US" sz="1400" i="1" dirty="0">
                <a:solidFill>
                  <a:srgbClr val="8C8C8C"/>
                </a:solidFill>
              </a:rPr>
              <a:t>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‘</a:t>
            </a:r>
            <a:r>
              <a:rPr lang="en-GB" altLang="zh-CN" sz="1400" dirty="0">
                <a:solidFill>
                  <a:srgbClr val="0037A6"/>
                </a:solidFill>
              </a:rPr>
              <a:t>\1</a:t>
            </a:r>
            <a:r>
              <a:rPr lang="en-GB" altLang="zh-CN" sz="1400" dirty="0">
                <a:solidFill>
                  <a:srgbClr val="067D17"/>
                </a:solidFill>
              </a:rPr>
              <a:t>’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US" altLang="zh-CN" sz="1400" dirty="0"/>
              <a:t>#</a:t>
            </a:r>
            <a:r>
              <a:rPr lang="zh-CN" altLang="en-US" sz="1400" dirty="0"/>
              <a:t> </a:t>
            </a:r>
            <a:r>
              <a:rPr lang="en-GB" altLang="zh-CN" sz="1400" dirty="0">
                <a:solidFill>
                  <a:srgbClr val="000080"/>
                </a:solidFill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67D17"/>
                </a:solidFill>
              </a:rPr>
              <a:t>'</a:t>
            </a:r>
            <a:r>
              <a:rPr lang="en-GB" altLang="zh-CN" sz="1400" dirty="0">
                <a:solidFill>
                  <a:srgbClr val="0037A6"/>
                </a:solidFill>
              </a:rPr>
              <a:t>\\</a:t>
            </a:r>
            <a:r>
              <a:rPr lang="en-GB" altLang="zh-CN" sz="1400" dirty="0">
                <a:solidFill>
                  <a:srgbClr val="067D17"/>
                </a:solidFill>
              </a:rPr>
              <a:t>1'</a:t>
            </a:r>
            <a:r>
              <a:rPr lang="en-GB" altLang="zh-CN" sz="1400" dirty="0"/>
              <a:t>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-2096336" y="7428164"/>
            <a:ext cx="4759615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程序运行结果：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apple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banana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这个不是我想吃的水果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orange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  我想吃的水果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: </a:t>
            </a:r>
            <a:r>
              <a:rPr kumimoji="0" lang="en-GB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pear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1313219" y="5319876"/>
            <a:ext cx="8482422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pPr lvl="0"/>
            <a:r>
              <a:rPr kumimoji="0" lang="zh-CN" alt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程序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运行效果</a:t>
            </a:r>
            <a:r>
              <a:rPr lang="zh-CN" altLang="en-US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  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&lt;html&gt;</a:t>
            </a:r>
            <a:r>
              <a:rPr lang="en-GB" altLang="zh-CN" sz="1400" dirty="0" err="1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hh</a:t>
            </a:r>
            <a:r>
              <a:rPr lang="en-GB" altLang="zh-CN" sz="1400" dirty="0">
                <a:solidFill>
                  <a:prstClr val="black">
                    <a:lumMod val="85000"/>
                    <a:lumOff val="15000"/>
                  </a:prst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&lt;/html&gt;</a:t>
            </a:r>
            <a:endParaRPr kumimoji="0" lang="en-GB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正则表达式编写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、总结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 rot="2700000">
            <a:off x="1516063" y="2475321"/>
            <a:ext cx="1544637" cy="154463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 rot="2700000">
            <a:off x="1300163" y="2467383"/>
            <a:ext cx="1544638" cy="15446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占位符 1"/>
          <p:cNvSpPr txBox="1">
            <a:spLocks noChangeArrowheads="1"/>
          </p:cNvSpPr>
          <p:nvPr/>
        </p:nvSpPr>
        <p:spPr bwMode="auto">
          <a:xfrm>
            <a:off x="174625" y="2880133"/>
            <a:ext cx="38290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36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TW" altLang="zh-CN" sz="36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3596505" y="1635973"/>
          <a:ext cx="7976220" cy="2038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495"/>
                <a:gridCol w="5800725"/>
              </a:tblGrid>
              <a:tr h="46905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代码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</a:t>
                      </a:r>
                      <a:endParaRPr lang="zh-CN" altLang="en-US" dirty="0"/>
                    </a:p>
                  </a:txBody>
                  <a:tcPr/>
                </a:tc>
              </a:tr>
              <a:tr h="523253">
                <a:tc>
                  <a:txBody>
                    <a:bodyPr/>
                    <a:lstStyle/>
                    <a:p>
                      <a:pPr algn="ctr"/>
                      <a:r>
                        <a:rPr lang="hr-HR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|</a:t>
                      </a:r>
                      <a:endParaRPr lang="hr-HR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匹配左右任意一个表达式</a:t>
                      </a:r>
                      <a:endParaRPr lang="zh-CN" altLang="en-US" sz="140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23253">
                <a:tc>
                  <a:txBody>
                    <a:bodyPr/>
                    <a:lstStyle/>
                    <a:p>
                      <a:pPr algn="ctr"/>
                      <a:r>
                        <a:rPr lang="is-I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(ab)</a:t>
                      </a:r>
                      <a:endParaRPr lang="is-I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将括号中字符作为一个分组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  <a:tr h="52325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\</a:t>
                      </a:r>
                      <a:r>
                        <a:rPr lang="en-US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num</a:t>
                      </a:r>
                      <a:endParaRPr 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引用分组</a:t>
                      </a:r>
                      <a:r>
                        <a:rPr lang="en-US" altLang="zh-CN" sz="1400" dirty="0" err="1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num</a:t>
                      </a:r>
                      <a:r>
                        <a:rPr lang="zh-CN" altLang="en-US" sz="1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匹配到的字符串</a:t>
                      </a:r>
                      <a:endParaRPr lang="zh-CN" altLang="en-US" sz="14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65100" marR="165100" marT="76200" marB="7620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endParaRPr lang="zh-CN" altLang="en-US" dirty="0"/>
          </a:p>
        </p:txBody>
      </p:sp>
      <p:sp>
        <p:nvSpPr>
          <p:cNvPr id="5" name="文本占位符 4"/>
          <p:cNvSpPr txBox="1">
            <a:spLocks noGrp="1"/>
          </p:cNvSpPr>
          <p:nvPr>
            <p:ph type="body" sz="quarter" idx="11"/>
          </p:nvPr>
        </p:nvSpPr>
        <p:spPr>
          <a:xfrm>
            <a:off x="711199" y="1646237"/>
            <a:ext cx="10749279" cy="2778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zh-CN" altLang="pt-BR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需求：在列表中</a:t>
            </a:r>
            <a:r>
              <a:rPr lang="pt-BR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["</a:t>
            </a:r>
            <a:r>
              <a:rPr lang="pt-BR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apple</a:t>
            </a:r>
            <a:r>
              <a:rPr lang="pt-BR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"banana", "</a:t>
            </a:r>
            <a:r>
              <a:rPr lang="pt-BR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orange</a:t>
            </a:r>
            <a:r>
              <a:rPr lang="pt-BR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"pear"]</a:t>
            </a:r>
            <a:r>
              <a:rPr lang="zh-CN" altLang="pt-BR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，匹配</a:t>
            </a:r>
            <a:r>
              <a:rPr lang="pt-BR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apple</a:t>
            </a:r>
            <a:r>
              <a:rPr lang="zh-CN" altLang="pt-BR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pt-BR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pear</a:t>
            </a:r>
            <a:endParaRPr lang="pt-BR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②需求：匹配出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163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126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qq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等邮箱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③需求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匹配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qq:10567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这样的数据，提取出来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qq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文字和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qq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号码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④需求：匹配出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&lt;html&gt;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hh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&lt;/html&gt;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⑤需求：匹配出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&lt;html&gt;&lt;h1&gt;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www.itcast.cn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&lt;/h1&gt;&lt;/html&gt;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10507</Words>
  <Application>WPS 演示</Application>
  <PresentationFormat>宽屏</PresentationFormat>
  <Paragraphs>581</Paragraphs>
  <Slides>49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49</vt:i4>
      </vt:variant>
    </vt:vector>
  </HeadingPairs>
  <TitlesOfParts>
    <vt:vector size="81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Alibaba PuHuiTi M</vt:lpstr>
      <vt:lpstr>Segoe UI Light</vt:lpstr>
      <vt:lpstr>微软雅黑 Light</vt:lpstr>
      <vt:lpstr>Alibaba PuHuiTi M</vt:lpstr>
      <vt:lpstr>JetBrains Mono</vt:lpstr>
      <vt:lpstr>Helvetica Neue</vt:lpstr>
      <vt:lpstr>-apple-system</vt:lpstr>
      <vt:lpstr>Arial Unicode MS</vt:lpstr>
      <vt:lpstr>等线</vt:lpstr>
      <vt:lpstr>The best part</vt:lpstr>
      <vt:lpstr>Radam</vt:lpstr>
      <vt:lpstr>仓耳玄三M W05</vt:lpstr>
      <vt:lpstr>Miss Sweetie</vt:lpstr>
      <vt:lpstr>汉仪君黑-45简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Python正则表达式</vt:lpstr>
      <vt:lpstr>正则表达式概述</vt:lpstr>
      <vt:lpstr>正则表达式概述</vt:lpstr>
      <vt:lpstr>正则表达式概述</vt:lpstr>
      <vt:lpstr>re模块的介绍</vt:lpstr>
      <vt:lpstr>正则表达式概述</vt:lpstr>
      <vt:lpstr>正则表达式概述</vt:lpstr>
      <vt:lpstr>正则表达式概述</vt:lpstr>
      <vt:lpstr>正则表达式概述</vt:lpstr>
      <vt:lpstr>正则表达式概述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正则表达式编写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曹宇[囧]</cp:lastModifiedBy>
  <cp:revision>951</cp:revision>
  <dcterms:created xsi:type="dcterms:W3CDTF">2020-03-31T02:23:00Z</dcterms:created>
  <dcterms:modified xsi:type="dcterms:W3CDTF">2025-11-07T10:46:10Z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E0CC711CB4694195AA1CC4DEDD2EB438_12</vt:lpwstr>
  </property>
  <property fmtid="{D5CDD505-2E9C-101B-9397-08002B2CF9AE}" pid="3" name="KSOProductBuildVer">
    <vt:lpwstr>2052-12.1.0.23542</vt:lpwstr>
  </property>
</Properties>
</file>