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59" r:id="rId5"/>
    <p:sldMasterId id="2147483662" r:id="rId6"/>
    <p:sldMasterId id="2147483664" r:id="rId7"/>
    <p:sldMasterId id="2147483681" r:id="rId8"/>
    <p:sldMasterId id="2147483683" r:id="rId9"/>
    <p:sldMasterId id="2147483699" r:id="rId10"/>
    <p:sldMasterId id="2147483716" r:id="rId11"/>
    <p:sldMasterId id="2147483733" r:id="rId12"/>
    <p:sldMasterId id="2147483736" r:id="rId13"/>
    <p:sldMasterId id="2147483739" r:id="rId14"/>
    <p:sldMasterId id="2147483742" r:id="rId15"/>
    <p:sldMasterId id="2147483745" r:id="rId16"/>
    <p:sldMasterId id="2147483748" r:id="rId17"/>
  </p:sldMasterIdLst>
  <p:notesMasterIdLst>
    <p:notesMasterId r:id="rId56"/>
  </p:notesMasterIdLst>
  <p:handoutMasterIdLst>
    <p:handoutMasterId r:id="rId57"/>
  </p:handoutMasterIdLst>
  <p:sldIdLst>
    <p:sldId id="1095" r:id="rId18"/>
    <p:sldId id="1802" r:id="rId19"/>
    <p:sldId id="1803" r:id="rId20"/>
    <p:sldId id="1521" r:id="rId21"/>
    <p:sldId id="1797" r:id="rId22"/>
    <p:sldId id="1773" r:id="rId23"/>
    <p:sldId id="1798" r:id="rId24"/>
    <p:sldId id="1777" r:id="rId25"/>
    <p:sldId id="1778" r:id="rId26"/>
    <p:sldId id="1696" r:id="rId27"/>
    <p:sldId id="1753" r:id="rId28"/>
    <p:sldId id="1754" r:id="rId29"/>
    <p:sldId id="1779" r:id="rId30"/>
    <p:sldId id="1780" r:id="rId31"/>
    <p:sldId id="1781" r:id="rId32"/>
    <p:sldId id="1756" r:id="rId33"/>
    <p:sldId id="1757" r:id="rId34"/>
    <p:sldId id="1758" r:id="rId35"/>
    <p:sldId id="1759" r:id="rId36"/>
    <p:sldId id="1785" r:id="rId37"/>
    <p:sldId id="1786" r:id="rId38"/>
    <p:sldId id="1799" r:id="rId39"/>
    <p:sldId id="1760" r:id="rId40"/>
    <p:sldId id="1761" r:id="rId41"/>
    <p:sldId id="1762" r:id="rId42"/>
    <p:sldId id="1782" r:id="rId43"/>
    <p:sldId id="1788" r:id="rId44"/>
    <p:sldId id="1764" r:id="rId45"/>
    <p:sldId id="1769" r:id="rId46"/>
    <p:sldId id="1770" r:id="rId47"/>
    <p:sldId id="1784" r:id="rId48"/>
    <p:sldId id="1800" r:id="rId49"/>
    <p:sldId id="1795" r:id="rId50"/>
    <p:sldId id="1796" r:id="rId51"/>
    <p:sldId id="1801" r:id="rId52"/>
    <p:sldId id="1804" r:id="rId53"/>
    <p:sldId id="1772" r:id="rId54"/>
    <p:sldId id="1697" r:id="rId55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FFFFFF"/>
    <a:srgbClr val="49504F"/>
    <a:srgbClr val="B60206"/>
    <a:srgbClr val="AD2B2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 autoAdjust="0"/>
    <p:restoredTop sz="95392" autoAdjust="0"/>
  </p:normalViewPr>
  <p:slideViewPr>
    <p:cSldViewPr snapToGrid="0">
      <p:cViewPr varScale="1">
        <p:scale>
          <a:sx n="141" d="100"/>
          <a:sy n="141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Master" Target="slideMasters/slideMaster5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38.xml"/><Relationship Id="rId54" Type="http://schemas.openxmlformats.org/officeDocument/2006/relationships/slide" Target="slides/slide37.xml"/><Relationship Id="rId53" Type="http://schemas.openxmlformats.org/officeDocument/2006/relationships/slide" Target="slides/slide36.xml"/><Relationship Id="rId52" Type="http://schemas.openxmlformats.org/officeDocument/2006/relationships/slide" Target="slides/slide35.xml"/><Relationship Id="rId51" Type="http://schemas.openxmlformats.org/officeDocument/2006/relationships/slide" Target="slides/slide34.xml"/><Relationship Id="rId50" Type="http://schemas.openxmlformats.org/officeDocument/2006/relationships/slide" Target="slides/slide3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2.xml"/><Relationship Id="rId48" Type="http://schemas.openxmlformats.org/officeDocument/2006/relationships/slide" Target="slides/slide31.xml"/><Relationship Id="rId47" Type="http://schemas.openxmlformats.org/officeDocument/2006/relationships/slide" Target="slides/slide30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40" Type="http://schemas.openxmlformats.org/officeDocument/2006/relationships/slide" Target="slides/slide2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0" Type="http://schemas.openxmlformats.org/officeDocument/2006/relationships/slide" Target="slides/slide3.xml"/><Relationship Id="rId2" Type="http://schemas.openxmlformats.org/officeDocument/2006/relationships/theme" Target="theme/theme1.xml"/><Relationship Id="rId19" Type="http://schemas.openxmlformats.org/officeDocument/2006/relationships/slide" Target="slides/slide2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b="1">
                <a:solidFill>
                  <a:schemeClr val="accent1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彩</a:t>
            </a:r>
            <a:r>
              <a:rPr lang="zh-CN" altLang="en-US" sz="3600" b="1">
                <a:solidFill>
                  <a:schemeClr val="accent3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蛋</a:t>
            </a:r>
            <a:endParaRPr lang="zh-CN" altLang="en-US" sz="3600" b="1">
              <a:solidFill>
                <a:schemeClr val="accent3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7" Type="http://schemas.openxmlformats.org/officeDocument/2006/relationships/theme" Target="../theme/theme8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0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8" Type="http://schemas.openxmlformats.org/officeDocument/2006/relationships/theme" Target="../theme/theme9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44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8" Type="http://schemas.openxmlformats.org/officeDocument/2006/relationships/theme" Target="../theme/theme10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/Relationships>
</file>

<file path=ppt/slideMasters/_rels/slideMaster15.xml.rels><?xml version="1.0" encoding="UTF-8" standalone="yes"?>
<Relationships xmlns="http://schemas.openxmlformats.org/package/2006/relationships"><Relationship Id="rId5" Type="http://schemas.openxmlformats.org/officeDocument/2006/relationships/theme" Target="../theme/theme15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880745" y="2849245"/>
            <a:ext cx="10541000" cy="11588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python</a:t>
            </a:r>
            <a:r>
              <a:rPr 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进程</a:t>
            </a:r>
            <a:endParaRPr lang="zh-CN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53598" y="699247"/>
            <a:ext cx="6179353" cy="569079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多任务的介绍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      </a:t>
            </a:r>
            <a:r>
              <a:rPr lang="zh-CN" altLang="en-US" sz="1600" dirty="0">
                <a:solidFill>
                  <a:schemeClr val="tx1"/>
                </a:solidFill>
              </a:rPr>
              <a:t>多任务概念、作用、并发和并行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进程的介绍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       概念、作用、多进程基本工作方式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多进程完成多任务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       创建多进程、传参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获取进程编号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zh-CN" altLang="en-US" sz="1600" dirty="0">
                <a:solidFill>
                  <a:schemeClr val="tx1"/>
                </a:solidFill>
              </a:rPr>
              <a:t>获取进程编号、父进程编号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进程的注意点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          </a:t>
            </a:r>
            <a:r>
              <a:rPr lang="zh-CN" altLang="en-US" sz="1600">
                <a:solidFill>
                  <a:schemeClr val="tx1"/>
                </a:solidFill>
              </a:rPr>
              <a:t>不</a:t>
            </a:r>
            <a:r>
              <a:rPr lang="zh-CN" altLang="en-US" sz="1600" dirty="0">
                <a:solidFill>
                  <a:schemeClr val="tx1"/>
                </a:solidFill>
              </a:rPr>
              <a:t>共享、主进程等待子进程结束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300797"/>
            <a:ext cx="5973761" cy="4256405"/>
          </a:xfrm>
        </p:spPr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</a:rPr>
              <a:t>多任务的介绍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           </a:t>
            </a:r>
            <a:r>
              <a:rPr lang="zh-CN" altLang="en-US" sz="1600" dirty="0">
                <a:solidFill>
                  <a:srgbClr val="AD2B26"/>
                </a:solidFill>
              </a:rPr>
              <a:t>多任务概念、作用、并发和并行</a:t>
            </a:r>
            <a:endParaRPr lang="zh-CN" altLang="en-US" sz="1600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进程的介绍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多进程完成多任务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获取进程编号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进程的注意点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0036" y="1513873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rgbClr val="C00000"/>
                </a:solidFill>
              </a:rPr>
              <a:t>理解</a:t>
            </a:r>
            <a:r>
              <a:rPr lang="zh-CN" altLang="en-US" dirty="0"/>
              <a:t>多任务的作用</a:t>
            </a:r>
            <a:endParaRPr lang="en-US" altLang="zh-CN" dirty="0"/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rgbClr val="C00000"/>
                </a:solidFill>
              </a:rPr>
              <a:t>知道</a:t>
            </a:r>
            <a:r>
              <a:rPr lang="zh-CN" altLang="en-US" dirty="0"/>
              <a:t>多任务是什么</a:t>
            </a:r>
            <a:endParaRPr lang="en-US" altLang="zh-CN" dirty="0"/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rgbClr val="C00000"/>
                </a:solidFill>
              </a:rPr>
              <a:t>理解</a:t>
            </a:r>
            <a:r>
              <a:rPr lang="zh-CN" altLang="en-US" dirty="0"/>
              <a:t>多任务的表现形式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75252" y="1494316"/>
            <a:ext cx="5346700" cy="126141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网盘下载资料时为什么要多个文件同时下载？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252" y="3041857"/>
            <a:ext cx="7200577" cy="2120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多个任务同时执行能够充分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资源，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大大提高程序</a:t>
            </a: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执行效率</a:t>
            </a:r>
            <a:endParaRPr lang="en-US" altLang="zh-CN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dirty="0">
              <a:highlight>
                <a:srgbClr val="FFFF00"/>
              </a:highlight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一下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利用现学知识能够让多个任务同时执行吗</a:t>
            </a:r>
            <a:r>
              <a:rPr lang="en-US" altLang="zh-CN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16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不能，因为之前所写的程序都是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单任务的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，也就是说一个函数或者方法执行完成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另外一个函数或者方法才能执行 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要想实现多个任务同时执行就需要使用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多任务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多任务的优势</a:t>
            </a:r>
            <a:endParaRPr lang="en-US" altLang="zh-CN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kumimoji="1" lang="en-US" altLang="zh-CN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sz="2400" dirty="0"/>
              <a:t>多任务的概念</a:t>
            </a:r>
            <a:endParaRPr kumimoji="1" lang="zh-CN" altLang="en-US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15276" y="1548424"/>
            <a:ext cx="10068282" cy="11087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概念：多任务是指在</a:t>
            </a:r>
            <a:r>
              <a:rPr kumimoji="1" lang="zh-CN" altLang="en-US" dirty="0">
                <a:solidFill>
                  <a:srgbClr val="FF0000"/>
                </a:solidFill>
              </a:rPr>
              <a:t>同一时间</a:t>
            </a:r>
            <a:r>
              <a:rPr kumimoji="1" lang="zh-CN" altLang="en-US" dirty="0"/>
              <a:t>内执行</a:t>
            </a:r>
            <a:r>
              <a:rPr kumimoji="1" lang="zh-CN" altLang="en-US" dirty="0">
                <a:solidFill>
                  <a:srgbClr val="FF0000"/>
                </a:solidFill>
              </a:rPr>
              <a:t>多个任务</a:t>
            </a:r>
            <a:r>
              <a:rPr kumimoji="1" lang="zh-CN" altLang="en-US" dirty="0">
                <a:solidFill>
                  <a:schemeClr val="tx1"/>
                </a:solidFill>
              </a:rPr>
              <a:t>（给我们的感觉</a:t>
            </a:r>
            <a:r>
              <a:rPr kumimoji="1" lang="en-US" altLang="zh-CN" dirty="0">
                <a:solidFill>
                  <a:schemeClr val="tx1"/>
                </a:solidFill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</a:rPr>
              <a:t>。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        例如：</a:t>
            </a:r>
            <a:r>
              <a:rPr kumimoji="1" lang="zh-CN" altLang="en-US" dirty="0"/>
              <a:t>现在电脑安装的操作系统都是多任务操作系统，可以同时运行着多个软件。</a:t>
            </a:r>
            <a:endParaRPr kumimoji="1"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428" y="2657139"/>
            <a:ext cx="5397500" cy="1016000"/>
          </a:xfrm>
          <a:prstGeom prst="rect">
            <a:avLst/>
          </a:prstGeom>
        </p:spPr>
      </p:pic>
      <p:sp>
        <p:nvSpPr>
          <p:cNvPr id="4" name="文本占位符 2"/>
          <p:cNvSpPr txBox="1"/>
          <p:nvPr/>
        </p:nvSpPr>
        <p:spPr>
          <a:xfrm>
            <a:off x="1026138" y="4089021"/>
            <a:ext cx="10204845" cy="156950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多任务的两种表现形式</a:t>
            </a:r>
            <a:endParaRPr kumimoji="1"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76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并发：在一段时间内，</a:t>
            </a:r>
            <a:r>
              <a:rPr kumimoji="1" lang="zh-CN" altLang="en-US" sz="1600" b="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交替</a:t>
            </a: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执行任务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76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并行：在一段时间内，真正的</a:t>
            </a:r>
            <a:r>
              <a:rPr kumimoji="1" lang="zh-CN" altLang="en-US" sz="1600" b="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同时一起</a:t>
            </a: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执行多个任务</a:t>
            </a:r>
            <a:endParaRPr kumimoji="1" lang="zh-CN" altLang="en-US" sz="1600" b="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并发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在一段时间内</a:t>
            </a:r>
            <a:r>
              <a:rPr lang="zh-CN" altLang="en-US" dirty="0">
                <a:solidFill>
                  <a:srgbClr val="FF0000"/>
                </a:solidFill>
              </a:rPr>
              <a:t>交替</a:t>
            </a:r>
            <a:r>
              <a:rPr lang="zh-CN" altLang="en-US" dirty="0"/>
              <a:t>去执行多个任务</a:t>
            </a:r>
            <a:endParaRPr lang="en-US" altLang="zh-CN" dirty="0"/>
          </a:p>
          <a:p>
            <a:endParaRPr lang="en-US" altLang="zh-CN" sz="1800" b="1" dirty="0"/>
          </a:p>
          <a:p>
            <a:r>
              <a:rPr lang="zh-CN" altLang="en-US" dirty="0">
                <a:solidFill>
                  <a:srgbClr val="FF0000"/>
                </a:solidFill>
              </a:rPr>
              <a:t>例子：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对于单核</a:t>
            </a:r>
            <a:r>
              <a:rPr lang="en-US" altLang="zh-CN" dirty="0"/>
              <a:t>cpu</a:t>
            </a:r>
            <a:r>
              <a:rPr lang="zh-CN" altLang="en-US" dirty="0"/>
              <a:t>处理多任务</a:t>
            </a:r>
            <a:r>
              <a:rPr lang="en-US" altLang="zh-CN" dirty="0"/>
              <a:t>,</a:t>
            </a:r>
            <a:r>
              <a:rPr lang="zh-CN" altLang="en-US" dirty="0"/>
              <a:t>操作系统轮流让各个任务交替执行，假如</a:t>
            </a:r>
            <a:r>
              <a:rPr lang="en-US" altLang="zh-CN" dirty="0"/>
              <a:t>:</a:t>
            </a:r>
            <a:r>
              <a:rPr lang="zh-CN" altLang="en-US" dirty="0"/>
              <a:t>软件</a:t>
            </a:r>
            <a:r>
              <a:rPr lang="en-US" altLang="zh-CN" dirty="0"/>
              <a:t>1</a:t>
            </a:r>
            <a:r>
              <a:rPr lang="zh-CN" altLang="en-US" dirty="0"/>
              <a:t>执行</a:t>
            </a:r>
            <a:r>
              <a:rPr lang="en-US" altLang="zh-CN" dirty="0"/>
              <a:t>0.01</a:t>
            </a:r>
            <a:r>
              <a:rPr lang="zh-CN" altLang="en-US" dirty="0"/>
              <a:t>秒，切换到软件</a:t>
            </a:r>
            <a:r>
              <a:rPr lang="en-US" altLang="zh-CN" dirty="0"/>
              <a:t>2</a:t>
            </a:r>
            <a:r>
              <a:rPr lang="zh-CN" altLang="en-US" dirty="0"/>
              <a:t>，软件</a:t>
            </a:r>
            <a:r>
              <a:rPr lang="en-US" altLang="zh-CN" dirty="0"/>
              <a:t>2</a:t>
            </a:r>
            <a:r>
              <a:rPr lang="zh-CN" altLang="en-US" dirty="0"/>
              <a:t>执行</a:t>
            </a:r>
            <a:r>
              <a:rPr lang="en-US" altLang="zh-CN" dirty="0"/>
              <a:t>0.01</a:t>
            </a:r>
            <a:r>
              <a:rPr lang="zh-CN" altLang="en-US" dirty="0"/>
              <a:t>秒，再切换到软件</a:t>
            </a:r>
            <a:r>
              <a:rPr lang="en-US" altLang="zh-CN" dirty="0"/>
              <a:t>3</a:t>
            </a:r>
            <a:r>
              <a:rPr lang="zh-CN" altLang="en-US" dirty="0"/>
              <a:t>，执行</a:t>
            </a:r>
            <a:r>
              <a:rPr lang="en-US" altLang="zh-CN" dirty="0"/>
              <a:t>0.01</a:t>
            </a:r>
            <a:r>
              <a:rPr lang="zh-CN" altLang="en-US" dirty="0"/>
              <a:t>秒</a:t>
            </a:r>
            <a:r>
              <a:rPr lang="en-US" altLang="zh-CN" dirty="0"/>
              <a:t>……</a:t>
            </a:r>
            <a:r>
              <a:rPr lang="zh-CN" altLang="en-US" dirty="0"/>
              <a:t>这样反复执行下去 </a:t>
            </a:r>
            <a:r>
              <a:rPr lang="en-US" altLang="zh-CN" dirty="0"/>
              <a:t>,</a:t>
            </a:r>
            <a:r>
              <a:rPr lang="zh-CN" altLang="en-US" dirty="0"/>
              <a:t> 实际上</a:t>
            </a:r>
            <a:r>
              <a:rPr lang="zh-CN" altLang="en-US" dirty="0">
                <a:solidFill>
                  <a:srgbClr val="C00000"/>
                </a:solidFill>
              </a:rPr>
              <a:t>每个软件都是交替执行</a:t>
            </a:r>
            <a:r>
              <a:rPr lang="zh-CN" altLang="en-US" dirty="0"/>
              <a:t>的 </a:t>
            </a:r>
            <a:r>
              <a:rPr lang="en-US" altLang="zh-CN" dirty="0"/>
              <a:t>.</a:t>
            </a:r>
            <a:r>
              <a:rPr lang="zh-CN" altLang="en-US" dirty="0"/>
              <a:t> 但是，由于</a:t>
            </a:r>
            <a:r>
              <a:rPr lang="en-US" altLang="zh-CN" dirty="0"/>
              <a:t>CPU</a:t>
            </a:r>
            <a:r>
              <a:rPr lang="zh-CN" altLang="en-US" dirty="0"/>
              <a:t>的执行速度实在是太快了，表面上我们感觉就像这些软件都在同时执行一样 </a:t>
            </a:r>
            <a:r>
              <a:rPr lang="en-US" altLang="zh-CN" dirty="0"/>
              <a:t>.</a:t>
            </a:r>
            <a:r>
              <a:rPr lang="zh-CN" altLang="en-US" dirty="0"/>
              <a:t> 这里需要注意单核</a:t>
            </a:r>
            <a:r>
              <a:rPr lang="en-US" altLang="zh-CN" dirty="0"/>
              <a:t>cpu</a:t>
            </a:r>
            <a:r>
              <a:rPr lang="zh-CN" altLang="en-US" dirty="0"/>
              <a:t>是并发的执行多任务的。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111" y="4210491"/>
            <a:ext cx="4173405" cy="2468215"/>
          </a:xfrm>
          <a:prstGeom prst="rect">
            <a:avLst/>
          </a:prstGeom>
        </p:spPr>
      </p:pic>
      <p:sp>
        <p:nvSpPr>
          <p:cNvPr id="4" name="文本占位符 5"/>
          <p:cNvSpPr txBox="1"/>
          <p:nvPr/>
        </p:nvSpPr>
        <p:spPr>
          <a:xfrm>
            <a:off x="6095999" y="5051471"/>
            <a:ext cx="2921251" cy="30105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交替执行，任务轮转方式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68202" y="1646133"/>
            <a:ext cx="10700194" cy="421957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在一段时间内真正的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同时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一起执行多个任务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例子：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对于多核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处理多任务，操作系统会给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的每个内核安排一个执行的任务，多个内核是真正的一起同时执行多个任务。这里需要注意多核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是并行的执行多任务，始终有多个任务一起执行。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570" y="4005064"/>
            <a:ext cx="3528392" cy="2499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304791" y="1283857"/>
            <a:ext cx="7217410" cy="47523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什么是多任务执行？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多任务是指在</a:t>
            </a:r>
            <a:r>
              <a:rPr kumimoji="1"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同一时间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内执行</a:t>
            </a:r>
            <a:r>
              <a:rPr kumimoji="1"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多个任务</a:t>
            </a:r>
            <a:r>
              <a:rPr kumimoji="1"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（给我们的感觉</a:t>
            </a:r>
            <a:r>
              <a:rPr kumimoji="1"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多任务执行的优势是什么？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多任务执行能够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充分利用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cpu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提高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执行效率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多任务执行有哪两种表现形式？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在一段时间内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交替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去执行多个任务。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并行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在一段时间内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真正的同时一起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执行多个任务</a:t>
            </a:r>
            <a:endParaRPr lang="en-US" altLang="zh-CN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多任务的介绍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AD2B26"/>
                </a:solidFill>
              </a:rPr>
              <a:t>进程的介绍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rgbClr val="AD2B26"/>
                </a:solidFill>
              </a:rPr>
              <a:t>            概念、作用、多进程工作方式   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多进程完成多任务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获取进程编号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进程的注意点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9372" y="2154359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理解进程的概念</a:t>
            </a:r>
            <a:endParaRPr lang="en-US" altLang="zh-CN" dirty="0"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能够说出进程的作用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进程的概念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1147343" y="1578204"/>
            <a:ext cx="10352582" cy="105741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进程（</a:t>
            </a:r>
            <a:r>
              <a:rPr lang="en-GB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  <a:r>
              <a:rPr lang="zh-CN" altLang="en-GB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资源分配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的最小单位，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它是操作系统进行资源分配和调度运行的基本单位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通俗理解：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一个正在运行的程序就是一个进程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例如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正在运行的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微信等他们都是一个进程 </a:t>
            </a:r>
            <a:endParaRPr lang="en-US" altLang="zh-CN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128" y="2661908"/>
            <a:ext cx="6486982" cy="2664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本占位符 3"/>
          <p:cNvSpPr txBox="1"/>
          <p:nvPr/>
        </p:nvSpPr>
        <p:spPr>
          <a:xfrm>
            <a:off x="1312433" y="5577840"/>
            <a:ext cx="7100047" cy="340079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注意：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一个程序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运行后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至少有一个进程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多进程的作用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68202" y="1646133"/>
            <a:ext cx="10700194" cy="4219575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827" y="1731161"/>
            <a:ext cx="3528392" cy="22610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1351687" y="4265894"/>
            <a:ext cx="941827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kumimoji="1"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kumimoji="1"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图中是一个非常简单的程序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一旦运行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hello.py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这个程序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按照代码的</a:t>
            </a:r>
            <a:endParaRPr lang="en-US" altLang="zh-CN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执行顺序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func_a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函数执行完毕后才能执行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func_b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如果可以让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func_a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func_b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同时运行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显然执行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hello.py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这个程序的效率会大大提升 </a:t>
            </a: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多进程基本工作方式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68202" y="1646133"/>
            <a:ext cx="10700194" cy="4219575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96850" y="3374275"/>
            <a:ext cx="1797000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10" name="下箭头 9"/>
          <p:cNvSpPr/>
          <p:nvPr/>
        </p:nvSpPr>
        <p:spPr>
          <a:xfrm flipH="1">
            <a:off x="2566915" y="3469943"/>
            <a:ext cx="45719" cy="360622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140143" y="1967741"/>
            <a:ext cx="944984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hello.py</a:t>
            </a:r>
            <a:endParaRPr kumimoji="1" lang="en-US" altLang="zh-CN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2589775" y="2346085"/>
            <a:ext cx="0" cy="960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41432" y="3904678"/>
            <a:ext cx="895578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kumimoji="1" lang="en-US" altLang="zh-CN" sz="105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func_a</a:t>
            </a:r>
            <a:endParaRPr kumimoji="1"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29876" y="2291777"/>
            <a:ext cx="18114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程序运行会默认创建一个进程 </a:t>
            </a:r>
            <a:r>
              <a:rPr lang="en-US" altLang="zh-CN" sz="14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这个默认创建的进程我们称之为</a:t>
            </a:r>
            <a:r>
              <a:rPr kumimoji="1"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主进程</a:t>
            </a:r>
            <a:endParaRPr kumimoji="1" lang="zh-CN" altLang="en-US"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47781" y="3503014"/>
            <a:ext cx="1797000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16" name="下箭头 15"/>
          <p:cNvSpPr/>
          <p:nvPr/>
        </p:nvSpPr>
        <p:spPr>
          <a:xfrm flipH="1">
            <a:off x="6608786" y="3531490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23752" y="1894755"/>
            <a:ext cx="944984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hello.py</a:t>
            </a:r>
            <a:endParaRPr kumimoji="1" lang="en-US" altLang="zh-CN" dirty="0"/>
          </a:p>
        </p:txBody>
      </p:sp>
      <p:cxnSp>
        <p:nvCxnSpPr>
          <p:cNvPr id="18" name="直线箭头连接符 17"/>
          <p:cNvCxnSpPr/>
          <p:nvPr/>
        </p:nvCxnSpPr>
        <p:spPr>
          <a:xfrm flipH="1">
            <a:off x="6887944" y="2309333"/>
            <a:ext cx="935808" cy="1025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270034" y="4190019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105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func_a</a:t>
            </a:r>
            <a:endParaRPr kumimoji="1"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94904" y="2745572"/>
            <a:ext cx="2088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程序运行后又创建了一个进程</a:t>
            </a:r>
            <a:r>
              <a:rPr kumimoji="1" lang="zh-CN" altLang="en-US" sz="14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这个新创建的进程我们称之为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子进程</a:t>
            </a:r>
            <a:endParaRPr kumimoji="1"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1" name="直线箭头连接符 20"/>
          <p:cNvCxnSpPr/>
          <p:nvPr/>
        </p:nvCxnSpPr>
        <p:spPr>
          <a:xfrm>
            <a:off x="8749208" y="2308717"/>
            <a:ext cx="946752" cy="1026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973505" y="3503014"/>
            <a:ext cx="1797000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23" name="下箭头 22"/>
          <p:cNvSpPr/>
          <p:nvPr/>
        </p:nvSpPr>
        <p:spPr>
          <a:xfrm flipH="1">
            <a:off x="9849146" y="3526673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10394" y="4185202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105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func_b</a:t>
            </a:r>
            <a:endParaRPr kumimoji="1"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 flipH="1">
            <a:off x="7669281" y="3959303"/>
            <a:ext cx="1253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多进程完成多任务</a:t>
            </a:r>
            <a:endParaRPr kumimoji="1"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99216" y="3487110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主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程</a:t>
            </a:r>
            <a:endParaRPr kumimoji="1"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28164" y="4486623"/>
            <a:ext cx="9088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kumimoji="1" lang="en-US" altLang="zh-CN" sz="105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func_b</a:t>
            </a:r>
            <a:endParaRPr kumimoji="1"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下箭头 27"/>
          <p:cNvSpPr/>
          <p:nvPr/>
        </p:nvSpPr>
        <p:spPr>
          <a:xfrm flipH="1">
            <a:off x="2566913" y="4225784"/>
            <a:ext cx="45720" cy="193647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733146" y="3589971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子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程</a:t>
            </a:r>
            <a:endParaRPr kumimoji="1"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973505" y="3508135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子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>
                <a:solidFill>
                  <a:srgbClr val="FF0000"/>
                </a:solidFill>
              </a:rPr>
              <a:t>程</a:t>
            </a:r>
            <a:endParaRPr kumimoji="1" lang="zh-CN" altLang="en-US" sz="1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17787" y="1020197"/>
            <a:ext cx="6377677" cy="13215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进程是什么？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进程（</a:t>
            </a:r>
            <a:r>
              <a:rPr lang="en-GB" altLang="zh-CN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Process</a:t>
            </a:r>
            <a:r>
              <a:rPr lang="zh-CN" altLang="en-GB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是操作系统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资源分配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最小单位 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4717787" y="2147578"/>
            <a:ext cx="7200900" cy="157596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多进程的作用是什么？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多进程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程序中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实现多任务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的一种方式，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使用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多进程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可以大大提高程序的执行效率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4717787" y="3529361"/>
            <a:ext cx="7200900" cy="157596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3.Python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中多进程的基本工作方式？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程序运行起来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形成主进程；在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主进程上创建子进程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多任务的介绍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AD2B26"/>
                </a:solidFill>
              </a:rPr>
              <a:t>多进程完成多任务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           </a:t>
            </a:r>
            <a:r>
              <a:rPr lang="zh-CN" altLang="en-US" sz="1600" dirty="0">
                <a:solidFill>
                  <a:srgbClr val="AD2B26"/>
                </a:solidFill>
              </a:rPr>
              <a:t>创建多进程、传参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获取进程编号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进程的注意点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4941" y="270681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知道使用多进程完成多任务步骤</a:t>
            </a:r>
            <a:endParaRPr lang="en-US" altLang="zh-CN" dirty="0"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能够编程实现多进程完成多任务</a:t>
            </a:r>
            <a:endParaRPr lang="en-US" altLang="zh-CN" dirty="0"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知道进程任务的传参方式并实现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进程的创建步骤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2783205" y="2005330"/>
            <a:ext cx="7322185" cy="28479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导入进程工具包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zh-CN" altLang="en-US" sz="1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multiprocessing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通过进程类 实例化进程 对象 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</a:t>
            </a:r>
            <a:r>
              <a:rPr lang="zh-CN" altLang="en-US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子进程对象 </a:t>
            </a:r>
            <a:r>
              <a:rPr lang="en-US" altLang="zh-CN" sz="1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zh-CN" altLang="en-US" sz="1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multiprocessing.Process</a:t>
            </a:r>
            <a:r>
              <a:rPr lang="en-US" altLang="zh-CN" sz="1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en-US" sz="18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en-US" altLang="zh-CN" sz="18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启动进程执行任务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zh-CN" altLang="en-US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进程对象</a:t>
            </a:r>
            <a:r>
              <a:rPr lang="en-US" altLang="zh-CN" sz="1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.start()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通过进程类实例化创建进程对象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449911" y="1751527"/>
            <a:ext cx="10823972" cy="3701419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子进程对象 </a:t>
            </a: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8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multiprocessing.Process</a:t>
            </a: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(group=None, target=None, name=None, </a:t>
            </a:r>
            <a:r>
              <a:rPr lang="en-US" altLang="zh-CN" sz="18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args</a:t>
            </a: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=(), </a:t>
            </a:r>
            <a:r>
              <a:rPr lang="en-US" altLang="zh-CN" sz="18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kwargs</a:t>
            </a:r>
            <a:r>
              <a:rPr lang="en-US" altLang="zh-CN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={})</a:t>
            </a:r>
            <a:r>
              <a:rPr lang="zh-CN" altLang="en-US" sz="18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en-US" altLang="zh-CN" sz="18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 algn="l">
              <a:buNone/>
            </a:pP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group—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参数未使用，值始终为</a:t>
            </a: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None</a:t>
            </a:r>
            <a:endParaRPr lang="en-GB" altLang="zh-CN" b="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target—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表示调用对象，即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子进程要执行的任务（回调函数入口地址）</a:t>
            </a:r>
            <a:endParaRPr lang="zh-CN" altLang="en-US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zh-CN" b="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args</a:t>
            </a: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表示以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元组的形式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向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子任务函数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传参，元组方式传参一定要和参数的顺序保持一致</a:t>
            </a:r>
            <a:endParaRPr lang="en-US" altLang="zh-CN" b="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zh-CN" b="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kwargs</a:t>
            </a: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以字典的方式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子任务函数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传参，字典方式传参字典中的</a:t>
            </a:r>
            <a:r>
              <a:rPr lang="en-US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要和参数名保持一致</a:t>
            </a:r>
            <a:endParaRPr lang="en-US" altLang="zh-CN" b="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zh-CN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name—</a:t>
            </a:r>
            <a:r>
              <a:rPr lang="zh-CN" altLang="en-US" b="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</a:t>
            </a:r>
            <a:r>
              <a:rPr lang="zh-CN" altLang="en-US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子进程的名称</a:t>
            </a:r>
            <a:endParaRPr lang="zh-CN" altLang="en-US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667402" y="562204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进程创建与启动的代码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2765080" y="1440074"/>
            <a:ext cx="8034020" cy="480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使用多进程来模拟一边</a:t>
            </a:r>
            <a:r>
              <a:rPr lang="en-US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编写代码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一边</a:t>
            </a:r>
            <a:r>
              <a:rPr lang="en-US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听音乐功能实现</a:t>
            </a:r>
            <a:r>
              <a:rPr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80834" y="1371379"/>
            <a:ext cx="1803400" cy="609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案例分析</a:t>
            </a:r>
            <a:endParaRPr lang="zh-CN" altLang="en-US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67402" y="2263557"/>
            <a:ext cx="4708836" cy="42643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 导入进程模块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编写代码任务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coding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/>
              <a:t>range(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“coding...”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听音乐任务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music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/>
              <a:t>range(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"music..."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724312" y="2263557"/>
            <a:ext cx="5643284" cy="329622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#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2.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通过进程类创建进程对象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coding_process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target</a:t>
            </a:r>
            <a:r>
              <a:rPr lang="en-GB" altLang="zh-CN" sz="1400" dirty="0"/>
              <a:t>=coding)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2.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通过进程类创建进程对象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music_process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target</a:t>
            </a:r>
            <a:r>
              <a:rPr lang="en-GB" altLang="zh-CN" sz="1400" dirty="0"/>
              <a:t>=music)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3.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启动进程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coding_process.start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music_process.start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686801" y="1514925"/>
            <a:ext cx="2112300" cy="3131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任务函数没有参数</a:t>
            </a: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667402" y="562204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进程带参数的任务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2765080" y="1440074"/>
            <a:ext cx="8034020" cy="480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使用多进程来模拟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小明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一边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一边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听count首音乐功能实现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80834" y="1371379"/>
            <a:ext cx="1803400" cy="609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案例分析</a:t>
            </a:r>
            <a:endParaRPr lang="zh-CN" altLang="en-US" b="1" dirty="0"/>
          </a:p>
        </p:txBody>
      </p:sp>
      <p:sp>
        <p:nvSpPr>
          <p:cNvPr id="6" name="TextBox 3"/>
          <p:cNvSpPr txBox="1"/>
          <p:nvPr/>
        </p:nvSpPr>
        <p:spPr>
          <a:xfrm>
            <a:off x="5724311" y="2123142"/>
            <a:ext cx="6029073" cy="3942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# </a:t>
            </a:r>
            <a:r>
              <a:rPr lang="en-US" altLang="zh-CN" sz="1400" i="1" dirty="0">
                <a:solidFill>
                  <a:srgbClr val="8C8C8C"/>
                </a:solidFill>
              </a:rPr>
              <a:t>2.</a:t>
            </a:r>
            <a:r>
              <a:rPr lang="zh-CN" altLang="en-US" sz="1400" i="1" dirty="0">
                <a:solidFill>
                  <a:srgbClr val="8C8C8C"/>
                </a:solidFill>
              </a:rPr>
              <a:t>通过进程类创建进程对象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coding_process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target</a:t>
            </a:r>
            <a:r>
              <a:rPr lang="en-GB" altLang="zh-CN" sz="1400" dirty="0"/>
              <a:t>=coding, </a:t>
            </a:r>
            <a:r>
              <a:rPr lang="en-GB" altLang="zh-CN" sz="1400" dirty="0" err="1">
                <a:solidFill>
                  <a:srgbClr val="660099"/>
                </a:solidFill>
              </a:rPr>
              <a:t>args</a:t>
            </a:r>
            <a:r>
              <a:rPr lang="en-GB" altLang="zh-CN" sz="1400" dirty="0"/>
              <a:t>=(</a:t>
            </a:r>
            <a:r>
              <a:rPr lang="en-GB" altLang="zh-CN" sz="1400" dirty="0">
                <a:solidFill>
                  <a:srgbClr val="1750EB"/>
                </a:solidFill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小明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2.</a:t>
            </a:r>
            <a:r>
              <a:rPr lang="zh-CN" altLang="en-US" sz="1400" i="1" dirty="0">
                <a:solidFill>
                  <a:srgbClr val="8C8C8C"/>
                </a:solidFill>
              </a:rPr>
              <a:t>通过进程类创建进程对象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music_process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target</a:t>
            </a:r>
            <a:r>
              <a:rPr lang="en-GB" altLang="zh-CN" sz="1400" dirty="0"/>
              <a:t>=music, </a:t>
            </a:r>
            <a:r>
              <a:rPr lang="en-GB" altLang="zh-CN" sz="1400" dirty="0" err="1">
                <a:solidFill>
                  <a:srgbClr val="660099"/>
                </a:solidFill>
              </a:rPr>
              <a:t>kwargs</a:t>
            </a:r>
            <a:r>
              <a:rPr lang="en-GB" altLang="zh-CN" sz="1400" dirty="0"/>
              <a:t>={</a:t>
            </a:r>
            <a:r>
              <a:rPr lang="en-GB" altLang="zh-CN" sz="1400" dirty="0">
                <a:solidFill>
                  <a:srgbClr val="067D17"/>
                </a:solidFill>
              </a:rPr>
              <a:t>"count"</a:t>
            </a:r>
            <a:r>
              <a:rPr lang="en-GB" altLang="zh-CN" sz="1400" dirty="0"/>
              <a:t>: </a:t>
            </a:r>
            <a:r>
              <a:rPr lang="en-GB" altLang="zh-CN" sz="1400" dirty="0">
                <a:solidFill>
                  <a:srgbClr val="1750EB"/>
                </a:solidFill>
              </a:rPr>
              <a:t>2</a:t>
            </a:r>
            <a:r>
              <a:rPr lang="en-GB" altLang="zh-CN" sz="1400" dirty="0"/>
              <a:t>,</a:t>
            </a:r>
            <a:r>
              <a:rPr lang="en-GB" altLang="zh-CN" sz="1400" dirty="0">
                <a:solidFill>
                  <a:srgbClr val="067D17"/>
                </a:solidFill>
              </a:rPr>
              <a:t>"name"</a:t>
            </a:r>
            <a:r>
              <a:rPr lang="en-GB" altLang="zh-CN" sz="1400" dirty="0"/>
              <a:t>: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小明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})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3.</a:t>
            </a:r>
            <a:r>
              <a:rPr lang="zh-CN" altLang="en-US" sz="1400" i="1" dirty="0">
                <a:solidFill>
                  <a:srgbClr val="8C8C8C"/>
                </a:solidFill>
              </a:rPr>
              <a:t>启动进程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coding_process.start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music_process.start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br>
              <a:rPr lang="en-GB" altLang="zh-CN" sz="1400" dirty="0"/>
            </a:b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67402" y="2121889"/>
            <a:ext cx="4708836" cy="42643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导入进程模块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编写代码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coding</a:t>
            </a:r>
            <a:r>
              <a:rPr lang="en-GB" altLang="zh-CN" sz="1400" dirty="0"/>
              <a:t>(num, name):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(num):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f"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/>
              <a:t>name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在编写第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/>
              <a:t>i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行代码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听音乐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music</a:t>
            </a:r>
            <a:r>
              <a:rPr lang="en-GB" altLang="zh-CN" sz="1400" dirty="0"/>
              <a:t>(</a:t>
            </a:r>
            <a:r>
              <a:rPr lang="en-GB" altLang="zh-CN" sz="1400" dirty="0" err="1"/>
              <a:t>count,name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(count):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f"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/>
              <a:t>name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在听第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/>
              <a:t>count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首音乐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742950" y="1497173"/>
            <a:ext cx="2112300" cy="3131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任务函数有参数</a:t>
            </a: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3829723" y="1412875"/>
            <a:ext cx="8025204" cy="47523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1.</a:t>
            </a:r>
            <a:r>
              <a:rPr lang="zh-CN" altLang="en-US" sz="2400" dirty="0">
                <a:sym typeface="+mn-ea"/>
              </a:rPr>
              <a:t>说出使用多进程完成多任务步骤？</a:t>
            </a:r>
            <a:endParaRPr lang="en-US" altLang="zh-CN" sz="24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lvl="1"/>
            <a:r>
              <a:rPr lang="en-US" altLang="zh-CN" sz="1600" dirty="0"/>
              <a:t>a.</a:t>
            </a:r>
            <a:r>
              <a:rPr lang="zh-CN" altLang="en-US" sz="1600" dirty="0"/>
              <a:t>导入进程包</a:t>
            </a:r>
            <a:endParaRPr lang="en-US" altLang="zh-CN" sz="1600" dirty="0"/>
          </a:p>
          <a:p>
            <a:pPr marL="266700" lvl="1"/>
            <a:r>
              <a:rPr lang="zh-CN" altLang="en-US" sz="1600" dirty="0"/>
              <a:t>    </a:t>
            </a:r>
            <a:r>
              <a:rPr lang="en-US" altLang="zh-CN" sz="1600" dirty="0">
                <a:solidFill>
                  <a:srgbClr val="FF0000"/>
                </a:solidFill>
              </a:rPr>
              <a:t>import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multiprocessing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266700" lvl="1"/>
            <a:r>
              <a:rPr lang="en-US" altLang="zh-CN" sz="1600" dirty="0"/>
              <a:t>b.</a:t>
            </a:r>
            <a:r>
              <a:rPr lang="zh-CN" altLang="en-US" sz="1600" dirty="0"/>
              <a:t>创建子进程并指定执行的任务</a:t>
            </a:r>
            <a:endParaRPr lang="en-US" altLang="zh-CN" sz="1600" dirty="0"/>
          </a:p>
          <a:p>
            <a:pPr marL="266700" lvl="1"/>
            <a:r>
              <a:rPr lang="zh-CN" altLang="en-US" sz="1600" dirty="0"/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sub_process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=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multiprocessing.Process (target=</a:t>
            </a:r>
            <a:r>
              <a:rPr lang="zh-CN" altLang="en-US" sz="1600" dirty="0">
                <a:solidFill>
                  <a:srgbClr val="FF0000"/>
                </a:solidFill>
              </a:rPr>
              <a:t>任务名</a:t>
            </a:r>
            <a:r>
              <a:rPr lang="en-US" altLang="zh-CN" sz="1600" dirty="0">
                <a:solidFill>
                  <a:srgbClr val="FF0000"/>
                </a:solidFill>
              </a:rPr>
              <a:t>)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266700" lvl="1"/>
            <a:r>
              <a:rPr lang="en-US" altLang="zh-CN" sz="1600" dirty="0"/>
              <a:t>c.</a:t>
            </a:r>
            <a:r>
              <a:rPr lang="zh-CN" altLang="en-US" sz="1600" dirty="0"/>
              <a:t>启动进程执行任务</a:t>
            </a:r>
            <a:endParaRPr lang="en-US" altLang="zh-CN" sz="1600" dirty="0"/>
          </a:p>
          <a:p>
            <a:pPr marL="266700" lvl="1"/>
            <a:r>
              <a:rPr lang="zh-CN" altLang="en-US" sz="1600" dirty="0"/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sub_process.start</a:t>
            </a:r>
            <a:r>
              <a:rPr lang="en-US" altLang="zh-CN" sz="1600" dirty="0">
                <a:solidFill>
                  <a:srgbClr val="FF0000"/>
                </a:solidFill>
              </a:rPr>
              <a:t>()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进程传参的两种方式是什么？</a:t>
            </a:r>
            <a:endParaRPr lang="en-US" altLang="zh-CN" sz="2400" dirty="0"/>
          </a:p>
          <a:p>
            <a:pPr marL="266700" lvl="1"/>
            <a:r>
              <a:rPr lang="en-US" altLang="zh-CN" sz="1600" dirty="0"/>
              <a:t>a.</a:t>
            </a:r>
            <a:r>
              <a:rPr lang="zh-CN" altLang="en-US" sz="1600" dirty="0"/>
              <a:t>元组方式传参 ：元组方式传参一定要和</a:t>
            </a:r>
            <a:r>
              <a:rPr lang="zh-CN" altLang="en-US" sz="1600" dirty="0">
                <a:solidFill>
                  <a:srgbClr val="FF0000"/>
                </a:solidFill>
              </a:rPr>
              <a:t>任务函数的参数顺序</a:t>
            </a:r>
            <a:r>
              <a:rPr lang="zh-CN" altLang="en-US" sz="1600" dirty="0"/>
              <a:t>保持一致。</a:t>
            </a:r>
            <a:endParaRPr lang="en-US" altLang="zh-CN" sz="1600" dirty="0"/>
          </a:p>
          <a:p>
            <a:pPr marL="266700" lvl="1"/>
            <a:r>
              <a:rPr lang="en-US" altLang="zh-CN" sz="1600" dirty="0"/>
              <a:t>b.</a:t>
            </a:r>
            <a:r>
              <a:rPr lang="zh-CN" altLang="en-US" sz="1600" dirty="0"/>
              <a:t>字典方式传参：字典方式传参字典中的</a:t>
            </a:r>
            <a:r>
              <a:rPr lang="en-US" altLang="zh-CN" sz="1600" dirty="0">
                <a:solidFill>
                  <a:srgbClr val="C00000"/>
                </a:solidFill>
              </a:rPr>
              <a:t>key</a:t>
            </a:r>
            <a:r>
              <a:rPr lang="zh-CN" altLang="en-US" sz="1600" dirty="0"/>
              <a:t>一定要和</a:t>
            </a:r>
            <a:r>
              <a:rPr lang="zh-CN" altLang="en-US" sz="1600" dirty="0">
                <a:solidFill>
                  <a:srgbClr val="FF0000"/>
                </a:solidFill>
              </a:rPr>
              <a:t>任务函数的参数</a:t>
            </a:r>
            <a:r>
              <a:rPr lang="zh-CN" altLang="en-US" sz="1600" dirty="0"/>
              <a:t>保持一致</a:t>
            </a:r>
            <a:endParaRPr lang="en-US" altLang="zh-CN" sz="24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多任务的介绍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多进程完成多任务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AD2B26"/>
                </a:solidFill>
              </a:rPr>
              <a:t>获取进程编号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         获取进程编号、父进程编号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进程的注意点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298" y="331636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知道进程编号的作用</a:t>
            </a:r>
            <a:endParaRPr lang="en-US" altLang="zh-CN" dirty="0"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能够获取进程编号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进程编号的作用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进程编号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唯一标识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一个进程， 方便管理进程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en-US" altLang="zh-CN" b="1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          在一个操作系统中，一个进程拥有的进程号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是唯一的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，进程号可以反复使用。</a:t>
            </a:r>
            <a:endParaRPr lang="en-US" altLang="zh-CN" b="1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获取进程编号的目的是验证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主进程和子进程的关系</a:t>
            </a:r>
            <a:r>
              <a:rPr lang="zh-CN" altLang="en-US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，可以得知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子进程是由那个主进程</a:t>
            </a:r>
            <a:r>
              <a:rPr lang="zh-CN" altLang="en-US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创建出来的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n-US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获取进程编号的两种操作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获取当前进程编号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获取当前父进程编号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获取进程编号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68202" y="1646133"/>
            <a:ext cx="10700194" cy="4219575"/>
          </a:xfrm>
          <a:prstGeom prst="rect">
            <a:avLst/>
          </a:prstGeom>
        </p:spPr>
        <p:txBody>
          <a:bodyPr/>
          <a:lstStyle/>
          <a:p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os.getpid()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的使用</a:t>
            </a:r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os.getppid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23604" y="2104053"/>
            <a:ext cx="10666853" cy="264989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os</a:t>
            </a:r>
            <a:endParaRPr lang="en-US" altLang="zh-CN" sz="1400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i="1" dirty="0">
                <a:solidFill>
                  <a:srgbClr val="808080"/>
                </a:solidFill>
                <a:latin typeface="Courier" charset="0"/>
              </a:rPr>
              <a:t>#</a:t>
            </a:r>
            <a:r>
              <a:rPr lang="zh-CN" altLang="en-US" sz="1400" i="1" dirty="0">
                <a:solidFill>
                  <a:srgbClr val="808080"/>
                </a:solidFill>
                <a:latin typeface="Courier" charset="0"/>
              </a:rPr>
              <a:t> 获取当前进程编号</a:t>
            </a:r>
            <a:br>
              <a:rPr lang="en-US" altLang="zh-CN" sz="14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pid = </a:t>
            </a:r>
            <a:r>
              <a:rPr lang="en-US" altLang="zh-CN" sz="14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os.getpid()</a:t>
            </a:r>
            <a:br>
              <a:rPr lang="en-US" altLang="zh-CN" sz="14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40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1400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或者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multiprocessing</a:t>
            </a:r>
            <a:br>
              <a:rPr lang="en-US" altLang="zh-CN" sz="14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4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multiprocessing.current_process</a:t>
            </a:r>
            <a:r>
              <a:rPr lang="en-US" altLang="zh-CN" sz="14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14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pid</a:t>
            </a:r>
            <a:br>
              <a:rPr lang="en-US" altLang="zh-CN" sz="14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40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27642" y="5678010"/>
            <a:ext cx="10666853" cy="103406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altLang="zh-CN" sz="14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获取父进程的编号</a:t>
            </a:r>
            <a:br>
              <a:rPr lang="zh-CN" altLang="en-US" sz="14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400" i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ppid</a:t>
            </a:r>
            <a:r>
              <a:rPr lang="zh-CN" altLang="en-US" sz="1400" i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i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os.getppid</a:t>
            </a:r>
            <a:r>
              <a:rPr lang="en-US" altLang="zh-CN" sz="14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14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</a:t>
            </a:r>
            <a:r>
              <a:rPr lang="en-US" altLang="zh-CN" sz="1400" dirty="0" err="1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512310" y="1412875"/>
            <a:ext cx="6489700" cy="47523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进程编号的作用？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区分不同的进程，便于进行进程管理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获取当前进程编号？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en-US" altLang="zh-CN"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os.getpid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en-US" altLang="zh-CN"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multiprocessing.current_process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().</a:t>
            </a:r>
            <a:r>
              <a:rPr lang="en-US" altLang="zh-CN"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pid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获取当前父进程编号？</a:t>
            </a:r>
            <a:endParaRPr lang="en-US" altLang="zh-CN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en-US" altLang="zh-CN"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os.getppid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多任务的介绍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多进程的介绍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多进程完成多任务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获取进程编号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AD2B26"/>
                </a:solidFill>
              </a:rPr>
              <a:t>进程的注意点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        </a:t>
            </a:r>
            <a:r>
              <a:rPr lang="zh-CN" altLang="en-US" sz="1600" dirty="0">
                <a:solidFill>
                  <a:srgbClr val="AD2B26"/>
                </a:solidFill>
              </a:rPr>
              <a:t>不共享数据、主进程等待子进程结束</a:t>
            </a:r>
            <a:endParaRPr lang="en-US" altLang="zh-CN" sz="1600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2727" y="359875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ym typeface="+mn-ea"/>
              </a:rPr>
              <a:t>知道并能够说出进程的注意点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/>
              <a:t>进程的注意点介绍</a:t>
            </a:r>
            <a:endParaRPr lang="zh-CN" altLang="en-US" sz="200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2679065" y="2804795"/>
            <a:ext cx="6764020" cy="124841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1.</a:t>
            </a:r>
            <a:r>
              <a:rPr lang="zh-CN" altLang="en-US" sz="1800" b="1" dirty="0">
                <a:solidFill>
                  <a:srgbClr val="C00000"/>
                </a:solidFill>
              </a:rPr>
              <a:t>进程之间不共享全局变量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2.</a:t>
            </a:r>
            <a:r>
              <a:rPr lang="zh-CN" altLang="en-US" sz="1800" b="1" dirty="0">
                <a:solidFill>
                  <a:srgbClr val="C00000"/>
                </a:solidFill>
              </a:rPr>
              <a:t> 主进程会等待所有的子进程执行结束再结束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进程间不共享全局变量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710972" y="1565848"/>
            <a:ext cx="10700194" cy="4219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18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例如，在不同进程中修改列表</a:t>
            </a:r>
            <a:r>
              <a:rPr lang="en-US" altLang="zh-CN" sz="18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my_list</a:t>
            </a:r>
            <a:r>
              <a:rPr lang="en-US" altLang="zh-CN" sz="18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[]</a:t>
            </a:r>
            <a:r>
              <a:rPr lang="zh-CN" altLang="en-US" sz="18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并新增元素，试着在</a:t>
            </a:r>
            <a:r>
              <a:rPr lang="zh-CN" altLang="en-US" sz="1800" dirty="0">
                <a:solidFill>
                  <a:srgbClr val="333333"/>
                </a:solidFill>
                <a:latin typeface="Open Sans" panose="020B0606030504020204" pitchFamily="34" charset="0"/>
              </a:rPr>
              <a:t>各个</a:t>
            </a:r>
            <a:r>
              <a:rPr lang="zh-CN" altLang="en-US" sz="18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进程中观察列表的最终结果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。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935380" y="2254221"/>
            <a:ext cx="4177532" cy="42643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全局变量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 err="1"/>
              <a:t>my_list</a:t>
            </a:r>
            <a:r>
              <a:rPr lang="en-GB" altLang="zh-CN" sz="1400" dirty="0"/>
              <a:t> = []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写入数据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write_data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/>
              <a:t>my_list.append</a:t>
            </a:r>
            <a:r>
              <a:rPr lang="en-GB" altLang="zh-CN" sz="1400" dirty="0"/>
              <a:t>(</a:t>
            </a:r>
            <a:r>
              <a:rPr lang="en-GB" altLang="zh-CN" sz="1400" dirty="0" err="1"/>
              <a:t>i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"add:"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write_data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my_list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读取数据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read_data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read_data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my_list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5628066" y="2254639"/>
            <a:ext cx="4893971" cy="329487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创建写入数据进程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write_process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target</a:t>
            </a:r>
            <a:r>
              <a:rPr lang="en-GB" altLang="zh-CN" sz="1400" dirty="0"/>
              <a:t>=</a:t>
            </a:r>
            <a:r>
              <a:rPr lang="en-GB" altLang="zh-CN" sz="1400" dirty="0" err="1"/>
              <a:t>write_data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创建读取数据进程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read_process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target</a:t>
            </a:r>
            <a:r>
              <a:rPr lang="en-GB" altLang="zh-CN" sz="1400" dirty="0"/>
              <a:t>=</a:t>
            </a:r>
            <a:r>
              <a:rPr lang="en-GB" altLang="zh-CN" sz="1400" dirty="0" err="1"/>
              <a:t>read_data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启动进程执行相应任务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write_process.start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read_process.start</a:t>
            </a:r>
            <a:r>
              <a:rPr lang="en-GB" altLang="zh-CN" sz="1400" dirty="0"/>
              <a:t>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进程间不共享全局变量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710972" y="1656000"/>
            <a:ext cx="10700194" cy="4219575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 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18" y="1872828"/>
            <a:ext cx="8470871" cy="3281908"/>
          </a:xfrm>
          <a:prstGeom prst="rect">
            <a:avLst/>
          </a:prstGeom>
          <a:ln>
            <a:noFill/>
          </a:ln>
        </p:spPr>
      </p:pic>
      <p:sp>
        <p:nvSpPr>
          <p:cNvPr id="23" name="矩形 22"/>
          <p:cNvSpPr/>
          <p:nvPr/>
        </p:nvSpPr>
        <p:spPr>
          <a:xfrm>
            <a:off x="1049655" y="5290185"/>
            <a:ext cx="1009269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子进程会对主进程资源进行拷贝，也就是说子进程是主进程的一个副本，好比是一对双胞胎，之所以进程之间不共享全局变量，是因为操作的不是同一个进程里面的全局变量，只不过不同进程里面的全局变量名字相同而已。</a:t>
            </a:r>
            <a:endParaRPr lang="zh-CN" altLang="en-US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默认主进程</a:t>
            </a:r>
            <a:r>
              <a:rPr lang="zh-CN" altLang="en-US" dirty="0"/>
              <a:t>会等待所有的子进程执行结束再结束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710972" y="1560428"/>
            <a:ext cx="9646275" cy="139255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1600" dirty="0"/>
              <a:t>假如我们现在创建一个子进程，子进程执行完大概需要</a:t>
            </a:r>
            <a:r>
              <a:rPr lang="en-US" altLang="zh-CN" sz="1600" dirty="0"/>
              <a:t>2</a:t>
            </a:r>
            <a:r>
              <a:rPr lang="zh-CN" altLang="en-US" sz="1600" dirty="0"/>
              <a:t>秒钟，现在让主进程执行</a:t>
            </a:r>
            <a:r>
              <a:rPr lang="en-US" altLang="zh-CN" sz="1600" dirty="0"/>
              <a:t>1</a:t>
            </a:r>
            <a:r>
              <a:rPr lang="zh-CN" altLang="en-US" sz="1600" dirty="0"/>
              <a:t>秒钟就退出程序：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endParaRPr lang="en-US" altLang="zh-CN" sz="1600" dirty="0">
              <a:solidFill>
                <a:srgbClr val="C00000"/>
              </a:solidFill>
            </a:endParaRPr>
          </a:p>
          <a:p>
            <a:endParaRPr lang="en-US" altLang="zh-CN" sz="1600" dirty="0">
              <a:solidFill>
                <a:srgbClr val="C00000"/>
              </a:solidFill>
            </a:endParaRPr>
          </a:p>
          <a:p>
            <a:endParaRPr lang="en-US" altLang="zh-CN" sz="1600" dirty="0">
              <a:solidFill>
                <a:srgbClr val="C00000"/>
              </a:solidFill>
            </a:endParaRPr>
          </a:p>
          <a:p>
            <a:endParaRPr lang="en-US" altLang="zh-CN" sz="1600" dirty="0">
              <a:solidFill>
                <a:srgbClr val="C00000"/>
              </a:solidFill>
            </a:endParaRPr>
          </a:p>
          <a:p>
            <a:endParaRPr lang="en-US" altLang="zh-CN" sz="16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buNone/>
            </a:pPr>
            <a:r>
              <a:rPr lang="zh-CN" altLang="en-US" sz="1600" dirty="0">
                <a:sym typeface="+mn-ea"/>
              </a:rPr>
              <a:t>通过上面代码的执行结果，我们可以得知</a:t>
            </a:r>
            <a:r>
              <a:rPr lang="en-US" altLang="zh-CN" sz="1600" dirty="0">
                <a:sym typeface="+mn-ea"/>
              </a:rPr>
              <a:t>: </a:t>
            </a:r>
            <a:r>
              <a:rPr lang="zh-CN" altLang="en-US" sz="1600" b="1" dirty="0">
                <a:solidFill>
                  <a:srgbClr val="C00000"/>
                </a:solidFill>
                <a:sym typeface="+mn-ea"/>
              </a:rPr>
              <a:t>主进程会等待所有的子进程执行结束再结束。</a:t>
            </a:r>
            <a:endParaRPr lang="en-US" altLang="zh-CN" sz="1600" b="1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endParaRPr lang="zh-CN" altLang="en-US" sz="1600" dirty="0">
              <a:solidFill>
                <a:srgbClr val="C00000"/>
              </a:solidFill>
            </a:endParaRPr>
          </a:p>
          <a:p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534109" y="2256705"/>
            <a:ext cx="5332557" cy="297305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创建子进程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work_process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multiprocessing.Process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target</a:t>
            </a:r>
            <a:r>
              <a:rPr lang="en-GB" altLang="zh-CN" sz="1400" dirty="0"/>
              <a:t>=work)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启动子进程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work_process.start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延时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秒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主进程执行完毕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640725" y="2256705"/>
            <a:ext cx="4534196" cy="264854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工作函数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work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工作中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不让主进程等待子进程，方法</a:t>
            </a:r>
            <a:r>
              <a:rPr lang="en-US" altLang="zh-CN" dirty="0"/>
              <a:t>1</a:t>
            </a:r>
            <a:r>
              <a:rPr lang="zh-CN" altLang="en-US" dirty="0"/>
              <a:t>：子进程设置守候进程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534109" y="2256705"/>
            <a:ext cx="5332557" cy="361432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</a:rPr>
              <a:t>if __name__ == ‘__main__’: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创建子进程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</a:t>
            </a:r>
            <a:r>
              <a:rPr lang="en-GB" altLang="zh-CN" sz="1400" dirty="0">
                <a:solidFill>
                  <a:srgbClr val="0033B3"/>
                </a:solidFill>
              </a:rPr>
              <a:t> = </a:t>
            </a:r>
            <a:r>
              <a:rPr lang="en-GB" altLang="zh-CN" sz="1400" dirty="0" err="1">
                <a:solidFill>
                  <a:srgbClr val="0033B3"/>
                </a:solidFill>
              </a:rPr>
              <a:t>multiprocessing.Process</a:t>
            </a:r>
            <a:r>
              <a:rPr lang="en-GB" altLang="zh-CN" sz="1400" dirty="0">
                <a:solidFill>
                  <a:srgbClr val="0033B3"/>
                </a:solidFill>
              </a:rPr>
              <a:t>(target=work)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# </a:t>
            </a:r>
            <a:r>
              <a:rPr lang="zh-CN" altLang="en-US" sz="1400" dirty="0">
                <a:solidFill>
                  <a:srgbClr val="0033B3"/>
                </a:solidFill>
              </a:rPr>
              <a:t>设置守护主进程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work_process.daemon</a:t>
            </a:r>
            <a:r>
              <a:rPr lang="en-GB" altLang="zh-CN" sz="1400" dirty="0">
                <a:solidFill>
                  <a:srgbClr val="0033B3"/>
                </a:solidFill>
              </a:rPr>
              <a:t> = True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启动子进程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work_process.start</a:t>
            </a:r>
            <a:r>
              <a:rPr lang="en-GB" altLang="zh-CN" sz="1400" dirty="0">
                <a:solidFill>
                  <a:srgbClr val="0033B3"/>
                </a:solidFill>
              </a:rPr>
              <a:t>()</a:t>
            </a:r>
            <a:br>
              <a:rPr lang="en-GB" altLang="zh-CN" sz="1400" dirty="0">
                <a:solidFill>
                  <a:srgbClr val="0033B3"/>
                </a:solidFill>
              </a:rPr>
            </a:b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延时</a:t>
            </a:r>
            <a:r>
              <a:rPr lang="en-US" altLang="zh-CN" sz="1400" dirty="0">
                <a:solidFill>
                  <a:srgbClr val="0033B3"/>
                </a:solidFill>
              </a:rPr>
              <a:t>1</a:t>
            </a:r>
            <a:r>
              <a:rPr lang="zh-CN" altLang="en-US" sz="1400" dirty="0">
                <a:solidFill>
                  <a:srgbClr val="0033B3"/>
                </a:solidFill>
              </a:rPr>
              <a:t>秒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time.sleep</a:t>
            </a:r>
            <a:r>
              <a:rPr lang="en-GB" altLang="zh-CN" sz="1400" dirty="0">
                <a:solidFill>
                  <a:srgbClr val="0033B3"/>
                </a:solidFill>
              </a:rPr>
              <a:t>(1)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print("</a:t>
            </a:r>
            <a:r>
              <a:rPr lang="zh-CN" altLang="en-US" sz="1400" dirty="0">
                <a:solidFill>
                  <a:srgbClr val="0033B3"/>
                </a:solidFill>
              </a:rPr>
              <a:t>主进程执行完毕</a:t>
            </a:r>
            <a:r>
              <a:rPr lang="en-US" altLang="zh-CN" sz="1400" dirty="0">
                <a:solidFill>
                  <a:srgbClr val="0033B3"/>
                </a:solidFill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640725" y="2256705"/>
            <a:ext cx="4534196" cy="264854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工作函数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work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工作中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710972" y="1615636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子进程设置守护主进程的目的：是主进程退出子进程销毁，</a:t>
            </a:r>
            <a:r>
              <a:rPr lang="zh-CN" altLang="en-US" b="0" dirty="0">
                <a:solidFill>
                  <a:srgbClr val="FF0000"/>
                </a:solidFill>
              </a:rPr>
              <a:t>不让主进程再等待子进程去执行</a:t>
            </a:r>
            <a:r>
              <a:rPr lang="zh-CN" altLang="en-US" b="0" dirty="0"/>
              <a:t>。</a:t>
            </a:r>
            <a:endParaRPr lang="en-US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710972" y="940081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不让主进程等待子进程，方法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子进程自己主动的终止子进程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534109" y="2256705"/>
            <a:ext cx="6267030" cy="393748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</a:rPr>
              <a:t>if __name__ == ‘__main__’: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创建子进程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</a:t>
            </a:r>
            <a:r>
              <a:rPr lang="en-GB" altLang="zh-CN" sz="1400" dirty="0">
                <a:solidFill>
                  <a:srgbClr val="0033B3"/>
                </a:solidFill>
              </a:rPr>
              <a:t> = </a:t>
            </a:r>
            <a:r>
              <a:rPr lang="en-GB" altLang="zh-CN" sz="1400" dirty="0" err="1">
                <a:solidFill>
                  <a:srgbClr val="0033B3"/>
                </a:solidFill>
              </a:rPr>
              <a:t>multiprocessing.Process</a:t>
            </a:r>
            <a:r>
              <a:rPr lang="en-GB" altLang="zh-CN" sz="1400" dirty="0">
                <a:solidFill>
                  <a:srgbClr val="0033B3"/>
                </a:solidFill>
              </a:rPr>
              <a:t>(target=work)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启动子进程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work_process.start</a:t>
            </a:r>
            <a:r>
              <a:rPr lang="en-GB" altLang="zh-CN" sz="1400" dirty="0">
                <a:solidFill>
                  <a:srgbClr val="0033B3"/>
                </a:solidFill>
              </a:rPr>
              <a:t>()</a:t>
            </a:r>
            <a:br>
              <a:rPr lang="en-GB" altLang="zh-CN" sz="1400" dirty="0">
                <a:solidFill>
                  <a:srgbClr val="0033B3"/>
                </a:solidFill>
              </a:rPr>
            </a:b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延时</a:t>
            </a:r>
            <a:r>
              <a:rPr lang="en-US" altLang="zh-CN" sz="1400" dirty="0">
                <a:solidFill>
                  <a:srgbClr val="0033B3"/>
                </a:solidFill>
              </a:rPr>
              <a:t>1</a:t>
            </a:r>
            <a:r>
              <a:rPr lang="zh-CN" altLang="en-US" sz="1400" dirty="0">
                <a:solidFill>
                  <a:srgbClr val="0033B3"/>
                </a:solidFill>
              </a:rPr>
              <a:t>秒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time.sleep</a:t>
            </a:r>
            <a:r>
              <a:rPr lang="en-GB" altLang="zh-CN" sz="1400" dirty="0">
                <a:solidFill>
                  <a:srgbClr val="0033B3"/>
                </a:solidFill>
              </a:rPr>
              <a:t>(1)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# </a:t>
            </a:r>
            <a:r>
              <a:rPr lang="zh-CN" altLang="en-US" sz="1400" dirty="0">
                <a:solidFill>
                  <a:srgbClr val="0033B3"/>
                </a:solidFill>
              </a:rPr>
              <a:t>手动结束子进程</a:t>
            </a:r>
            <a:br>
              <a:rPr lang="zh-CN" altLang="en-US" sz="1400" dirty="0">
                <a:solidFill>
                  <a:srgbClr val="0033B3"/>
                </a:solidFill>
              </a:rPr>
            </a:br>
            <a:r>
              <a:rPr lang="zh-CN" altLang="en-US" sz="1400" dirty="0">
                <a:solidFill>
                  <a:srgbClr val="0033B3"/>
                </a:solidFill>
              </a:rPr>
              <a:t>    </a:t>
            </a:r>
            <a:r>
              <a:rPr lang="en-GB" altLang="zh-CN" sz="1400" dirty="0" err="1">
                <a:solidFill>
                  <a:srgbClr val="0033B3"/>
                </a:solidFill>
              </a:rPr>
              <a:t>work_process.terminate</a:t>
            </a:r>
            <a:r>
              <a:rPr lang="en-GB" altLang="zh-CN" sz="1400" dirty="0">
                <a:solidFill>
                  <a:srgbClr val="0033B3"/>
                </a:solidFill>
              </a:rPr>
              <a:t>()</a:t>
            </a:r>
            <a:r>
              <a:rPr lang="zh-CN" altLang="en-US" sz="1400" dirty="0">
                <a:solidFill>
                  <a:srgbClr val="0033B3"/>
                </a:solidFill>
              </a:rPr>
              <a:t> </a:t>
            </a:r>
            <a:r>
              <a:rPr lang="en-US" altLang="zh-CN" sz="1400" dirty="0">
                <a:solidFill>
                  <a:srgbClr val="0033B3"/>
                </a:solidFill>
              </a:rPr>
              <a:t>#</a:t>
            </a:r>
            <a:r>
              <a:rPr lang="zh-CN" altLang="en-US" sz="1400" dirty="0">
                <a:solidFill>
                  <a:srgbClr val="0033B3"/>
                </a:solidFill>
              </a:rPr>
              <a:t>这种不建议使用，僵尸进程，不会清理资源</a:t>
            </a:r>
            <a:br>
              <a:rPr lang="en-GB" altLang="zh-CN" sz="1400" dirty="0">
                <a:solidFill>
                  <a:srgbClr val="0033B3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    print("</a:t>
            </a:r>
            <a:r>
              <a:rPr lang="zh-CN" altLang="en-US" sz="1400" dirty="0">
                <a:solidFill>
                  <a:srgbClr val="0033B3"/>
                </a:solidFill>
              </a:rPr>
              <a:t>主进程执行完毕</a:t>
            </a:r>
            <a:r>
              <a:rPr lang="en-US" altLang="zh-CN" sz="1400" dirty="0">
                <a:solidFill>
                  <a:srgbClr val="0033B3"/>
                </a:solidFill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640725" y="2256705"/>
            <a:ext cx="4534196" cy="264854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multiprocessing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/>
              <a:t>time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工作函数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work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 err="1"/>
              <a:t>i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工作中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/>
              <a:t>time.sleep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710972" y="1615636"/>
            <a:ext cx="107001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守护进程或子进程提前结束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76445" y="1344295"/>
            <a:ext cx="6718300" cy="4486275"/>
          </a:xfrm>
        </p:spPr>
        <p:txBody>
          <a:bodyPr/>
          <a:lstStyle/>
          <a:p>
            <a:r>
              <a:rPr lang="zh-CN" altLang="en-US" sz="1600" dirty="0"/>
              <a:t>为了保证子进程能够正常的运行，主进程会等所有的子进程执行完成以后再销毁，设置守护主进程的目的是</a:t>
            </a:r>
            <a:r>
              <a:rPr lang="zh-CN" altLang="en-US" sz="1600" b="1" dirty="0">
                <a:solidFill>
                  <a:srgbClr val="C00000"/>
                </a:solidFill>
              </a:rPr>
              <a:t>主进程退出子进程销毁，不让主进程再等待子进程去执行</a:t>
            </a:r>
            <a:r>
              <a:rPr lang="zh-CN" altLang="en-US" sz="1600" dirty="0">
                <a:solidFill>
                  <a:srgbClr val="C00000"/>
                </a:solidFill>
              </a:rPr>
              <a:t>。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设置守护主进程方式： </a:t>
            </a:r>
            <a:r>
              <a:rPr lang="zh-CN" altLang="en-US" sz="1600" b="1" dirty="0">
                <a:solidFill>
                  <a:srgbClr val="C00000"/>
                </a:solidFill>
              </a:rPr>
              <a:t>子进程对象</a:t>
            </a:r>
            <a:r>
              <a:rPr lang="en-US" altLang="zh-CN" sz="1600" b="1" dirty="0">
                <a:solidFill>
                  <a:srgbClr val="C00000"/>
                </a:solidFill>
              </a:rPr>
              <a:t>.</a:t>
            </a:r>
            <a:r>
              <a:rPr lang="en-GB" altLang="zh-CN" sz="1600" b="1" dirty="0">
                <a:solidFill>
                  <a:srgbClr val="C00000"/>
                </a:solidFill>
              </a:rPr>
              <a:t>daemon = True</a:t>
            </a:r>
            <a:endParaRPr lang="en-GB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销毁子进程方式： </a:t>
            </a:r>
            <a:r>
              <a:rPr lang="zh-CN" altLang="en-US" sz="1600" b="1" dirty="0">
                <a:solidFill>
                  <a:srgbClr val="C00000"/>
                </a:solidFill>
              </a:rPr>
              <a:t>子进程对象</a:t>
            </a:r>
            <a:r>
              <a:rPr lang="en-US" altLang="zh-CN" sz="1600" b="1" dirty="0">
                <a:solidFill>
                  <a:srgbClr val="C00000"/>
                </a:solidFill>
              </a:rPr>
              <a:t>.</a:t>
            </a:r>
            <a:r>
              <a:rPr lang="en-GB" altLang="zh-CN" sz="1600" b="1" dirty="0">
                <a:solidFill>
                  <a:srgbClr val="C00000"/>
                </a:solidFill>
              </a:rPr>
              <a:t>terminate()</a:t>
            </a:r>
            <a:endParaRPr lang="en-GB" altLang="zh-CN" sz="1600" dirty="0">
              <a:solidFill>
                <a:srgbClr val="C00000"/>
              </a:solidFill>
            </a:endParaRPr>
          </a:p>
          <a:p>
            <a:endParaRPr kumimoji="1" lang="zh-CN" alt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Q2YzdiNTQ4YzdkMDBkYmYyNWE2ODkxOWQ2NWMwN2E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6283</Words>
  <Application>WPS 演示</Application>
  <PresentationFormat>宽屏</PresentationFormat>
  <Paragraphs>367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38</vt:i4>
      </vt:variant>
    </vt:vector>
  </HeadingPairs>
  <TitlesOfParts>
    <vt:vector size="9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纤黑体</vt:lpstr>
      <vt:lpstr>Arial Unicode MS</vt:lpstr>
      <vt:lpstr>等线</vt:lpstr>
      <vt:lpstr>Courier</vt:lpstr>
      <vt:lpstr>Courier New</vt:lpstr>
      <vt:lpstr>-apple-system</vt:lpstr>
      <vt:lpstr>JetBrains Mono</vt:lpstr>
      <vt:lpstr>Open Sans</vt:lpstr>
      <vt:lpstr>Segoe Print</vt:lpstr>
      <vt:lpstr>KSOFB203FB77</vt:lpstr>
      <vt:lpstr>KSOFB2038718</vt:lpstr>
      <vt:lpstr>-apple-system</vt:lpstr>
      <vt:lpstr>Alibaba PuHuiTi B</vt:lpstr>
      <vt:lpstr>Alibaba PuHuiTi M</vt:lpstr>
      <vt:lpstr>Alibaba PuHuiTi R</vt:lpstr>
      <vt:lpstr>Wingdings</vt:lpstr>
      <vt:lpstr>纤黑体</vt:lpstr>
      <vt:lpstr>The best part</vt:lpstr>
      <vt:lpstr>Retro Cute</vt:lpstr>
      <vt:lpstr>仓耳玄三M W05</vt:lpstr>
      <vt:lpstr>文道潮黑体</vt:lpstr>
      <vt:lpstr>Be Happy</vt:lpstr>
      <vt:lpstr>Saturday Sans Regular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3_正文设计方案</vt:lpstr>
      <vt:lpstr>3_学习目标</vt:lpstr>
      <vt:lpstr>6_学习目标</vt:lpstr>
      <vt:lpstr>7_学习目标</vt:lpstr>
      <vt:lpstr>8_学习目标</vt:lpstr>
      <vt:lpstr>9_学习目标</vt:lpstr>
      <vt:lpstr>10_学习目标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1074</cp:revision>
  <dcterms:created xsi:type="dcterms:W3CDTF">2020-03-31T02:23:00Z</dcterms:created>
  <dcterms:modified xsi:type="dcterms:W3CDTF">2026-04-19T10:26:24Z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B8F5CFD6E6A044F687CAA08E77445706</vt:lpwstr>
  </property>
  <property fmtid="{D5CDD505-2E9C-101B-9397-08002B2CF9AE}" pid="3" name="KSOProductBuildVer">
    <vt:lpwstr>2052-12.1.0.25225</vt:lpwstr>
  </property>
</Properties>
</file>