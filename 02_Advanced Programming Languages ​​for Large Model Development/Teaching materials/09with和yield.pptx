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3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74" r:id="rId8"/>
    <p:sldMasterId id="2147483676" r:id="rId9"/>
  </p:sldMasterIdLst>
  <p:notesMasterIdLst>
    <p:notesMasterId r:id="rId15"/>
  </p:notesMasterIdLst>
  <p:handoutMasterIdLst>
    <p:handoutMasterId r:id="rId34"/>
  </p:handoutMasterIdLst>
  <p:sldIdLst>
    <p:sldId id="462" r:id="rId10"/>
    <p:sldId id="463" r:id="rId11"/>
    <p:sldId id="681" r:id="rId12"/>
    <p:sldId id="1527" r:id="rId13"/>
    <p:sldId id="675" r:id="rId14"/>
    <p:sldId id="677" r:id="rId16"/>
    <p:sldId id="676" r:id="rId17"/>
    <p:sldId id="678" r:id="rId18"/>
    <p:sldId id="688" r:id="rId19"/>
    <p:sldId id="689" r:id="rId20"/>
    <p:sldId id="1526" r:id="rId21"/>
    <p:sldId id="682" r:id="rId22"/>
    <p:sldId id="683" r:id="rId23"/>
    <p:sldId id="684" r:id="rId24"/>
    <p:sldId id="685" r:id="rId25"/>
    <p:sldId id="687" r:id="rId26"/>
    <p:sldId id="1528" r:id="rId27"/>
    <p:sldId id="1529" r:id="rId28"/>
    <p:sldId id="1530" r:id="rId29"/>
    <p:sldId id="1531" r:id="rId30"/>
    <p:sldId id="1535" r:id="rId31"/>
    <p:sldId id="1534" r:id="rId32"/>
    <p:sldId id="264" r:id="rId3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60206"/>
    <a:srgbClr val="FFFFFF"/>
    <a:srgbClr val="FFFFE4"/>
    <a:srgbClr val="AD2B26"/>
    <a:srgbClr val="49504F"/>
    <a:srgbClr val="B70006"/>
    <a:srgbClr val="919191"/>
    <a:srgbClr val="333333"/>
    <a:srgbClr val="D9D9D9"/>
    <a:srgbClr val="5151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578" autoAdjust="0"/>
    <p:restoredTop sz="95853" autoAdjust="0"/>
  </p:normalViewPr>
  <p:slideViewPr>
    <p:cSldViewPr snapToGrid="0">
      <p:cViewPr varScale="1">
        <p:scale>
          <a:sx n="125" d="100"/>
          <a:sy n="125" d="100"/>
        </p:scale>
        <p:origin x="168" y="5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416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handoutMaster" Target="handoutMasters/handoutMaster1.xml"/><Relationship Id="rId33" Type="http://schemas.openxmlformats.org/officeDocument/2006/relationships/slide" Target="slides/slide23.xml"/><Relationship Id="rId32" Type="http://schemas.openxmlformats.org/officeDocument/2006/relationships/slide" Target="slides/slide22.xml"/><Relationship Id="rId31" Type="http://schemas.openxmlformats.org/officeDocument/2006/relationships/slide" Target="slides/slide21.xml"/><Relationship Id="rId30" Type="http://schemas.openxmlformats.org/officeDocument/2006/relationships/slide" Target="slides/slide20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19.xml"/><Relationship Id="rId28" Type="http://schemas.openxmlformats.org/officeDocument/2006/relationships/slide" Target="slides/slide18.xml"/><Relationship Id="rId27" Type="http://schemas.openxmlformats.org/officeDocument/2006/relationships/slide" Target="slides/slide17.xml"/><Relationship Id="rId26" Type="http://schemas.openxmlformats.org/officeDocument/2006/relationships/slide" Target="slides/slide16.xml"/><Relationship Id="rId25" Type="http://schemas.openxmlformats.org/officeDocument/2006/relationships/slide" Target="slides/slide15.xml"/><Relationship Id="rId24" Type="http://schemas.openxmlformats.org/officeDocument/2006/relationships/slide" Target="slides/slide14.xml"/><Relationship Id="rId23" Type="http://schemas.openxmlformats.org/officeDocument/2006/relationships/slide" Target="slides/slide13.xml"/><Relationship Id="rId22" Type="http://schemas.openxmlformats.org/officeDocument/2006/relationships/slide" Target="slides/slide12.xml"/><Relationship Id="rId21" Type="http://schemas.openxmlformats.org/officeDocument/2006/relationships/slide" Target="slides/slide11.xml"/><Relationship Id="rId20" Type="http://schemas.openxmlformats.org/officeDocument/2006/relationships/slide" Target="slides/slide10.xml"/><Relationship Id="rId2" Type="http://schemas.openxmlformats.org/officeDocument/2006/relationships/theme" Target="theme/theme1.xml"/><Relationship Id="rId19" Type="http://schemas.openxmlformats.org/officeDocument/2006/relationships/slide" Target="slides/slide9.xml"/><Relationship Id="rId18" Type="http://schemas.openxmlformats.org/officeDocument/2006/relationships/slide" Target="slides/slide8.xml"/><Relationship Id="rId17" Type="http://schemas.openxmlformats.org/officeDocument/2006/relationships/slide" Target="slides/slide7.xml"/><Relationship Id="rId16" Type="http://schemas.openxmlformats.org/officeDocument/2006/relationships/slide" Target="slides/slide6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5.xml"/><Relationship Id="rId13" Type="http://schemas.openxmlformats.org/officeDocument/2006/relationships/slide" Target="slides/slide4.xml"/><Relationship Id="rId12" Type="http://schemas.openxmlformats.org/officeDocument/2006/relationships/slide" Target="slides/slide3.xml"/><Relationship Id="rId11" Type="http://schemas.openxmlformats.org/officeDocument/2006/relationships/slide" Target="slides/slide2.xml"/><Relationship Id="rId10" Type="http://schemas.openxmlformats.org/officeDocument/2006/relationships/slide" Target="slides/slid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lang="zh-CN" altLang="en-US" b="0" i="0" dirty="0">
              <a:solidFill>
                <a:srgbClr val="333333"/>
              </a:solidFill>
              <a:effectLst/>
              <a:latin typeface="Helvetica Neue" panose="02000503000000020004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lang="zh-CN" altLang="en-US" b="0" i="0" dirty="0">
              <a:solidFill>
                <a:srgbClr val="333333"/>
              </a:solidFill>
              <a:effectLst/>
              <a:latin typeface="Helvetica Neue" panose="02000503000000020004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b="0" i="0" dirty="0">
              <a:solidFill>
                <a:srgbClr val="333333"/>
              </a:solidFill>
              <a:effectLst/>
              <a:latin typeface="Helvetica Neue" panose="02000503000000020004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b="0" i="0" dirty="0">
              <a:solidFill>
                <a:srgbClr val="333333"/>
              </a:solidFill>
              <a:effectLst/>
              <a:latin typeface="Helvetica Neue" panose="02000503000000020004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b="0" i="0" dirty="0">
              <a:solidFill>
                <a:srgbClr val="333333"/>
              </a:solidFill>
              <a:effectLst/>
              <a:latin typeface="Helvetica Neue" panose="02000503000000020004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b="0" i="0" dirty="0">
              <a:solidFill>
                <a:srgbClr val="333333"/>
              </a:solidFill>
              <a:effectLst/>
              <a:latin typeface="Helvetica Neue" panose="02000503000000020004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b="0" i="0" dirty="0">
              <a:solidFill>
                <a:srgbClr val="333333"/>
              </a:solidFill>
              <a:effectLst/>
              <a:latin typeface="Helvetica Neue" panose="02000503000000020004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b="0" i="0" dirty="0">
              <a:solidFill>
                <a:srgbClr val="333333"/>
              </a:solidFill>
              <a:effectLst/>
              <a:latin typeface="Helvetica Neue" panose="02000503000000020004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1" i="0" dirty="0">
                <a:solidFill>
                  <a:srgbClr val="333333"/>
                </a:solidFill>
                <a:effectLst/>
                <a:latin typeface="Helvetica Neue" panose="02000503000000020004"/>
              </a:rPr>
              <a:t>代码说明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 panose="02000503000000020004"/>
              </a:rPr>
              <a:t>:</a:t>
            </a:r>
            <a:endParaRPr lang="zh-CN" altLang="en-US" b="0" i="0" dirty="0">
              <a:solidFill>
                <a:srgbClr val="333333"/>
              </a:solidFill>
              <a:effectLst/>
              <a:latin typeface="Helvetica Neue" panose="02000503000000020004"/>
            </a:endParaRPr>
          </a:p>
          <a:p>
            <a:pPr algn="l">
              <a:buFont typeface="Arial" panose="020B0604020202090204" pitchFamily="34" charset="0"/>
              <a:buNone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 panose="02000503000000020004"/>
              </a:rPr>
              <a:t>① 代码执行到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 panose="02000503000000020004"/>
              </a:rPr>
              <a:t>yield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 panose="02000503000000020004"/>
              </a:rPr>
              <a:t>会暂停，然后把结果返回出去，下次启动生成器会在暂停的位置继续往下执行</a:t>
            </a:r>
            <a:endParaRPr lang="zh-CN" altLang="en-US" b="0" i="0" dirty="0">
              <a:solidFill>
                <a:srgbClr val="333333"/>
              </a:solidFill>
              <a:effectLst/>
              <a:latin typeface="Helvetica Neue" panose="02000503000000020004"/>
            </a:endParaRPr>
          </a:p>
          <a:p>
            <a:pPr algn="l">
              <a:buFont typeface="Arial" panose="020B0604020202090204" pitchFamily="34" charset="0"/>
              <a:buNone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 panose="02000503000000020004"/>
              </a:rPr>
              <a:t>② 生成器如果把数据生成完成，再次获取生成器中的下一个数据会抛出一个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Helvetica Neue" panose="02000503000000020004"/>
              </a:rPr>
              <a:t>StopIteration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 panose="02000503000000020004"/>
              </a:rPr>
              <a:t>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 panose="02000503000000020004"/>
              </a:rPr>
              <a:t>异常，表示停止迭代异常</a:t>
            </a:r>
            <a:endParaRPr lang="zh-CN" altLang="en-US" b="0" i="0" dirty="0">
              <a:solidFill>
                <a:srgbClr val="333333"/>
              </a:solidFill>
              <a:effectLst/>
              <a:latin typeface="Helvetica Neue" panose="02000503000000020004"/>
            </a:endParaRPr>
          </a:p>
          <a:p>
            <a:pPr algn="l">
              <a:buFont typeface="Arial" panose="020B0604020202090204" pitchFamily="34" charset="0"/>
              <a:buNone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 panose="02000503000000020004"/>
              </a:rPr>
              <a:t>③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 panose="02000503000000020004"/>
              </a:rPr>
              <a:t>while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 panose="02000503000000020004"/>
              </a:rPr>
              <a:t>循环内部没有处理异常操作，需要手动添加处理异常操作</a:t>
            </a:r>
            <a:endParaRPr lang="zh-CN" altLang="en-US" b="0" i="0" dirty="0">
              <a:solidFill>
                <a:srgbClr val="333333"/>
              </a:solidFill>
              <a:effectLst/>
              <a:latin typeface="Helvetica Neue" panose="02000503000000020004"/>
            </a:endParaRPr>
          </a:p>
          <a:p>
            <a:pPr algn="l">
              <a:buFont typeface="Arial" panose="020B0604020202090204" pitchFamily="34" charset="0"/>
              <a:buNone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 panose="02000503000000020004"/>
              </a:rPr>
              <a:t>④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 panose="02000503000000020004"/>
              </a:rPr>
              <a:t>for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 panose="02000503000000020004"/>
              </a:rPr>
              <a:t>循环内部自动处理了停止迭代异常，使用起来更加方便，推荐大家使用。</a:t>
            </a:r>
            <a:endParaRPr lang="zh-CN" altLang="en-US" b="0" i="0" dirty="0">
              <a:solidFill>
                <a:srgbClr val="333333"/>
              </a:solidFill>
              <a:effectLst/>
              <a:latin typeface="Helvetica Neue" panose="02000503000000020004"/>
            </a:endParaRPr>
          </a:p>
          <a:p>
            <a:pPr algn="l"/>
            <a:endParaRPr lang="zh-CN" altLang="en-US" b="0" i="0" dirty="0">
              <a:solidFill>
                <a:srgbClr val="333333"/>
              </a:solidFill>
              <a:effectLst/>
              <a:latin typeface="Helvetica Neue" panose="02000503000000020004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b="0" i="0" dirty="0">
              <a:solidFill>
                <a:srgbClr val="333333"/>
              </a:solidFill>
              <a:effectLst/>
              <a:latin typeface="Helvetica Neue" panose="02000503000000020004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b="0" i="0" dirty="0">
              <a:solidFill>
                <a:srgbClr val="333333"/>
              </a:solidFill>
              <a:effectLst/>
              <a:latin typeface="Helvetica Neue" panose="02000503000000020004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b="0" i="0" dirty="0">
              <a:solidFill>
                <a:srgbClr val="333333"/>
              </a:solidFill>
              <a:effectLst/>
              <a:latin typeface="Helvetica Neue" panose="02000503000000020004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b="0" i="0" dirty="0">
              <a:solidFill>
                <a:srgbClr val="333333"/>
              </a:solidFill>
              <a:effectLst/>
              <a:latin typeface="Helvetica Neue" panose="02000503000000020004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8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8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8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8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扩展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4" Type="http://schemas.openxmlformats.org/officeDocument/2006/relationships/theme" Target="../theme/theme3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7" Type="http://schemas.openxmlformats.org/officeDocument/2006/relationships/theme" Target="../theme/theme6.xml"/><Relationship Id="rId16" Type="http://schemas.openxmlformats.org/officeDocument/2006/relationships/image" Target="../media/image6.png"/><Relationship Id="rId15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5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1.xml"/></Relationships>
</file>

<file path=ppt/slideMasters/_rels/slideMaster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0.xml"/><Relationship Id="rId8" Type="http://schemas.openxmlformats.org/officeDocument/2006/relationships/slideLayout" Target="../slideLayouts/slideLayout29.xml"/><Relationship Id="rId7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4.xml"/><Relationship Id="rId20" Type="http://schemas.openxmlformats.org/officeDocument/2006/relationships/theme" Target="../theme/theme8.xml"/><Relationship Id="rId2" Type="http://schemas.openxmlformats.org/officeDocument/2006/relationships/slideLayout" Target="../slideLayouts/slideLayout23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39.xml"/><Relationship Id="rId17" Type="http://schemas.openxmlformats.org/officeDocument/2006/relationships/slideLayout" Target="../slideLayouts/slideLayout38.xml"/><Relationship Id="rId16" Type="http://schemas.openxmlformats.org/officeDocument/2006/relationships/slideLayout" Target="../slideLayouts/slideLayout37.xml"/><Relationship Id="rId15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1677" y="5726430"/>
            <a:ext cx="2748647" cy="448662"/>
          </a:xfrm>
          <a:prstGeom prst="rect">
            <a:avLst/>
          </a:prstGeom>
        </p:spPr>
      </p:pic>
      <p:sp>
        <p:nvSpPr>
          <p:cNvPr id="30" name="六边形 29"/>
          <p:cNvSpPr/>
          <p:nvPr userDrawn="1"/>
        </p:nvSpPr>
        <p:spPr>
          <a:xfrm rot="5400000">
            <a:off x="8672366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49504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AD2B2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itchFamily="34" charset="0"/>
          <a:ea typeface="黑体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itchFamily="34" charset="0"/>
          <a:ea typeface="黑体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itchFamily="34" charset="0"/>
          <a:ea typeface="黑体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itchFamily="34" charset="0"/>
          <a:ea typeface="黑体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itchFamily="34" charset="0"/>
              <a:ea typeface="微软雅黑" pitchFamily="34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目录</a:t>
              </a:r>
              <a:endPara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804030504040204" pitchFamily="34" charset="0"/>
                  <a:ea typeface="Verdana" panose="020B08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80403050404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itchFamily="49" charset="-122"/>
          <a:ea typeface="黑体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itchFamily="49" charset="-122"/>
          <a:ea typeface="黑体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itchFamily="49" charset="-122"/>
          <a:ea typeface="黑体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804030504040204" pitchFamily="34" charset="0"/>
                <a:ea typeface="Verdana" panose="020B08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804030504040204" pitchFamily="34" charset="0"/>
                <a:ea typeface="Verdana" panose="020B08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804030504040204" pitchFamily="34" charset="0"/>
                <a:ea typeface="Verdana" panose="020B08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8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itchFamily="49" charset="-122"/>
          <a:ea typeface="黑体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itchFamily="49" charset="-122"/>
          <a:ea typeface="黑体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itchFamily="49" charset="-122"/>
          <a:ea typeface="黑体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itchFamily="34" charset="0"/>
              <a:ea typeface="微软雅黑" pitchFamily="34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4242" y="283220"/>
            <a:ext cx="1225447" cy="3582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itchFamily="49" charset="-122"/>
          <a:ea typeface="黑体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itchFamily="49" charset="-122"/>
          <a:ea typeface="黑体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itchFamily="49" charset="-122"/>
          <a:ea typeface="黑体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8713" y="2604635"/>
            <a:ext cx="2314575" cy="95596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itchFamily="34" charset="0"/>
          <a:ea typeface="黑体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itchFamily="34" charset="0"/>
          <a:ea typeface="黑体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itchFamily="34" charset="0"/>
          <a:ea typeface="黑体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itchFamily="34" charset="0"/>
          <a:ea typeface="黑体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13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itchFamily="34" charset="0"/>
              <a:ea typeface="微软雅黑" pitchFamily="34" charset="-122"/>
            </a:endParaRPr>
          </a:p>
        </p:txBody>
      </p:sp>
      <p:cxnSp>
        <p:nvCxnSpPr>
          <p:cNvPr id="14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组合 15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8" name="矩形 17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4242" y="283220"/>
            <a:ext cx="1225447" cy="3582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  <p:sldLayoutId id="2147483690" r:id="rId14"/>
    <p:sldLayoutId id="2147483691" r:id="rId15"/>
    <p:sldLayoutId id="2147483692" r:id="rId16"/>
    <p:sldLayoutId id="2147483693" r:id="rId17"/>
    <p:sldLayoutId id="2147483694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itchFamily="49" charset="-122"/>
          <a:ea typeface="黑体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itchFamily="49" charset="-122"/>
          <a:ea typeface="黑体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itchFamily="49" charset="-122"/>
          <a:ea typeface="黑体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5.xml"/><Relationship Id="rId1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5781" y="2224847"/>
            <a:ext cx="11565835" cy="1158875"/>
          </a:xfrm>
        </p:spPr>
        <p:txBody>
          <a:bodyPr/>
          <a:lstStyle/>
          <a:p>
            <a:r>
              <a:rPr kumimoji="1" lang="en-US" altLang="zh-CN" sz="6600" dirty="0">
                <a:latin typeface="Alibaba PuHuiTi M"/>
              </a:rPr>
              <a:t>Python</a:t>
            </a:r>
            <a:r>
              <a:rPr kumimoji="1" lang="zh-CN" altLang="en-US" sz="6600" dirty="0">
                <a:latin typeface="Alibaba PuHuiTi M"/>
              </a:rPr>
              <a:t>其他高级语法</a:t>
            </a:r>
            <a:endParaRPr kumimoji="1" lang="zh-CN" altLang="en-US" sz="6600" dirty="0">
              <a:latin typeface="Alibaba PuHuiTi M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zh-CN" altLang="en-US" dirty="0"/>
              <a:t>人生苦短，我学</a:t>
            </a:r>
            <a:r>
              <a:rPr kumimoji="1" lang="en-US" altLang="zh-CN" dirty="0"/>
              <a:t>Python!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674802" y="366519"/>
            <a:ext cx="5973761" cy="5437933"/>
          </a:xfrm>
        </p:spPr>
        <p:txBody>
          <a:bodyPr/>
          <a:lstStyle/>
          <a:p>
            <a:r>
              <a:rPr kumimoji="1" lang="en-US" altLang="zh-CN" dirty="0">
                <a:solidFill>
                  <a:srgbClr val="C00000"/>
                </a:solidFill>
              </a:rPr>
              <a:t>1</a:t>
            </a:r>
            <a:r>
              <a:rPr kumimoji="1" lang="zh-CN" altLang="en-US" dirty="0">
                <a:solidFill>
                  <a:srgbClr val="C00000"/>
                </a:solidFill>
              </a:rPr>
              <a:t>、</a:t>
            </a:r>
            <a:r>
              <a:rPr kumimoji="1" lang="en-US" altLang="zh-CN" dirty="0">
                <a:solidFill>
                  <a:srgbClr val="C00000"/>
                </a:solidFill>
              </a:rPr>
              <a:t>with</a:t>
            </a:r>
            <a:r>
              <a:rPr kumimoji="1" lang="zh-CN" altLang="en-US" dirty="0">
                <a:solidFill>
                  <a:srgbClr val="C00000"/>
                </a:solidFill>
              </a:rPr>
              <a:t>语句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r>
              <a:rPr kumimoji="1" lang="en-US" altLang="zh-CN" dirty="0">
                <a:solidFill>
                  <a:srgbClr val="C00000"/>
                </a:solidFill>
              </a:rPr>
              <a:t>2</a:t>
            </a:r>
            <a:r>
              <a:rPr kumimoji="1" lang="zh-CN" altLang="en-US" dirty="0">
                <a:solidFill>
                  <a:srgbClr val="C00000"/>
                </a:solidFill>
              </a:rPr>
              <a:t>、</a:t>
            </a:r>
            <a:r>
              <a:rPr kumimoji="1" lang="en-US" altLang="zh-CN" dirty="0">
                <a:solidFill>
                  <a:srgbClr val="C00000"/>
                </a:solidFill>
              </a:rPr>
              <a:t>yield</a:t>
            </a:r>
            <a:r>
              <a:rPr kumimoji="1" lang="zh-CN" altLang="en-US" dirty="0">
                <a:solidFill>
                  <a:srgbClr val="C00000"/>
                </a:solidFill>
              </a:rPr>
              <a:t>生成器</a:t>
            </a:r>
            <a:endParaRPr kumimoji="1" lang="en-US" altLang="zh-CN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32400" y="2766219"/>
            <a:ext cx="6421718" cy="850742"/>
          </a:xfrm>
        </p:spPr>
        <p:txBody>
          <a:bodyPr/>
          <a:lstStyle/>
          <a:p>
            <a:pPr algn="l"/>
            <a:r>
              <a:rPr lang="en-US" altLang="zh-CN" b="1" i="0" dirty="0">
                <a:solidFill>
                  <a:srgbClr val="333333"/>
                </a:solidFill>
                <a:effectLst/>
                <a:latin typeface="Helvetica Neue" panose="02000503000000020004"/>
              </a:rPr>
              <a:t>With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 panose="02000503000000020004"/>
              </a:rPr>
              <a:t>语句和上下文管理器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 panose="02000503000000020004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01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362597" y="1164435"/>
            <a:ext cx="6781703" cy="3051314"/>
          </a:xfrm>
        </p:spPr>
        <p:txBody>
          <a:bodyPr/>
          <a:lstStyle/>
          <a:p>
            <a:r>
              <a:rPr lang="zh-CN" altLang="en-US" b="0" i="0" dirty="0">
                <a:solidFill>
                  <a:schemeClr val="tx1"/>
                </a:solidFill>
                <a:effectLst/>
                <a:latin typeface="Helvetica Neue" panose="02000503000000020004"/>
              </a:rPr>
              <a:t>能够使用</a:t>
            </a:r>
            <a:r>
              <a:rPr lang="en-US" altLang="zh-CN" b="0" i="0" dirty="0">
                <a:solidFill>
                  <a:schemeClr val="tx1"/>
                </a:solidFill>
                <a:effectLst/>
                <a:latin typeface="Helvetica Neue" panose="02000503000000020004"/>
              </a:rPr>
              <a:t>with</a:t>
            </a:r>
            <a:r>
              <a:rPr lang="zh-CN" altLang="en-US" b="0" i="0" dirty="0">
                <a:solidFill>
                  <a:schemeClr val="tx1"/>
                </a:solidFill>
                <a:effectLst/>
                <a:latin typeface="Helvetica Neue" panose="02000503000000020004"/>
              </a:rPr>
              <a:t>语句</a:t>
            </a:r>
            <a:endParaRPr lang="en-US" altLang="zh-CN" b="0" i="0" dirty="0">
              <a:solidFill>
                <a:schemeClr val="tx1"/>
              </a:solidFill>
              <a:effectLst/>
              <a:latin typeface="Helvetica Neue" panose="02000503000000020004"/>
            </a:endParaRPr>
          </a:p>
          <a:p>
            <a:r>
              <a:rPr lang="zh-CN" altLang="en-US" b="0" i="0" dirty="0">
                <a:solidFill>
                  <a:schemeClr val="tx1"/>
                </a:solidFill>
                <a:effectLst/>
                <a:latin typeface="Helvetica Neue" panose="02000503000000020004"/>
              </a:rPr>
              <a:t>了解上下文管理器的基本实现</a:t>
            </a:r>
            <a:endParaRPr lang="zh-CN" altLang="en-US" b="0" i="0" dirty="0">
              <a:solidFill>
                <a:schemeClr val="tx1"/>
              </a:solidFill>
              <a:effectLst/>
              <a:latin typeface="Helvetica Neue" panose="020005030000000200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i="0" dirty="0">
                <a:solidFill>
                  <a:srgbClr val="333333"/>
                </a:solidFill>
                <a:effectLst/>
                <a:latin typeface="Helvetica Neue" panose="02000503000000020004"/>
              </a:rPr>
              <a:t>Python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 panose="02000503000000020004"/>
              </a:rPr>
              <a:t>高级语法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i="0" dirty="0">
                <a:solidFill>
                  <a:srgbClr val="333333"/>
                </a:solidFill>
                <a:effectLst/>
                <a:latin typeface="Helvetica Neue" panose="02000503000000020004"/>
              </a:rPr>
              <a:t>1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Helvetica Neue" panose="02000503000000020004"/>
              </a:rPr>
              <a:t>、</a:t>
            </a:r>
            <a:r>
              <a:rPr lang="en-US" altLang="zh-CN" i="0" dirty="0">
                <a:solidFill>
                  <a:srgbClr val="333333"/>
                </a:solidFill>
                <a:effectLst/>
                <a:latin typeface="Helvetica Neue" panose="02000503000000020004"/>
              </a:rPr>
              <a:t> 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Helvetica Neue" panose="02000503000000020004"/>
              </a:rPr>
              <a:t>文件操作回顾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 panose="02000503000000020004"/>
            </a:endParaRPr>
          </a:p>
        </p:txBody>
      </p:sp>
      <p:sp>
        <p:nvSpPr>
          <p:cNvPr id="5" name="文本占位符 7"/>
          <p:cNvSpPr>
            <a:spLocks noGrp="1"/>
          </p:cNvSpPr>
          <p:nvPr>
            <p:ph type="body" sz="quarter" idx="11"/>
          </p:nvPr>
        </p:nvSpPr>
        <p:spPr>
          <a:xfrm>
            <a:off x="721201" y="1635974"/>
            <a:ext cx="10749598" cy="3418348"/>
          </a:xfrm>
        </p:spPr>
        <p:txBody>
          <a:bodyPr/>
          <a:lstStyle/>
          <a:p>
            <a:pPr marL="0" indent="0" algn="l">
              <a:buNone/>
            </a:pPr>
            <a:r>
              <a:rPr lang="zh-CN" altLang="en-US" dirty="0"/>
              <a:t>举个栗子</a:t>
            </a:r>
            <a:endParaRPr lang="en-US" altLang="zh-CN" dirty="0"/>
          </a:p>
          <a:p>
            <a:pPr marL="0" indent="0" algn="l">
              <a:buNone/>
            </a:pPr>
            <a:endParaRPr lang="en-US" altLang="zh-CN" dirty="0"/>
          </a:p>
          <a:p>
            <a:pPr marL="0" indent="0" algn="l">
              <a:buNone/>
            </a:pPr>
            <a:endParaRPr lang="en-US" altLang="zh-CN" dirty="0"/>
          </a:p>
          <a:p>
            <a:pPr marL="0" indent="0" algn="l">
              <a:buNone/>
            </a:pPr>
            <a:endParaRPr lang="en-US" altLang="zh-CN" dirty="0"/>
          </a:p>
          <a:p>
            <a:pPr marL="0" indent="0" algn="l">
              <a:buNone/>
            </a:pPr>
            <a:endParaRPr lang="en-US" altLang="zh-CN" dirty="0"/>
          </a:p>
          <a:p>
            <a:pPr marL="0" indent="0" algn="l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代码说明</a:t>
            </a:r>
            <a:r>
              <a:rPr lang="en-US" altLang="zh-CN" dirty="0"/>
              <a:t>:</a:t>
            </a:r>
            <a:endParaRPr lang="zh-CN" altLang="en-US" dirty="0"/>
          </a:p>
          <a:p>
            <a:pPr marL="0" indent="0" algn="l">
              <a:buNone/>
            </a:pP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 panose="02000503000000020004"/>
              </a:rPr>
              <a:t>       </a:t>
            </a:r>
            <a:r>
              <a:rPr lang="zh-CN" altLang="en-US" b="0" i="0" dirty="0">
                <a:solidFill>
                  <a:schemeClr val="tx1"/>
                </a:solidFill>
                <a:effectLst/>
                <a:latin typeface="Helvetica Neue" panose="02000503000000020004"/>
              </a:rPr>
              <a:t>文件使用完后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 panose="02000503000000020004"/>
              </a:rPr>
              <a:t>必须关闭</a:t>
            </a:r>
            <a:endParaRPr lang="en-US" altLang="zh-CN" b="0" i="0" dirty="0">
              <a:solidFill>
                <a:srgbClr val="C00000"/>
              </a:solidFill>
              <a:effectLst/>
              <a:latin typeface="Helvetica Neue" panose="02000503000000020004"/>
            </a:endParaRPr>
          </a:p>
          <a:p>
            <a:pPr marL="0" indent="0" algn="l">
              <a:buNone/>
            </a:pPr>
            <a:r>
              <a:rPr lang="zh-CN" altLang="en-US" dirty="0">
                <a:solidFill>
                  <a:schemeClr val="tx1"/>
                </a:solidFill>
                <a:latin typeface="Helvetica Neue" panose="02000503000000020004"/>
              </a:rPr>
              <a:t>        </a:t>
            </a:r>
            <a:r>
              <a:rPr lang="zh-CN" altLang="en-US" b="0" i="0" dirty="0">
                <a:solidFill>
                  <a:schemeClr val="tx1"/>
                </a:solidFill>
                <a:effectLst/>
                <a:latin typeface="Helvetica Neue" panose="02000503000000020004"/>
              </a:rPr>
              <a:t>因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 panose="02000503000000020004"/>
              </a:rPr>
              <a:t>文件对象</a:t>
            </a:r>
            <a:r>
              <a:rPr lang="zh-CN" altLang="en-US" b="0" i="0" dirty="0">
                <a:solidFill>
                  <a:schemeClr val="tx1"/>
                </a:solidFill>
                <a:effectLst/>
                <a:latin typeface="Helvetica Neue" panose="02000503000000020004"/>
              </a:rPr>
              <a:t>会占用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 panose="02000503000000020004"/>
              </a:rPr>
              <a:t>操作系统的资源</a:t>
            </a:r>
            <a:r>
              <a:rPr lang="zh-CN" altLang="en-US" b="0" i="0" dirty="0">
                <a:solidFill>
                  <a:schemeClr val="tx1"/>
                </a:solidFill>
                <a:effectLst/>
                <a:latin typeface="Helvetica Neue" panose="02000503000000020004"/>
              </a:rPr>
              <a:t>，并且操作系统同一时间能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 panose="02000503000000020004"/>
              </a:rPr>
              <a:t>打开的文件数量也</a:t>
            </a:r>
            <a:r>
              <a:rPr lang="zh-CN" altLang="en-US" b="0" i="0" dirty="0">
                <a:solidFill>
                  <a:schemeClr val="tx1"/>
                </a:solidFill>
                <a:effectLst/>
                <a:latin typeface="Helvetica Neue" panose="02000503000000020004"/>
              </a:rPr>
              <a:t>是有限的</a:t>
            </a:r>
            <a:endParaRPr lang="zh-CN" altLang="en-US" b="0" i="0" dirty="0">
              <a:solidFill>
                <a:schemeClr val="tx1"/>
              </a:solidFill>
              <a:effectLst/>
              <a:latin typeface="Helvetica Neue" panose="02000503000000020004"/>
            </a:endParaRPr>
          </a:p>
        </p:txBody>
      </p:sp>
      <p:sp>
        <p:nvSpPr>
          <p:cNvPr id="11" name="TextBox 3"/>
          <p:cNvSpPr txBox="1"/>
          <p:nvPr/>
        </p:nvSpPr>
        <p:spPr>
          <a:xfrm>
            <a:off x="763805" y="2171733"/>
            <a:ext cx="10643747" cy="1857432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3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# 1</a:t>
            </a:r>
            <a:r>
              <a:rPr lang="zh-CN" altLang="en-US" sz="13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、以写的方式打开文件</a:t>
            </a:r>
            <a:endParaRPr lang="zh-CN" altLang="en-US" sz="13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13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</a:t>
            </a:r>
            <a:r>
              <a:rPr lang="en-US" altLang="zh-CN" sz="13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f = open("1.txt", "w")</a:t>
            </a:r>
            <a:endParaRPr lang="en-US" altLang="zh-CN" sz="13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3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# 2</a:t>
            </a:r>
            <a:r>
              <a:rPr lang="zh-CN" altLang="en-US" sz="13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、写入文件内容</a:t>
            </a:r>
            <a:endParaRPr lang="zh-CN" altLang="en-US" sz="13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13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</a:t>
            </a:r>
            <a:r>
              <a:rPr lang="en-US" altLang="zh-CN" sz="1300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f.write</a:t>
            </a:r>
            <a:r>
              <a:rPr lang="en-US" altLang="zh-CN" sz="13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("hello world")</a:t>
            </a:r>
            <a:endParaRPr lang="en-US" altLang="zh-CN" sz="13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3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# 3</a:t>
            </a:r>
            <a:r>
              <a:rPr lang="zh-CN" altLang="en-US" sz="13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、关闭文件</a:t>
            </a:r>
            <a:endParaRPr lang="zh-CN" altLang="en-US" sz="13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13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</a:t>
            </a:r>
            <a:r>
              <a:rPr lang="en-US" altLang="zh-CN" sz="1300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f.close</a:t>
            </a:r>
            <a:r>
              <a:rPr lang="en-US" altLang="zh-CN" sz="13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()</a:t>
            </a:r>
            <a:endParaRPr lang="en-US" altLang="zh-CN" sz="13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i="0" dirty="0">
                <a:solidFill>
                  <a:srgbClr val="333333"/>
                </a:solidFill>
                <a:effectLst/>
                <a:latin typeface="Helvetica Neue" panose="02000503000000020004"/>
              </a:rPr>
              <a:t>Python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 panose="02000503000000020004"/>
              </a:rPr>
              <a:t>高级语法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i="0" dirty="0">
                <a:solidFill>
                  <a:srgbClr val="333333"/>
                </a:solidFill>
                <a:effectLst/>
                <a:latin typeface="Helvetica Neue" panose="02000503000000020004"/>
              </a:rPr>
              <a:t>2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Helvetica Neue" panose="02000503000000020004"/>
              </a:rPr>
              <a:t>、</a:t>
            </a:r>
            <a:r>
              <a:rPr lang="en-US" altLang="zh-CN" i="0" dirty="0">
                <a:solidFill>
                  <a:srgbClr val="333333"/>
                </a:solidFill>
                <a:effectLst/>
                <a:latin typeface="Helvetica Neue" panose="02000503000000020004"/>
              </a:rPr>
              <a:t> 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Helvetica Neue" panose="02000503000000020004"/>
              </a:rPr>
              <a:t>存在的安全隐患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 panose="02000503000000020004"/>
            </a:endParaRPr>
          </a:p>
        </p:txBody>
      </p:sp>
      <p:sp>
        <p:nvSpPr>
          <p:cNvPr id="5" name="文本占位符 7"/>
          <p:cNvSpPr>
            <a:spLocks noGrp="1"/>
          </p:cNvSpPr>
          <p:nvPr>
            <p:ph type="body" sz="quarter" idx="11"/>
          </p:nvPr>
        </p:nvSpPr>
        <p:spPr>
          <a:xfrm>
            <a:off x="678597" y="1635973"/>
            <a:ext cx="10749598" cy="4694489"/>
          </a:xfrm>
        </p:spPr>
        <p:txBody>
          <a:bodyPr/>
          <a:lstStyle/>
          <a:p>
            <a:pPr marL="0" indent="0" algn="l">
              <a:buNone/>
            </a:pPr>
            <a:r>
              <a:rPr lang="zh-CN" altLang="en-US" i="0" dirty="0">
                <a:solidFill>
                  <a:srgbClr val="333333"/>
                </a:solidFill>
                <a:effectLst/>
                <a:latin typeface="Helvetica Neue" panose="02000503000000020004"/>
              </a:rPr>
              <a:t>这种写法可能出现一定的安全隐患，错误代码如下</a:t>
            </a:r>
            <a:r>
              <a:rPr lang="en-US" altLang="zh-CN" i="0" dirty="0">
                <a:solidFill>
                  <a:srgbClr val="333333"/>
                </a:solidFill>
                <a:effectLst/>
                <a:latin typeface="Helvetica Neue" panose="02000503000000020004"/>
              </a:rPr>
              <a:t>:</a:t>
            </a:r>
            <a:endParaRPr lang="en-US" altLang="zh-CN" i="0" dirty="0">
              <a:solidFill>
                <a:srgbClr val="333333"/>
              </a:solidFill>
              <a:effectLst/>
              <a:latin typeface="Helvetica Neue" panose="02000503000000020004"/>
            </a:endParaRPr>
          </a:p>
          <a:p>
            <a:pPr marL="0" indent="0" algn="l">
              <a:buNone/>
            </a:pPr>
            <a:endParaRPr lang="en-US" altLang="zh-CN" b="1" dirty="0">
              <a:solidFill>
                <a:srgbClr val="333333"/>
              </a:solidFill>
              <a:latin typeface="Helvetica Neue" panose="02000503000000020004"/>
            </a:endParaRPr>
          </a:p>
          <a:p>
            <a:pPr marL="0" indent="0" algn="l">
              <a:buNone/>
            </a:pPr>
            <a:endParaRPr lang="en-US" altLang="zh-CN" b="1" dirty="0">
              <a:solidFill>
                <a:srgbClr val="333333"/>
              </a:solidFill>
              <a:latin typeface="Helvetica Neue" panose="02000503000000020004"/>
            </a:endParaRPr>
          </a:p>
          <a:p>
            <a:pPr marL="0" indent="0" algn="l">
              <a:buNone/>
            </a:pPr>
            <a:endParaRPr lang="en-US" altLang="zh-CN" b="1" dirty="0">
              <a:solidFill>
                <a:srgbClr val="333333"/>
              </a:solidFill>
              <a:latin typeface="Helvetica Neue" panose="02000503000000020004"/>
            </a:endParaRPr>
          </a:p>
          <a:p>
            <a:pPr marL="0" indent="0" algn="l">
              <a:buNone/>
            </a:pPr>
            <a:endParaRPr lang="en-US" altLang="zh-CN" b="1" dirty="0">
              <a:solidFill>
                <a:srgbClr val="333333"/>
              </a:solidFill>
              <a:latin typeface="Helvetica Neue" panose="02000503000000020004"/>
            </a:endParaRPr>
          </a:p>
          <a:p>
            <a:pPr marL="0" indent="0" algn="l">
              <a:buNone/>
            </a:pPr>
            <a:endParaRPr lang="en-US" altLang="zh-CN" b="1" dirty="0">
              <a:solidFill>
                <a:srgbClr val="333333"/>
              </a:solidFill>
              <a:latin typeface="Helvetica Neue" panose="02000503000000020004"/>
            </a:endParaRPr>
          </a:p>
          <a:p>
            <a:pPr marL="0" indent="0" algn="l">
              <a:buNone/>
            </a:pPr>
            <a:endParaRPr lang="en-US" altLang="zh-CN" b="1" dirty="0">
              <a:solidFill>
                <a:srgbClr val="333333"/>
              </a:solidFill>
              <a:latin typeface="Helvetica Neue" panose="02000503000000020004"/>
            </a:endParaRPr>
          </a:p>
          <a:p>
            <a:pPr marL="0" indent="0" algn="l">
              <a:buNone/>
            </a:pPr>
            <a:endParaRPr lang="en-US" altLang="zh-CN" b="1" dirty="0">
              <a:solidFill>
                <a:srgbClr val="333333"/>
              </a:solidFill>
              <a:latin typeface="Helvetica Neue" panose="02000503000000020004"/>
            </a:endParaRPr>
          </a:p>
          <a:p>
            <a:pPr marL="0" indent="0" algn="l">
              <a:buNone/>
            </a:pPr>
            <a:endParaRPr lang="en-US" altLang="zh-CN" b="1" dirty="0">
              <a:solidFill>
                <a:srgbClr val="333333"/>
              </a:solidFill>
              <a:latin typeface="Helvetica Neue" panose="02000503000000020004"/>
            </a:endParaRPr>
          </a:p>
          <a:p>
            <a:pPr marL="0" indent="0">
              <a:buNone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 panose="02000503000000020004"/>
              </a:rPr>
              <a:t>① 由于文件读写时都有可能产生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Helvetica Neue" panose="02000503000000020004"/>
              </a:rPr>
              <a:t>IOError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 panose="02000503000000020004"/>
              </a:rPr>
              <a:t>，一旦出错，后面的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Helvetica Neue" panose="02000503000000020004"/>
              </a:rPr>
              <a:t>f.close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 panose="02000503000000020004"/>
              </a:rPr>
              <a:t>()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 panose="02000503000000020004"/>
              </a:rPr>
              <a:t>就不会调用。</a:t>
            </a:r>
            <a:endParaRPr lang="zh-CN" altLang="en-US" b="0" i="0" dirty="0">
              <a:solidFill>
                <a:srgbClr val="333333"/>
              </a:solidFill>
              <a:effectLst/>
              <a:latin typeface="Helvetica Neue" panose="02000503000000020004"/>
            </a:endParaRPr>
          </a:p>
          <a:p>
            <a:pPr marL="0" indent="0">
              <a:buNone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 panose="02000503000000020004"/>
              </a:rPr>
              <a:t>② 为了保证无论是否出错都能正确地关闭文件，我们可以使用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 panose="02000503000000020004"/>
              </a:rPr>
              <a:t>try ... finally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 panose="02000503000000020004"/>
              </a:rPr>
              <a:t>来解决</a:t>
            </a:r>
            <a:endParaRPr lang="zh-CN" altLang="en-US" b="0" i="0" dirty="0">
              <a:solidFill>
                <a:srgbClr val="333333"/>
              </a:solidFill>
              <a:effectLst/>
              <a:latin typeface="Helvetica Neue" panose="02000503000000020004"/>
            </a:endParaRPr>
          </a:p>
          <a:p>
            <a:pPr marL="0" indent="0" algn="l">
              <a:buNone/>
            </a:pPr>
            <a:endParaRPr lang="zh-CN" altLang="en-US" dirty="0"/>
          </a:p>
        </p:txBody>
      </p:sp>
      <p:sp>
        <p:nvSpPr>
          <p:cNvPr id="6" name="TextBox 3"/>
          <p:cNvSpPr txBox="1"/>
          <p:nvPr/>
        </p:nvSpPr>
        <p:spPr>
          <a:xfrm>
            <a:off x="763805" y="2171733"/>
            <a:ext cx="10643747" cy="1857432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3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</a:t>
            </a:r>
            <a:r>
              <a:rPr lang="en-US" altLang="zh-CN" sz="13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# 1</a:t>
            </a:r>
            <a:r>
              <a:rPr lang="zh-CN" altLang="en-US" sz="13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、以读的方式打开文件</a:t>
            </a:r>
            <a:endParaRPr lang="zh-CN" altLang="en-US" sz="13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13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</a:t>
            </a:r>
            <a:r>
              <a:rPr lang="en-US" altLang="zh-CN" sz="13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f = open("1.txt", "r")</a:t>
            </a:r>
            <a:endParaRPr lang="en-US" altLang="zh-CN" sz="13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3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# 2</a:t>
            </a:r>
            <a:r>
              <a:rPr lang="zh-CN" altLang="en-US" sz="13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、写入文件内容</a:t>
            </a:r>
            <a:endParaRPr lang="zh-CN" altLang="en-US" sz="13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13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</a:t>
            </a:r>
            <a:r>
              <a:rPr lang="en-US" altLang="zh-CN" sz="1300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f.write</a:t>
            </a:r>
            <a:r>
              <a:rPr lang="en-US" altLang="zh-CN" sz="13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("hello world")</a:t>
            </a:r>
            <a:endParaRPr lang="en-US" altLang="zh-CN" sz="13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3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# 3</a:t>
            </a:r>
            <a:r>
              <a:rPr lang="zh-CN" altLang="en-US" sz="13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、关闭文件</a:t>
            </a:r>
            <a:endParaRPr lang="zh-CN" altLang="en-US" sz="13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13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</a:t>
            </a:r>
            <a:r>
              <a:rPr lang="en-US" altLang="zh-CN" sz="1300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f.close</a:t>
            </a:r>
            <a:r>
              <a:rPr lang="en-US" altLang="zh-CN" sz="13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()</a:t>
            </a:r>
            <a:endParaRPr lang="en-US" altLang="zh-CN" sz="13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92922" y="3454034"/>
            <a:ext cx="7414903" cy="1767993"/>
          </a:xfrm>
          <a:prstGeom prst="rect">
            <a:avLst/>
          </a:prstGeom>
        </p:spPr>
      </p:pic>
      <p:sp>
        <p:nvSpPr>
          <p:cNvPr id="9" name="箭头: 右 8"/>
          <p:cNvSpPr/>
          <p:nvPr/>
        </p:nvSpPr>
        <p:spPr>
          <a:xfrm rot="1908012">
            <a:off x="2383587" y="3807844"/>
            <a:ext cx="1300320" cy="44810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i="0" dirty="0">
                <a:solidFill>
                  <a:srgbClr val="333333"/>
                </a:solidFill>
                <a:effectLst/>
                <a:latin typeface="Helvetica Neue" panose="02000503000000020004"/>
              </a:rPr>
              <a:t>Python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 panose="02000503000000020004"/>
              </a:rPr>
              <a:t>高级语法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3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</a:t>
            </a:r>
            <a:r>
              <a:rPr lang="en-US" altLang="zh-CN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try…except…finally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解决文件操作异常</a:t>
            </a:r>
            <a:endParaRPr lang="zh-CN" altLang="en-US" b="1" i="0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5" name="文本占位符 7"/>
          <p:cNvSpPr>
            <a:spLocks noGrp="1"/>
          </p:cNvSpPr>
          <p:nvPr>
            <p:ph type="body" sz="quarter" idx="11"/>
          </p:nvPr>
        </p:nvSpPr>
        <p:spPr>
          <a:xfrm>
            <a:off x="721201" y="1635973"/>
            <a:ext cx="10749598" cy="2180131"/>
          </a:xfrm>
        </p:spPr>
        <p:txBody>
          <a:bodyPr/>
          <a:lstStyle/>
          <a:p>
            <a:pPr marL="0" indent="0" algn="l">
              <a:buNone/>
            </a:pPr>
            <a:r>
              <a:rPr lang="zh-CN" altLang="en-US" dirty="0">
                <a:latin typeface="Helvetica Neue" panose="02000503000000020004"/>
              </a:rPr>
              <a:t>安全写法</a:t>
            </a:r>
            <a:r>
              <a:rPr lang="en-US" altLang="zh-CN" dirty="0">
                <a:latin typeface="Helvetica Neue" panose="02000503000000020004"/>
              </a:rPr>
              <a:t>, </a:t>
            </a:r>
            <a:r>
              <a:rPr lang="zh-CN" altLang="en-US" dirty="0">
                <a:latin typeface="Helvetica Neue" panose="02000503000000020004"/>
              </a:rPr>
              <a:t>代码如下</a:t>
            </a:r>
            <a:r>
              <a:rPr lang="en-US" altLang="zh-CN" dirty="0">
                <a:latin typeface="Helvetica Neue" panose="02000503000000020004"/>
              </a:rPr>
              <a:t>:</a:t>
            </a:r>
            <a:endParaRPr lang="zh-CN" altLang="en-US" dirty="0"/>
          </a:p>
        </p:txBody>
      </p:sp>
      <p:sp>
        <p:nvSpPr>
          <p:cNvPr id="7" name="TextBox 3"/>
          <p:cNvSpPr txBox="1"/>
          <p:nvPr/>
        </p:nvSpPr>
        <p:spPr>
          <a:xfrm>
            <a:off x="763805" y="2171733"/>
            <a:ext cx="10643747" cy="3657924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3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try:</a:t>
            </a:r>
            <a:endParaRPr lang="en-US" altLang="zh-CN" sz="13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3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# 1</a:t>
            </a:r>
            <a:r>
              <a:rPr lang="zh-CN" altLang="en-US" sz="13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、以读的方式打开文件</a:t>
            </a:r>
            <a:endParaRPr lang="zh-CN" altLang="en-US" sz="13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13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</a:t>
            </a:r>
            <a:r>
              <a:rPr lang="en-US" altLang="zh-CN" sz="13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f = open("1.txt", "r")</a:t>
            </a:r>
            <a:endParaRPr lang="en-US" altLang="zh-CN" sz="13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3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# 2</a:t>
            </a:r>
            <a:r>
              <a:rPr lang="zh-CN" altLang="en-US" sz="13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、读取文件内容</a:t>
            </a:r>
            <a:endParaRPr lang="zh-CN" altLang="en-US" sz="13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13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</a:t>
            </a:r>
            <a:r>
              <a:rPr lang="en-US" altLang="zh-CN" sz="1300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f.write</a:t>
            </a:r>
            <a:r>
              <a:rPr lang="en-US" altLang="zh-CN" sz="13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("</a:t>
            </a:r>
            <a:r>
              <a:rPr lang="en-US" altLang="zh-CN" sz="1300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xxxxx</a:t>
            </a:r>
            <a:r>
              <a:rPr lang="en-US" altLang="zh-CN" sz="13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")</a:t>
            </a:r>
            <a:endParaRPr lang="en-US" altLang="zh-CN" sz="13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endParaRPr lang="en-US" altLang="zh-CN" sz="13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3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except </a:t>
            </a:r>
            <a:r>
              <a:rPr lang="en-US" altLang="zh-CN" sz="1300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IOError</a:t>
            </a:r>
            <a:r>
              <a:rPr lang="en-US" altLang="zh-CN" sz="13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as e:</a:t>
            </a:r>
            <a:endParaRPr lang="en-US" altLang="zh-CN" sz="13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3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print("</a:t>
            </a:r>
            <a:r>
              <a:rPr lang="zh-CN" altLang="en-US" sz="13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文件操作出错</a:t>
            </a:r>
            <a:r>
              <a:rPr lang="en-US" altLang="zh-CN" sz="13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", e)</a:t>
            </a:r>
            <a:endParaRPr lang="en-US" altLang="zh-CN" sz="13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endParaRPr lang="en-US" altLang="zh-CN" sz="13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3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finally:</a:t>
            </a:r>
            <a:endParaRPr lang="en-US" altLang="zh-CN" sz="13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3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# 3</a:t>
            </a:r>
            <a:r>
              <a:rPr lang="zh-CN" altLang="en-US" sz="13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、关闭文件</a:t>
            </a:r>
            <a:endParaRPr lang="zh-CN" altLang="en-US" sz="13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13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</a:t>
            </a:r>
            <a:r>
              <a:rPr lang="en-US" altLang="zh-CN" sz="1300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f.close</a:t>
            </a:r>
            <a:r>
              <a:rPr lang="en-US" altLang="zh-CN" sz="13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()</a:t>
            </a:r>
            <a:endParaRPr lang="en-US" altLang="zh-CN" sz="13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7118" y="3348884"/>
            <a:ext cx="7653104" cy="129184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i="0" dirty="0">
                <a:solidFill>
                  <a:srgbClr val="333333"/>
                </a:solidFill>
                <a:effectLst/>
                <a:latin typeface="Helvetica Neue" panose="02000503000000020004"/>
              </a:rPr>
              <a:t>Python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 panose="02000503000000020004"/>
              </a:rPr>
              <a:t>高级语法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4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</a:t>
            </a:r>
            <a:r>
              <a:rPr lang="en-US" altLang="zh-CN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with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语句</a:t>
            </a:r>
            <a:endParaRPr lang="zh-CN" altLang="en-US" b="1" i="0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5" name="文本占位符 7"/>
          <p:cNvSpPr>
            <a:spLocks noGrp="1"/>
          </p:cNvSpPr>
          <p:nvPr>
            <p:ph type="body" sz="quarter" idx="11"/>
          </p:nvPr>
        </p:nvSpPr>
        <p:spPr>
          <a:xfrm>
            <a:off x="721201" y="1635973"/>
            <a:ext cx="10749598" cy="2180131"/>
          </a:xfrm>
        </p:spPr>
        <p:txBody>
          <a:bodyPr/>
          <a:lstStyle/>
          <a:p>
            <a:pPr marL="0" indent="0" algn="l">
              <a:buNone/>
            </a:pPr>
            <a:r>
              <a:rPr lang="en-US" altLang="zh-CN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try-except-finally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语句缺点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：代码过于冗长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zh-CN" altLang="en-US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不易用，易忘</a:t>
            </a:r>
            <a:endParaRPr lang="en-US" altLang="zh-CN" b="0" i="0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indent="0" algn="l">
              <a:buNone/>
            </a:pPr>
            <a:r>
              <a:rPr lang="zh-CN" altLang="en-US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上下文管理器</a:t>
            </a:r>
            <a:r>
              <a:rPr lang="en-US" altLang="zh-CN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with</a:t>
            </a:r>
            <a:r>
              <a:rPr lang="zh-CN" altLang="en-US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语句</a:t>
            </a:r>
            <a:r>
              <a:rPr lang="zh-CN" altLang="en-US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：该机制简单、更安全的处理资源和异常</a:t>
            </a:r>
            <a:endParaRPr lang="en-US" altLang="zh-CN" b="0" i="0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indent="0" algn="l">
              <a:buNone/>
            </a:pPr>
            <a:r>
              <a:rPr lang="zh-CN" altLang="en-US" b="1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     </a:t>
            </a:r>
            <a:r>
              <a:rPr lang="zh-CN" altLang="en-US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特点：</a:t>
            </a:r>
            <a:r>
              <a:rPr lang="en-US" altLang="zh-CN" i="0" dirty="0">
                <a:solidFill>
                  <a:schemeClr val="tx1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with </a:t>
            </a:r>
            <a:r>
              <a:rPr lang="zh-CN" altLang="en-US" i="0" dirty="0">
                <a:solidFill>
                  <a:schemeClr val="tx1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语句执行完成后，</a:t>
            </a:r>
            <a:r>
              <a:rPr lang="zh-CN" altLang="en-US" i="0" dirty="0">
                <a:solidFill>
                  <a:srgbClr val="C0000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自动调用关闭文件操作</a:t>
            </a:r>
            <a:r>
              <a:rPr lang="zh-CN" altLang="en-US" i="0" dirty="0">
                <a:solidFill>
                  <a:schemeClr val="tx1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，即使</a:t>
            </a:r>
            <a:r>
              <a:rPr lang="zh-CN" altLang="en-US" i="0" dirty="0">
                <a:solidFill>
                  <a:srgbClr val="C0000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出现异常</a:t>
            </a:r>
            <a:r>
              <a:rPr lang="zh-CN" altLang="en-US" i="0" dirty="0">
                <a:solidFill>
                  <a:schemeClr val="tx1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也会自动调用关闭文件操作</a:t>
            </a:r>
            <a:endParaRPr lang="zh-CN" altLang="en-US" i="0" dirty="0">
              <a:solidFill>
                <a:schemeClr val="tx1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7" name="TextBox 3"/>
          <p:cNvSpPr txBox="1"/>
          <p:nvPr/>
        </p:nvSpPr>
        <p:spPr>
          <a:xfrm>
            <a:off x="808629" y="3657368"/>
            <a:ext cx="5888007" cy="1904432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实例代码：</a:t>
            </a:r>
            <a:endParaRPr lang="en-US" altLang="zh-CN" sz="1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# 1</a:t>
            </a:r>
            <a:r>
              <a:rPr lang="zh-CN" altLang="en-US" sz="1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、以写的方式打开文件</a:t>
            </a:r>
            <a:endParaRPr lang="zh-CN" altLang="en-US" sz="1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with open("1.txt", "w") as f:</a:t>
            </a:r>
            <a:endParaRPr lang="en-US" altLang="zh-CN" sz="1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# 2</a:t>
            </a:r>
            <a:r>
              <a:rPr lang="zh-CN" altLang="en-US" sz="1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、读取文件内容</a:t>
            </a:r>
            <a:endParaRPr lang="zh-CN" altLang="en-US" sz="1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1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</a:t>
            </a:r>
            <a:r>
              <a:rPr lang="en-US" altLang="zh-CN" sz="1600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f.write</a:t>
            </a:r>
            <a:r>
              <a:rPr lang="en-US" altLang="zh-CN" sz="1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("hello world")</a:t>
            </a:r>
            <a:endParaRPr lang="en-US" altLang="zh-CN" sz="1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33323" y="3537127"/>
            <a:ext cx="4530240" cy="255387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i="0" dirty="0">
                <a:solidFill>
                  <a:srgbClr val="333333"/>
                </a:solidFill>
                <a:effectLst/>
                <a:latin typeface="Helvetica Neue" panose="02000503000000020004"/>
              </a:rPr>
              <a:t>Python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 panose="02000503000000020004"/>
              </a:rPr>
              <a:t>高级语法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5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</a:t>
            </a:r>
            <a:r>
              <a:rPr lang="zh-CN" altLang="en-US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上下文管理器</a:t>
            </a:r>
            <a:endParaRPr lang="zh-CN" altLang="en-US" b="1" i="0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5" name="文本占位符 7"/>
          <p:cNvSpPr>
            <a:spLocks noGrp="1"/>
          </p:cNvSpPr>
          <p:nvPr>
            <p:ph type="body" sz="quarter" idx="11"/>
          </p:nvPr>
        </p:nvSpPr>
        <p:spPr>
          <a:xfrm>
            <a:off x="721201" y="1635974"/>
            <a:ext cx="10260564" cy="434874"/>
          </a:xfrm>
        </p:spPr>
        <p:txBody>
          <a:bodyPr/>
          <a:lstStyle/>
          <a:p>
            <a:pPr>
              <a:buFont typeface="Wingdings" panose="05000000000000000000" pitchFamily="2" charset="2"/>
              <a:buChar char="u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 panose="02000503000000020004" charset="0"/>
              </a:rPr>
              <a:t>一个类只要实现了</a:t>
            </a:r>
            <a:r>
              <a:rPr lang="en-US" altLang="zh-CN" dirty="0"/>
              <a:t>__</a:t>
            </a:r>
            <a:r>
              <a:rPr lang="en-GB" altLang="zh-CN" dirty="0"/>
              <a:t>enter__()</a:t>
            </a:r>
            <a:r>
              <a:rPr lang="zh-CN" altLang="en-US" dirty="0"/>
              <a:t>和</a:t>
            </a:r>
            <a:r>
              <a:rPr lang="en-US" altLang="zh-CN" dirty="0"/>
              <a:t>__</a:t>
            </a:r>
            <a:r>
              <a:rPr lang="en-GB" altLang="zh-CN" dirty="0"/>
              <a:t>exit__()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 panose="02000503000000020004" charset="0"/>
              </a:rPr>
              <a:t>这个两个方法，通过该类创建的对象我们就称之为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 panose="02000503000000020004" charset="0"/>
              </a:rPr>
              <a:t>上下文管理器</a:t>
            </a:r>
            <a:endParaRPr lang="en-US" altLang="zh-CN" b="0" i="0" dirty="0">
              <a:solidFill>
                <a:srgbClr val="C00000"/>
              </a:solidFill>
              <a:effectLst/>
              <a:latin typeface="Helvetica Neue" panose="02000503000000020004" charset="0"/>
            </a:endParaRPr>
          </a:p>
          <a:p>
            <a:pPr marL="0" indent="0" algn="l">
              <a:buNone/>
            </a:pPr>
            <a:endParaRPr lang="zh-CN" altLang="en-US" i="0" dirty="0">
              <a:solidFill>
                <a:schemeClr val="tx1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6" name="文本占位符 7"/>
          <p:cNvSpPr txBox="1"/>
          <p:nvPr/>
        </p:nvSpPr>
        <p:spPr>
          <a:xfrm>
            <a:off x="710879" y="2130461"/>
            <a:ext cx="10749599" cy="1904432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u"/>
            </a:pPr>
            <a:r>
              <a:rPr lang="zh-CN" altLang="en-US" i="0" dirty="0">
                <a:solidFill>
                  <a:schemeClr val="tx1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上下文管理器可以使用 </a:t>
            </a:r>
            <a:r>
              <a:rPr lang="en-GB" altLang="zh-CN" i="0" dirty="0">
                <a:solidFill>
                  <a:schemeClr val="tx1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with </a:t>
            </a:r>
            <a:r>
              <a:rPr lang="zh-CN" altLang="en-US" i="0" dirty="0">
                <a:solidFill>
                  <a:schemeClr val="tx1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语句</a:t>
            </a:r>
            <a:endParaRPr lang="en-US" altLang="zh-CN" i="0" dirty="0">
              <a:solidFill>
                <a:schemeClr val="tx1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>
              <a:buFont typeface="Wingdings" panose="05000000000000000000" pitchFamily="2" charset="2"/>
              <a:buChar char="u"/>
            </a:pPr>
            <a:r>
              <a:rPr lang="en-GB" altLang="zh-CN" sz="160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with</a:t>
            </a:r>
            <a:r>
              <a:rPr lang="zh-CN" altLang="en-US" sz="160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语句之所以这么强大，背后是由上下文管理器做支撑的</a:t>
            </a:r>
            <a:endParaRPr lang="en-US" altLang="zh-CN" sz="1600" i="0" dirty="0"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>
              <a:buFont typeface="Wingdings" panose="05000000000000000000" pitchFamily="2" charset="2"/>
              <a:buChar char="u"/>
            </a:pP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刚才使用 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open </a:t>
            </a: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函数创建的文件对象就是就是一个上下文管理器对象。</a:t>
            </a:r>
            <a:endParaRPr lang="en-US" altLang="zh-CN" sz="16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>
              <a:buFont typeface="Wingdings" panose="05000000000000000000" pitchFamily="2" charset="2"/>
              <a:buChar char="u"/>
            </a:pP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zh-CN" altLang="en-GB" sz="160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大白话</a:t>
            </a:r>
            <a:r>
              <a:rPr lang="zh-CN" altLang="en-US" sz="160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：</a:t>
            </a:r>
            <a:r>
              <a:rPr lang="en-GB" altLang="zh-CN" sz="160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with </a:t>
            </a:r>
            <a:r>
              <a:rPr lang="zh-CN" altLang="en-US" sz="160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管理的对象就是上下文管理器</a:t>
            </a: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； </a:t>
            </a:r>
            <a:r>
              <a:rPr lang="en-GB" altLang="zh-CN" sz="1600" i="1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with xxx</a:t>
            </a:r>
            <a:r>
              <a:rPr lang="zh-CN" altLang="en-US" sz="1600" i="1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GB" altLang="zh-CN" sz="1600" i="1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as </a:t>
            </a:r>
            <a:r>
              <a:rPr lang="zh-CN" altLang="en-US" sz="1600" i="1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后面的</a:t>
            </a:r>
            <a:r>
              <a:rPr lang="zh-CN" altLang="en-US" sz="1600" i="1" dirty="0">
                <a:solidFill>
                  <a:srgbClr val="C0000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操作的对象</a:t>
            </a:r>
            <a:r>
              <a:rPr lang="zh-CN" altLang="en-US" sz="1600" i="1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就是被管理的对象</a:t>
            </a:r>
            <a:endParaRPr lang="zh-CN" altLang="en-US" sz="16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zh-CN" altLang="en-US" dirty="0">
              <a:solidFill>
                <a:schemeClr val="tx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8" name="文本占位符 7"/>
          <p:cNvSpPr txBox="1"/>
          <p:nvPr/>
        </p:nvSpPr>
        <p:spPr>
          <a:xfrm>
            <a:off x="721200" y="4089939"/>
            <a:ext cx="10457787" cy="1827980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u"/>
            </a:pPr>
            <a:r>
              <a:rPr lang="zh-CN" altLang="en-US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定义上下文管理器类</a:t>
            </a:r>
            <a:r>
              <a:rPr lang="en-US" altLang="zh-CN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</a:t>
            </a:r>
            <a:r>
              <a:rPr lang="zh-CN" altLang="en-US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模拟文件操作</a:t>
            </a:r>
            <a:endParaRPr lang="en-US" altLang="zh-CN" dirty="0">
              <a:solidFill>
                <a:srgbClr val="C00000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>
              <a:buFont typeface="Wingdings" panose="05000000000000000000" pitchFamily="2" charset="2"/>
              <a:buChar char="u"/>
            </a:pPr>
            <a:r>
              <a:rPr lang="zh-CN" altLang="en-US" sz="16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定义一个</a:t>
            </a:r>
            <a:r>
              <a:rPr lang="en-GB" altLang="zh-CN" sz="16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File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类，实现 </a:t>
            </a:r>
            <a:r>
              <a:rPr lang="en-US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__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enter__() </a:t>
            </a: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和 </a:t>
            </a:r>
            <a:r>
              <a:rPr lang="en-US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__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exit__()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方法</a:t>
            </a:r>
            <a:endParaRPr lang="en-US" altLang="zh-CN" sz="1600" b="0" i="0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>
              <a:buFont typeface="Wingdings" panose="05000000000000000000" pitchFamily="2" charset="2"/>
              <a:buChar char="u"/>
            </a:pPr>
            <a:r>
              <a:rPr lang="zh-CN" altLang="en-US" sz="16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然后使用 </a:t>
            </a:r>
            <a:r>
              <a:rPr lang="en-GB" altLang="zh-CN" sz="16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with 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语句来完成操作文件</a:t>
            </a:r>
            <a:endParaRPr lang="zh-CN" altLang="en-US" sz="1600" dirty="0">
              <a:solidFill>
                <a:srgbClr val="C00000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i="0" dirty="0">
                <a:solidFill>
                  <a:srgbClr val="333333"/>
                </a:solidFill>
                <a:effectLst/>
                <a:latin typeface="Helvetica Neue" panose="02000503000000020004"/>
              </a:rPr>
              <a:t>Python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 panose="02000503000000020004"/>
              </a:rPr>
              <a:t>高级语法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6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</a:t>
            </a:r>
            <a:r>
              <a:rPr lang="zh-CN" altLang="en-US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上下文管理器 </a:t>
            </a:r>
            <a:r>
              <a:rPr lang="en-US" altLang="zh-CN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–</a:t>
            </a:r>
            <a:r>
              <a:rPr lang="zh-CN" altLang="en-US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栗子</a:t>
            </a:r>
            <a:endParaRPr lang="zh-CN" altLang="en-US" b="1" i="0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9" name="TextBox 3"/>
          <p:cNvSpPr txBox="1"/>
          <p:nvPr/>
        </p:nvSpPr>
        <p:spPr>
          <a:xfrm>
            <a:off x="816733" y="1635973"/>
            <a:ext cx="4893786" cy="4888646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GB" altLang="zh-CN" sz="1400" dirty="0">
                <a:solidFill>
                  <a:srgbClr val="0033B3"/>
                </a:solidFill>
                <a:effectLst/>
              </a:rPr>
              <a:t>class </a:t>
            </a:r>
            <a:r>
              <a:rPr lang="en-GB" altLang="zh-CN" sz="1400" dirty="0" err="1">
                <a:solidFill>
                  <a:srgbClr val="000000"/>
                </a:solidFill>
                <a:effectLst/>
              </a:rPr>
              <a:t>MyFile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00080"/>
                </a:solidFill>
                <a:effectLst/>
              </a:rPr>
              <a:t>object</a:t>
            </a:r>
            <a:r>
              <a:rPr lang="en-GB" altLang="zh-CN" sz="1400" dirty="0"/>
              <a:t>):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400" dirty="0">
                <a:solidFill>
                  <a:srgbClr val="B200B2"/>
                </a:solidFill>
                <a:effectLst/>
              </a:rPr>
              <a:t>__</a:t>
            </a:r>
            <a:r>
              <a:rPr lang="en-GB" altLang="zh-CN" sz="1400" dirty="0" err="1">
                <a:solidFill>
                  <a:srgbClr val="B200B2"/>
                </a:solidFill>
                <a:effectLst/>
              </a:rPr>
              <a:t>init</a:t>
            </a:r>
            <a:r>
              <a:rPr lang="en-GB" altLang="zh-CN" sz="1400" dirty="0">
                <a:solidFill>
                  <a:srgbClr val="B200B2"/>
                </a:solidFill>
                <a:effectLst/>
              </a:rPr>
              <a:t>__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400" dirty="0"/>
              <a:t>, </a:t>
            </a:r>
            <a:r>
              <a:rPr lang="en-GB" altLang="zh-CN" sz="1400" dirty="0" err="1"/>
              <a:t>file_name</a:t>
            </a:r>
            <a:r>
              <a:rPr lang="en-GB" altLang="zh-CN" sz="1400" dirty="0"/>
              <a:t>, </a:t>
            </a:r>
            <a:r>
              <a:rPr lang="en-GB" altLang="zh-CN" sz="1400" dirty="0" err="1"/>
              <a:t>file_model</a:t>
            </a:r>
            <a:r>
              <a:rPr lang="en-GB" altLang="zh-CN" sz="1400" dirty="0"/>
              <a:t>):</a:t>
            </a:r>
            <a:br>
              <a:rPr lang="en-GB" altLang="zh-CN" sz="1400" dirty="0"/>
            </a:br>
            <a:r>
              <a:rPr lang="en-GB" altLang="zh-CN" sz="1400" dirty="0"/>
              <a:t>        </a:t>
            </a:r>
            <a:r>
              <a:rPr lang="en-GB" altLang="zh-CN" sz="1400" dirty="0" err="1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400" dirty="0" err="1"/>
              <a:t>.file_name</a:t>
            </a:r>
            <a:r>
              <a:rPr lang="en-GB" altLang="zh-CN" sz="1400" dirty="0"/>
              <a:t> = </a:t>
            </a:r>
            <a:r>
              <a:rPr lang="en-GB" altLang="zh-CN" sz="1400" dirty="0" err="1"/>
              <a:t>file_name</a:t>
            </a:r>
            <a:br>
              <a:rPr lang="en-GB" altLang="zh-CN" sz="1400" dirty="0"/>
            </a:br>
            <a:r>
              <a:rPr lang="en-GB" altLang="zh-CN" sz="1400" dirty="0"/>
              <a:t>        </a:t>
            </a:r>
            <a:r>
              <a:rPr lang="en-GB" altLang="zh-CN" sz="1400" dirty="0" err="1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400" dirty="0" err="1"/>
              <a:t>.file_model</a:t>
            </a:r>
            <a:r>
              <a:rPr lang="en-GB" altLang="zh-CN" sz="1400" dirty="0"/>
              <a:t> = </a:t>
            </a:r>
            <a:r>
              <a:rPr lang="en-GB" altLang="zh-CN" sz="1400" dirty="0" err="1"/>
              <a:t>file_model</a:t>
            </a:r>
            <a:br>
              <a:rPr lang="en-GB" altLang="zh-CN" sz="1400" dirty="0"/>
            </a:br>
            <a:r>
              <a:rPr lang="en-GB" altLang="zh-CN" sz="1400" dirty="0"/>
              <a:t>        </a:t>
            </a:r>
            <a:r>
              <a:rPr lang="en-GB" altLang="zh-CN" sz="1400" dirty="0" err="1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400" dirty="0" err="1"/>
              <a:t>.fp</a:t>
            </a:r>
            <a:r>
              <a:rPr lang="en-GB" altLang="zh-CN" sz="1400" dirty="0"/>
              <a:t> = </a:t>
            </a:r>
            <a:r>
              <a:rPr lang="en-GB" altLang="zh-CN" sz="1400" dirty="0">
                <a:solidFill>
                  <a:srgbClr val="0033B3"/>
                </a:solidFill>
                <a:effectLst/>
              </a:rPr>
              <a:t>None </a:t>
            </a:r>
            <a:r>
              <a:rPr lang="en-GB" altLang="zh-CN" sz="14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  <a:effectLst/>
              </a:rPr>
              <a:t>文件句柄</a:t>
            </a:r>
            <a:br>
              <a:rPr lang="zh-CN" altLang="en-US" sz="1400" i="1" dirty="0">
                <a:solidFill>
                  <a:srgbClr val="8C8C8C"/>
                </a:solidFill>
                <a:effectLst/>
              </a:rPr>
            </a:br>
            <a:br>
              <a:rPr lang="zh-CN" altLang="en-US" sz="1400" i="1" dirty="0">
                <a:solidFill>
                  <a:srgbClr val="8C8C8C"/>
                </a:solidFill>
                <a:effectLst/>
              </a:rPr>
            </a:br>
            <a:r>
              <a:rPr lang="zh-CN" altLang="en-US" sz="1400" i="1" dirty="0">
                <a:solidFill>
                  <a:srgbClr val="8C8C8C"/>
                </a:solidFill>
                <a:effectLst/>
              </a:rPr>
              <a:t>    </a:t>
            </a:r>
            <a:r>
              <a:rPr lang="en-GB" altLang="zh-CN" sz="14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400" dirty="0">
                <a:solidFill>
                  <a:srgbClr val="B200B2"/>
                </a:solidFill>
                <a:effectLst/>
              </a:rPr>
              <a:t>__enter__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400" dirty="0"/>
              <a:t>):</a:t>
            </a:r>
            <a:br>
              <a:rPr lang="en-GB" altLang="zh-CN" sz="1400" dirty="0"/>
            </a:br>
            <a:r>
              <a:rPr lang="en-GB" altLang="zh-CN" sz="1400" dirty="0"/>
              <a:t>        </a:t>
            </a:r>
            <a:r>
              <a:rPr lang="en-GB" altLang="zh-CN" sz="14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  <a:effectLst/>
              </a:rPr>
              <a:t>'</a:t>
            </a:r>
            <a:r>
              <a:rPr lang="zh-CN" altLang="en-US" sz="1400" dirty="0">
                <a:solidFill>
                  <a:srgbClr val="067D17"/>
                </a:solidFill>
                <a:effectLst/>
              </a:rPr>
              <a:t>这是上文</a:t>
            </a:r>
            <a:r>
              <a:rPr lang="en-US" altLang="zh-CN" sz="1400" dirty="0">
                <a:solidFill>
                  <a:srgbClr val="067D17"/>
                </a:solidFill>
                <a:effectLst/>
              </a:rPr>
              <a:t>'</a:t>
            </a:r>
            <a:r>
              <a:rPr lang="en-US" altLang="zh-CN" sz="1400" dirty="0"/>
              <a:t>)</a:t>
            </a:r>
            <a:br>
              <a:rPr lang="en-US" altLang="zh-CN" sz="1400" dirty="0"/>
            </a:br>
            <a:r>
              <a:rPr lang="en-US" altLang="zh-CN" sz="1400" dirty="0"/>
              <a:t>        </a:t>
            </a:r>
            <a:r>
              <a:rPr lang="en-GB" altLang="zh-CN" sz="1400" dirty="0" err="1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400" dirty="0" err="1"/>
              <a:t>.fp</a:t>
            </a:r>
            <a:r>
              <a:rPr lang="en-GB" altLang="zh-CN" sz="1400" dirty="0"/>
              <a:t> = </a:t>
            </a:r>
            <a:r>
              <a:rPr lang="en-GB" altLang="zh-CN" sz="1400" dirty="0">
                <a:solidFill>
                  <a:srgbClr val="000080"/>
                </a:solidFill>
                <a:effectLst/>
              </a:rPr>
              <a:t>open</a:t>
            </a:r>
            <a:r>
              <a:rPr lang="en-GB" altLang="zh-CN" sz="1400" dirty="0"/>
              <a:t>(</a:t>
            </a:r>
            <a:r>
              <a:rPr lang="en-GB" altLang="zh-CN" sz="1400" dirty="0" err="1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400" dirty="0" err="1"/>
              <a:t>.file_name</a:t>
            </a:r>
            <a:r>
              <a:rPr lang="en-GB" altLang="zh-CN" sz="1400" dirty="0"/>
              <a:t>, </a:t>
            </a:r>
            <a:r>
              <a:rPr lang="en-GB" altLang="zh-CN" sz="1400" dirty="0" err="1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400" dirty="0" err="1"/>
              <a:t>.file_model</a:t>
            </a:r>
            <a:r>
              <a:rPr lang="en-GB" altLang="zh-CN" sz="1400" dirty="0"/>
              <a:t>)</a:t>
            </a:r>
            <a:br>
              <a:rPr lang="en-GB" altLang="zh-CN" sz="1400" dirty="0"/>
            </a:br>
            <a:r>
              <a:rPr lang="en-GB" altLang="zh-CN" sz="1400" dirty="0"/>
              <a:t>        </a:t>
            </a:r>
            <a:r>
              <a:rPr lang="en-GB" altLang="zh-CN" sz="1400" dirty="0">
                <a:solidFill>
                  <a:srgbClr val="0033B3"/>
                </a:solidFill>
                <a:effectLst/>
              </a:rPr>
              <a:t>return </a:t>
            </a:r>
            <a:r>
              <a:rPr lang="en-GB" altLang="zh-CN" sz="1400" dirty="0" err="1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400" dirty="0" err="1"/>
              <a:t>.fp</a:t>
            </a:r>
            <a:br>
              <a:rPr lang="en-GB" altLang="zh-CN" sz="1400" dirty="0"/>
            </a:b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400" dirty="0">
                <a:solidFill>
                  <a:srgbClr val="B200B2"/>
                </a:solidFill>
                <a:effectLst/>
              </a:rPr>
              <a:t>__exit__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400" dirty="0"/>
              <a:t>, </a:t>
            </a:r>
            <a:r>
              <a:rPr lang="en-GB" altLang="zh-CN" sz="1400" dirty="0" err="1"/>
              <a:t>exc_type</a:t>
            </a:r>
            <a:r>
              <a:rPr lang="en-GB" altLang="zh-CN" sz="1400" dirty="0"/>
              <a:t>, </a:t>
            </a:r>
            <a:r>
              <a:rPr lang="en-GB" altLang="zh-CN" sz="1400" dirty="0" err="1"/>
              <a:t>exc_val</a:t>
            </a:r>
            <a:r>
              <a:rPr lang="en-GB" altLang="zh-CN" sz="1400" dirty="0"/>
              <a:t>, </a:t>
            </a:r>
            <a:r>
              <a:rPr lang="en-GB" altLang="zh-CN" sz="1400" dirty="0" err="1"/>
              <a:t>exc_tb</a:t>
            </a:r>
            <a:r>
              <a:rPr lang="en-GB" altLang="zh-CN" sz="1400" dirty="0"/>
              <a:t>):</a:t>
            </a:r>
            <a:br>
              <a:rPr lang="en-GB" altLang="zh-CN" sz="1400" dirty="0"/>
            </a:br>
            <a:r>
              <a:rPr lang="en-GB" altLang="zh-CN" sz="1400" dirty="0"/>
              <a:t>        </a:t>
            </a:r>
            <a:r>
              <a:rPr lang="en-GB" altLang="zh-CN" sz="14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  <a:effectLst/>
              </a:rPr>
              <a:t>'</a:t>
            </a:r>
            <a:r>
              <a:rPr lang="zh-CN" altLang="en-US" sz="1400" dirty="0">
                <a:solidFill>
                  <a:srgbClr val="067D17"/>
                </a:solidFill>
                <a:effectLst/>
              </a:rPr>
              <a:t>这是下文</a:t>
            </a:r>
            <a:r>
              <a:rPr lang="en-US" altLang="zh-CN" sz="1400" dirty="0">
                <a:solidFill>
                  <a:srgbClr val="067D17"/>
                </a:solidFill>
                <a:effectLst/>
              </a:rPr>
              <a:t>'</a:t>
            </a:r>
            <a:r>
              <a:rPr lang="en-US" altLang="zh-CN" sz="1400" dirty="0"/>
              <a:t>)</a:t>
            </a:r>
            <a:br>
              <a:rPr lang="en-US" altLang="zh-CN" sz="1400" dirty="0"/>
            </a:br>
            <a:r>
              <a:rPr lang="en-US" altLang="zh-CN" sz="1400" dirty="0"/>
              <a:t>        </a:t>
            </a:r>
            <a:r>
              <a:rPr lang="en-GB" altLang="zh-CN" sz="1400" dirty="0" err="1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400" dirty="0" err="1"/>
              <a:t>.fp.close</a:t>
            </a:r>
            <a:r>
              <a:rPr lang="en-GB" altLang="zh-CN" sz="1400" dirty="0"/>
              <a:t>()</a:t>
            </a:r>
            <a:br>
              <a:rPr lang="en-GB" altLang="zh-CN" sz="1400" dirty="0"/>
            </a:br>
            <a:endParaRPr lang="en-US" altLang="zh-CN" sz="13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10" name="TextBox 3"/>
          <p:cNvSpPr txBox="1"/>
          <p:nvPr/>
        </p:nvSpPr>
        <p:spPr>
          <a:xfrm>
            <a:off x="6095999" y="1635973"/>
            <a:ext cx="5279267" cy="329301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i="1" dirty="0">
                <a:solidFill>
                  <a:srgbClr val="8C8C8C"/>
                </a:solidFill>
                <a:effectLst/>
              </a:rPr>
              <a:t># 0 </a:t>
            </a:r>
            <a:r>
              <a:rPr lang="zh-CN" altLang="en-US" sz="1400" i="1" dirty="0">
                <a:solidFill>
                  <a:srgbClr val="8C8C8C"/>
                </a:solidFill>
                <a:effectLst/>
              </a:rPr>
              <a:t>什么是上下文管理器？ </a:t>
            </a:r>
            <a:r>
              <a:rPr lang="en-GB" altLang="zh-CN" sz="1400" i="1" dirty="0">
                <a:solidFill>
                  <a:srgbClr val="8C8C8C"/>
                </a:solidFill>
                <a:effectLst/>
              </a:rPr>
              <a:t>with </a:t>
            </a:r>
            <a:r>
              <a:rPr lang="zh-CN" altLang="en-US" sz="1400" i="1" dirty="0">
                <a:solidFill>
                  <a:srgbClr val="8C8C8C"/>
                </a:solidFill>
                <a:effectLst/>
              </a:rPr>
              <a:t>管理的对象就是上下文管理器</a:t>
            </a:r>
            <a:br>
              <a:rPr lang="zh-CN" altLang="en-US" sz="1400" i="1" dirty="0">
                <a:solidFill>
                  <a:srgbClr val="8C8C8C"/>
                </a:solidFill>
                <a:effectLst/>
              </a:rPr>
            </a:br>
            <a:r>
              <a:rPr lang="en-US" altLang="zh-CN" sz="1400" i="1" dirty="0">
                <a:solidFill>
                  <a:srgbClr val="8C8C8C"/>
                </a:solidFill>
                <a:effectLst/>
              </a:rPr>
              <a:t># 1 </a:t>
            </a:r>
            <a:r>
              <a:rPr lang="zh-CN" altLang="en-US" sz="1400" i="1" dirty="0">
                <a:solidFill>
                  <a:srgbClr val="8C8C8C"/>
                </a:solidFill>
                <a:effectLst/>
              </a:rPr>
              <a:t>定义一个</a:t>
            </a:r>
            <a:r>
              <a:rPr lang="en-GB" altLang="zh-CN" sz="1400" i="1" dirty="0">
                <a:solidFill>
                  <a:srgbClr val="8C8C8C"/>
                </a:solidFill>
                <a:effectLst/>
              </a:rPr>
              <a:t>File</a:t>
            </a:r>
            <a:r>
              <a:rPr lang="zh-CN" altLang="en-US" sz="1400" i="1" dirty="0">
                <a:solidFill>
                  <a:srgbClr val="8C8C8C"/>
                </a:solidFill>
                <a:effectLst/>
              </a:rPr>
              <a:t>类</a:t>
            </a:r>
            <a:br>
              <a:rPr lang="zh-CN" altLang="en-US" sz="1400" i="1" dirty="0">
                <a:solidFill>
                  <a:srgbClr val="8C8C8C"/>
                </a:solidFill>
                <a:effectLst/>
              </a:rPr>
            </a:br>
            <a:r>
              <a:rPr lang="en-US" altLang="zh-CN" sz="1400" i="1" dirty="0">
                <a:solidFill>
                  <a:srgbClr val="8C8C8C"/>
                </a:solidFill>
                <a:effectLst/>
              </a:rPr>
              <a:t># 2 </a:t>
            </a:r>
            <a:r>
              <a:rPr lang="zh-CN" altLang="en-US" sz="1400" i="1" dirty="0">
                <a:solidFill>
                  <a:srgbClr val="8C8C8C"/>
                </a:solidFill>
                <a:effectLst/>
              </a:rPr>
              <a:t>重写魔法方法 </a:t>
            </a:r>
            <a:r>
              <a:rPr lang="en-US" altLang="zh-CN" sz="1400" i="1" dirty="0">
                <a:solidFill>
                  <a:srgbClr val="8C8C8C"/>
                </a:solidFill>
                <a:effectLst/>
              </a:rPr>
              <a:t>__</a:t>
            </a:r>
            <a:r>
              <a:rPr lang="en-GB" altLang="zh-CN" sz="1400" i="1" dirty="0">
                <a:solidFill>
                  <a:srgbClr val="8C8C8C"/>
                </a:solidFill>
                <a:effectLst/>
              </a:rPr>
              <a:t>enter__() </a:t>
            </a:r>
            <a:r>
              <a:rPr lang="zh-CN" altLang="en-US" sz="1400" i="1" dirty="0">
                <a:solidFill>
                  <a:srgbClr val="8C8C8C"/>
                </a:solidFill>
                <a:effectLst/>
              </a:rPr>
              <a:t>和 </a:t>
            </a:r>
            <a:r>
              <a:rPr lang="en-US" altLang="zh-CN" sz="1400" i="1" dirty="0">
                <a:solidFill>
                  <a:srgbClr val="8C8C8C"/>
                </a:solidFill>
                <a:effectLst/>
              </a:rPr>
              <a:t>__</a:t>
            </a:r>
            <a:r>
              <a:rPr lang="en-GB" altLang="zh-CN" sz="1400" i="1" dirty="0">
                <a:solidFill>
                  <a:srgbClr val="8C8C8C"/>
                </a:solidFill>
                <a:effectLst/>
              </a:rPr>
              <a:t>exit__()</a:t>
            </a:r>
            <a:r>
              <a:rPr lang="zh-CN" altLang="en-US" sz="1400" i="1" dirty="0">
                <a:solidFill>
                  <a:srgbClr val="8C8C8C"/>
                </a:solidFill>
                <a:effectLst/>
              </a:rPr>
              <a:t>方法</a:t>
            </a:r>
            <a:br>
              <a:rPr lang="zh-CN" altLang="en-US" sz="1400" i="1" dirty="0">
                <a:solidFill>
                  <a:srgbClr val="8C8C8C"/>
                </a:solidFill>
                <a:effectLst/>
              </a:rPr>
            </a:br>
            <a:r>
              <a:rPr lang="en-US" altLang="zh-CN" sz="1400" i="1" dirty="0">
                <a:solidFill>
                  <a:srgbClr val="8C8C8C"/>
                </a:solidFill>
                <a:effectLst/>
              </a:rPr>
              <a:t># 3 </a:t>
            </a:r>
            <a:r>
              <a:rPr lang="zh-CN" altLang="en-US" sz="1400" i="1" dirty="0">
                <a:solidFill>
                  <a:srgbClr val="8C8C8C"/>
                </a:solidFill>
                <a:effectLst/>
              </a:rPr>
              <a:t>然后使用 </a:t>
            </a:r>
            <a:r>
              <a:rPr lang="en-GB" altLang="zh-CN" sz="1400" i="1" dirty="0">
                <a:solidFill>
                  <a:srgbClr val="8C8C8C"/>
                </a:solidFill>
                <a:effectLst/>
              </a:rPr>
              <a:t>with </a:t>
            </a:r>
            <a:r>
              <a:rPr lang="zh-CN" altLang="en-US" sz="1400" i="1" dirty="0">
                <a:solidFill>
                  <a:srgbClr val="8C8C8C"/>
                </a:solidFill>
                <a:effectLst/>
              </a:rPr>
              <a:t>语句来完成操作文件</a:t>
            </a:r>
            <a:br>
              <a:rPr lang="zh-CN" altLang="en-US" sz="1400" i="1" dirty="0">
                <a:solidFill>
                  <a:srgbClr val="8C8C8C"/>
                </a:solidFill>
                <a:effectLst/>
              </a:rPr>
            </a:br>
            <a:br>
              <a:rPr lang="en-GB" altLang="zh-CN" sz="1400" dirty="0"/>
            </a:br>
            <a:r>
              <a:rPr lang="en-GB" altLang="zh-CN" sz="1400" dirty="0">
                <a:solidFill>
                  <a:srgbClr val="0033B3"/>
                </a:solidFill>
                <a:effectLst/>
              </a:rPr>
              <a:t>if </a:t>
            </a:r>
            <a:r>
              <a:rPr lang="en-GB" altLang="zh-CN" sz="1400" dirty="0"/>
              <a:t>__name__ == </a:t>
            </a:r>
            <a:r>
              <a:rPr lang="en-GB" altLang="zh-CN" sz="1400" dirty="0">
                <a:solidFill>
                  <a:srgbClr val="067D17"/>
                </a:solidFill>
                <a:effectLst/>
              </a:rPr>
              <a:t>'__main__'</a:t>
            </a:r>
            <a:r>
              <a:rPr lang="en-GB" altLang="zh-CN" sz="1400" dirty="0"/>
              <a:t>: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i="1" dirty="0">
                <a:solidFill>
                  <a:srgbClr val="8C8C8C"/>
                </a:solidFill>
                <a:effectLst/>
              </a:rPr>
              <a:t># </a:t>
            </a:r>
            <a:r>
              <a:rPr lang="en-GB" altLang="zh-CN" sz="1400" i="1" dirty="0" err="1">
                <a:solidFill>
                  <a:srgbClr val="8C8C8C"/>
                </a:solidFill>
                <a:effectLst/>
              </a:rPr>
              <a:t>myobj</a:t>
            </a:r>
            <a:r>
              <a:rPr lang="en-GB" altLang="zh-CN" sz="1400" i="1" dirty="0">
                <a:solidFill>
                  <a:srgbClr val="8C8C8C"/>
                </a:solidFill>
                <a:effectLst/>
              </a:rPr>
              <a:t> = </a:t>
            </a:r>
            <a:r>
              <a:rPr lang="en-GB" altLang="zh-CN" sz="1400" i="1" dirty="0" err="1">
                <a:solidFill>
                  <a:srgbClr val="8C8C8C"/>
                </a:solidFill>
                <a:effectLst/>
              </a:rPr>
              <a:t>MyFile</a:t>
            </a:r>
            <a:r>
              <a:rPr lang="en-GB" altLang="zh-CN" sz="1400" i="1" dirty="0">
                <a:solidFill>
                  <a:srgbClr val="8C8C8C"/>
                </a:solidFill>
                <a:effectLst/>
              </a:rPr>
              <a:t>('./1.txt', 'r')</a:t>
            </a:r>
            <a:br>
              <a:rPr lang="en-GB" altLang="zh-CN" sz="1400" i="1" dirty="0">
                <a:solidFill>
                  <a:srgbClr val="8C8C8C"/>
                </a:solidFill>
                <a:effectLst/>
              </a:rPr>
            </a:br>
            <a:r>
              <a:rPr lang="en-GB" altLang="zh-CN" sz="1400" i="1" dirty="0">
                <a:solidFill>
                  <a:srgbClr val="8C8C8C"/>
                </a:solidFill>
                <a:effectLst/>
              </a:rPr>
              <a:t>    </a:t>
            </a:r>
            <a:r>
              <a:rPr lang="en-GB" altLang="zh-CN" sz="1400" dirty="0">
                <a:solidFill>
                  <a:srgbClr val="0033B3"/>
                </a:solidFill>
                <a:effectLst/>
              </a:rPr>
              <a:t>with </a:t>
            </a:r>
            <a:r>
              <a:rPr lang="en-GB" altLang="zh-CN" sz="1400" dirty="0" err="1"/>
              <a:t>MyFile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  <a:effectLst/>
              </a:rPr>
              <a:t>'./1.txt'</a:t>
            </a:r>
            <a:r>
              <a:rPr lang="en-GB" altLang="zh-CN" sz="1400" dirty="0"/>
              <a:t>, </a:t>
            </a:r>
            <a:r>
              <a:rPr lang="en-GB" altLang="zh-CN" sz="1400" dirty="0">
                <a:solidFill>
                  <a:srgbClr val="067D17"/>
                </a:solidFill>
                <a:effectLst/>
              </a:rPr>
              <a:t>'r'</a:t>
            </a:r>
            <a:r>
              <a:rPr lang="en-GB" altLang="zh-CN" sz="1400" dirty="0"/>
              <a:t>) </a:t>
            </a:r>
            <a:r>
              <a:rPr lang="en-GB" altLang="zh-CN" sz="1400" dirty="0">
                <a:solidFill>
                  <a:srgbClr val="0033B3"/>
                </a:solidFill>
                <a:effectLst/>
              </a:rPr>
              <a:t>as </a:t>
            </a:r>
            <a:r>
              <a:rPr lang="en-GB" altLang="zh-CN" sz="1400" dirty="0"/>
              <a:t>f:</a:t>
            </a:r>
            <a:br>
              <a:rPr lang="en-GB" altLang="zh-CN" sz="1400" dirty="0"/>
            </a:br>
            <a:r>
              <a:rPr lang="en-GB" altLang="zh-CN" sz="1400" dirty="0"/>
              <a:t>        </a:t>
            </a:r>
            <a:r>
              <a:rPr lang="en-GB" altLang="zh-CN" sz="1400" dirty="0" err="1"/>
              <a:t>filedata</a:t>
            </a:r>
            <a:r>
              <a:rPr lang="en-GB" altLang="zh-CN" sz="1400" dirty="0"/>
              <a:t> = </a:t>
            </a:r>
            <a:r>
              <a:rPr lang="en-GB" altLang="zh-CN" sz="1400" dirty="0" err="1"/>
              <a:t>f.read</a:t>
            </a:r>
            <a:r>
              <a:rPr lang="en-GB" altLang="zh-CN" sz="1400" dirty="0"/>
              <a:t>()</a:t>
            </a:r>
            <a:br>
              <a:rPr lang="en-GB" altLang="zh-CN" sz="1400" dirty="0"/>
            </a:br>
            <a:r>
              <a:rPr lang="en-GB" altLang="zh-CN" sz="1400" dirty="0"/>
              <a:t>        </a:t>
            </a:r>
            <a:r>
              <a:rPr lang="en-GB" altLang="zh-CN" sz="14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  <a:effectLst/>
              </a:rPr>
              <a:t>'</a:t>
            </a:r>
            <a:r>
              <a:rPr lang="en-GB" altLang="zh-CN" sz="1400" dirty="0" err="1">
                <a:solidFill>
                  <a:srgbClr val="067D17"/>
                </a:solidFill>
                <a:effectLst/>
              </a:rPr>
              <a:t>filedata</a:t>
            </a:r>
            <a:r>
              <a:rPr lang="en-GB" altLang="zh-CN" sz="1400" dirty="0">
                <a:solidFill>
                  <a:srgbClr val="067D17"/>
                </a:solidFill>
                <a:effectLst/>
              </a:rPr>
              <a:t>--&gt;'</a:t>
            </a:r>
            <a:r>
              <a:rPr lang="en-GB" altLang="zh-CN" sz="1400" dirty="0"/>
              <a:t>, </a:t>
            </a:r>
            <a:r>
              <a:rPr lang="en-GB" altLang="zh-CN" sz="1400" dirty="0" err="1"/>
              <a:t>filedata</a:t>
            </a:r>
            <a:r>
              <a:rPr lang="en-GB" altLang="zh-CN" sz="1400" dirty="0"/>
              <a:t>)</a:t>
            </a:r>
            <a:endParaRPr lang="en-US" altLang="zh-CN" sz="13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11" name="文本占位符 4"/>
          <p:cNvSpPr txBox="1"/>
          <p:nvPr/>
        </p:nvSpPr>
        <p:spPr>
          <a:xfrm>
            <a:off x="6085679" y="4980587"/>
            <a:ext cx="5550597" cy="1935255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b="1" kern="1200">
                <a:solidFill>
                  <a:schemeClr val="tx1"/>
                </a:solidFill>
                <a:latin typeface="黑体" pitchFamily="49" charset="-122"/>
                <a:ea typeface="黑体" pitchFamily="49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1865" b="1" kern="1200">
                <a:solidFill>
                  <a:schemeClr val="tx1"/>
                </a:solidFill>
                <a:latin typeface="黑体" pitchFamily="49" charset="-122"/>
                <a:ea typeface="黑体" pitchFamily="49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zh-CN" altLang="en-US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一个类只要实现了</a:t>
            </a:r>
            <a:r>
              <a:rPr lang="en-US" altLang="zh-CN" sz="140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__</a:t>
            </a:r>
            <a:r>
              <a:rPr lang="en-GB" altLang="zh-CN" sz="140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enter__()</a:t>
            </a:r>
            <a:r>
              <a:rPr lang="zh-CN" altLang="en-US" sz="140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和</a:t>
            </a:r>
            <a:r>
              <a:rPr lang="en-US" altLang="zh-CN" sz="140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__</a:t>
            </a:r>
            <a:r>
              <a:rPr lang="en-GB" altLang="zh-CN" sz="140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exit__(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r>
              <a:rPr lang="zh-CN" altLang="en-US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这个两个方法，通过该类创建的对象我们就称之为上下文管理器</a:t>
            </a:r>
            <a:endParaRPr lang="en-US" altLang="zh-CN" sz="14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indent="-28575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_enter__</a:t>
            </a:r>
            <a:r>
              <a:rPr lang="zh-CN" altLang="en-US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表示</a:t>
            </a:r>
            <a:r>
              <a:rPr lang="zh-CN" altLang="en-US" sz="140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上文方法</a:t>
            </a:r>
            <a:r>
              <a:rPr lang="zh-CN" altLang="en-US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，需要返回一个操作文件对象</a:t>
            </a:r>
            <a:endParaRPr lang="en-US" altLang="zh-CN" sz="14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indent="-28575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en-US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__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exit__</a:t>
            </a:r>
            <a:r>
              <a:rPr lang="zh-CN" altLang="en-US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表示</a:t>
            </a:r>
            <a:r>
              <a:rPr lang="zh-CN" altLang="en-US" sz="140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下文方法</a:t>
            </a:r>
            <a:r>
              <a:rPr lang="zh-CN" altLang="en-US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，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with</a:t>
            </a:r>
            <a:r>
              <a:rPr lang="zh-CN" altLang="en-US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语句执行完成会自动执行，即使出现异常也会执行该方法</a:t>
            </a:r>
            <a:endParaRPr lang="zh-CN" altLang="en-US" sz="14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>
          <a:xfrm>
            <a:off x="4079501" y="1020856"/>
            <a:ext cx="7081558" cy="494179"/>
          </a:xfrm>
        </p:spPr>
        <p:txBody>
          <a:bodyPr/>
          <a:lstStyle/>
          <a:p>
            <a:pPr mar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/>
              <a:t>1</a:t>
            </a:r>
            <a:r>
              <a:rPr lang="zh-CN" altLang="en-US" dirty="0"/>
              <a:t> 为什么用</a:t>
            </a:r>
            <a:r>
              <a:rPr lang="en-US" altLang="zh-CN" dirty="0"/>
              <a:t>with</a:t>
            </a:r>
            <a:r>
              <a:rPr lang="zh-CN" altLang="en-US" dirty="0"/>
              <a:t>语句，什么是上下文管理器？</a:t>
            </a:r>
            <a:endParaRPr lang="en-US" altLang="zh-CN" dirty="0"/>
          </a:p>
        </p:txBody>
      </p:sp>
      <p:sp>
        <p:nvSpPr>
          <p:cNvPr id="2" name="文本占位符 4"/>
          <p:cNvSpPr txBox="1"/>
          <p:nvPr/>
        </p:nvSpPr>
        <p:spPr>
          <a:xfrm>
            <a:off x="4724959" y="1515035"/>
            <a:ext cx="6821581" cy="1272989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b="1" kern="1200">
                <a:solidFill>
                  <a:schemeClr val="tx1"/>
                </a:solidFill>
                <a:latin typeface="黑体" pitchFamily="49" charset="-122"/>
                <a:ea typeface="黑体" pitchFamily="49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1865" b="1" kern="1200">
                <a:solidFill>
                  <a:schemeClr val="tx1"/>
                </a:solidFill>
                <a:latin typeface="黑体" pitchFamily="49" charset="-122"/>
                <a:ea typeface="黑体" pitchFamily="49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Python</a:t>
            </a: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提供了 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with </a:t>
            </a: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语句的这种写法，</a:t>
            </a:r>
            <a:r>
              <a:rPr lang="zh-CN" altLang="en-US" sz="160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既简单又安全</a:t>
            </a:r>
            <a:endParaRPr lang="en-US" altLang="zh-CN" sz="1600" dirty="0">
              <a:solidFill>
                <a:srgbClr val="C00000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并且 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with </a:t>
            </a: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语句</a:t>
            </a:r>
            <a:r>
              <a:rPr lang="zh-CN" altLang="en-US" sz="160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执行完成以后 自动调用</a:t>
            </a: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关闭文件操作（即使异常也会）</a:t>
            </a:r>
            <a:endParaRPr lang="en-US" altLang="zh-CN" sz="16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indent="-28575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en-US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With</a:t>
            </a: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语句管理的对象就是</a:t>
            </a:r>
            <a:r>
              <a:rPr lang="zh-CN" altLang="en-US" sz="160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上下文管理器</a:t>
            </a:r>
            <a:endParaRPr lang="zh-CN" altLang="en-US" sz="1600" dirty="0">
              <a:solidFill>
                <a:srgbClr val="C00000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3" name="文本占位符 4"/>
          <p:cNvSpPr txBox="1"/>
          <p:nvPr/>
        </p:nvSpPr>
        <p:spPr>
          <a:xfrm>
            <a:off x="4160183" y="2859742"/>
            <a:ext cx="7081558" cy="494179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b="1" kern="1200">
                <a:solidFill>
                  <a:schemeClr val="tx1"/>
                </a:solidFill>
                <a:latin typeface="黑体" pitchFamily="49" charset="-122"/>
                <a:ea typeface="黑体" pitchFamily="49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1865" b="1" kern="1200">
                <a:solidFill>
                  <a:schemeClr val="tx1"/>
                </a:solidFill>
                <a:latin typeface="黑体" pitchFamily="49" charset="-122"/>
                <a:ea typeface="黑体" pitchFamily="49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</a:pPr>
            <a:r>
              <a:rPr lang="en-US" altLang="zh-CN" dirty="0"/>
              <a:t>2</a:t>
            </a:r>
            <a:r>
              <a:rPr lang="zh-CN" altLang="en-US" dirty="0"/>
              <a:t> 上下文管理器是如何实现的</a:t>
            </a:r>
            <a:r>
              <a:rPr lang="en-US" altLang="zh-CN" dirty="0"/>
              <a:t>?</a:t>
            </a:r>
            <a:endParaRPr lang="en-US" altLang="zh-CN" dirty="0"/>
          </a:p>
        </p:txBody>
      </p:sp>
      <p:sp>
        <p:nvSpPr>
          <p:cNvPr id="4" name="文本占位符 4"/>
          <p:cNvSpPr txBox="1"/>
          <p:nvPr/>
        </p:nvSpPr>
        <p:spPr>
          <a:xfrm>
            <a:off x="4805641" y="3282203"/>
            <a:ext cx="6821581" cy="1935255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b="1" kern="1200">
                <a:solidFill>
                  <a:schemeClr val="tx1"/>
                </a:solidFill>
                <a:latin typeface="黑体" pitchFamily="49" charset="-122"/>
                <a:ea typeface="黑体" pitchFamily="49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1865" b="1" kern="1200">
                <a:solidFill>
                  <a:schemeClr val="tx1"/>
                </a:solidFill>
                <a:latin typeface="黑体" pitchFamily="49" charset="-122"/>
                <a:ea typeface="黑体" pitchFamily="49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一个类只要实现了</a:t>
            </a:r>
            <a:r>
              <a:rPr lang="en-US" altLang="zh-CN" sz="160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__</a:t>
            </a:r>
            <a:r>
              <a:rPr lang="en-GB" altLang="zh-CN" sz="160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enter__()</a:t>
            </a:r>
            <a:r>
              <a:rPr lang="zh-CN" altLang="en-US" sz="160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和</a:t>
            </a:r>
            <a:r>
              <a:rPr lang="en-US" altLang="zh-CN" sz="160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__</a:t>
            </a:r>
            <a:r>
              <a:rPr lang="en-GB" altLang="zh-CN" sz="160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exit__(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这个两个方法，通过该类创建的对象我们就称之为上下文管理器</a:t>
            </a:r>
            <a:endParaRPr lang="en-US" altLang="zh-CN" sz="16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_enter__</a:t>
            </a: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表示</a:t>
            </a:r>
            <a:r>
              <a:rPr lang="zh-CN" altLang="en-US" sz="160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上文方法</a:t>
            </a: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，需要返回一个操作文件对象</a:t>
            </a:r>
            <a:b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US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__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exit__</a:t>
            </a: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表示</a:t>
            </a:r>
            <a:r>
              <a:rPr lang="zh-CN" altLang="en-US" sz="160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下文方法</a:t>
            </a: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，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with</a:t>
            </a: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语句执行完成会自动执行，即使出现异常也会执行该方法</a:t>
            </a:r>
            <a:endParaRPr lang="zh-CN" altLang="en-US" sz="16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b="1" dirty="0">
                <a:solidFill>
                  <a:srgbClr val="333333"/>
                </a:solidFill>
                <a:latin typeface="Helvetica Neue" panose="02000503000000020004"/>
              </a:rPr>
              <a:t>Python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 panose="02000503000000020004"/>
              </a:rPr>
              <a:t>生成器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 panose="02000503000000020004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02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i="0" dirty="0">
                <a:solidFill>
                  <a:srgbClr val="333333"/>
                </a:solidFill>
                <a:effectLst/>
                <a:latin typeface="Helvetica Neue" panose="02000503000000020004"/>
              </a:rPr>
              <a:t>Python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 panose="02000503000000020004"/>
              </a:rPr>
              <a:t>高级语法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i="0" dirty="0">
                <a:solidFill>
                  <a:srgbClr val="333333"/>
                </a:solidFill>
                <a:effectLst/>
                <a:latin typeface="Helvetica Neue" panose="02000503000000020004"/>
              </a:rPr>
              <a:t>1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Helvetica Neue" panose="02000503000000020004"/>
              </a:rPr>
              <a:t>、</a:t>
            </a:r>
            <a:r>
              <a:rPr lang="zh-CN" altLang="en-US" dirty="0">
                <a:solidFill>
                  <a:srgbClr val="333333"/>
                </a:solidFill>
                <a:latin typeface="Helvetica Neue" panose="02000503000000020004"/>
              </a:rPr>
              <a:t>什么是生成器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 panose="02000503000000020004"/>
            </a:endParaRPr>
          </a:p>
        </p:txBody>
      </p:sp>
      <p:sp>
        <p:nvSpPr>
          <p:cNvPr id="5" name="文本占位符 7"/>
          <p:cNvSpPr>
            <a:spLocks noGrp="1"/>
          </p:cNvSpPr>
          <p:nvPr>
            <p:ph type="body" sz="quarter" idx="11"/>
          </p:nvPr>
        </p:nvSpPr>
        <p:spPr>
          <a:xfrm>
            <a:off x="721201" y="1635973"/>
            <a:ext cx="10749598" cy="815825"/>
          </a:xfrm>
        </p:spPr>
        <p:txBody>
          <a:bodyPr/>
          <a:lstStyle/>
          <a:p>
            <a:pPr marL="0" indent="0" algn="l">
              <a:buNone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 panose="02000503000000020004"/>
              </a:rPr>
              <a:t>根据</a:t>
            </a:r>
            <a:r>
              <a:rPr lang="zh-CN" altLang="en-US" b="0" i="0" dirty="0">
                <a:solidFill>
                  <a:srgbClr val="B60206"/>
                </a:solidFill>
                <a:effectLst/>
                <a:latin typeface="Helvetica Neue" panose="02000503000000020004"/>
              </a:rPr>
              <a:t>程序员制定的规则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 panose="02000503000000020004"/>
              </a:rPr>
              <a:t>循环生成数据，当条件不成立时则生成数据结束。数据不是一次性全部生成出来，而是使用一个，再生成一个，可以</a:t>
            </a:r>
            <a:r>
              <a:rPr lang="zh-CN" altLang="en-US" b="1" i="0" dirty="0">
                <a:solidFill>
                  <a:srgbClr val="C00000"/>
                </a:solidFill>
                <a:effectLst/>
                <a:latin typeface="Helvetica Neue" panose="02000503000000020004"/>
              </a:rPr>
              <a:t>节约大量的内存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 panose="02000503000000020004"/>
              </a:rPr>
              <a:t>。</a:t>
            </a:r>
            <a:endParaRPr lang="en-US" altLang="zh-CN" dirty="0">
              <a:solidFill>
                <a:srgbClr val="C00000"/>
              </a:solidFill>
              <a:latin typeface="Helvetica Neue" panose="02000503000000020004"/>
            </a:endParaRPr>
          </a:p>
          <a:p>
            <a:pPr marL="0" indent="0" algn="l">
              <a:buNone/>
            </a:pPr>
            <a:endParaRPr lang="en-US" altLang="zh-CN" b="0" i="0" dirty="0">
              <a:solidFill>
                <a:srgbClr val="333333"/>
              </a:solidFill>
              <a:effectLst/>
              <a:latin typeface="Helvetica Neue" panose="02000503000000020004"/>
            </a:endParaRPr>
          </a:p>
          <a:p>
            <a:pPr marL="0" indent="0" algn="l">
              <a:buNone/>
            </a:pPr>
            <a:endParaRPr lang="en-US" altLang="zh-CN" dirty="0">
              <a:solidFill>
                <a:srgbClr val="333333"/>
              </a:solidFill>
              <a:latin typeface="Helvetica Neue" panose="02000503000000020004"/>
            </a:endParaRPr>
          </a:p>
          <a:p>
            <a:pPr marL="0" indent="0" algn="l">
              <a:buNone/>
            </a:pPr>
            <a:endParaRPr lang="en-US" altLang="zh-CN" b="0" i="0" dirty="0">
              <a:solidFill>
                <a:srgbClr val="333333"/>
              </a:solidFill>
              <a:effectLst/>
              <a:latin typeface="Helvetica Neue" panose="02000503000000020004"/>
            </a:endParaRPr>
          </a:p>
          <a:p>
            <a:pPr marL="0" indent="0" algn="l">
              <a:buNone/>
            </a:pPr>
            <a:endParaRPr lang="en-US" altLang="zh-CN" dirty="0">
              <a:solidFill>
                <a:srgbClr val="333333"/>
              </a:solidFill>
              <a:latin typeface="Helvetica Neue" panose="02000503000000020004"/>
            </a:endParaRPr>
          </a:p>
          <a:p>
            <a:pPr marL="0" indent="0" algn="l">
              <a:buNone/>
            </a:pPr>
            <a:endParaRPr lang="en-US" altLang="zh-CN" b="0" i="0" dirty="0">
              <a:solidFill>
                <a:srgbClr val="333333"/>
              </a:solidFill>
              <a:effectLst/>
              <a:latin typeface="Helvetica Neue" panose="02000503000000020004"/>
            </a:endParaRPr>
          </a:p>
          <a:p>
            <a:pPr marL="0" indent="0" algn="l">
              <a:buNone/>
            </a:pPr>
            <a:endParaRPr lang="en-US" altLang="zh-CN" dirty="0">
              <a:solidFill>
                <a:srgbClr val="333333"/>
              </a:solidFill>
              <a:latin typeface="Helvetica Neue" panose="02000503000000020004"/>
            </a:endParaRPr>
          </a:p>
          <a:p>
            <a:pPr marL="0" indent="0" algn="l">
              <a:buNone/>
            </a:pPr>
            <a:endParaRPr lang="en-US" altLang="zh-CN" b="0" i="0" dirty="0">
              <a:solidFill>
                <a:srgbClr val="333333"/>
              </a:solidFill>
              <a:effectLst/>
              <a:latin typeface="Helvetica Neue" panose="02000503000000020004"/>
            </a:endParaRPr>
          </a:p>
          <a:p>
            <a:pPr marL="0" indent="0" algn="l">
              <a:buNone/>
            </a:pPr>
            <a:endParaRPr lang="en-US" altLang="zh-CN" b="0" i="0" dirty="0">
              <a:solidFill>
                <a:srgbClr val="333333"/>
              </a:solidFill>
              <a:effectLst/>
              <a:latin typeface="Helvetica Neue" panose="02000503000000020004"/>
            </a:endParaRPr>
          </a:p>
          <a:p>
            <a:pPr marL="0" indent="0" algn="l">
              <a:buNone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 panose="02000503000000020004"/>
              </a:rPr>
              <a:t>创建生成器的方式：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 panose="02000503000000020004"/>
              </a:rPr>
              <a:t>① 生成器推导式  ② </a:t>
            </a:r>
            <a:r>
              <a:rPr lang="en-US" altLang="zh-CN" b="0" i="0" dirty="0">
                <a:solidFill>
                  <a:srgbClr val="C00000"/>
                </a:solidFill>
                <a:effectLst/>
                <a:latin typeface="Helvetica Neue" panose="02000503000000020004"/>
              </a:rPr>
              <a:t>yield 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 panose="02000503000000020004"/>
              </a:rPr>
              <a:t>关键字</a:t>
            </a:r>
            <a:endParaRPr lang="zh-CN" altLang="en-US" b="0" i="0" dirty="0">
              <a:solidFill>
                <a:srgbClr val="C00000"/>
              </a:solidFill>
              <a:effectLst/>
              <a:latin typeface="Helvetica Neue" panose="02000503000000020004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4560" y="2630500"/>
            <a:ext cx="3128513" cy="2981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i="0" dirty="0">
                <a:solidFill>
                  <a:srgbClr val="333333"/>
                </a:solidFill>
                <a:effectLst/>
                <a:latin typeface="Helvetica Neue" panose="02000503000000020004"/>
              </a:rPr>
              <a:t>Python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 panose="02000503000000020004"/>
              </a:rPr>
              <a:t>高级语法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i="0" dirty="0">
                <a:solidFill>
                  <a:srgbClr val="333333"/>
                </a:solidFill>
                <a:effectLst/>
                <a:latin typeface="Helvetica Neue" panose="02000503000000020004"/>
              </a:rPr>
              <a:t>2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Helvetica Neue" panose="02000503000000020004"/>
              </a:rPr>
              <a:t>、生成器推导式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 panose="02000503000000020004"/>
            </a:endParaRPr>
          </a:p>
        </p:txBody>
      </p:sp>
      <p:sp>
        <p:nvSpPr>
          <p:cNvPr id="5" name="文本占位符 7"/>
          <p:cNvSpPr>
            <a:spLocks noGrp="1"/>
          </p:cNvSpPr>
          <p:nvPr>
            <p:ph type="body" sz="quarter" idx="11"/>
          </p:nvPr>
        </p:nvSpPr>
        <p:spPr>
          <a:xfrm>
            <a:off x="7653101" y="1635973"/>
            <a:ext cx="3657600" cy="517190"/>
          </a:xfrm>
        </p:spPr>
        <p:txBody>
          <a:bodyPr/>
          <a:lstStyle/>
          <a:p>
            <a:pPr algn="l">
              <a:buFont typeface="Wingdings" panose="05000000000000000000" pitchFamily="2" charset="2"/>
              <a:buChar char="u"/>
            </a:pPr>
            <a:r>
              <a:rPr lang="zh-CN" altLang="en-US" b="0" i="0" dirty="0">
                <a:effectLst/>
                <a:latin typeface="Helvetica Neue" panose="02000503000000020004"/>
              </a:rPr>
              <a:t>生成器相关函数：</a:t>
            </a:r>
            <a:endParaRPr lang="en-US" altLang="zh-CN" b="0" i="0" dirty="0">
              <a:effectLst/>
              <a:latin typeface="Helvetica Neue" panose="02000503000000020004"/>
            </a:endParaRPr>
          </a:p>
          <a:p>
            <a:pPr marL="0" indent="0" algn="l">
              <a:buNone/>
            </a:pPr>
            <a:r>
              <a:rPr lang="en-US" altLang="zh-CN" b="0" i="0" dirty="0">
                <a:solidFill>
                  <a:srgbClr val="C00000"/>
                </a:solidFill>
                <a:effectLst/>
                <a:latin typeface="Helvetica Neue" panose="02000503000000020004"/>
              </a:rPr>
              <a:t>next 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 panose="02000503000000020004"/>
              </a:rPr>
              <a:t>函数获取生成器中的下一个值</a:t>
            </a:r>
            <a:endParaRPr lang="zh-CN" altLang="en-US" b="0" i="0" dirty="0">
              <a:solidFill>
                <a:srgbClr val="C00000"/>
              </a:solidFill>
              <a:effectLst/>
              <a:latin typeface="Helvetica Neue" panose="02000503000000020004"/>
            </a:endParaRPr>
          </a:p>
          <a:p>
            <a:pPr marL="0" indent="0" algn="l">
              <a:buNone/>
            </a:pPr>
            <a:r>
              <a:rPr lang="en-US" altLang="zh-CN" b="0" i="0" dirty="0">
                <a:solidFill>
                  <a:srgbClr val="C00000"/>
                </a:solidFill>
                <a:effectLst/>
                <a:latin typeface="Helvetica Neue" panose="02000503000000020004"/>
              </a:rPr>
              <a:t>for  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 panose="02000503000000020004"/>
              </a:rPr>
              <a:t>循环遍历生成器中的每一个值 </a:t>
            </a:r>
            <a:endParaRPr lang="zh-CN" altLang="en-US" b="0" i="0" dirty="0">
              <a:solidFill>
                <a:srgbClr val="C00000"/>
              </a:solidFill>
              <a:effectLst/>
              <a:latin typeface="Helvetica Neue" panose="02000503000000020004"/>
            </a:endParaRPr>
          </a:p>
        </p:txBody>
      </p:sp>
      <p:sp>
        <p:nvSpPr>
          <p:cNvPr id="7" name="TextBox 3"/>
          <p:cNvSpPr txBox="1"/>
          <p:nvPr/>
        </p:nvSpPr>
        <p:spPr>
          <a:xfrm>
            <a:off x="927388" y="2020026"/>
            <a:ext cx="5697530" cy="3944350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# </a:t>
            </a:r>
            <a:r>
              <a:rPr lang="zh-CN" altLang="en-US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创建生成器 </a:t>
            </a:r>
            <a:endParaRPr lang="en-US" altLang="zh-CN" sz="12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#</a:t>
            </a:r>
            <a:r>
              <a:rPr lang="zh-CN" altLang="en-US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注意</a:t>
            </a:r>
            <a:r>
              <a:rPr lang="en-US" altLang="zh-CN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</a:t>
            </a:r>
            <a:r>
              <a:rPr lang="zh-CN" altLang="en-US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Wingdings" panose="05000000000000000000" pitchFamily="2" charset="2"/>
              </a:rPr>
              <a:t>：</a:t>
            </a:r>
            <a:r>
              <a:rPr lang="zh-CN" altLang="en-US" sz="1200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Wingdings" panose="05000000000000000000" pitchFamily="2" charset="2"/>
              </a:rPr>
              <a:t>括号（）</a:t>
            </a:r>
            <a:r>
              <a:rPr lang="zh-CN" altLang="en-US" sz="1200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代表 这是一个生成器，不是元组</a:t>
            </a:r>
            <a:endParaRPr lang="en-US" altLang="zh-CN" sz="1200" dirty="0">
              <a:solidFill>
                <a:srgbClr val="C00000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#</a:t>
            </a:r>
            <a:r>
              <a:rPr lang="zh-CN" altLang="en-US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注意</a:t>
            </a:r>
            <a:r>
              <a:rPr lang="en-US" altLang="zh-CN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2</a:t>
            </a:r>
            <a:r>
              <a:rPr lang="zh-CN" altLang="en-US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：</a:t>
            </a:r>
            <a:r>
              <a:rPr lang="zh-CN" altLang="en-US" sz="1200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括号（）里面写的是数据的生成规则，返回一个对象，</a:t>
            </a:r>
            <a:endParaRPr lang="en-US" altLang="zh-CN" sz="1200" dirty="0">
              <a:solidFill>
                <a:srgbClr val="C00000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1200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                            </a:t>
            </a:r>
            <a:r>
              <a:rPr lang="en-US" altLang="zh-CN" sz="1200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#</a:t>
            </a:r>
            <a:r>
              <a:rPr lang="zh-CN" altLang="en-US" sz="1200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对象内不是存的数据，而是产生数据的规则</a:t>
            </a:r>
            <a:endParaRPr lang="zh-CN" altLang="en-US" sz="12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200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my_generator</a:t>
            </a:r>
            <a:r>
              <a:rPr lang="en-US" altLang="zh-CN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= </a:t>
            </a:r>
            <a:r>
              <a:rPr lang="en-US" altLang="zh-CN" sz="1200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(</a:t>
            </a:r>
            <a:r>
              <a:rPr lang="en-US" altLang="zh-CN" sz="1200" dirty="0" err="1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i</a:t>
            </a:r>
            <a:r>
              <a:rPr lang="en-US" altLang="zh-CN" sz="1200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* 2 for </a:t>
            </a:r>
            <a:r>
              <a:rPr lang="en-US" altLang="zh-CN" sz="1200" dirty="0" err="1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i</a:t>
            </a:r>
            <a:r>
              <a:rPr lang="en-US" altLang="zh-CN" sz="1200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in range(5))</a:t>
            </a:r>
            <a:r>
              <a:rPr lang="zh-CN" altLang="en-US" sz="1200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</a:t>
            </a:r>
            <a:r>
              <a:rPr lang="en-US" altLang="zh-CN" sz="1200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#</a:t>
            </a:r>
            <a:r>
              <a:rPr lang="zh-CN" altLang="en-US" sz="1200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根据注意</a:t>
            </a:r>
            <a:r>
              <a:rPr lang="en-US" altLang="zh-CN" sz="1200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2</a:t>
            </a:r>
            <a:endParaRPr lang="en-US" altLang="zh-CN" sz="1200" dirty="0">
              <a:solidFill>
                <a:srgbClr val="C00000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print(</a:t>
            </a:r>
            <a:r>
              <a:rPr lang="en-US" altLang="zh-CN" sz="1200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my_generator</a:t>
            </a:r>
            <a:r>
              <a:rPr lang="en-US" altLang="zh-CN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)</a:t>
            </a:r>
            <a:endParaRPr lang="en-US" altLang="zh-CN" sz="12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endParaRPr lang="en-US" altLang="zh-CN" sz="12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# next</a:t>
            </a:r>
            <a:r>
              <a:rPr lang="zh-CN" altLang="en-US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获取生成器下一个值</a:t>
            </a:r>
            <a:endParaRPr lang="zh-CN" altLang="en-US" sz="12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# value = </a:t>
            </a:r>
            <a:r>
              <a:rPr lang="en-US" altLang="zh-CN" sz="1200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next(</a:t>
            </a:r>
            <a:r>
              <a:rPr lang="en-US" altLang="zh-CN" sz="1200" dirty="0" err="1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my_generator</a:t>
            </a:r>
            <a:r>
              <a:rPr lang="en-US" altLang="zh-CN" sz="1200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)</a:t>
            </a:r>
            <a:endParaRPr lang="en-US" altLang="zh-CN" sz="1200" dirty="0">
              <a:solidFill>
                <a:srgbClr val="C00000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# print(value)</a:t>
            </a:r>
            <a:endParaRPr lang="en-US" altLang="zh-CN" sz="12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endParaRPr lang="en-US" altLang="zh-CN" sz="12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# </a:t>
            </a:r>
            <a:r>
              <a:rPr lang="zh-CN" altLang="en-US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遍历生成器</a:t>
            </a:r>
            <a:endParaRPr lang="zh-CN" altLang="en-US" sz="12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for value in </a:t>
            </a:r>
            <a:r>
              <a:rPr lang="en-US" altLang="zh-CN" sz="1200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my_generator</a:t>
            </a:r>
            <a:r>
              <a:rPr lang="en-US" altLang="zh-CN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:</a:t>
            </a:r>
            <a:endParaRPr lang="en-US" altLang="zh-CN" sz="12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print(value)</a:t>
            </a:r>
            <a:endParaRPr lang="en-US" altLang="zh-CN" sz="1200" dirty="0">
              <a:solidFill>
                <a:srgbClr val="C00000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2" name="文本占位符 7"/>
          <p:cNvSpPr txBox="1"/>
          <p:nvPr/>
        </p:nvSpPr>
        <p:spPr>
          <a:xfrm>
            <a:off x="927388" y="1461415"/>
            <a:ext cx="4272142" cy="517190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u"/>
            </a:pPr>
            <a:r>
              <a:rPr lang="en-US" altLang="zh-CN" dirty="0">
                <a:solidFill>
                  <a:srgbClr val="333333"/>
                </a:solidFill>
                <a:latin typeface="Helvetica Neue" panose="02000503000000020004"/>
              </a:rPr>
              <a:t># </a:t>
            </a:r>
            <a:r>
              <a:rPr lang="zh-CN" altLang="en-US" dirty="0">
                <a:solidFill>
                  <a:srgbClr val="333333"/>
                </a:solidFill>
                <a:latin typeface="Helvetica Neue" panose="02000503000000020004"/>
              </a:rPr>
              <a:t>创建生成器</a:t>
            </a:r>
            <a:endParaRPr lang="zh-CN" altLang="en-US" dirty="0">
              <a:solidFill>
                <a:srgbClr val="333333"/>
              </a:solidFill>
              <a:latin typeface="Helvetica Neue" panose="02000503000000020004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zh-CN" altLang="en-US" dirty="0">
              <a:solidFill>
                <a:srgbClr val="333333"/>
              </a:solidFill>
              <a:latin typeface="Helvetica Neue" panose="02000503000000020004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zh-CN" altLang="en-US" dirty="0">
              <a:solidFill>
                <a:srgbClr val="333333"/>
              </a:solidFill>
              <a:latin typeface="Helvetica Neue" panose="02000503000000020004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zh-CN" altLang="en-US" dirty="0">
              <a:solidFill>
                <a:srgbClr val="C00000"/>
              </a:solidFill>
              <a:latin typeface="Helvetica Neue" panose="02000503000000020004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zh-CN" altLang="en-US" dirty="0">
              <a:solidFill>
                <a:srgbClr val="C00000"/>
              </a:solidFill>
              <a:latin typeface="Helvetica Neue" panose="02000503000000020004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zh-CN" altLang="en-US" dirty="0">
              <a:solidFill>
                <a:srgbClr val="333333"/>
              </a:solidFill>
              <a:latin typeface="Helvetica Neue" panose="02000503000000020004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zh-CN" altLang="en-US" dirty="0">
              <a:solidFill>
                <a:srgbClr val="333333"/>
              </a:solidFill>
              <a:latin typeface="Helvetica Neue" panose="02000503000000020004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zh-CN" altLang="en-US" dirty="0">
              <a:solidFill>
                <a:srgbClr val="333333"/>
              </a:solidFill>
              <a:latin typeface="Helvetica Neue" panose="02000503000000020004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zh-CN" altLang="en-US" dirty="0">
              <a:solidFill>
                <a:srgbClr val="333333"/>
              </a:solidFill>
              <a:latin typeface="Helvetica Neue" panose="020005030000000200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i="0" dirty="0">
                <a:solidFill>
                  <a:srgbClr val="333333"/>
                </a:solidFill>
                <a:effectLst/>
                <a:latin typeface="Helvetica Neue" panose="02000503000000020004"/>
              </a:rPr>
              <a:t>Python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 panose="02000503000000020004"/>
              </a:rPr>
              <a:t>高级语法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i="0" dirty="0">
                <a:solidFill>
                  <a:srgbClr val="333333"/>
                </a:solidFill>
                <a:effectLst/>
                <a:latin typeface="Helvetica Neue" panose="02000503000000020004"/>
              </a:rPr>
              <a:t>3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Helvetica Neue" panose="02000503000000020004"/>
              </a:rPr>
              <a:t>、</a:t>
            </a:r>
            <a:r>
              <a:rPr lang="en-US" altLang="zh-CN" i="0" dirty="0">
                <a:solidFill>
                  <a:srgbClr val="333333"/>
                </a:solidFill>
                <a:effectLst/>
                <a:latin typeface="Helvetica Neue" panose="02000503000000020004"/>
              </a:rPr>
              <a:t>yield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Helvetica Neue" panose="02000503000000020004"/>
              </a:rPr>
              <a:t>生成器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 panose="02000503000000020004"/>
            </a:endParaRPr>
          </a:p>
        </p:txBody>
      </p:sp>
      <p:sp>
        <p:nvSpPr>
          <p:cNvPr id="5" name="文本占位符 7"/>
          <p:cNvSpPr>
            <a:spLocks noGrp="1"/>
          </p:cNvSpPr>
          <p:nvPr>
            <p:ph type="body" sz="quarter" idx="11"/>
          </p:nvPr>
        </p:nvSpPr>
        <p:spPr>
          <a:xfrm>
            <a:off x="721201" y="1635972"/>
            <a:ext cx="10749598" cy="4977839"/>
          </a:xfrm>
        </p:spPr>
        <p:txBody>
          <a:bodyPr/>
          <a:lstStyle/>
          <a:p>
            <a:pPr marL="0" indent="0" algn="l">
              <a:buNone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 panose="02000503000000020004"/>
              </a:rPr>
              <a:t>只要在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 panose="02000503000000020004"/>
              </a:rPr>
              <a:t>def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 panose="02000503000000020004"/>
              </a:rPr>
              <a:t>函数里面看到有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 panose="02000503000000020004"/>
              </a:rPr>
              <a:t>yield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 panose="02000503000000020004"/>
              </a:rPr>
              <a:t>关键字那么就是生成器</a:t>
            </a:r>
            <a:endParaRPr lang="zh-CN" altLang="en-US" b="0" i="0" dirty="0">
              <a:solidFill>
                <a:srgbClr val="333333"/>
              </a:solidFill>
              <a:effectLst/>
              <a:latin typeface="Helvetica Neue" panose="02000503000000020004"/>
            </a:endParaRPr>
          </a:p>
        </p:txBody>
      </p:sp>
      <p:sp>
        <p:nvSpPr>
          <p:cNvPr id="7" name="TextBox 3"/>
          <p:cNvSpPr txBox="1"/>
          <p:nvPr/>
        </p:nvSpPr>
        <p:spPr>
          <a:xfrm>
            <a:off x="721201" y="2125392"/>
            <a:ext cx="2594755" cy="1444691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def </a:t>
            </a:r>
            <a:r>
              <a:rPr lang="en-US" altLang="zh-CN" sz="1200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mygenerater</a:t>
            </a:r>
            <a:r>
              <a:rPr lang="en-US" altLang="zh-CN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(n):</a:t>
            </a:r>
            <a:endParaRPr lang="en-US" altLang="zh-CN" sz="12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for </a:t>
            </a:r>
            <a:r>
              <a:rPr lang="en-US" altLang="zh-CN" sz="1200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i</a:t>
            </a:r>
            <a:r>
              <a:rPr lang="en-US" altLang="zh-CN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in range(n):</a:t>
            </a:r>
            <a:endParaRPr lang="en-US" altLang="zh-CN" sz="12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    print('</a:t>
            </a:r>
            <a:r>
              <a:rPr lang="zh-CN" altLang="en-US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开始生成</a:t>
            </a:r>
            <a:r>
              <a:rPr lang="en-US" altLang="zh-CN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...')</a:t>
            </a:r>
            <a:endParaRPr lang="en-US" altLang="zh-CN" sz="12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    yield </a:t>
            </a:r>
            <a:r>
              <a:rPr lang="en-US" altLang="zh-CN" sz="1200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i</a:t>
            </a:r>
            <a:endParaRPr lang="en-US" altLang="zh-CN" sz="12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    print('</a:t>
            </a:r>
            <a:r>
              <a:rPr lang="zh-CN" altLang="en-US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完成一次</a:t>
            </a:r>
            <a:r>
              <a:rPr lang="en-US" altLang="zh-CN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...')</a:t>
            </a:r>
            <a:endParaRPr lang="en-US" altLang="zh-CN" sz="1200" dirty="0">
              <a:solidFill>
                <a:srgbClr val="C00000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8" name="TextBox 3"/>
          <p:cNvSpPr txBox="1"/>
          <p:nvPr/>
        </p:nvSpPr>
        <p:spPr>
          <a:xfrm>
            <a:off x="4479284" y="2122132"/>
            <a:ext cx="7227046" cy="4491679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if __name__ == '__main__':</a:t>
            </a:r>
            <a:endParaRPr lang="en-US" altLang="zh-CN" sz="12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g = </a:t>
            </a:r>
            <a:r>
              <a:rPr lang="en-US" altLang="zh-CN" sz="1200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mygenerater</a:t>
            </a:r>
            <a:r>
              <a:rPr lang="en-US" altLang="zh-CN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(2)</a:t>
            </a:r>
            <a:endParaRPr lang="en-US" altLang="zh-CN" sz="12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# </a:t>
            </a:r>
            <a:r>
              <a:rPr lang="zh-CN" altLang="en-US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获取生成器中下一个值</a:t>
            </a:r>
            <a:endParaRPr lang="zh-CN" altLang="en-US" sz="12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</a:t>
            </a:r>
            <a:r>
              <a:rPr lang="en-US" altLang="zh-CN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# result = next(g)</a:t>
            </a:r>
            <a:endParaRPr lang="en-US" altLang="zh-CN" sz="12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# print(result)</a:t>
            </a:r>
            <a:endParaRPr lang="en-US" altLang="zh-CN" sz="12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endParaRPr lang="en-US" altLang="zh-CN" sz="12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# while True:</a:t>
            </a:r>
            <a:endParaRPr lang="en-US" altLang="zh-CN" sz="12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#     try:</a:t>
            </a:r>
            <a:endParaRPr lang="en-US" altLang="zh-CN" sz="12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#         result = next(g)</a:t>
            </a:r>
            <a:endParaRPr lang="en-US" altLang="zh-CN" sz="12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#         print(result)</a:t>
            </a:r>
            <a:endParaRPr lang="en-US" altLang="zh-CN" sz="12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#     except </a:t>
            </a:r>
            <a:r>
              <a:rPr lang="en-US" altLang="zh-CN" sz="1200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StopIteration</a:t>
            </a:r>
            <a:r>
              <a:rPr lang="en-US" altLang="zh-CN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as e:</a:t>
            </a:r>
            <a:endParaRPr lang="en-US" altLang="zh-CN" sz="12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#         break</a:t>
            </a:r>
            <a:endParaRPr lang="en-US" altLang="zh-CN" sz="12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endParaRPr lang="en-US" altLang="zh-CN" sz="12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# # for</a:t>
            </a:r>
            <a:r>
              <a:rPr lang="zh-CN" altLang="en-US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遍历生成器</a:t>
            </a:r>
            <a:r>
              <a:rPr lang="en-US" altLang="zh-CN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, for </a:t>
            </a:r>
            <a:r>
              <a:rPr lang="zh-CN" altLang="en-US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循环内部自动处理了停止迭代异常，使用起来更加方便</a:t>
            </a:r>
            <a:endParaRPr lang="zh-CN" altLang="en-US" sz="12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</a:t>
            </a:r>
            <a:r>
              <a:rPr lang="en-US" altLang="zh-CN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for </a:t>
            </a:r>
            <a:r>
              <a:rPr lang="en-US" altLang="zh-CN" sz="1200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i</a:t>
            </a:r>
            <a:r>
              <a:rPr lang="en-US" altLang="zh-CN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in g:</a:t>
            </a:r>
            <a:endParaRPr lang="en-US" altLang="zh-CN" sz="12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    print(</a:t>
            </a:r>
            <a:r>
              <a:rPr lang="en-US" altLang="zh-CN" sz="1200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i</a:t>
            </a:r>
            <a:r>
              <a:rPr lang="en-US" altLang="zh-CN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)</a:t>
            </a:r>
            <a:endParaRPr lang="en-US" altLang="zh-CN" sz="1200" dirty="0">
              <a:solidFill>
                <a:srgbClr val="C00000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9" name="箭头: 右 8"/>
          <p:cNvSpPr/>
          <p:nvPr/>
        </p:nvSpPr>
        <p:spPr>
          <a:xfrm rot="2136822">
            <a:off x="3379188" y="2897994"/>
            <a:ext cx="1065125" cy="462225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i="0" dirty="0">
                <a:solidFill>
                  <a:srgbClr val="333333"/>
                </a:solidFill>
                <a:effectLst/>
                <a:latin typeface="Helvetica Neue" panose="02000503000000020004"/>
              </a:rPr>
              <a:t>Python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 panose="02000503000000020004"/>
              </a:rPr>
              <a:t>高级语法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333333"/>
                </a:solidFill>
                <a:latin typeface="Helvetica Neue" panose="02000503000000020004"/>
              </a:rPr>
              <a:t>4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Helvetica Neue" panose="02000503000000020004"/>
              </a:rPr>
              <a:t>、生成器的应用场景 </a:t>
            </a:r>
            <a:r>
              <a:rPr lang="en-US" altLang="zh-CN" i="0" dirty="0">
                <a:solidFill>
                  <a:srgbClr val="333333"/>
                </a:solidFill>
                <a:effectLst/>
                <a:latin typeface="Helvetica Neue" panose="02000503000000020004"/>
              </a:rPr>
              <a:t>–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Helvetica Neue" panose="02000503000000020004"/>
              </a:rPr>
              <a:t> 数据迭代器</a:t>
            </a:r>
            <a:r>
              <a:rPr lang="en-US" altLang="zh-CN" i="0" dirty="0" err="1">
                <a:solidFill>
                  <a:srgbClr val="333333"/>
                </a:solidFill>
                <a:effectLst/>
                <a:latin typeface="Helvetica Neue" panose="02000503000000020004"/>
              </a:rPr>
              <a:t>dataloader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Helvetica Neue" panose="02000503000000020004"/>
              </a:rPr>
              <a:t>的封装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 panose="02000503000000020004"/>
            </a:endParaRPr>
          </a:p>
        </p:txBody>
      </p:sp>
      <p:sp>
        <p:nvSpPr>
          <p:cNvPr id="8" name="TextBox 3"/>
          <p:cNvSpPr txBox="1"/>
          <p:nvPr/>
        </p:nvSpPr>
        <p:spPr>
          <a:xfrm>
            <a:off x="471545" y="1880609"/>
            <a:ext cx="5374799" cy="4221348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GB" altLang="zh-CN" sz="1200" dirty="0">
                <a:solidFill>
                  <a:srgbClr val="0033B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import 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math</a:t>
            </a: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200" dirty="0">
                <a:solidFill>
                  <a:srgbClr val="0033B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def </a:t>
            </a:r>
            <a:r>
              <a:rPr lang="en-GB" altLang="zh-CN" sz="1200" dirty="0" err="1">
                <a:solidFill>
                  <a:srgbClr val="00627A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dataset_loader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bath_size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):</a:t>
            </a: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1 </a:t>
            </a:r>
            <a: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读歌词</a:t>
            </a:r>
            <a:b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dirty="0">
                <a:solidFill>
                  <a:srgbClr val="0033B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with </a:t>
            </a:r>
            <a:r>
              <a:rPr lang="en-GB" altLang="zh-CN" sz="1200" dirty="0">
                <a:solidFill>
                  <a:srgbClr val="000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open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1200" dirty="0">
                <a:solidFill>
                  <a:srgbClr val="067D17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'./</a:t>
            </a:r>
            <a:r>
              <a:rPr lang="en-GB" altLang="zh-CN" sz="1200" dirty="0" err="1">
                <a:solidFill>
                  <a:srgbClr val="067D17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jaychou_lyrics.txt</a:t>
            </a:r>
            <a:r>
              <a:rPr lang="en-GB" altLang="zh-CN" sz="1200" dirty="0">
                <a:solidFill>
                  <a:srgbClr val="067D17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'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en-GB" altLang="zh-CN" sz="1200" dirty="0">
                <a:solidFill>
                  <a:srgbClr val="067D17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'r'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 </a:t>
            </a:r>
            <a:r>
              <a:rPr lang="en-GB" altLang="zh-CN" sz="1200" dirty="0">
                <a:solidFill>
                  <a:srgbClr val="0033B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as 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file :</a:t>
            </a: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    lines = 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file.readlines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()</a:t>
            </a: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2 </a:t>
            </a:r>
            <a: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统计共有多少条歌词</a:t>
            </a:r>
            <a:b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lyrics_number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= </a:t>
            </a:r>
            <a:r>
              <a:rPr lang="en-GB" altLang="zh-CN" sz="1200" dirty="0" err="1">
                <a:solidFill>
                  <a:srgbClr val="000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len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(lines)</a:t>
            </a: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3 </a:t>
            </a:r>
            <a: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计算共有多少个批次 </a:t>
            </a:r>
            <a:r>
              <a:rPr lang="en-GB" altLang="zh-CN" sz="1200" i="1" dirty="0" err="1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math.ceil</a:t>
            </a:r>
            <a: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向上取整 </a:t>
            </a:r>
            <a:r>
              <a:rPr lang="en-GB" altLang="zh-CN" sz="1200" i="1" dirty="0" err="1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math.floor</a:t>
            </a:r>
            <a: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向下取整</a:t>
            </a:r>
            <a:b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batch_number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= 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math.ceil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lyrics_number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/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bath_size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4 </a:t>
            </a:r>
            <a: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遍历每一个 </a:t>
            </a:r>
            <a:r>
              <a:rPr lang="en-GB" altLang="zh-CN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batch</a:t>
            </a:r>
            <a:br>
              <a:rPr lang="en-GB" altLang="zh-CN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dirty="0">
                <a:solidFill>
                  <a:srgbClr val="0033B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for 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idx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GB" altLang="zh-CN" sz="1200" dirty="0">
                <a:solidFill>
                  <a:srgbClr val="0033B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in </a:t>
            </a:r>
            <a:r>
              <a:rPr lang="en-GB" altLang="zh-CN" sz="1200" dirty="0">
                <a:solidFill>
                  <a:srgbClr val="000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range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batch_number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):</a:t>
            </a: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    </a:t>
            </a:r>
            <a:r>
              <a:rPr lang="en-GB" altLang="zh-CN" sz="1200" dirty="0">
                <a:solidFill>
                  <a:srgbClr val="0033B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yield 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lines[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idx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*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bath_size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: 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idx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*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bath_size+bath_size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]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5" name="文本占位符 7"/>
          <p:cNvSpPr>
            <a:spLocks noGrp="1"/>
          </p:cNvSpPr>
          <p:nvPr>
            <p:ph type="body" sz="quarter" idx="11"/>
          </p:nvPr>
        </p:nvSpPr>
        <p:spPr>
          <a:xfrm>
            <a:off x="6588313" y="1875188"/>
            <a:ext cx="4872166" cy="1518238"/>
          </a:xfrm>
        </p:spPr>
        <p:txBody>
          <a:bodyPr/>
          <a:lstStyle/>
          <a:p>
            <a:r>
              <a:rPr lang="zh-CN" altLang="en-US" sz="14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很多模型都是</a:t>
            </a:r>
            <a:r>
              <a:rPr lang="zh-CN" altLang="en-US" sz="1400" b="0" i="0" dirty="0">
                <a:solidFill>
                  <a:srgbClr val="C0000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一个批次一个批次</a:t>
            </a:r>
            <a:r>
              <a:rPr lang="zh-CN" altLang="en-US" sz="14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的给模型喂数据，来训练模型的。</a:t>
            </a:r>
            <a:endParaRPr lang="en-US" altLang="zh-CN" sz="1400" b="0" i="0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r>
              <a:rPr lang="zh-CN" altLang="en-US" sz="14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构建</a:t>
            </a:r>
            <a:r>
              <a:rPr lang="zh-CN" altLang="en-US" sz="1400" b="0" i="0" dirty="0">
                <a:solidFill>
                  <a:srgbClr val="C0000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数据迭代器</a:t>
            </a:r>
            <a:r>
              <a:rPr lang="zh-CN" altLang="en-US" sz="14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每</a:t>
            </a:r>
            <a:r>
              <a:rPr lang="en-US" altLang="zh-CN" sz="14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8</a:t>
            </a:r>
            <a:r>
              <a:rPr lang="zh-CN" altLang="en-US" sz="14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个条数据（</a:t>
            </a:r>
            <a:r>
              <a:rPr lang="en-US" altLang="zh-CN" sz="14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8</a:t>
            </a:r>
            <a:r>
              <a:rPr lang="zh-CN" altLang="en-US" sz="14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个样本）</a:t>
            </a:r>
            <a:r>
              <a:rPr lang="en-US" altLang="zh-CN" sz="14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8</a:t>
            </a:r>
            <a:r>
              <a:rPr lang="zh-CN" altLang="en-US" sz="14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个数据的给模型喂数据</a:t>
            </a:r>
            <a:endParaRPr lang="zh-CN" altLang="en-US" sz="1400" b="0" i="0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2" name="TextBox 3"/>
          <p:cNvSpPr txBox="1"/>
          <p:nvPr/>
        </p:nvSpPr>
        <p:spPr>
          <a:xfrm>
            <a:off x="6345657" y="4089318"/>
            <a:ext cx="5125143" cy="1996700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GB" altLang="zh-CN" sz="1400" dirty="0">
                <a:solidFill>
                  <a:srgbClr val="0033B3"/>
                </a:solidFill>
                <a:effectLst/>
              </a:rPr>
              <a:t>if </a:t>
            </a:r>
            <a:r>
              <a:rPr lang="en-GB" altLang="zh-CN" sz="1400" dirty="0"/>
              <a:t>__name__ == </a:t>
            </a:r>
            <a:r>
              <a:rPr lang="en-GB" altLang="zh-CN" sz="1400" dirty="0">
                <a:solidFill>
                  <a:srgbClr val="067D17"/>
                </a:solidFill>
                <a:effectLst/>
              </a:rPr>
              <a:t>'__main__'</a:t>
            </a:r>
            <a:r>
              <a:rPr lang="en-GB" altLang="zh-CN" sz="1400" dirty="0"/>
              <a:t>: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 err="1"/>
              <a:t>dataloader</a:t>
            </a:r>
            <a:r>
              <a:rPr lang="en-GB" altLang="zh-CN" sz="1400" dirty="0"/>
              <a:t> = </a:t>
            </a:r>
            <a:r>
              <a:rPr lang="en-GB" altLang="zh-CN" sz="1400" dirty="0" err="1"/>
              <a:t>dataset_loader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1750EB"/>
                </a:solidFill>
                <a:effectLst/>
              </a:rPr>
              <a:t>8</a:t>
            </a:r>
            <a:r>
              <a:rPr lang="en-GB" altLang="zh-CN" sz="1400" dirty="0"/>
              <a:t>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33B3"/>
                </a:solidFill>
                <a:effectLst/>
              </a:rPr>
              <a:t>for </a:t>
            </a:r>
            <a:r>
              <a:rPr lang="en-GB" altLang="zh-CN" sz="1400" dirty="0"/>
              <a:t>data </a:t>
            </a:r>
            <a:r>
              <a:rPr lang="en-GB" altLang="zh-CN" sz="1400" dirty="0">
                <a:solidFill>
                  <a:srgbClr val="0033B3"/>
                </a:solidFill>
                <a:effectLst/>
              </a:rPr>
              <a:t>in </a:t>
            </a:r>
            <a:r>
              <a:rPr lang="en-GB" altLang="zh-CN" sz="1400" dirty="0" err="1"/>
              <a:t>dataloader</a:t>
            </a:r>
            <a:r>
              <a:rPr lang="en-GB" altLang="zh-CN" sz="1400" dirty="0"/>
              <a:t>:</a:t>
            </a:r>
            <a:br>
              <a:rPr lang="en-GB" altLang="zh-CN" sz="1400" dirty="0"/>
            </a:br>
            <a:r>
              <a:rPr lang="en-GB" altLang="zh-CN" sz="1400" dirty="0"/>
              <a:t>        </a:t>
            </a:r>
            <a:r>
              <a:rPr lang="en-GB" altLang="zh-CN" sz="14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400" dirty="0"/>
              <a:t>(data)</a:t>
            </a:r>
            <a:br>
              <a:rPr lang="en-GB" altLang="zh-CN" sz="1400" dirty="0"/>
            </a:b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  <a:effectLst/>
              </a:rPr>
              <a:t>'</a:t>
            </a:r>
            <a:r>
              <a:rPr lang="zh-CN" altLang="en-US" sz="1400" dirty="0">
                <a:solidFill>
                  <a:srgbClr val="067D17"/>
                </a:solidFill>
                <a:effectLst/>
              </a:rPr>
              <a:t>创建生成器</a:t>
            </a:r>
            <a:r>
              <a:rPr lang="en-US" altLang="zh-CN" sz="1400" dirty="0">
                <a:solidFill>
                  <a:srgbClr val="067D17"/>
                </a:solidFill>
                <a:effectLst/>
              </a:rPr>
              <a:t>(</a:t>
            </a:r>
            <a:r>
              <a:rPr lang="zh-CN" altLang="en-US" sz="1400" dirty="0">
                <a:solidFill>
                  <a:srgbClr val="067D17"/>
                </a:solidFill>
                <a:effectLst/>
              </a:rPr>
              <a:t>数据加载器</a:t>
            </a:r>
            <a:r>
              <a:rPr lang="en-US" altLang="zh-CN" sz="1400" dirty="0">
                <a:solidFill>
                  <a:srgbClr val="067D17"/>
                </a:solidFill>
                <a:effectLst/>
              </a:rPr>
              <a:t>) </a:t>
            </a:r>
            <a:r>
              <a:rPr lang="zh-CN" altLang="en-US" sz="1400" dirty="0">
                <a:solidFill>
                  <a:srgbClr val="067D17"/>
                </a:solidFill>
                <a:effectLst/>
              </a:rPr>
              <a:t>为</a:t>
            </a:r>
            <a:r>
              <a:rPr lang="en-GB" altLang="zh-CN" sz="1400" dirty="0">
                <a:solidFill>
                  <a:srgbClr val="067D17"/>
                </a:solidFill>
                <a:effectLst/>
              </a:rPr>
              <a:t>AI</a:t>
            </a:r>
            <a:r>
              <a:rPr lang="zh-CN" altLang="en-US" sz="1400" dirty="0">
                <a:solidFill>
                  <a:srgbClr val="067D17"/>
                </a:solidFill>
                <a:effectLst/>
              </a:rPr>
              <a:t>专业课做准备 </a:t>
            </a:r>
            <a:r>
              <a:rPr lang="en-GB" altLang="zh-CN" sz="1400" dirty="0">
                <a:solidFill>
                  <a:srgbClr val="067D17"/>
                </a:solidFill>
                <a:effectLst/>
              </a:rPr>
              <a:t>End'</a:t>
            </a:r>
            <a:r>
              <a:rPr lang="en-GB" altLang="zh-CN" sz="1400" dirty="0"/>
              <a:t>)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>
          <a:xfrm>
            <a:off x="4079501" y="1020856"/>
            <a:ext cx="7081558" cy="494179"/>
          </a:xfrm>
        </p:spPr>
        <p:txBody>
          <a:bodyPr/>
          <a:lstStyle/>
          <a:p>
            <a:pPr mar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/>
              <a:t>1</a:t>
            </a:r>
            <a:r>
              <a:rPr lang="zh-CN" altLang="en-US" dirty="0"/>
              <a:t> 生成器的概念？ 如何使用</a:t>
            </a:r>
            <a:r>
              <a:rPr lang="en-US" altLang="zh-CN" dirty="0"/>
              <a:t>?</a:t>
            </a:r>
            <a:endParaRPr lang="en-US" altLang="zh-CN" dirty="0"/>
          </a:p>
        </p:txBody>
      </p:sp>
      <p:sp>
        <p:nvSpPr>
          <p:cNvPr id="2" name="文本占位符 4"/>
          <p:cNvSpPr txBox="1"/>
          <p:nvPr/>
        </p:nvSpPr>
        <p:spPr>
          <a:xfrm>
            <a:off x="4724960" y="1425387"/>
            <a:ext cx="6911228" cy="735108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b="1" kern="1200">
                <a:solidFill>
                  <a:schemeClr val="tx1"/>
                </a:solidFill>
                <a:latin typeface="黑体" pitchFamily="49" charset="-122"/>
                <a:ea typeface="黑体" pitchFamily="49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1865" b="1" kern="1200">
                <a:solidFill>
                  <a:schemeClr val="tx1"/>
                </a:solidFill>
                <a:latin typeface="黑体" pitchFamily="49" charset="-122"/>
                <a:ea typeface="黑体" pitchFamily="49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根据</a:t>
            </a:r>
            <a:r>
              <a:rPr lang="zh-CN" altLang="en-US" sz="160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一定规则</a:t>
            </a: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生成数据的</a:t>
            </a:r>
            <a:r>
              <a:rPr lang="zh-CN" altLang="en-US" sz="160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一种机制</a:t>
            </a: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，每次调用生成器</a:t>
            </a:r>
            <a:r>
              <a:rPr lang="zh-CN" altLang="en-US" sz="160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只生成一个值</a:t>
            </a: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，可以节省</a:t>
            </a:r>
            <a:r>
              <a:rPr lang="zh-CN" altLang="en-US" sz="160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大量内存</a:t>
            </a: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。</a:t>
            </a:r>
            <a:endParaRPr lang="zh-CN" altLang="en-US" sz="16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3" name="文本占位符 4"/>
          <p:cNvSpPr txBox="1"/>
          <p:nvPr/>
        </p:nvSpPr>
        <p:spPr>
          <a:xfrm>
            <a:off x="4187077" y="3617259"/>
            <a:ext cx="5432052" cy="494179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b="1" kern="1200">
                <a:solidFill>
                  <a:schemeClr val="tx1"/>
                </a:solidFill>
                <a:latin typeface="黑体" pitchFamily="49" charset="-122"/>
                <a:ea typeface="黑体" pitchFamily="49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1865" b="1" kern="1200">
                <a:solidFill>
                  <a:schemeClr val="tx1"/>
                </a:solidFill>
                <a:latin typeface="黑体" pitchFamily="49" charset="-122"/>
                <a:ea typeface="黑体" pitchFamily="49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生成器的创建有两种方式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?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文本占位符 4"/>
          <p:cNvSpPr txBox="1"/>
          <p:nvPr/>
        </p:nvSpPr>
        <p:spPr>
          <a:xfrm>
            <a:off x="4832536" y="3914214"/>
            <a:ext cx="3764617" cy="949137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b="1" kern="1200">
                <a:solidFill>
                  <a:schemeClr val="tx1"/>
                </a:solidFill>
                <a:latin typeface="黑体" pitchFamily="49" charset="-122"/>
                <a:ea typeface="黑体" pitchFamily="49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1865" b="1" kern="1200">
                <a:solidFill>
                  <a:schemeClr val="tx1"/>
                </a:solidFill>
                <a:latin typeface="黑体" pitchFamily="49" charset="-122"/>
                <a:ea typeface="黑体" pitchFamily="49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zh-CN" altLang="en-US" sz="16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生成器推导式</a:t>
            </a:r>
            <a:endParaRPr lang="zh-CN" altLang="en-US" sz="1600" dirty="0">
              <a:solidFill>
                <a:prstClr val="black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lvl="0" indent="-28575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en-GB" altLang="zh-CN" sz="16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yield </a:t>
            </a:r>
            <a:r>
              <a:rPr lang="zh-CN" altLang="en-US" sz="16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关键字</a:t>
            </a:r>
            <a:endParaRPr lang="zh-CN" altLang="en-US" sz="1600" dirty="0">
              <a:solidFill>
                <a:prstClr val="black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6" name="文本占位符 4"/>
          <p:cNvSpPr txBox="1"/>
          <p:nvPr/>
        </p:nvSpPr>
        <p:spPr>
          <a:xfrm>
            <a:off x="4187077" y="4954122"/>
            <a:ext cx="5432052" cy="494179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b="1" kern="1200">
                <a:solidFill>
                  <a:schemeClr val="tx1"/>
                </a:solidFill>
                <a:latin typeface="黑体" pitchFamily="49" charset="-122"/>
                <a:ea typeface="黑体" pitchFamily="49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1865" b="1" kern="1200">
                <a:solidFill>
                  <a:schemeClr val="tx1"/>
                </a:solidFill>
                <a:latin typeface="黑体" pitchFamily="49" charset="-122"/>
                <a:ea typeface="黑体" pitchFamily="49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solidFill>
                  <a:prstClr val="black"/>
                </a:solidFill>
              </a:rPr>
              <a:t>3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yield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关键字的作用（特性）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文本占位符 4"/>
          <p:cNvSpPr txBox="1"/>
          <p:nvPr/>
        </p:nvSpPr>
        <p:spPr>
          <a:xfrm>
            <a:off x="4832536" y="5457265"/>
            <a:ext cx="3764617" cy="949137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b="1" kern="1200">
                <a:solidFill>
                  <a:schemeClr val="tx1"/>
                </a:solidFill>
                <a:latin typeface="黑体" pitchFamily="49" charset="-122"/>
                <a:ea typeface="黑体" pitchFamily="49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1865" b="1" kern="1200">
                <a:solidFill>
                  <a:schemeClr val="tx1"/>
                </a:solidFill>
                <a:latin typeface="黑体" pitchFamily="49" charset="-122"/>
                <a:ea typeface="黑体" pitchFamily="49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en-US" altLang="zh-CN" sz="16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</a:t>
            </a:r>
            <a:r>
              <a:rPr lang="zh-CN" altLang="en-US" sz="16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将</a:t>
            </a:r>
            <a:r>
              <a:rPr lang="en-US" altLang="zh-CN" sz="160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yield</a:t>
            </a:r>
            <a:r>
              <a:rPr lang="zh-CN" altLang="en-US" sz="160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后面的值</a:t>
            </a:r>
            <a:r>
              <a:rPr lang="zh-CN" altLang="en-US" sz="16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返回 </a:t>
            </a:r>
            <a:endParaRPr lang="en-US" altLang="zh-CN" sz="1600" dirty="0">
              <a:solidFill>
                <a:prstClr val="black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lvl="0" indent="-28575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en-US" altLang="zh-CN" sz="16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</a:t>
            </a:r>
            <a:r>
              <a:rPr lang="zh-CN" altLang="en-US" sz="16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在</a:t>
            </a:r>
            <a:r>
              <a:rPr lang="en-US" altLang="zh-CN" sz="160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yield</a:t>
            </a:r>
            <a:r>
              <a:rPr lang="zh-CN" altLang="en-US" sz="160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这个地方卡着</a:t>
            </a:r>
            <a:r>
              <a:rPr lang="zh-CN" altLang="en-US" sz="16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（阻塞）</a:t>
            </a:r>
            <a:endParaRPr lang="zh-CN" altLang="en-US" sz="1600" dirty="0">
              <a:solidFill>
                <a:prstClr val="black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lvl="0" indent="-28575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endParaRPr lang="zh-CN" altLang="en-US" sz="1600" dirty="0">
              <a:solidFill>
                <a:prstClr val="black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8" name="文本占位符 4"/>
          <p:cNvSpPr txBox="1"/>
          <p:nvPr/>
        </p:nvSpPr>
        <p:spPr>
          <a:xfrm>
            <a:off x="4751854" y="2115110"/>
            <a:ext cx="7404287" cy="1353671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b="1" kern="1200">
                <a:solidFill>
                  <a:schemeClr val="tx1"/>
                </a:solidFill>
                <a:latin typeface="黑体" pitchFamily="49" charset="-122"/>
                <a:ea typeface="黑体" pitchFamily="49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1865" b="1" kern="1200">
                <a:solidFill>
                  <a:schemeClr val="tx1"/>
                </a:solidFill>
                <a:latin typeface="黑体" pitchFamily="49" charset="-122"/>
                <a:ea typeface="黑体" pitchFamily="49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en-US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next(</a:t>
            </a:r>
            <a:r>
              <a:rPr lang="en-US" altLang="zh-CN" sz="16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generater</a:t>
            </a:r>
            <a:r>
              <a:rPr lang="en-US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US" altLang="zh-CN" sz="1600" dirty="0">
                <a:solidFill>
                  <a:srgbClr val="C00000"/>
                </a:solidFill>
                <a:latin typeface="Helvetica Neue" panose="02000503000000020004"/>
              </a:rPr>
              <a:t>next </a:t>
            </a:r>
            <a:r>
              <a:rPr lang="zh-CN" altLang="en-US" sz="1600" dirty="0">
                <a:solidFill>
                  <a:srgbClr val="C00000"/>
                </a:solidFill>
                <a:latin typeface="Helvetica Neue" panose="02000503000000020004"/>
              </a:rPr>
              <a:t>函数获取生成器中的下一个值</a:t>
            </a:r>
            <a:endParaRPr lang="zh-CN" altLang="en-US" sz="1600" dirty="0">
              <a:solidFill>
                <a:srgbClr val="C00000"/>
              </a:solidFill>
              <a:latin typeface="Helvetica Neue" panose="02000503000000020004"/>
            </a:endParaRPr>
          </a:p>
          <a:p>
            <a:pPr marL="285750" indent="-28575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US" altLang="zh-CN" sz="1600" dirty="0">
                <a:latin typeface="Helvetica Neue" panose="02000503000000020004"/>
              </a:rPr>
              <a:t>for  </a:t>
            </a:r>
            <a:r>
              <a:rPr lang="zh-CN" altLang="en-US" sz="1600" dirty="0">
                <a:latin typeface="Helvetica Neue" panose="02000503000000020004"/>
              </a:rPr>
              <a:t>循环遍历生成器中的每一个值</a:t>
            </a:r>
            <a:endParaRPr lang="en-US" altLang="zh-CN" sz="1600" dirty="0">
              <a:latin typeface="Helvetica Neue" panose="02000503000000020004"/>
            </a:endParaRPr>
          </a:p>
          <a:p>
            <a:pPr marL="285750" indent="-28575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en-US" altLang="zh-CN" sz="1600" dirty="0">
                <a:latin typeface="Helvetica Neue" panose="02000503000000020004"/>
              </a:rPr>
              <a:t>While</a:t>
            </a:r>
            <a:r>
              <a:rPr lang="zh-CN" altLang="en-US" sz="1600" dirty="0">
                <a:latin typeface="Helvetica Neue" panose="02000503000000020004"/>
              </a:rPr>
              <a:t> 循环，</a:t>
            </a:r>
            <a:r>
              <a:rPr lang="zh-CN" altLang="en-US" sz="1600" dirty="0">
                <a:solidFill>
                  <a:srgbClr val="C00000"/>
                </a:solidFill>
                <a:latin typeface="Helvetica Neue" panose="02000503000000020004"/>
              </a:rPr>
              <a:t>会有</a:t>
            </a:r>
            <a:r>
              <a:rPr lang="en-GB" altLang="zh-CN" sz="1600" i="1" dirty="0" err="1"/>
              <a:t>StopIteration</a:t>
            </a:r>
            <a:r>
              <a:rPr lang="zh-CN" altLang="en-GB" sz="1600" i="1" dirty="0"/>
              <a:t>异常</a:t>
            </a:r>
            <a:r>
              <a:rPr lang="zh-CN" altLang="en-US" sz="1600" i="1" dirty="0"/>
              <a:t> </a:t>
            </a:r>
            <a:endParaRPr lang="zh-CN" altLang="en-US" sz="1600" dirty="0">
              <a:solidFill>
                <a:srgbClr val="C00000"/>
              </a:solidFill>
              <a:latin typeface="Helvetica Neue" panose="020005030000000200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7" grpId="0"/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b="1" i="0" dirty="0">
                <a:solidFill>
                  <a:srgbClr val="333333"/>
                </a:solidFill>
                <a:effectLst/>
                <a:latin typeface="Helvetica Neue" panose="02000503000000020004"/>
              </a:rPr>
              <a:t>Property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 panose="02000503000000020004"/>
              </a:rPr>
              <a:t>属性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 panose="02000503000000020004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03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i="0" dirty="0">
                <a:solidFill>
                  <a:srgbClr val="333333"/>
                </a:solidFill>
                <a:effectLst/>
                <a:latin typeface="Helvetica Neue" panose="02000503000000020004"/>
              </a:rPr>
              <a:t>Python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 panose="02000503000000020004"/>
              </a:rPr>
              <a:t>高级语法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i="0" dirty="0">
                <a:solidFill>
                  <a:srgbClr val="333333"/>
                </a:solidFill>
                <a:effectLst/>
                <a:latin typeface="Helvetica Neue" panose="02000503000000020004"/>
              </a:rPr>
              <a:t>1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Helvetica Neue" panose="02000503000000020004"/>
              </a:rPr>
              <a:t>、</a:t>
            </a:r>
            <a:r>
              <a:rPr lang="en-GB" altLang="zh-CN" i="0" dirty="0">
                <a:solidFill>
                  <a:srgbClr val="333333"/>
                </a:solidFill>
                <a:effectLst/>
                <a:latin typeface="Helvetica Neue" panose="02000503000000020004"/>
              </a:rPr>
              <a:t>property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Helvetica Neue" panose="02000503000000020004"/>
              </a:rPr>
              <a:t>属性的介绍</a:t>
            </a:r>
            <a:endParaRPr lang="zh-CN" altLang="en-US" i="0" dirty="0">
              <a:solidFill>
                <a:srgbClr val="333333"/>
              </a:solidFill>
              <a:effectLst/>
              <a:latin typeface="Helvetica Neue" panose="02000503000000020004"/>
            </a:endParaRPr>
          </a:p>
        </p:txBody>
      </p:sp>
      <p:sp>
        <p:nvSpPr>
          <p:cNvPr id="5" name="文本占位符 7"/>
          <p:cNvSpPr>
            <a:spLocks noGrp="1"/>
          </p:cNvSpPr>
          <p:nvPr>
            <p:ph type="body" sz="quarter" idx="11"/>
          </p:nvPr>
        </p:nvSpPr>
        <p:spPr>
          <a:xfrm>
            <a:off x="1137761" y="1626026"/>
            <a:ext cx="10485279" cy="426507"/>
          </a:xfrm>
        </p:spPr>
        <p:txBody>
          <a:bodyPr/>
          <a:lstStyle/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Helvetica Neue" panose="02000503000000020004"/>
              </a:rPr>
              <a:t>负责把一个方法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 panose="02000503000000020004"/>
              </a:rPr>
              <a:t>当做属性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 panose="02000503000000020004"/>
              </a:rPr>
              <a:t>进行使用，这样做可以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 panose="02000503000000020004"/>
              </a:rPr>
              <a:t>简化代码使用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 panose="02000503000000020004"/>
              </a:rPr>
              <a:t>。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 panose="02000503000000020004"/>
            </a:endParaRPr>
          </a:p>
          <a:p>
            <a:pPr marL="0" indent="0" algn="l">
              <a:buNone/>
            </a:pPr>
            <a:endParaRPr lang="en-US" altLang="zh-CN" b="0" i="0" dirty="0">
              <a:solidFill>
                <a:srgbClr val="333333"/>
              </a:solidFill>
              <a:effectLst/>
              <a:latin typeface="Helvetica Neue" panose="02000503000000020004"/>
            </a:endParaRPr>
          </a:p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Helvetica Neue" panose="02000503000000020004"/>
              </a:rPr>
              <a:t>定义</a:t>
            </a:r>
            <a:r>
              <a:rPr lang="en-GB" altLang="zh-CN" b="0" i="0" dirty="0">
                <a:solidFill>
                  <a:srgbClr val="333333"/>
                </a:solidFill>
                <a:effectLst/>
                <a:latin typeface="Helvetica Neue" panose="02000503000000020004"/>
              </a:rPr>
              <a:t>property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 panose="02000503000000020004"/>
              </a:rPr>
              <a:t>属性有两种方式：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 panose="02000503000000020004"/>
              </a:rPr>
              <a:t>①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 panose="02000503000000020004" charset="0"/>
              </a:rPr>
              <a:t>装饰器方式 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 panose="02000503000000020004"/>
              </a:rPr>
              <a:t>②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 panose="02000503000000020004" charset="0"/>
              </a:rPr>
              <a:t>类属性方式</a:t>
            </a:r>
            <a:endParaRPr lang="zh-CN" altLang="en-US" b="0" i="0" dirty="0">
              <a:solidFill>
                <a:srgbClr val="333333"/>
              </a:solidFill>
              <a:effectLst/>
              <a:latin typeface="Helvetica Neue" panose="02000503000000020004" charset="0"/>
            </a:endParaRPr>
          </a:p>
          <a:p>
            <a:pPr marL="0" indent="0">
              <a:buNone/>
            </a:pPr>
            <a:endParaRPr lang="zh-CN" altLang="en-US" b="0" i="0" dirty="0">
              <a:solidFill>
                <a:srgbClr val="C00000"/>
              </a:solidFill>
              <a:effectLst/>
              <a:latin typeface="Helvetica Neue" panose="020005030000000200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i="0" dirty="0">
                <a:solidFill>
                  <a:srgbClr val="333333"/>
                </a:solidFill>
                <a:effectLst/>
                <a:latin typeface="Helvetica Neue" panose="02000503000000020004"/>
              </a:rPr>
              <a:t>Python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 panose="02000503000000020004"/>
              </a:rPr>
              <a:t>高级语法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i="0" dirty="0">
                <a:solidFill>
                  <a:srgbClr val="333333"/>
                </a:solidFill>
                <a:effectLst/>
                <a:latin typeface="Helvetica Neue" panose="02000503000000020004"/>
              </a:rPr>
              <a:t>2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Helvetica Neue" panose="02000503000000020004"/>
              </a:rPr>
              <a:t>、装饰器方式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 panose="02000503000000020004"/>
            </a:endParaRPr>
          </a:p>
        </p:txBody>
      </p:sp>
      <p:sp>
        <p:nvSpPr>
          <p:cNvPr id="7" name="TextBox 3"/>
          <p:cNvSpPr txBox="1"/>
          <p:nvPr/>
        </p:nvSpPr>
        <p:spPr>
          <a:xfrm>
            <a:off x="907068" y="1532346"/>
            <a:ext cx="4609812" cy="4586384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altLang="zh-CN" sz="1400" dirty="0">
                <a:solidFill>
                  <a:srgbClr val="0033B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class </a:t>
            </a:r>
            <a:r>
              <a:rPr lang="en-GB" altLang="zh-CN" sz="1400" dirty="0">
                <a:solidFill>
                  <a:srgbClr val="00000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Person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1400" dirty="0">
                <a:solidFill>
                  <a:srgbClr val="000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object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):</a:t>
            </a:r>
            <a:b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400" dirty="0">
                <a:solidFill>
                  <a:srgbClr val="0033B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def </a:t>
            </a:r>
            <a:r>
              <a:rPr lang="en-GB" altLang="zh-CN" sz="1400" dirty="0">
                <a:solidFill>
                  <a:srgbClr val="B200B2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__</a:t>
            </a:r>
            <a:r>
              <a:rPr lang="en-GB" altLang="zh-CN" sz="1400" dirty="0" err="1">
                <a:solidFill>
                  <a:srgbClr val="B200B2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init</a:t>
            </a:r>
            <a:r>
              <a:rPr lang="en-GB" altLang="zh-CN" sz="1400" dirty="0">
                <a:solidFill>
                  <a:srgbClr val="B200B2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__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1400" dirty="0">
                <a:solidFill>
                  <a:srgbClr val="94558D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self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):</a:t>
            </a:r>
            <a:b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    </a:t>
            </a:r>
            <a:r>
              <a:rPr lang="en-GB" altLang="zh-CN" sz="1400" dirty="0" err="1">
                <a:solidFill>
                  <a:srgbClr val="94558D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self</a:t>
            </a:r>
            <a:r>
              <a:rPr lang="en-GB" altLang="zh-CN" sz="14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.__age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= </a:t>
            </a:r>
            <a:r>
              <a:rPr lang="en-GB" altLang="zh-CN" sz="1400" dirty="0">
                <a:solidFill>
                  <a:srgbClr val="1750EB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0</a:t>
            </a:r>
            <a:br>
              <a:rPr lang="en-GB" altLang="zh-CN" sz="1400" dirty="0">
                <a:solidFill>
                  <a:srgbClr val="1750EB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br>
              <a:rPr lang="en-GB" altLang="zh-CN" sz="1400" dirty="0">
                <a:solidFill>
                  <a:srgbClr val="1750EB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400" dirty="0">
                <a:solidFill>
                  <a:srgbClr val="1750EB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4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获取属性</a:t>
            </a:r>
            <a:br>
              <a:rPr lang="zh-CN" altLang="en-US" sz="14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zh-CN" altLang="en-US" sz="14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US" altLang="zh-CN" sz="1400" dirty="0">
                <a:solidFill>
                  <a:srgbClr val="9E880D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@</a:t>
            </a:r>
            <a:r>
              <a:rPr lang="en-GB" altLang="zh-CN" sz="1400" dirty="0">
                <a:solidFill>
                  <a:srgbClr val="9E880D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property</a:t>
            </a:r>
            <a:br>
              <a:rPr lang="en-GB" altLang="zh-CN" sz="1400" dirty="0">
                <a:solidFill>
                  <a:srgbClr val="9E880D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400" dirty="0">
                <a:solidFill>
                  <a:srgbClr val="9E880D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400" dirty="0">
                <a:solidFill>
                  <a:srgbClr val="0033B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def </a:t>
            </a:r>
            <a:r>
              <a:rPr lang="en-GB" altLang="zh-CN" sz="1400" dirty="0">
                <a:solidFill>
                  <a:srgbClr val="00627A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age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1400" dirty="0">
                <a:solidFill>
                  <a:srgbClr val="94558D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self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):</a:t>
            </a:r>
            <a:b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    </a:t>
            </a:r>
            <a:r>
              <a:rPr lang="en-GB" altLang="zh-CN" sz="1400" dirty="0">
                <a:solidFill>
                  <a:srgbClr val="0033B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return </a:t>
            </a:r>
            <a:r>
              <a:rPr lang="en-GB" altLang="zh-CN" sz="1400" dirty="0" err="1">
                <a:solidFill>
                  <a:srgbClr val="94558D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self</a:t>
            </a:r>
            <a:r>
              <a:rPr lang="en-GB" altLang="zh-CN" sz="14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.__age</a:t>
            </a:r>
            <a:b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b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4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修改属性</a:t>
            </a:r>
            <a:br>
              <a:rPr lang="zh-CN" altLang="en-US" sz="14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zh-CN" altLang="en-US" sz="14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US" altLang="zh-CN" sz="1400" dirty="0">
                <a:solidFill>
                  <a:srgbClr val="9E880D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@</a:t>
            </a:r>
            <a:r>
              <a:rPr lang="en-GB" altLang="zh-CN" sz="1400" dirty="0" err="1">
                <a:solidFill>
                  <a:srgbClr val="9E880D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age.setter</a:t>
            </a:r>
            <a:br>
              <a:rPr lang="en-GB" altLang="zh-CN" sz="1400" dirty="0">
                <a:solidFill>
                  <a:srgbClr val="9E880D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400" dirty="0">
                <a:solidFill>
                  <a:srgbClr val="9E880D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400" dirty="0">
                <a:solidFill>
                  <a:srgbClr val="0033B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def </a:t>
            </a:r>
            <a:r>
              <a:rPr lang="en-GB" altLang="zh-CN" sz="1400" dirty="0">
                <a:solidFill>
                  <a:srgbClr val="00627A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age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1400" dirty="0">
                <a:solidFill>
                  <a:srgbClr val="94558D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self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en-GB" altLang="zh-CN" sz="14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new_age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):</a:t>
            </a:r>
            <a:b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    </a:t>
            </a:r>
            <a:r>
              <a:rPr lang="en-GB" altLang="zh-CN" sz="1400" dirty="0" err="1">
                <a:solidFill>
                  <a:srgbClr val="94558D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self</a:t>
            </a:r>
            <a:r>
              <a:rPr lang="en-GB" altLang="zh-CN" sz="14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.__age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= </a:t>
            </a:r>
            <a:r>
              <a:rPr lang="en-GB" altLang="zh-CN" sz="14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new_age</a:t>
            </a:r>
            <a:b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9" name="TextBox 3"/>
          <p:cNvSpPr txBox="1"/>
          <p:nvPr/>
        </p:nvSpPr>
        <p:spPr>
          <a:xfrm>
            <a:off x="5844828" y="1532346"/>
            <a:ext cx="4965412" cy="2001061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altLang="zh-CN" sz="1400" dirty="0">
                <a:solidFill>
                  <a:srgbClr val="0033B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if 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__name__ == </a:t>
            </a:r>
            <a:r>
              <a:rPr lang="en-GB" altLang="zh-CN" sz="1400" dirty="0">
                <a:solidFill>
                  <a:srgbClr val="067D17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'__main__'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:</a:t>
            </a:r>
            <a:b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p1 = Person()</a:t>
            </a:r>
            <a:b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400" dirty="0">
                <a:solidFill>
                  <a:srgbClr val="000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print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(p1.age)</a:t>
            </a:r>
            <a:b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b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p1.age = </a:t>
            </a:r>
            <a:r>
              <a:rPr lang="en-GB" altLang="zh-CN" sz="1400" dirty="0">
                <a:solidFill>
                  <a:srgbClr val="1750EB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100</a:t>
            </a:r>
            <a:br>
              <a:rPr lang="en-GB" altLang="zh-CN" sz="1400" dirty="0">
                <a:solidFill>
                  <a:srgbClr val="1750EB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400" dirty="0">
                <a:solidFill>
                  <a:srgbClr val="1750EB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400" dirty="0">
                <a:solidFill>
                  <a:srgbClr val="000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print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(p1.age)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0" name="文本占位符 7"/>
          <p:cNvSpPr>
            <a:spLocks noGrp="1"/>
          </p:cNvSpPr>
          <p:nvPr>
            <p:ph type="body" sz="quarter" idx="11"/>
          </p:nvPr>
        </p:nvSpPr>
        <p:spPr>
          <a:xfrm>
            <a:off x="5854990" y="4064426"/>
            <a:ext cx="4765199" cy="1503254"/>
          </a:xfrm>
        </p:spPr>
        <p:txBody>
          <a:bodyPr/>
          <a:lstStyle/>
          <a:p>
            <a:pPr marL="0" indent="0">
              <a:buNone/>
            </a:pPr>
            <a:r>
              <a:rPr lang="en-US" altLang="zh-CN" i="1" dirty="0">
                <a:solidFill>
                  <a:srgbClr val="C00000"/>
                </a:solidFill>
                <a:effectLst/>
              </a:rPr>
              <a:t># </a:t>
            </a:r>
            <a:r>
              <a:rPr lang="zh-CN" altLang="en-US" i="1" dirty="0">
                <a:solidFill>
                  <a:srgbClr val="C00000"/>
                </a:solidFill>
                <a:effectLst/>
              </a:rPr>
              <a:t>装饰器方式</a:t>
            </a:r>
            <a:r>
              <a:rPr lang="en-US" altLang="zh-CN" i="1" dirty="0">
                <a:solidFill>
                  <a:srgbClr val="C00000"/>
                </a:solidFill>
                <a:effectLst/>
              </a:rPr>
              <a:t>:</a:t>
            </a:r>
            <a:br>
              <a:rPr lang="en-US" altLang="zh-CN" i="1" dirty="0">
                <a:solidFill>
                  <a:schemeClr val="tx1"/>
                </a:solidFill>
                <a:effectLst/>
              </a:rPr>
            </a:br>
            <a:r>
              <a:rPr lang="en-US" altLang="zh-CN" i="1" dirty="0">
                <a:solidFill>
                  <a:schemeClr val="tx1"/>
                </a:solidFill>
                <a:effectLst/>
              </a:rPr>
              <a:t># </a:t>
            </a:r>
            <a:r>
              <a:rPr lang="en-US" altLang="zh-CN" i="1" dirty="0">
                <a:solidFill>
                  <a:srgbClr val="C00000"/>
                </a:solidFill>
                <a:effectLst/>
              </a:rPr>
              <a:t>@</a:t>
            </a:r>
            <a:r>
              <a:rPr lang="en-GB" altLang="zh-CN" i="1" dirty="0">
                <a:solidFill>
                  <a:srgbClr val="C00000"/>
                </a:solidFill>
                <a:effectLst/>
              </a:rPr>
              <a:t>property </a:t>
            </a:r>
            <a:r>
              <a:rPr lang="zh-CN" altLang="en-US" i="1" dirty="0">
                <a:solidFill>
                  <a:schemeClr val="tx1"/>
                </a:solidFill>
                <a:effectLst/>
              </a:rPr>
              <a:t>修饰获取值的方法</a:t>
            </a:r>
            <a:br>
              <a:rPr lang="zh-CN" altLang="en-US" i="1" dirty="0">
                <a:solidFill>
                  <a:schemeClr val="tx1"/>
                </a:solidFill>
                <a:effectLst/>
              </a:rPr>
            </a:br>
            <a:r>
              <a:rPr lang="en-US" altLang="zh-CN" i="1" dirty="0">
                <a:solidFill>
                  <a:schemeClr val="tx1"/>
                </a:solidFill>
                <a:effectLst/>
              </a:rPr>
              <a:t># </a:t>
            </a:r>
            <a:r>
              <a:rPr lang="en-US" altLang="zh-CN" i="1" dirty="0">
                <a:solidFill>
                  <a:srgbClr val="C00000"/>
                </a:solidFill>
                <a:effectLst/>
              </a:rPr>
              <a:t>@</a:t>
            </a:r>
            <a:r>
              <a:rPr lang="zh-CN" altLang="en-US" i="1" dirty="0">
                <a:solidFill>
                  <a:srgbClr val="C00000"/>
                </a:solidFill>
                <a:effectLst/>
              </a:rPr>
              <a:t>方法名</a:t>
            </a:r>
            <a:r>
              <a:rPr lang="en-US" altLang="zh-CN" i="1" dirty="0">
                <a:solidFill>
                  <a:srgbClr val="C00000"/>
                </a:solidFill>
                <a:effectLst/>
              </a:rPr>
              <a:t>.</a:t>
            </a:r>
            <a:r>
              <a:rPr lang="en-GB" altLang="zh-CN" i="1" dirty="0">
                <a:solidFill>
                  <a:srgbClr val="C00000"/>
                </a:solidFill>
                <a:effectLst/>
              </a:rPr>
              <a:t>setter </a:t>
            </a:r>
            <a:r>
              <a:rPr lang="zh-CN" altLang="en-US" i="1" dirty="0">
                <a:solidFill>
                  <a:schemeClr val="tx1"/>
                </a:solidFill>
                <a:effectLst/>
              </a:rPr>
              <a:t>修饰设置值的方法</a:t>
            </a:r>
            <a:endParaRPr lang="zh-CN" altLang="en-US" b="0" i="0" dirty="0">
              <a:solidFill>
                <a:schemeClr val="tx1"/>
              </a:solidFill>
              <a:effectLst/>
              <a:latin typeface="Helvetica Neue" panose="02000503000000020004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i="0" dirty="0">
                <a:solidFill>
                  <a:srgbClr val="333333"/>
                </a:solidFill>
                <a:effectLst/>
                <a:latin typeface="Helvetica Neue" panose="02000503000000020004"/>
              </a:rPr>
              <a:t>Python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 panose="02000503000000020004"/>
              </a:rPr>
              <a:t>高级语法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333333"/>
                </a:solidFill>
                <a:latin typeface="Helvetica Neue" panose="02000503000000020004"/>
              </a:rPr>
              <a:t>3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Helvetica Neue" panose="02000503000000020004"/>
              </a:rPr>
              <a:t>、类属性方式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 panose="02000503000000020004"/>
            </a:endParaRPr>
          </a:p>
        </p:txBody>
      </p:sp>
      <p:sp>
        <p:nvSpPr>
          <p:cNvPr id="7" name="TextBox 3"/>
          <p:cNvSpPr txBox="1"/>
          <p:nvPr/>
        </p:nvSpPr>
        <p:spPr>
          <a:xfrm>
            <a:off x="907068" y="1532346"/>
            <a:ext cx="4609812" cy="523271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altLang="zh-CN" sz="1400" dirty="0">
                <a:solidFill>
                  <a:srgbClr val="0033B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class </a:t>
            </a:r>
            <a:r>
              <a:rPr lang="en-GB" altLang="zh-CN" sz="1400" dirty="0">
                <a:solidFill>
                  <a:srgbClr val="00000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Person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1400" dirty="0">
                <a:solidFill>
                  <a:srgbClr val="000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object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):</a:t>
            </a:r>
            <a:b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400" dirty="0">
                <a:solidFill>
                  <a:srgbClr val="0033B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def </a:t>
            </a:r>
            <a:r>
              <a:rPr lang="en-GB" altLang="zh-CN" sz="1400" dirty="0">
                <a:solidFill>
                  <a:srgbClr val="B200B2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__</a:t>
            </a:r>
            <a:r>
              <a:rPr lang="en-GB" altLang="zh-CN" sz="1400" dirty="0" err="1">
                <a:solidFill>
                  <a:srgbClr val="B200B2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init</a:t>
            </a:r>
            <a:r>
              <a:rPr lang="en-GB" altLang="zh-CN" sz="1400" dirty="0">
                <a:solidFill>
                  <a:srgbClr val="B200B2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__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1400" dirty="0">
                <a:solidFill>
                  <a:srgbClr val="94558D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self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):</a:t>
            </a:r>
            <a:b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    </a:t>
            </a:r>
            <a:r>
              <a:rPr lang="en-GB" altLang="zh-CN" sz="1400" dirty="0" err="1">
                <a:solidFill>
                  <a:srgbClr val="94558D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self</a:t>
            </a:r>
            <a:r>
              <a:rPr lang="en-GB" altLang="zh-CN" sz="14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.__age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= </a:t>
            </a:r>
            <a:r>
              <a:rPr lang="en-GB" altLang="zh-CN" sz="1400" dirty="0">
                <a:solidFill>
                  <a:srgbClr val="1750EB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0</a:t>
            </a:r>
            <a:br>
              <a:rPr lang="en-GB" altLang="zh-CN" sz="1400" dirty="0">
                <a:solidFill>
                  <a:srgbClr val="1750EB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br>
              <a:rPr lang="en-GB" altLang="zh-CN" sz="1400" dirty="0">
                <a:solidFill>
                  <a:srgbClr val="1750EB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br>
              <a:rPr lang="en-GB" altLang="zh-CN" sz="1400" dirty="0">
                <a:solidFill>
                  <a:srgbClr val="1750EB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400" dirty="0">
                <a:solidFill>
                  <a:srgbClr val="1750EB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400" dirty="0">
                <a:solidFill>
                  <a:srgbClr val="0033B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def </a:t>
            </a:r>
            <a:r>
              <a:rPr lang="en-GB" altLang="zh-CN" sz="1400" dirty="0" err="1">
                <a:solidFill>
                  <a:srgbClr val="00627A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get_age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1400" dirty="0">
                <a:solidFill>
                  <a:srgbClr val="94558D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self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):</a:t>
            </a:r>
            <a:b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    </a:t>
            </a:r>
            <a:r>
              <a:rPr lang="en-GB" altLang="zh-CN" sz="14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"""</a:t>
            </a:r>
            <a:r>
              <a:rPr lang="zh-CN" altLang="en-US" sz="14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当获取</a:t>
            </a:r>
            <a:r>
              <a:rPr lang="en-GB" altLang="zh-CN" sz="14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age</a:t>
            </a:r>
            <a:r>
              <a:rPr lang="zh-CN" altLang="en-US" sz="14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属性的时候会执行该方法</a:t>
            </a:r>
            <a:r>
              <a:rPr lang="en-US" altLang="zh-CN" sz="14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"""</a:t>
            </a:r>
            <a:br>
              <a:rPr lang="en-US" altLang="zh-CN" sz="14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US" altLang="zh-CN" sz="14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    </a:t>
            </a:r>
            <a:r>
              <a:rPr lang="en-GB" altLang="zh-CN" sz="1400" dirty="0">
                <a:solidFill>
                  <a:srgbClr val="0033B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return </a:t>
            </a:r>
            <a:r>
              <a:rPr lang="en-GB" altLang="zh-CN" sz="1400" dirty="0" err="1">
                <a:solidFill>
                  <a:srgbClr val="94558D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self</a:t>
            </a:r>
            <a:r>
              <a:rPr lang="en-GB" altLang="zh-CN" sz="14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.__age</a:t>
            </a:r>
            <a:b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b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400" dirty="0">
                <a:solidFill>
                  <a:srgbClr val="0033B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def </a:t>
            </a:r>
            <a:r>
              <a:rPr lang="en-GB" altLang="zh-CN" sz="1400" dirty="0" err="1">
                <a:solidFill>
                  <a:srgbClr val="00627A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set_age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1400" dirty="0">
                <a:solidFill>
                  <a:srgbClr val="94558D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self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en-GB" altLang="zh-CN" sz="14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new_age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):</a:t>
            </a:r>
            <a:b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    </a:t>
            </a:r>
            <a:r>
              <a:rPr lang="en-GB" altLang="zh-CN" sz="14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"""</a:t>
            </a:r>
            <a:r>
              <a:rPr lang="zh-CN" altLang="en-US" sz="14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当设置</a:t>
            </a:r>
            <a:r>
              <a:rPr lang="en-GB" altLang="zh-CN" sz="14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age</a:t>
            </a:r>
            <a:r>
              <a:rPr lang="zh-CN" altLang="en-US" sz="14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属性的时候会执行该方法</a:t>
            </a:r>
            <a:r>
              <a:rPr lang="en-US" altLang="zh-CN" sz="14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"""</a:t>
            </a:r>
            <a:br>
              <a:rPr lang="en-US" altLang="zh-CN" sz="14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US" altLang="zh-CN" sz="14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    </a:t>
            </a:r>
            <a:r>
              <a:rPr lang="en-GB" altLang="zh-CN" sz="1400" dirty="0" err="1">
                <a:solidFill>
                  <a:srgbClr val="94558D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self</a:t>
            </a:r>
            <a:r>
              <a:rPr lang="en-GB" altLang="zh-CN" sz="14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.__age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= </a:t>
            </a:r>
            <a:r>
              <a:rPr lang="en-GB" altLang="zh-CN" sz="14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new_age</a:t>
            </a:r>
            <a:b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b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4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类属性方式的</a:t>
            </a:r>
            <a:r>
              <a:rPr lang="en-GB" altLang="zh-CN" sz="14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property</a:t>
            </a:r>
            <a:r>
              <a:rPr lang="zh-CN" altLang="en-US" sz="14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属性</a:t>
            </a:r>
            <a:br>
              <a:rPr lang="zh-CN" altLang="en-US" sz="14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zh-CN" altLang="en-US" sz="14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age = </a:t>
            </a:r>
            <a:r>
              <a:rPr lang="en-GB" altLang="zh-CN" sz="1400" dirty="0">
                <a:solidFill>
                  <a:srgbClr val="000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property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14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get_age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en-GB" altLang="zh-CN" sz="14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set_age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b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9" name="TextBox 3"/>
          <p:cNvSpPr txBox="1"/>
          <p:nvPr/>
        </p:nvSpPr>
        <p:spPr>
          <a:xfrm>
            <a:off x="5844828" y="1532346"/>
            <a:ext cx="4965412" cy="2001061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altLang="zh-CN" sz="1400" dirty="0">
                <a:solidFill>
                  <a:srgbClr val="0033B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if 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__name__ == </a:t>
            </a:r>
            <a:r>
              <a:rPr lang="en-GB" altLang="zh-CN" sz="1400" dirty="0">
                <a:solidFill>
                  <a:srgbClr val="067D17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'__main__'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:</a:t>
            </a:r>
            <a:b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p1 = Person()</a:t>
            </a:r>
            <a:b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400" dirty="0">
                <a:solidFill>
                  <a:srgbClr val="000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print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(p1.age)</a:t>
            </a:r>
            <a:b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b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p1.age = </a:t>
            </a:r>
            <a:r>
              <a:rPr lang="en-GB" altLang="zh-CN" sz="1400" dirty="0">
                <a:solidFill>
                  <a:srgbClr val="1750EB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100</a:t>
            </a:r>
            <a:br>
              <a:rPr lang="en-GB" altLang="zh-CN" sz="1400" dirty="0">
                <a:solidFill>
                  <a:srgbClr val="1750EB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400" dirty="0">
                <a:solidFill>
                  <a:srgbClr val="1750EB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400" dirty="0">
                <a:solidFill>
                  <a:srgbClr val="000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print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(p1.age)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0" name="文本占位符 7"/>
          <p:cNvSpPr>
            <a:spLocks noGrp="1"/>
          </p:cNvSpPr>
          <p:nvPr>
            <p:ph type="body" sz="quarter" idx="11"/>
          </p:nvPr>
        </p:nvSpPr>
        <p:spPr>
          <a:xfrm>
            <a:off x="5854990" y="4064426"/>
            <a:ext cx="4765199" cy="1503254"/>
          </a:xfrm>
        </p:spPr>
        <p:txBody>
          <a:bodyPr/>
          <a:lstStyle/>
          <a:p>
            <a:pPr marL="0" indent="0">
              <a:buNone/>
            </a:pPr>
            <a:r>
              <a:rPr lang="en-US" altLang="zh-CN" i="1" dirty="0">
                <a:solidFill>
                  <a:schemeClr val="tx1"/>
                </a:solidFill>
                <a:effectLst/>
              </a:rPr>
              <a:t># </a:t>
            </a:r>
            <a:r>
              <a:rPr lang="zh-CN" altLang="en-US" i="1" dirty="0">
                <a:solidFill>
                  <a:schemeClr val="tx1"/>
                </a:solidFill>
                <a:effectLst/>
              </a:rPr>
              <a:t>类属性方式</a:t>
            </a:r>
            <a:r>
              <a:rPr lang="en-US" altLang="zh-CN" i="1" dirty="0">
                <a:solidFill>
                  <a:schemeClr val="tx1"/>
                </a:solidFill>
                <a:effectLst/>
              </a:rPr>
              <a:t>:</a:t>
            </a:r>
            <a:br>
              <a:rPr lang="en-US" altLang="zh-CN" i="1" dirty="0">
                <a:solidFill>
                  <a:schemeClr val="tx1"/>
                </a:solidFill>
                <a:effectLst/>
              </a:rPr>
            </a:br>
            <a:r>
              <a:rPr lang="en-US" altLang="zh-CN" i="1" dirty="0">
                <a:solidFill>
                  <a:schemeClr val="tx1"/>
                </a:solidFill>
                <a:effectLst/>
              </a:rPr>
              <a:t># </a:t>
            </a:r>
            <a:r>
              <a:rPr lang="zh-CN" altLang="en-US" i="1" dirty="0">
                <a:solidFill>
                  <a:schemeClr val="tx1"/>
                </a:solidFill>
                <a:effectLst/>
              </a:rPr>
              <a:t>类属性 </a:t>
            </a:r>
            <a:r>
              <a:rPr lang="en-US" altLang="zh-CN" i="1" dirty="0">
                <a:solidFill>
                  <a:schemeClr val="tx1"/>
                </a:solidFill>
                <a:effectLst/>
              </a:rPr>
              <a:t>= </a:t>
            </a:r>
            <a:r>
              <a:rPr lang="en-GB" altLang="zh-CN" i="1" dirty="0">
                <a:solidFill>
                  <a:srgbClr val="C00000"/>
                </a:solidFill>
                <a:effectLst/>
              </a:rPr>
              <a:t>property</a:t>
            </a:r>
            <a:r>
              <a:rPr lang="en-GB" altLang="zh-CN" i="1" dirty="0">
                <a:solidFill>
                  <a:schemeClr val="tx1"/>
                </a:solidFill>
                <a:effectLst/>
              </a:rPr>
              <a:t>(</a:t>
            </a:r>
            <a:r>
              <a:rPr lang="zh-CN" altLang="en-US" i="1" dirty="0">
                <a:solidFill>
                  <a:srgbClr val="C00000"/>
                </a:solidFill>
                <a:effectLst/>
              </a:rPr>
              <a:t>获取值方法</a:t>
            </a:r>
            <a:r>
              <a:rPr lang="en-US" altLang="zh-CN" i="1" dirty="0">
                <a:solidFill>
                  <a:schemeClr val="tx1"/>
                </a:solidFill>
                <a:effectLst/>
              </a:rPr>
              <a:t>, </a:t>
            </a:r>
            <a:r>
              <a:rPr lang="zh-CN" altLang="en-US" i="1" dirty="0">
                <a:solidFill>
                  <a:srgbClr val="C00000"/>
                </a:solidFill>
                <a:effectLst/>
              </a:rPr>
              <a:t>设置值方法</a:t>
            </a:r>
            <a:r>
              <a:rPr lang="en-US" altLang="zh-CN" i="1" dirty="0">
                <a:solidFill>
                  <a:schemeClr val="tx1"/>
                </a:solidFill>
                <a:effectLst/>
              </a:rPr>
              <a:t>)</a:t>
            </a:r>
            <a:endParaRPr lang="zh-CN" altLang="en-US" b="0" i="0" dirty="0">
              <a:solidFill>
                <a:schemeClr val="tx1"/>
              </a:solidFill>
              <a:effectLst/>
              <a:latin typeface="Helvetica Neue" panose="02000503000000020004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>
          <a:xfrm>
            <a:off x="4079501" y="1020856"/>
            <a:ext cx="7081558" cy="494179"/>
          </a:xfrm>
        </p:spPr>
        <p:txBody>
          <a:bodyPr/>
          <a:lstStyle/>
          <a:p>
            <a:pPr mar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/>
              <a:t>1</a:t>
            </a:r>
            <a:r>
              <a:rPr lang="zh-CN" altLang="en-US" dirty="0"/>
              <a:t> </a:t>
            </a:r>
            <a:r>
              <a:rPr lang="en-US" altLang="zh-CN" dirty="0"/>
              <a:t>property</a:t>
            </a:r>
            <a:r>
              <a:rPr lang="zh-CN" altLang="en-US" dirty="0"/>
              <a:t>属性的作用？ </a:t>
            </a:r>
            <a:endParaRPr lang="en-US" altLang="zh-CN" dirty="0"/>
          </a:p>
        </p:txBody>
      </p:sp>
      <p:sp>
        <p:nvSpPr>
          <p:cNvPr id="2" name="文本占位符 4"/>
          <p:cNvSpPr txBox="1"/>
          <p:nvPr/>
        </p:nvSpPr>
        <p:spPr>
          <a:xfrm>
            <a:off x="4724960" y="1425387"/>
            <a:ext cx="6911228" cy="735108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b="1" kern="1200">
                <a:solidFill>
                  <a:schemeClr val="tx1"/>
                </a:solidFill>
                <a:latin typeface="黑体" pitchFamily="49" charset="-122"/>
                <a:ea typeface="黑体" pitchFamily="49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1865" b="1" kern="1200">
                <a:solidFill>
                  <a:schemeClr val="tx1"/>
                </a:solidFill>
                <a:latin typeface="黑体" pitchFamily="49" charset="-122"/>
                <a:ea typeface="黑体" pitchFamily="49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zh-CN" altLang="en-US" sz="16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把一个方法当做属性进行使用，这样做可以简化代码使用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3" name="文本占位符 4"/>
          <p:cNvSpPr txBox="1"/>
          <p:nvPr/>
        </p:nvSpPr>
        <p:spPr>
          <a:xfrm>
            <a:off x="4079501" y="2070847"/>
            <a:ext cx="5432052" cy="494179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b="1" kern="1200">
                <a:solidFill>
                  <a:schemeClr val="tx1"/>
                </a:solidFill>
                <a:latin typeface="黑体" pitchFamily="49" charset="-122"/>
                <a:ea typeface="黑体" pitchFamily="49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1865" b="1" kern="1200">
                <a:solidFill>
                  <a:schemeClr val="tx1"/>
                </a:solidFill>
                <a:latin typeface="黑体" pitchFamily="49" charset="-122"/>
                <a:ea typeface="黑体" pitchFamily="49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定义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property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属性的两种方式，各自的语法？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9617" y="2800573"/>
            <a:ext cx="5622763" cy="125685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5149</Words>
  <Application>WPS 演示</Application>
  <PresentationFormat>宽屏</PresentationFormat>
  <Paragraphs>282</Paragraphs>
  <Slides>23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35</vt:i4>
      </vt:variant>
      <vt:variant>
        <vt:lpstr>主题</vt:lpstr>
      </vt:variant>
      <vt:variant>
        <vt:i4>8</vt:i4>
      </vt:variant>
      <vt:variant>
        <vt:lpstr>幻灯片标题</vt:lpstr>
      </vt:variant>
      <vt:variant>
        <vt:i4>23</vt:i4>
      </vt:variant>
    </vt:vector>
  </HeadingPairs>
  <TitlesOfParts>
    <vt:vector size="66" baseType="lpstr">
      <vt:lpstr>Arial</vt:lpstr>
      <vt:lpstr>宋体</vt:lpstr>
      <vt:lpstr>Wingdings</vt:lpstr>
      <vt:lpstr>Calibri</vt:lpstr>
      <vt:lpstr>Helvetica Neue</vt:lpstr>
      <vt:lpstr>黑体</vt:lpstr>
      <vt:lpstr>汉仪中黑KW</vt:lpstr>
      <vt:lpstr>汉仪书宋二KW</vt:lpstr>
      <vt:lpstr>Alibaba PuHuiTi B</vt:lpstr>
      <vt:lpstr>苹方-简</vt:lpstr>
      <vt:lpstr>Alibaba PuHuiTi R</vt:lpstr>
      <vt:lpstr>Segoe UI</vt:lpstr>
      <vt:lpstr>微软雅黑</vt:lpstr>
      <vt:lpstr>Verdana</vt:lpstr>
      <vt:lpstr>阿里巴巴普惠体</vt:lpstr>
      <vt:lpstr>Alibaba PuHuiTi M</vt:lpstr>
      <vt:lpstr>Segoe UI Light</vt:lpstr>
      <vt:lpstr>微软雅黑 Light</vt:lpstr>
      <vt:lpstr>Alibaba PuHuiTi M</vt:lpstr>
      <vt:lpstr>Helvetica Neue</vt:lpstr>
      <vt:lpstr>Alibaba PuHuiTi</vt:lpstr>
      <vt:lpstr>等线</vt:lpstr>
      <vt:lpstr>等线</vt:lpstr>
      <vt:lpstr>汉仪旗黑</vt:lpstr>
      <vt:lpstr>宋体</vt:lpstr>
      <vt:lpstr>Arial Unicode MS</vt:lpstr>
      <vt:lpstr>汉仪中等线KW</vt:lpstr>
      <vt:lpstr>Alibaba PuHuiTi</vt:lpstr>
      <vt:lpstr>Alibaba PuHuiTi B</vt:lpstr>
      <vt:lpstr>Alibaba PuHuiTi M</vt:lpstr>
      <vt:lpstr>Alibaba PuHuiTi R</vt:lpstr>
      <vt:lpstr>Wingdings</vt:lpstr>
      <vt:lpstr>等线</vt:lpstr>
      <vt:lpstr>阿里巴巴普惠体</vt:lpstr>
      <vt:lpstr>黑体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3_正文设计方案</vt:lpstr>
      <vt:lpstr>Python其他高级语法</vt:lpstr>
      <vt:lpstr>PowerPoint 演示文稿</vt:lpstr>
      <vt:lpstr>With语句和上下文管理器</vt:lpstr>
      <vt:lpstr>PowerPoint 演示文稿</vt:lpstr>
      <vt:lpstr>Python高级语法</vt:lpstr>
      <vt:lpstr>Python高级语法</vt:lpstr>
      <vt:lpstr>Python高级语法</vt:lpstr>
      <vt:lpstr>Python高级语法</vt:lpstr>
      <vt:lpstr>Python高级语法</vt:lpstr>
      <vt:lpstr>Python高级语法</vt:lpstr>
      <vt:lpstr>PowerPoint 演示文稿</vt:lpstr>
      <vt:lpstr>Python生成器</vt:lpstr>
      <vt:lpstr>Python高级语法</vt:lpstr>
      <vt:lpstr>Python高级语法</vt:lpstr>
      <vt:lpstr>Python高级语法</vt:lpstr>
      <vt:lpstr>Python高级语法</vt:lpstr>
      <vt:lpstr>PowerPoint 演示文稿</vt:lpstr>
      <vt:lpstr>Property属性</vt:lpstr>
      <vt:lpstr>Python高级语法</vt:lpstr>
      <vt:lpstr>Python高级语法</vt:lpstr>
      <vt:lpstr>Python高级语法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曹宇[囧]</cp:lastModifiedBy>
  <cp:revision>934</cp:revision>
  <dcterms:created xsi:type="dcterms:W3CDTF">2025-11-06T11:02:39Z</dcterms:created>
  <dcterms:modified xsi:type="dcterms:W3CDTF">2025-11-06T11:02:39Z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64B1D9DDEDA6E6924F800C69D6378274_42</vt:lpwstr>
  </property>
  <property fmtid="{D5CDD505-2E9C-101B-9397-08002B2CF9AE}" pid="3" name="KSOProductBuildVer">
    <vt:lpwstr>2052-12.1.23540.23540</vt:lpwstr>
  </property>
</Properties>
</file>