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3.svg" ContentType="image/svg+xml"/>
  <Override PartName="/ppt/media/image36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6" r:id="rId4"/>
    <p:sldMasterId id="2147483659" r:id="rId5"/>
    <p:sldMasterId id="2147483662" r:id="rId6"/>
    <p:sldMasterId id="2147483664" r:id="rId7"/>
    <p:sldMasterId id="2147483681" r:id="rId8"/>
    <p:sldMasterId id="2147483683" r:id="rId9"/>
    <p:sldMasterId id="2147483700" r:id="rId10"/>
    <p:sldMasterId id="2147483719" r:id="rId11"/>
    <p:sldMasterId id="2147483722" r:id="rId12"/>
    <p:sldMasterId id="2147483740" r:id="rId13"/>
    <p:sldMasterId id="2147483743" r:id="rId14"/>
    <p:sldMasterId id="2147483761" r:id="rId15"/>
    <p:sldMasterId id="2147483779" r:id="rId16"/>
    <p:sldMasterId id="2147483797" r:id="rId17"/>
    <p:sldMasterId id="2147483815" r:id="rId18"/>
  </p:sldMasterIdLst>
  <p:notesMasterIdLst>
    <p:notesMasterId r:id="rId33"/>
  </p:notesMasterIdLst>
  <p:handoutMasterIdLst>
    <p:handoutMasterId r:id="rId45"/>
  </p:handoutMasterIdLst>
  <p:sldIdLst>
    <p:sldId id="982" r:id="rId19"/>
    <p:sldId id="1095" r:id="rId20"/>
    <p:sldId id="1044" r:id="rId21"/>
    <p:sldId id="1256" r:id="rId22"/>
    <p:sldId id="1258" r:id="rId23"/>
    <p:sldId id="1259" r:id="rId24"/>
    <p:sldId id="1260" r:id="rId25"/>
    <p:sldId id="1045" r:id="rId26"/>
    <p:sldId id="1248" r:id="rId27"/>
    <p:sldId id="1249" r:id="rId28"/>
    <p:sldId id="1250" r:id="rId29"/>
    <p:sldId id="1251" r:id="rId30"/>
    <p:sldId id="1252" r:id="rId31"/>
    <p:sldId id="1720" r:id="rId32"/>
    <p:sldId id="1369" r:id="rId34"/>
    <p:sldId id="1367" r:id="rId35"/>
    <p:sldId id="1372" r:id="rId36"/>
    <p:sldId id="1319" r:id="rId37"/>
    <p:sldId id="1054" r:id="rId38"/>
    <p:sldId id="1471" r:id="rId39"/>
    <p:sldId id="1470" r:id="rId40"/>
    <p:sldId id="1716" r:id="rId41"/>
    <p:sldId id="1468" r:id="rId42"/>
    <p:sldId id="1717" r:id="rId43"/>
    <p:sldId id="264" r:id="rId44"/>
  </p:sldIdLst>
  <p:sldSz cx="12192000" cy="6858000"/>
  <p:notesSz cx="6858000" cy="914400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engtao li" initials="f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00"/>
    <a:srgbClr val="FFFFFF"/>
    <a:srgbClr val="49504F"/>
    <a:srgbClr val="B60206"/>
    <a:srgbClr val="AD2B2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97" autoAdjust="0"/>
    <p:restoredTop sz="95344" autoAdjust="0"/>
  </p:normalViewPr>
  <p:slideViewPr>
    <p:cSldViewPr snapToGrid="0">
      <p:cViewPr varScale="1">
        <p:scale>
          <a:sx n="102" d="100"/>
          <a:sy n="102" d="100"/>
        </p:scale>
        <p:origin x="2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0" Type="http://schemas.openxmlformats.org/officeDocument/2006/relationships/tags" Target="tags/tag7.xml"/><Relationship Id="rId5" Type="http://schemas.openxmlformats.org/officeDocument/2006/relationships/slideMaster" Target="slideMasters/slideMaster4.xml"/><Relationship Id="rId49" Type="http://schemas.openxmlformats.org/officeDocument/2006/relationships/commentAuthors" Target="commentAuthors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25.xml"/><Relationship Id="rId43" Type="http://schemas.openxmlformats.org/officeDocument/2006/relationships/slide" Target="slides/slide24.xml"/><Relationship Id="rId42" Type="http://schemas.openxmlformats.org/officeDocument/2006/relationships/slide" Target="slides/slide23.xml"/><Relationship Id="rId41" Type="http://schemas.openxmlformats.org/officeDocument/2006/relationships/slide" Target="slides/slide22.xml"/><Relationship Id="rId40" Type="http://schemas.openxmlformats.org/officeDocument/2006/relationships/slide" Target="slides/slide2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0.xml"/><Relationship Id="rId38" Type="http://schemas.openxmlformats.org/officeDocument/2006/relationships/slide" Target="slides/slide19.xml"/><Relationship Id="rId37" Type="http://schemas.openxmlformats.org/officeDocument/2006/relationships/slide" Target="slides/slide18.xml"/><Relationship Id="rId36" Type="http://schemas.openxmlformats.org/officeDocument/2006/relationships/slide" Target="slides/slide17.xml"/><Relationship Id="rId35" Type="http://schemas.openxmlformats.org/officeDocument/2006/relationships/slide" Target="slides/slide16.xml"/><Relationship Id="rId34" Type="http://schemas.openxmlformats.org/officeDocument/2006/relationships/slide" Target="slides/slide15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14.xml"/><Relationship Id="rId31" Type="http://schemas.openxmlformats.org/officeDocument/2006/relationships/slide" Target="slides/slide13.xml"/><Relationship Id="rId30" Type="http://schemas.openxmlformats.org/officeDocument/2006/relationships/slide" Target="slides/slide1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1.xml"/><Relationship Id="rId28" Type="http://schemas.openxmlformats.org/officeDocument/2006/relationships/slide" Target="slides/slide10.xml"/><Relationship Id="rId27" Type="http://schemas.openxmlformats.org/officeDocument/2006/relationships/slide" Target="slides/slide9.xml"/><Relationship Id="rId26" Type="http://schemas.openxmlformats.org/officeDocument/2006/relationships/slide" Target="slides/slide8.xml"/><Relationship Id="rId25" Type="http://schemas.openxmlformats.org/officeDocument/2006/relationships/slide" Target="slides/slide7.xml"/><Relationship Id="rId24" Type="http://schemas.openxmlformats.org/officeDocument/2006/relationships/slide" Target="slides/slide6.xml"/><Relationship Id="rId23" Type="http://schemas.openxmlformats.org/officeDocument/2006/relationships/slide" Target="slides/slide5.xml"/><Relationship Id="rId22" Type="http://schemas.openxmlformats.org/officeDocument/2006/relationships/slide" Target="slides/slide4.xml"/><Relationship Id="rId21" Type="http://schemas.openxmlformats.org/officeDocument/2006/relationships/slide" Target="slides/slide3.xml"/><Relationship Id="rId20" Type="http://schemas.openxmlformats.org/officeDocument/2006/relationships/slide" Target="slides/slide2.xml"/><Relationship Id="rId2" Type="http://schemas.openxmlformats.org/officeDocument/2006/relationships/theme" Target="theme/theme1.xml"/><Relationship Id="rId19" Type="http://schemas.openxmlformats.org/officeDocument/2006/relationships/slide" Target="slides/slide1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accent1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charset="-122"/>
                <a:sym typeface="纤黑体" panose="02000000000000000000" charset="-122"/>
              </a:rPr>
              <a:t>彩</a:t>
            </a:r>
            <a:r>
              <a:rPr lang="zh-CN" altLang="en-US" sz="3600" b="1" dirty="0">
                <a:solidFill>
                  <a:schemeClr val="accent3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charset="-122"/>
                <a:sym typeface="纤黑体" panose="02000000000000000000" charset="-122"/>
              </a:rPr>
              <a:t>蛋</a:t>
            </a:r>
            <a:endParaRPr lang="zh-CN" altLang="en-US" sz="3600" b="1" dirty="0">
              <a:solidFill>
                <a:schemeClr val="accent3"/>
              </a:solidFill>
              <a:latin typeface="纤黑体" panose="02000000000000000000" charset="-122"/>
              <a:ea typeface="纤黑体" panose="02000000000000000000" charset="-122"/>
              <a:cs typeface="阿里巴巴普惠体" panose="00020600040101010101" charset="-122"/>
              <a:sym typeface="纤黑体" panose="02000000000000000000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6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8" Type="http://schemas.openxmlformats.org/officeDocument/2006/relationships/theme" Target="../theme/theme8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0" Type="http://schemas.openxmlformats.org/officeDocument/2006/relationships/theme" Target="../theme/theme9.xml"/><Relationship Id="rId2" Type="http://schemas.openxmlformats.org/officeDocument/2006/relationships/slideLayout" Target="../slideLayouts/slideLayout4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9" Type="http://schemas.openxmlformats.org/officeDocument/2006/relationships/theme" Target="../theme/theme11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65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0.xml"/><Relationship Id="rId6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5.xml"/><Relationship Id="rId19" Type="http://schemas.openxmlformats.org/officeDocument/2006/relationships/theme" Target="../theme/theme13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3.xml"/><Relationship Id="rId1" Type="http://schemas.openxmlformats.org/officeDocument/2006/relationships/slideLayout" Target="../slideLayouts/slideLayout84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2.xml"/><Relationship Id="rId19" Type="http://schemas.openxmlformats.org/officeDocument/2006/relationships/theme" Target="../theme/theme14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9.xml"/><Relationship Id="rId19" Type="http://schemas.openxmlformats.org/officeDocument/2006/relationships/theme" Target="../theme/theme15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18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6.xml"/><Relationship Id="rId19" Type="http://schemas.openxmlformats.org/officeDocument/2006/relationships/theme" Target="../theme/theme16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3.xml"/><Relationship Id="rId19" Type="http://schemas.openxmlformats.org/officeDocument/2006/relationships/theme" Target="../theme/theme17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多一句没有，少一句不行，用更短时间，教会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  <a:sym typeface="华文楷体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14.pn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tags" Target="../tags/tag2.xml"/><Relationship Id="rId2" Type="http://schemas.openxmlformats.org/officeDocument/2006/relationships/image" Target="../media/image18.GIF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0.png"/><Relationship Id="rId7" Type="http://schemas.openxmlformats.org/officeDocument/2006/relationships/image" Target="../media/image29.svg"/><Relationship Id="rId6" Type="http://schemas.openxmlformats.org/officeDocument/2006/relationships/image" Target="../media/image28.jpeg"/><Relationship Id="rId5" Type="http://schemas.openxmlformats.org/officeDocument/2006/relationships/image" Target="../media/image25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7.svg"/><Relationship Id="rId1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1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9.svg"/><Relationship Id="rId6" Type="http://schemas.openxmlformats.org/officeDocument/2006/relationships/image" Target="../media/image28.jpeg"/><Relationship Id="rId5" Type="http://schemas.openxmlformats.org/officeDocument/2006/relationships/image" Target="../media/image33.svg"/><Relationship Id="rId4" Type="http://schemas.openxmlformats.org/officeDocument/2006/relationships/image" Target="../media/image32.jpeg"/><Relationship Id="rId3" Type="http://schemas.openxmlformats.org/officeDocument/2006/relationships/image" Target="../media/image22.png"/><Relationship Id="rId2" Type="http://schemas.openxmlformats.org/officeDocument/2006/relationships/image" Target="../media/image27.svg"/><Relationship Id="rId1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0.xml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tags" Target="../tags/tag6.xml"/><Relationship Id="rId4" Type="http://schemas.openxmlformats.org/officeDocument/2006/relationships/image" Target="../media/image38.png"/><Relationship Id="rId3" Type="http://schemas.openxmlformats.org/officeDocument/2006/relationships/tags" Target="../tags/tag5.xml"/><Relationship Id="rId2" Type="http://schemas.openxmlformats.org/officeDocument/2006/relationships/image" Target="../media/image37.png"/><Relationship Id="rId1" Type="http://schemas.openxmlformats.org/officeDocument/2006/relationships/tags" Target="../tags/tag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image" Target="../media/image40.png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1.png"/><Relationship Id="rId1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lstStyle/>
          <a:p>
            <a:r>
              <a:rPr lang="zh-CN" altLang="en-US" sz="4400" dirty="0">
                <a:solidFill>
                  <a:srgbClr val="26262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妙不可言的</a:t>
            </a:r>
            <a:r>
              <a:rPr lang="en-US" altLang="zh-CN" sz="4400" dirty="0">
                <a:solidFill>
                  <a:schemeClr val="accent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P</a:t>
            </a:r>
            <a:r>
              <a:rPr lang="en-US" altLang="zh-CN" sz="4400" dirty="0">
                <a:solidFill>
                  <a:schemeClr val="accent3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y</a:t>
            </a:r>
            <a:r>
              <a:rPr lang="en-US" altLang="zh-CN" sz="4400" dirty="0">
                <a:solidFill>
                  <a:schemeClr val="accent4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t</a:t>
            </a:r>
            <a:r>
              <a:rPr lang="en-US" altLang="zh-CN" sz="4400" dirty="0">
                <a:solidFill>
                  <a:schemeClr val="accent5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h</a:t>
            </a:r>
            <a:r>
              <a:rPr lang="en-US" altLang="zh-CN" sz="4400" dirty="0">
                <a:solidFill>
                  <a:schemeClr val="accent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o</a:t>
            </a:r>
            <a:r>
              <a:rPr lang="en-US" altLang="zh-CN" sz="4400" dirty="0">
                <a:solidFill>
                  <a:srgbClr val="92D050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n</a:t>
            </a:r>
            <a:r>
              <a:rPr lang="zh-CN" altLang="en-US" sz="4400" dirty="0">
                <a:solidFill>
                  <a:srgbClr val="26262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之旅</a:t>
            </a:r>
            <a:endParaRPr kumimoji="1" lang="zh-CN" altLang="en-US" sz="4400" dirty="0">
              <a:solidFill>
                <a:srgbClr val="262626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46195" y="3106420"/>
            <a:ext cx="449897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>
                    <a:lumMod val="65000"/>
                  </a:schemeClr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  <a:sym typeface="字语坊腹黑体" panose="02000503000000000000" charset="-122"/>
              </a:rPr>
              <a:t>从今天开始斌哥带大家成为一名优雅的</a:t>
            </a:r>
            <a:r>
              <a:rPr lang="en-US" altLang="zh-CN" sz="2800">
                <a:solidFill>
                  <a:srgbClr val="92D050"/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  <a:sym typeface="字语坊腹黑体" panose="02000503000000000000" charset="-122"/>
              </a:rPr>
              <a:t>Pythoneer</a:t>
            </a:r>
            <a:endParaRPr lang="en-US" altLang="zh-CN" sz="2800">
              <a:solidFill>
                <a:srgbClr val="92D050"/>
              </a:solidFill>
              <a:latin typeface="字语坊腹黑体" panose="02000503000000000000" charset="-122"/>
              <a:ea typeface="字语坊腹黑体" panose="02000503000000000000" charset="-122"/>
              <a:cs typeface="字语坊腹黑体" panose="02000503000000000000" charset="-122"/>
              <a:sym typeface="字语坊腹黑体" panose="02000503000000000000" charset="-122"/>
            </a:endParaRPr>
          </a:p>
        </p:txBody>
      </p:sp>
      <p:pic>
        <p:nvPicPr>
          <p:cNvPr id="4" name="图片 3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880745" y="2243455"/>
            <a:ext cx="10541000" cy="115887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72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6096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2192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8288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4384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400" dirty="0">
                <a:solidFill>
                  <a:schemeClr val="accent1"/>
                </a:solidFill>
                <a:latin typeface="阿里巴巴普惠体" panose="00020600040101010101" charset="-122"/>
                <a:ea typeface="阿里巴巴普惠体" panose="00020600040101010101" charset="-122"/>
                <a:sym typeface="+mn-ea"/>
              </a:rPr>
              <a:t>P</a:t>
            </a:r>
            <a:r>
              <a:rPr lang="en-US" altLang="zh-CN" sz="4400" dirty="0">
                <a:solidFill>
                  <a:schemeClr val="accent3"/>
                </a:solidFill>
                <a:latin typeface="阿里巴巴普惠体" panose="00020600040101010101" charset="-122"/>
                <a:ea typeface="阿里巴巴普惠体" panose="00020600040101010101" charset="-122"/>
                <a:sym typeface="+mn-ea"/>
              </a:rPr>
              <a:t>y</a:t>
            </a:r>
            <a:r>
              <a:rPr lang="en-US" altLang="zh-CN" sz="4400" dirty="0">
                <a:solidFill>
                  <a:schemeClr val="accent4"/>
                </a:solidFill>
                <a:latin typeface="阿里巴巴普惠体" panose="00020600040101010101" charset="-122"/>
                <a:ea typeface="阿里巴巴普惠体" panose="00020600040101010101" charset="-122"/>
                <a:sym typeface="+mn-ea"/>
              </a:rPr>
              <a:t>t</a:t>
            </a:r>
            <a:r>
              <a:rPr lang="en-US" altLang="zh-CN" sz="4400" dirty="0">
                <a:solidFill>
                  <a:schemeClr val="accent5"/>
                </a:solidFill>
                <a:latin typeface="阿里巴巴普惠体" panose="00020600040101010101" charset="-122"/>
                <a:ea typeface="阿里巴巴普惠体" panose="00020600040101010101" charset="-122"/>
                <a:sym typeface="+mn-ea"/>
              </a:rPr>
              <a:t>h</a:t>
            </a:r>
            <a:r>
              <a:rPr lang="en-US" altLang="zh-CN" sz="4400" dirty="0">
                <a:solidFill>
                  <a:schemeClr val="accent6"/>
                </a:solidFill>
                <a:latin typeface="阿里巴巴普惠体" panose="00020600040101010101" charset="-122"/>
                <a:ea typeface="阿里巴巴普惠体" panose="00020600040101010101" charset="-122"/>
                <a:sym typeface="+mn-ea"/>
              </a:rPr>
              <a:t>o</a:t>
            </a:r>
            <a:r>
              <a:rPr lang="en-US" altLang="zh-CN" sz="4400" dirty="0">
                <a:solidFill>
                  <a:srgbClr val="92D050"/>
                </a:solidFill>
                <a:latin typeface="阿里巴巴普惠体" panose="00020600040101010101" charset="-122"/>
                <a:ea typeface="阿里巴巴普惠体" panose="00020600040101010101" charset="-122"/>
                <a:sym typeface="+mn-ea"/>
              </a:rPr>
              <a:t>n</a:t>
            </a:r>
            <a:r>
              <a:rPr lang="zh-CN" altLang="en-US" sz="4400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sym typeface="+mn-ea"/>
              </a:rPr>
              <a:t>语言入门程序</a:t>
            </a:r>
            <a:endParaRPr kumimoji="1" lang="zh-CN" altLang="en-US" sz="4400" dirty="0">
              <a:solidFill>
                <a:schemeClr val="tx1"/>
              </a:solidFill>
              <a:latin typeface="阿里巴巴普惠体" panose="00020600040101010101" charset="-122"/>
              <a:ea typeface="阿里巴巴普惠体" panose="00020600040101010101" charset="-122"/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/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marL="457200" indent="-4572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37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 dirty="0">
                <a:solidFill>
                  <a:srgbClr val="AD2B26"/>
                </a:solidFill>
                <a:sym typeface="+mn-ea"/>
              </a:rPr>
              <a:t>初识Python</a:t>
            </a:r>
            <a:endParaRPr lang="zh-CN" altLang="en-US" dirty="0">
              <a:solidFill>
                <a:srgbClr val="AD2B26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什么是编程语言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第一个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程序</a:t>
            </a:r>
            <a:endParaRPr lang="zh-CN" altLang="en-US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465" y="244221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43557" y="1467371"/>
            <a:ext cx="1072642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1989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年，为了</a:t>
            </a:r>
            <a:r>
              <a:rPr lang="zh-CN" altLang="en-US" sz="2400" b="1" dirty="0">
                <a:solidFill>
                  <a:schemeClr val="accent2"/>
                </a:solidFill>
                <a:ea typeface="Alibaba PuHuiTi R" pitchFamily="18" charset="-122"/>
              </a:rPr>
              <a:t>打发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圣诞节假期，Gudio van Rossum吉多·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 </a:t>
            </a:r>
            <a:r>
              <a:rPr lang="zh-CN" altLang="en-US" sz="1600" dirty="0">
                <a:ea typeface="Alibaba PuHuiTi R" pitchFamily="18" charset="-122"/>
              </a:rPr>
              <a:t>范罗苏姆（龟叔）决心开发一个新的解释程序（</a:t>
            </a:r>
            <a:r>
              <a:rPr lang="en-US" altLang="zh-CN" sz="1600" dirty="0">
                <a:ea typeface="Alibaba PuHuiTi R" pitchFamily="18" charset="-122"/>
              </a:rPr>
              <a:t>Python</a:t>
            </a:r>
            <a:r>
              <a:rPr lang="zh-CN" altLang="en-US" sz="1600" dirty="0">
                <a:ea typeface="Alibaba PuHuiTi R" pitchFamily="18" charset="-122"/>
              </a:rPr>
              <a:t>雏形）</a:t>
            </a:r>
            <a:endParaRPr lang="en-US" altLang="zh-CN" sz="1600" dirty="0">
              <a:solidFill>
                <a:srgbClr val="C00000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1991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年，第一个</a:t>
            </a:r>
            <a:r>
              <a:rPr lang="en-GB" altLang="zh-CN" sz="1600" dirty="0">
                <a:solidFill>
                  <a:srgbClr val="262626"/>
                </a:solidFill>
                <a:ea typeface="Alibaba PuHuiTi R" pitchFamily="18" charset="-122"/>
              </a:rPr>
              <a:t>Python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解释器诞生</a:t>
            </a:r>
            <a:endParaRPr lang="en-GB" altLang="zh-CN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altLang="zh-CN" sz="1600" dirty="0">
                <a:solidFill>
                  <a:srgbClr val="262626"/>
                </a:solidFill>
                <a:ea typeface="Alibaba PuHuiTi R" pitchFamily="18" charset="-122"/>
              </a:rPr>
              <a:t>Python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这个名字，来自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龟叔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所挚爱的电视剧</a:t>
            </a:r>
            <a:r>
              <a:rPr lang="en-GB" altLang="zh-CN" sz="1600" dirty="0">
                <a:solidFill>
                  <a:srgbClr val="262626"/>
                </a:solidFill>
                <a:ea typeface="Alibaba PuHuiTi R" pitchFamily="18" charset="-122"/>
              </a:rPr>
              <a:t>Monty Python's Flying Circus</a:t>
            </a:r>
            <a:endParaRPr lang="zh-CN" altLang="en-US" sz="16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97" y="2912169"/>
            <a:ext cx="4067548" cy="2960153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Python</a:t>
            </a:r>
            <a:r>
              <a:t>的起源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504940" y="3804920"/>
            <a:ext cx="3157855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闲着没事的程序员是有多虎？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5" name="图片 4" descr="01 (15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250" y="4826000"/>
            <a:ext cx="1683385" cy="1683385"/>
          </a:xfrm>
          <a:prstGeom prst="rect">
            <a:avLst/>
          </a:prstGeom>
        </p:spPr>
      </p:pic>
      <p:pic>
        <p:nvPicPr>
          <p:cNvPr id="102" name="图片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5791200" y="2851150"/>
            <a:ext cx="2315845" cy="3321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5791200" y="4594860"/>
            <a:ext cx="2283460" cy="645795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2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2)">
                                      <p:cBhvr>
                                        <p:cTn id="1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为什么选择</a:t>
            </a:r>
            <a:r>
              <a:rPr lang="en-US" altLang="zh-CN"/>
              <a:t>Python</a:t>
            </a:r>
            <a:endParaRPr lang="en-US" altLang="zh-CN"/>
          </a:p>
        </p:txBody>
      </p:sp>
      <p:pic>
        <p:nvPicPr>
          <p:cNvPr id="103" name="图片 102"/>
          <p:cNvPicPr/>
          <p:nvPr>
            <p:custDataLst>
              <p:tags r:id="rId1"/>
            </p:custDataLst>
          </p:nvPr>
        </p:nvPicPr>
        <p:blipFill>
          <a:blip r:embed="rId2"/>
          <a:srcRect t="1255" r="279" b="866"/>
          <a:stretch>
            <a:fillRect/>
          </a:stretch>
        </p:blipFill>
        <p:spPr>
          <a:xfrm>
            <a:off x="3192780" y="2518410"/>
            <a:ext cx="8952865" cy="34347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1076325" y="3168015"/>
            <a:ext cx="141224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简单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76325" y="3907155"/>
            <a:ext cx="141224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易学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76325" y="4646295"/>
            <a:ext cx="2143125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开发效率高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20" y="1457325"/>
            <a:ext cx="1047750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为什么选择</a:t>
            </a:r>
            <a:r>
              <a:rPr lang="en-US" altLang="zh-CN"/>
              <a:t>Python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165" y="894715"/>
            <a:ext cx="2823845" cy="19316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6350" y="2938780"/>
            <a:ext cx="1568450" cy="11988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accent2"/>
                </a:solidFill>
                <a:latin typeface="+mn-lt"/>
                <a:ea typeface="+mn-ea"/>
              </a:rPr>
              <a:t>Save Time</a:t>
            </a:r>
            <a:endParaRPr lang="en-US" altLang="zh-CN" sz="2400" dirty="0">
              <a:solidFill>
                <a:schemeClr val="accent2"/>
              </a:solidFill>
              <a:latin typeface="+mn-lt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accent2"/>
                </a:solidFill>
                <a:latin typeface="+mn-lt"/>
                <a:ea typeface="+mn-ea"/>
              </a:rPr>
              <a:t>and</a:t>
            </a:r>
            <a:endParaRPr lang="en-US" altLang="zh-CN" sz="2400" dirty="0">
              <a:solidFill>
                <a:schemeClr val="accent2"/>
              </a:solidFill>
              <a:latin typeface="+mn-lt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accent2"/>
                </a:solidFill>
                <a:latin typeface="+mn-lt"/>
                <a:ea typeface="+mn-ea"/>
              </a:rPr>
              <a:t>Get Money</a:t>
            </a:r>
            <a:endParaRPr lang="en-US" altLang="zh-CN" sz="2400" dirty="0">
              <a:solidFill>
                <a:schemeClr val="accent2"/>
              </a:solidFill>
              <a:latin typeface="+mn-lt"/>
              <a:ea typeface="+mn-ea"/>
            </a:endParaRPr>
          </a:p>
        </p:txBody>
      </p:sp>
      <p:pic>
        <p:nvPicPr>
          <p:cNvPr id="108" name="图片 107"/>
          <p:cNvPicPr/>
          <p:nvPr/>
        </p:nvPicPr>
        <p:blipFill>
          <a:blip r:embed="rId2"/>
          <a:stretch>
            <a:fillRect/>
          </a:stretch>
        </p:blipFill>
        <p:spPr>
          <a:xfrm>
            <a:off x="5132705" y="4250055"/>
            <a:ext cx="1926590" cy="192659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795655" y="2261870"/>
          <a:ext cx="6993255" cy="3914775"/>
        </p:xfrm>
        <a:graphic>
          <a:graphicData uri="http://schemas.openxmlformats.org/drawingml/2006/table">
            <a:tbl>
              <a:tblPr firstRow="1" bandRow="1"/>
              <a:tblGrid>
                <a:gridCol w="2151380"/>
                <a:gridCol w="4841875"/>
              </a:tblGrid>
              <a:tr h="38417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 spc="12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人群/岗位</a:t>
                      </a:r>
                      <a:endParaRPr lang="zh-CN" sz="1200" b="1" spc="12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 spc="12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用Python做什么</a:t>
                      </a:r>
                      <a:endParaRPr lang="zh-CN" sz="1200" b="1" spc="12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238"/>
                    </a:solidFill>
                  </a:tcPr>
                </a:tc>
              </a:tr>
              <a:tr h="31115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从业者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自动化脚本（运维开发、测试开发等）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0924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普通白领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自动化办公</a:t>
                      </a:r>
                      <a:endParaRPr lang="zh-CN" sz="10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3105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后端开发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应用程序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8323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科学家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基于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完成数据计算（生物、化学、物理）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人工智能</a:t>
                      </a:r>
                      <a:r>
                        <a:rPr lang="en-US" alt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机器学习</a:t>
                      </a:r>
                      <a:endParaRPr lang="zh-CN" altLang="en-US" sz="1200" b="1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77800" marR="177800" marT="57150" marB="57150" vert="horz" anchor="ctr" anchorCtr="0"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基于</a:t>
                      </a:r>
                      <a:r>
                        <a:rPr lang="en-US" alt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Python</a:t>
                      </a:r>
                      <a:r>
                        <a:rPr lang="zh-CN" altLang="en-US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开发</a:t>
                      </a:r>
                      <a:r>
                        <a:rPr lang="en-US" alt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AI</a:t>
                      </a:r>
                      <a:r>
                        <a:rPr lang="zh-CN" altLang="en-US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程序</a:t>
                      </a:r>
                      <a:endParaRPr lang="zh-CN" altLang="en-US" sz="1200" b="1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177800" marR="177800" marT="57150" marB="57150" vert="horz" anchor="ctr" anchorCtr="0"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3309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大数据开发</a:t>
                      </a:r>
                      <a:endParaRPr lang="zh-CN" altLang="en-US" sz="1200" b="1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177800" marR="177800" marT="57150" marB="57150" vert="horz" anchor="ctr" anchorCtr="0"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基于</a:t>
                      </a:r>
                      <a:r>
                        <a:rPr lang="en-US" alt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Python</a:t>
                      </a:r>
                      <a:r>
                        <a:rPr lang="zh-CN" altLang="en-US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完成大数据任务开发（</a:t>
                      </a:r>
                      <a:r>
                        <a:rPr lang="en-US" alt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Spark</a:t>
                      </a:r>
                      <a:r>
                        <a:rPr lang="zh-CN" altLang="en-US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Flink</a:t>
                      </a:r>
                      <a:r>
                        <a:rPr lang="zh-CN" altLang="en-US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）</a:t>
                      </a:r>
                      <a:endParaRPr lang="zh-CN" altLang="en-US" sz="1200" b="1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177800" marR="177800" marT="57150" marB="57150" vert="horz" anchor="ctr" anchorCtr="0"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85471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学生</a:t>
                      </a:r>
                      <a:endParaRPr lang="zh-CN" altLang="en-US" sz="1200" b="1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177800" marR="177800" marT="57150" marB="57150" vert="horz" anchor="ctr" anchorCtr="0"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9050">
                      <a:solidFill>
                        <a:srgbClr val="FF623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计算机二级考试</a:t>
                      </a:r>
                      <a:endParaRPr lang="zh-CN" altLang="en-US" sz="1200" b="1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小学六年级</a:t>
                      </a:r>
                      <a:r>
                        <a:rPr lang="en-US" altLang="zh-CN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Python</a:t>
                      </a:r>
                      <a:r>
                        <a:rPr lang="zh-CN" altLang="en-US" sz="1200" b="1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课程</a:t>
                      </a:r>
                      <a:endParaRPr lang="zh-CN" altLang="en-US" sz="1200" b="1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b="1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FF623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710565" y="1457325"/>
            <a:ext cx="1617980" cy="5626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适用面广泛</a:t>
            </a:r>
            <a:endParaRPr lang="zh-CN" altLang="en-US" sz="2000" b="1"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140" y="2215515"/>
            <a:ext cx="5215255" cy="23964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830" y="2245995"/>
            <a:ext cx="4287520" cy="2366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071110" y="1429385"/>
            <a:ext cx="6506210" cy="2696210"/>
          </a:xfrm>
        </p:spPr>
        <p:txBody>
          <a:bodyPr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Python的诞生</a:t>
            </a:r>
            <a:r>
              <a:rPr lang="zh-CN" altLang="en-US" dirty="0"/>
              <a:t>？</a:t>
            </a:r>
            <a:r>
              <a:rPr lang="en-US" altLang="zh-CN" dirty="0"/>
              <a:t> 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	1991年吉多·范·</a:t>
            </a:r>
            <a:r>
              <a:rPr lang="en-US" altLang="zh-CN" dirty="0"/>
              <a:t>罗苏姆（龟叔）创建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2. 为什么使用Python</a:t>
            </a:r>
            <a:r>
              <a:rPr lang="zh-CN" altLang="en-US" dirty="0"/>
              <a:t>？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	简单</a:t>
            </a:r>
            <a:r>
              <a:rPr lang="zh-CN" altLang="en-US" dirty="0"/>
              <a:t>易学、全球第一、应用场景丰富（就业方向多）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3. Python的应用场景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506720" y="4302760"/>
            <a:ext cx="6522085" cy="1423670"/>
            <a:chOff x="8672" y="6776"/>
            <a:chExt cx="10271" cy="2242"/>
          </a:xfrm>
        </p:grpSpPr>
        <p:sp>
          <p:nvSpPr>
            <p:cNvPr id="24" name="圆角矩形 23"/>
            <p:cNvSpPr/>
            <p:nvPr/>
          </p:nvSpPr>
          <p:spPr>
            <a:xfrm>
              <a:off x="8672" y="6786"/>
              <a:ext cx="3251" cy="542"/>
            </a:xfrm>
            <a:prstGeom prst="roundRect">
              <a:avLst/>
            </a:prstGeom>
            <a:noFill/>
            <a:ln w="28575" cmpd="sng">
              <a:solidFill>
                <a:schemeClr val="accent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测试开发</a:t>
              </a:r>
              <a:endParaRPr lang="zh-CN" altLang="en-US" sz="12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sp>
          <p:nvSpPr>
            <p:cNvPr id="2" name="圆角矩形 1"/>
            <p:cNvSpPr/>
            <p:nvPr/>
          </p:nvSpPr>
          <p:spPr>
            <a:xfrm>
              <a:off x="12142" y="6776"/>
              <a:ext cx="3251" cy="542"/>
            </a:xfrm>
            <a:prstGeom prst="roundRect">
              <a:avLst/>
            </a:prstGeom>
            <a:noFill/>
            <a:ln w="28575" cmpd="sng">
              <a:solidFill>
                <a:schemeClr val="accent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运维开发</a:t>
              </a:r>
              <a:endParaRPr lang="zh-CN" altLang="en-US" sz="12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8672" y="7626"/>
              <a:ext cx="3251" cy="542"/>
            </a:xfrm>
            <a:prstGeom prst="roundRect">
              <a:avLst/>
            </a:prstGeom>
            <a:noFill/>
            <a:ln w="28575" cmpd="sng">
              <a:solidFill>
                <a:srgbClr val="B6020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（大）数据开发</a:t>
              </a:r>
              <a:endParaRPr lang="zh-CN" altLang="en-US" sz="12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12142" y="7626"/>
              <a:ext cx="3251" cy="542"/>
            </a:xfrm>
            <a:prstGeom prst="roundRect">
              <a:avLst/>
            </a:prstGeom>
            <a:noFill/>
            <a:ln w="28575" cmpd="sng">
              <a:solidFill>
                <a:schemeClr val="accent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后端开发</a:t>
              </a:r>
              <a:endParaRPr lang="zh-CN" altLang="en-US" sz="12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8672" y="8466"/>
              <a:ext cx="3251" cy="542"/>
            </a:xfrm>
            <a:prstGeom prst="roundRect">
              <a:avLst/>
            </a:prstGeom>
            <a:noFill/>
            <a:ln w="28575" cmpd="sng">
              <a:solidFill>
                <a:srgbClr val="B7000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AI</a:t>
              </a:r>
              <a:r>
                <a:rPr lang="zh-CN" altLang="en-US" sz="1200">
                  <a:solidFill>
                    <a:schemeClr val="tx1"/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人工智能</a:t>
              </a:r>
              <a:endParaRPr lang="zh-CN" altLang="en-US" sz="12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2142" y="8476"/>
              <a:ext cx="3251" cy="542"/>
            </a:xfrm>
            <a:prstGeom prst="roundRect">
              <a:avLst/>
            </a:prstGeom>
            <a:noFill/>
            <a:ln w="28575" cmpd="sng">
              <a:solidFill>
                <a:schemeClr val="accent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200">
                  <a:solidFill>
                    <a:schemeClr val="tx1"/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计算机二级考试</a:t>
              </a:r>
              <a:endParaRPr lang="zh-CN" sz="12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5692" y="8466"/>
              <a:ext cx="3251" cy="542"/>
            </a:xfrm>
            <a:prstGeom prst="roundRect">
              <a:avLst/>
            </a:prstGeom>
            <a:noFill/>
            <a:ln w="28575" cmpd="sng">
              <a:solidFill>
                <a:schemeClr val="accent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200">
                  <a:solidFill>
                    <a:schemeClr val="tx1"/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小学正课、少儿编程</a:t>
              </a:r>
              <a:endParaRPr lang="zh-CN" sz="12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5692" y="6786"/>
              <a:ext cx="3251" cy="542"/>
            </a:xfrm>
            <a:prstGeom prst="roundRect">
              <a:avLst/>
            </a:prstGeom>
            <a:noFill/>
            <a:ln w="28575" cmpd="sng">
              <a:solidFill>
                <a:schemeClr val="accent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科学研究</a:t>
              </a:r>
              <a:endParaRPr lang="zh-CN" altLang="en-US" sz="12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5692" y="7626"/>
              <a:ext cx="3251" cy="542"/>
            </a:xfrm>
            <a:prstGeom prst="roundRect">
              <a:avLst/>
            </a:prstGeom>
            <a:noFill/>
            <a:ln w="28575" cmpd="sng">
              <a:solidFill>
                <a:schemeClr val="accent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200">
                  <a:solidFill>
                    <a:schemeClr val="tx1"/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ea"/>
                </a:rPr>
                <a:t>数据分析、可视化</a:t>
              </a:r>
              <a:endParaRPr lang="zh-CN" altLang="en-US" sz="12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初识Python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AD2B26"/>
                </a:solidFill>
                <a:sym typeface="+mn-ea"/>
              </a:rPr>
              <a:t>什么是编程语言</a:t>
            </a:r>
            <a:endParaRPr lang="zh-CN" altLang="en-US" dirty="0">
              <a:solidFill>
                <a:srgbClr val="AD2B26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第一个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程序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73050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什么是编程语言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首先，不管</a:t>
            </a:r>
            <a:r>
              <a:rPr lang="en-US" altLang="zh-CN"/>
              <a:t>Python</a:t>
            </a:r>
            <a:r>
              <a:rPr lang="zh-CN" altLang="en-US"/>
              <a:t>，我们先明白，什么是编程语言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270375" y="5415280"/>
            <a:ext cx="3650615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accent2"/>
                </a:solidFill>
                <a:latin typeface="纤黑体" panose="02000000000000000000" charset="-122"/>
                <a:ea typeface="纤黑体" panose="02000000000000000000" charset="-122"/>
                <a:sym typeface="字语坊腹黑体" panose="02000503000000000000" charset="-122"/>
              </a:rPr>
              <a:t>What is programming language?</a:t>
            </a:r>
            <a:endParaRPr lang="en-US" altLang="zh-CN" sz="2400" dirty="0">
              <a:solidFill>
                <a:schemeClr val="accent2"/>
              </a:solidFill>
              <a:latin typeface="纤黑体" panose="02000000000000000000" charset="-122"/>
              <a:ea typeface="纤黑体" panose="02000000000000000000" charset="-122"/>
              <a:sym typeface="字语坊腹黑体" panose="02000503000000000000" charset="-122"/>
            </a:endParaRPr>
          </a:p>
        </p:txBody>
      </p:sp>
      <p:pic>
        <p:nvPicPr>
          <p:cNvPr id="8" name="图片 7" descr="01 (106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47895" y="2454275"/>
            <a:ext cx="2623820" cy="2623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什么是编程语言</a:t>
            </a:r>
            <a:endParaRPr lang="zh-CN" altLang="en-US"/>
          </a:p>
        </p:txBody>
      </p:sp>
      <p:sp>
        <p:nvSpPr>
          <p:cNvPr id="36" name="文本占位符 2"/>
          <p:cNvSpPr>
            <a:spLocks noGrp="1"/>
          </p:cNvSpPr>
          <p:nvPr/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语言：进行沟通交流的表达方式</a:t>
            </a:r>
            <a:endParaRPr lang="zh-CN" altLang="en-US"/>
          </a:p>
        </p:txBody>
      </p:sp>
      <p:pic>
        <p:nvPicPr>
          <p:cNvPr id="37" name="图片 36" descr="01 (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0560" y="2689860"/>
            <a:ext cx="2317115" cy="2317115"/>
          </a:xfrm>
          <a:prstGeom prst="rect">
            <a:avLst/>
          </a:prstGeom>
        </p:spPr>
      </p:pic>
      <p:pic>
        <p:nvPicPr>
          <p:cNvPr id="38" name="图片 37" descr="01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90495"/>
            <a:ext cx="2316480" cy="2316480"/>
          </a:xfrm>
          <a:prstGeom prst="rect">
            <a:avLst/>
          </a:prstGeom>
          <a:scene3d>
            <a:camera prst="perspectiveHeroicExtremeLeftFacing"/>
            <a:lightRig rig="threePt" dir="t"/>
          </a:scene3d>
        </p:spPr>
      </p:pic>
      <p:sp>
        <p:nvSpPr>
          <p:cNvPr id="39" name="云形标注 38"/>
          <p:cNvSpPr/>
          <p:nvPr/>
        </p:nvSpPr>
        <p:spPr>
          <a:xfrm>
            <a:off x="3498215" y="2333625"/>
            <a:ext cx="1403350" cy="775970"/>
          </a:xfrm>
          <a:prstGeom prst="cloudCallout">
            <a:avLst>
              <a:gd name="adj1" fmla="val -38232"/>
              <a:gd name="adj2" fmla="val 5777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我帅不</a:t>
            </a:r>
            <a:endParaRPr lang="zh-CN" altLang="en-US"/>
          </a:p>
        </p:txBody>
      </p:sp>
      <p:pic>
        <p:nvPicPr>
          <p:cNvPr id="40" name="图片 39" descr="01 (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435" y="2700020"/>
            <a:ext cx="2308225" cy="230822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9182100" y="4926330"/>
            <a:ext cx="1572895" cy="337185"/>
          </a:xfrm>
          <a:prstGeom prst="rect">
            <a:avLst/>
          </a:prstGeom>
          <a:noFill/>
        </p:spPr>
        <p:txBody>
          <a:bodyPr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美国人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42" name="图片 41" descr="01 (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565" y="2689860"/>
            <a:ext cx="2306955" cy="2306955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  <p:sp>
        <p:nvSpPr>
          <p:cNvPr id="43" name="云形标注 42"/>
          <p:cNvSpPr/>
          <p:nvPr/>
        </p:nvSpPr>
        <p:spPr>
          <a:xfrm>
            <a:off x="6459220" y="2253615"/>
            <a:ext cx="1901190" cy="775970"/>
          </a:xfrm>
          <a:prstGeom prst="cloudCallout">
            <a:avLst>
              <a:gd name="adj1" fmla="val -38232"/>
              <a:gd name="adj2" fmla="val 577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Am i</a:t>
            </a:r>
            <a:endParaRPr lang="en-US" altLang="zh-CN"/>
          </a:p>
          <a:p>
            <a:pPr algn="ctr"/>
            <a:r>
              <a:rPr lang="en-US" altLang="zh-CN"/>
              <a:t>Handsome?</a:t>
            </a:r>
            <a:endParaRPr lang="en-US" altLang="zh-CN"/>
          </a:p>
        </p:txBody>
      </p:sp>
      <p:sp>
        <p:nvSpPr>
          <p:cNvPr id="46" name="云形标注 45"/>
          <p:cNvSpPr/>
          <p:nvPr/>
        </p:nvSpPr>
        <p:spPr>
          <a:xfrm>
            <a:off x="8360410" y="2253615"/>
            <a:ext cx="1901190" cy="775970"/>
          </a:xfrm>
          <a:prstGeom prst="cloudCallout">
            <a:avLst>
              <a:gd name="adj1" fmla="val 12591"/>
              <a:gd name="adj2" fmla="val 6153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Sure You Are.</a:t>
            </a:r>
            <a:endParaRPr lang="en-US" altLang="zh-CN"/>
          </a:p>
        </p:txBody>
      </p:sp>
      <p:sp>
        <p:nvSpPr>
          <p:cNvPr id="47" name="云形标注 46"/>
          <p:cNvSpPr/>
          <p:nvPr/>
        </p:nvSpPr>
        <p:spPr>
          <a:xfrm>
            <a:off x="4901565" y="2333625"/>
            <a:ext cx="1402715" cy="775970"/>
          </a:xfrm>
          <a:prstGeom prst="cloudCallout">
            <a:avLst>
              <a:gd name="adj1" fmla="val 45789"/>
              <a:gd name="adj2" fmla="val 5114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是的你很帅</a:t>
            </a:r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5309870" y="4904105"/>
            <a:ext cx="1572895" cy="337185"/>
          </a:xfrm>
          <a:prstGeom prst="rect">
            <a:avLst/>
          </a:prstGeom>
          <a:noFill/>
        </p:spPr>
        <p:txBody>
          <a:bodyPr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翻译官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39" grpId="0" bldLvl="0" animBg="1"/>
      <p:bldP spid="43" grpId="0" bldLvl="0" animBg="1"/>
      <p:bldP spid="46" grpId="0" bldLvl="0" animBg="1"/>
      <p:bldP spid="4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什么是编程语言</a:t>
            </a:r>
            <a:endParaRPr lang="zh-CN" altLang="en-US"/>
          </a:p>
        </p:txBody>
      </p:sp>
      <p:sp>
        <p:nvSpPr>
          <p:cNvPr id="36" name="文本占位符 2"/>
          <p:cNvSpPr>
            <a:spLocks noGrp="1"/>
          </p:cNvSpPr>
          <p:nvPr/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语言：进行沟通交流的表达方式</a:t>
            </a:r>
            <a:endParaRPr lang="zh-CN" altLang="en-US"/>
          </a:p>
        </p:txBody>
      </p:sp>
      <p:pic>
        <p:nvPicPr>
          <p:cNvPr id="37" name="图片 36" descr="01 (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0560" y="2689860"/>
            <a:ext cx="2317115" cy="2317115"/>
          </a:xfrm>
          <a:prstGeom prst="rect">
            <a:avLst/>
          </a:prstGeom>
        </p:spPr>
      </p:pic>
      <p:pic>
        <p:nvPicPr>
          <p:cNvPr id="38" name="图片 37" descr="01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90495"/>
            <a:ext cx="2316480" cy="2316480"/>
          </a:xfrm>
          <a:prstGeom prst="rect">
            <a:avLst/>
          </a:prstGeom>
          <a:scene3d>
            <a:camera prst="perspectiveHeroicExtremeLeftFacing"/>
            <a:lightRig rig="threePt" dir="t"/>
          </a:scene3d>
        </p:spPr>
      </p:pic>
      <p:sp>
        <p:nvSpPr>
          <p:cNvPr id="39" name="云形标注 38"/>
          <p:cNvSpPr/>
          <p:nvPr/>
        </p:nvSpPr>
        <p:spPr>
          <a:xfrm>
            <a:off x="3498215" y="2333625"/>
            <a:ext cx="1403350" cy="775970"/>
          </a:xfrm>
          <a:prstGeom prst="cloudCallout">
            <a:avLst>
              <a:gd name="adj1" fmla="val -38232"/>
              <a:gd name="adj2" fmla="val 5777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我帅不</a:t>
            </a:r>
            <a:endParaRPr lang="zh-CN" altLang="en-US"/>
          </a:p>
        </p:txBody>
      </p:sp>
      <p:pic>
        <p:nvPicPr>
          <p:cNvPr id="40" name="图片 39" descr="01 (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435" y="2700020"/>
            <a:ext cx="2308225" cy="230822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9182100" y="4926330"/>
            <a:ext cx="1572895" cy="337185"/>
          </a:xfrm>
          <a:prstGeom prst="rect">
            <a:avLst/>
          </a:prstGeom>
          <a:noFill/>
        </p:spPr>
        <p:txBody>
          <a:bodyPr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法国人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42" name="图片 41" descr="01 (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565" y="2689860"/>
            <a:ext cx="2306955" cy="2306955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  <p:sp>
        <p:nvSpPr>
          <p:cNvPr id="43" name="云形标注 42"/>
          <p:cNvSpPr/>
          <p:nvPr/>
        </p:nvSpPr>
        <p:spPr>
          <a:xfrm>
            <a:off x="6459220" y="2253615"/>
            <a:ext cx="1901190" cy="775970"/>
          </a:xfrm>
          <a:prstGeom prst="cloudCallout">
            <a:avLst>
              <a:gd name="adj1" fmla="val -38232"/>
              <a:gd name="adj2" fmla="val 577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Suis-je beau?</a:t>
            </a:r>
            <a:endParaRPr lang="en-US" altLang="zh-CN"/>
          </a:p>
        </p:txBody>
      </p:sp>
      <p:sp>
        <p:nvSpPr>
          <p:cNvPr id="46" name="云形标注 45"/>
          <p:cNvSpPr/>
          <p:nvPr/>
        </p:nvSpPr>
        <p:spPr>
          <a:xfrm>
            <a:off x="8360410" y="2253615"/>
            <a:ext cx="1901190" cy="775970"/>
          </a:xfrm>
          <a:prstGeom prst="cloudCallout">
            <a:avLst>
              <a:gd name="adj1" fmla="val 12591"/>
              <a:gd name="adj2" fmla="val 6153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oui tu es beau</a:t>
            </a:r>
            <a:endParaRPr lang="en-US" altLang="zh-CN"/>
          </a:p>
        </p:txBody>
      </p:sp>
      <p:sp>
        <p:nvSpPr>
          <p:cNvPr id="47" name="云形标注 46"/>
          <p:cNvSpPr/>
          <p:nvPr/>
        </p:nvSpPr>
        <p:spPr>
          <a:xfrm>
            <a:off x="4901565" y="2333625"/>
            <a:ext cx="1402715" cy="775970"/>
          </a:xfrm>
          <a:prstGeom prst="cloudCallout">
            <a:avLst>
              <a:gd name="adj1" fmla="val 45789"/>
              <a:gd name="adj2" fmla="val 5114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是的你很帅</a:t>
            </a:r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5309870" y="4904105"/>
            <a:ext cx="1572895" cy="337185"/>
          </a:xfrm>
          <a:prstGeom prst="rect">
            <a:avLst/>
          </a:prstGeom>
          <a:noFill/>
        </p:spPr>
        <p:txBody>
          <a:bodyPr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翻译官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39" grpId="0" bldLvl="0" animBg="1"/>
      <p:bldP spid="43" grpId="0" bldLvl="0" animBg="1"/>
      <p:bldP spid="46" grpId="0" bldLvl="0" animBg="1"/>
      <p:bldP spid="4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32313536323733373b32313536323733353bbcc6cbe3bbfabdccd1a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3320" y="2555875"/>
            <a:ext cx="2370455" cy="2370455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什么是编程语言</a:t>
            </a:r>
            <a:endParaRPr lang="zh-CN" altLang="en-US"/>
          </a:p>
        </p:txBody>
      </p:sp>
      <p:sp>
        <p:nvSpPr>
          <p:cNvPr id="36" name="文本占位符 2"/>
          <p:cNvSpPr>
            <a:spLocks noGrp="1"/>
          </p:cNvSpPr>
          <p:nvPr/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语言：进行沟通交流的表达方式</a:t>
            </a:r>
            <a:endParaRPr lang="zh-CN" altLang="en-US"/>
          </a:p>
        </p:txBody>
      </p:sp>
      <p:pic>
        <p:nvPicPr>
          <p:cNvPr id="37" name="图片 36" descr="01 (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560" y="2689860"/>
            <a:ext cx="2317115" cy="2317115"/>
          </a:xfrm>
          <a:prstGeom prst="rect">
            <a:avLst/>
          </a:prstGeom>
        </p:spPr>
      </p:pic>
      <p:pic>
        <p:nvPicPr>
          <p:cNvPr id="38" name="图片 37" descr="01 (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395" y="2690495"/>
            <a:ext cx="2316480" cy="2316480"/>
          </a:xfrm>
          <a:prstGeom prst="rect">
            <a:avLst/>
          </a:prstGeom>
          <a:scene3d>
            <a:camera prst="perspectiveHeroicExtremeLeftFacing"/>
            <a:lightRig rig="threePt" dir="t"/>
          </a:scene3d>
        </p:spPr>
      </p:pic>
      <p:sp>
        <p:nvSpPr>
          <p:cNvPr id="39" name="云形标注 38"/>
          <p:cNvSpPr/>
          <p:nvPr/>
        </p:nvSpPr>
        <p:spPr>
          <a:xfrm>
            <a:off x="3498215" y="2333625"/>
            <a:ext cx="1403350" cy="775970"/>
          </a:xfrm>
          <a:prstGeom prst="cloudCallout">
            <a:avLst>
              <a:gd name="adj1" fmla="val -38232"/>
              <a:gd name="adj2" fmla="val 5777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你好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182100" y="4926330"/>
            <a:ext cx="1572895" cy="337185"/>
          </a:xfrm>
          <a:prstGeom prst="rect">
            <a:avLst/>
          </a:prstGeom>
          <a:noFill/>
        </p:spPr>
        <p:txBody>
          <a:bodyPr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计算机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42" name="图片 41" descr="01 (7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645" y="2700020"/>
            <a:ext cx="2306955" cy="2306955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  <p:sp>
        <p:nvSpPr>
          <p:cNvPr id="43" name="云形标注 42"/>
          <p:cNvSpPr/>
          <p:nvPr/>
        </p:nvSpPr>
        <p:spPr>
          <a:xfrm>
            <a:off x="6525895" y="1464945"/>
            <a:ext cx="1901190" cy="1564640"/>
          </a:xfrm>
          <a:prstGeom prst="cloudCallout">
            <a:avLst>
              <a:gd name="adj1" fmla="val -48864"/>
              <a:gd name="adj2" fmla="val 5673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Hello?</a:t>
            </a:r>
            <a:endParaRPr lang="en-US" altLang="zh-CN"/>
          </a:p>
          <a:p>
            <a:pPr algn="ctr"/>
            <a:r>
              <a:rPr lang="zh-CN" altLang="en-US"/>
              <a:t>你好</a:t>
            </a:r>
            <a:r>
              <a:rPr lang="en-US" altLang="zh-CN"/>
              <a:t>?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bonjour?</a:t>
            </a:r>
            <a:endParaRPr lang="zh-CN" altLang="en-US">
              <a:sym typeface="+mn-ea"/>
            </a:endParaRPr>
          </a:p>
        </p:txBody>
      </p:sp>
      <p:sp>
        <p:nvSpPr>
          <p:cNvPr id="46" name="云形标注 45"/>
          <p:cNvSpPr/>
          <p:nvPr/>
        </p:nvSpPr>
        <p:spPr>
          <a:xfrm>
            <a:off x="8360410" y="2253615"/>
            <a:ext cx="1901190" cy="775970"/>
          </a:xfrm>
          <a:prstGeom prst="cloudCallout">
            <a:avLst>
              <a:gd name="adj1" fmla="val 12591"/>
              <a:gd name="adj2" fmla="val 6153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？？？？？</a:t>
            </a:r>
            <a:endParaRPr lang="zh-CN" altLang="en-US"/>
          </a:p>
        </p:txBody>
      </p:sp>
      <p:sp>
        <p:nvSpPr>
          <p:cNvPr id="47" name="云形标注 46"/>
          <p:cNvSpPr/>
          <p:nvPr/>
        </p:nvSpPr>
        <p:spPr>
          <a:xfrm>
            <a:off x="4901565" y="2333625"/>
            <a:ext cx="1402715" cy="775970"/>
          </a:xfrm>
          <a:prstGeom prst="cloudCallout">
            <a:avLst>
              <a:gd name="adj1" fmla="val 45789"/>
              <a:gd name="adj2" fmla="val 5114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不会翻</a:t>
            </a:r>
            <a:endParaRPr lang="zh-CN" altLang="en-US"/>
          </a:p>
          <a:p>
            <a:pPr algn="ctr"/>
            <a:r>
              <a:rPr lang="zh-CN" altLang="en-US"/>
              <a:t>我辞职</a:t>
            </a:r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5309870" y="4904105"/>
            <a:ext cx="1572895" cy="337185"/>
          </a:xfrm>
          <a:prstGeom prst="rect">
            <a:avLst/>
          </a:prstGeom>
          <a:noFill/>
        </p:spPr>
        <p:txBody>
          <a:bodyPr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翻译官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6" name="图片 5" descr="31393935333435393b31393936353535363bcecabac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81235" y="3029585"/>
            <a:ext cx="600075" cy="600075"/>
          </a:xfrm>
          <a:prstGeom prst="rect">
            <a:avLst/>
          </a:prstGeom>
          <a:scene3d>
            <a:camera prst="orthographicFront">
              <a:rot lat="0" lon="3600000" rev="0"/>
            </a:camera>
            <a:lightRig rig="threePt" dir="t"/>
          </a:scene3d>
        </p:spPr>
      </p:pic>
      <p:pic>
        <p:nvPicPr>
          <p:cNvPr id="5" name="图片 4" descr="01 (104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3805" y="2795270"/>
            <a:ext cx="2105660" cy="21056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91565" y="5494020"/>
            <a:ext cx="100082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计算机只认识二进制</a:t>
            </a:r>
            <a:r>
              <a:rPr lang="en-US" altLang="zh-CN" sz="32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0</a:t>
            </a:r>
            <a:r>
              <a:rPr lang="zh-CN" altLang="en-US" sz="32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和</a:t>
            </a:r>
            <a:r>
              <a:rPr lang="en-US" altLang="zh-CN" sz="32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1</a:t>
            </a:r>
            <a:endParaRPr lang="en-US" altLang="zh-CN" sz="32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2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2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1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2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39" grpId="0" bldLvl="0" animBg="1"/>
      <p:bldP spid="43" grpId="0" bldLvl="0" animBg="1"/>
      <p:bldP spid="46" grpId="0" bldLvl="0" animBg="1"/>
      <p:bldP spid="47" grpId="0" bldLvl="0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什么是编程语言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56005" y="3137535"/>
            <a:ext cx="100082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 dirty="0">
                <a:solidFill>
                  <a:srgbClr val="FF0000"/>
                </a:solidFill>
                <a:latin typeface="字语坊腹黑体" panose="02000503000000000000" charset="-122"/>
                <a:ea typeface="字语坊腹黑体" panose="02000503000000000000" charset="-122"/>
                <a:sym typeface="字语坊腹黑体" panose="02000503000000000000" charset="-122"/>
              </a:rPr>
              <a:t>人类翻译官无法沟通，那要怎么做才能和计算机交流呢？</a:t>
            </a:r>
            <a:endParaRPr lang="zh-CN" altLang="en-US" sz="3200" dirty="0">
              <a:solidFill>
                <a:srgbClr val="FF0000"/>
              </a:solidFill>
              <a:latin typeface="字语坊腹黑体" panose="02000503000000000000" charset="-122"/>
              <a:ea typeface="字语坊腹黑体" panose="02000503000000000000" charset="-122"/>
              <a:sym typeface="字语坊腹黑体" panose="02000503000000000000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384040" y="4117975"/>
            <a:ext cx="3351530" cy="87820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b="1">
                <a:latin typeface="阿里巴巴普惠体" panose="00020600040101010101" charset="-122"/>
                <a:ea typeface="阿里巴巴普惠体" panose="00020600040101010101" charset="-122"/>
              </a:rPr>
              <a:t>编程语言</a:t>
            </a:r>
            <a:endParaRPr lang="zh-CN" altLang="en-US" sz="3600" b="1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2510473" y="4329748"/>
            <a:ext cx="2238375" cy="2238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 flipH="1">
            <a:off x="7433628" y="4329748"/>
            <a:ext cx="2238375" cy="2238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>
                <a:solidFill>
                  <a:srgbClr val="262626"/>
                </a:solidFill>
                <a:ea typeface="Alibaba PuHuiTi R" pitchFamily="18" charset="-122"/>
              </a:rPr>
              <a:t>经历时代及代表语言</a:t>
            </a:r>
            <a:endParaRPr lang="en-US" altLang="zh-CN" sz="20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2169881" y="2067944"/>
            <a:ext cx="1612201" cy="1612201"/>
          </a:xfrm>
          <a:prstGeom prst="ellipse">
            <a:avLst/>
          </a:prstGeom>
          <a:solidFill>
            <a:srgbClr val="AD2B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dirty="0">
                <a:solidFill>
                  <a:schemeClr val="bg1"/>
                </a:solidFill>
                <a:ea typeface="Alibaba PuHuiTi R" pitchFamily="18" charset="-122"/>
              </a:rPr>
              <a:t>低级语言</a:t>
            </a:r>
            <a:endParaRPr lang="zh-CN" altLang="en-US" sz="2800" b="1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Bebas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910179" y="2067944"/>
            <a:ext cx="1612201" cy="1612201"/>
          </a:xfrm>
          <a:prstGeom prst="ellipse">
            <a:avLst/>
          </a:prstGeom>
          <a:solidFill>
            <a:srgbClr val="49504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dirty="0">
                <a:solidFill>
                  <a:schemeClr val="bg1"/>
                </a:solidFill>
                <a:ea typeface="Alibaba PuHuiTi R" pitchFamily="18" charset="-122"/>
              </a:rPr>
              <a:t>高级语言</a:t>
            </a:r>
            <a:endParaRPr lang="zh-CN" altLang="en-US" sz="2800" b="1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Bebas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7650476" y="2067944"/>
            <a:ext cx="1612201" cy="1612201"/>
          </a:xfrm>
          <a:prstGeom prst="ellipse">
            <a:avLst/>
          </a:prstGeom>
          <a:solidFill>
            <a:srgbClr val="AD2B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dirty="0">
                <a:solidFill>
                  <a:schemeClr val="bg1"/>
                </a:solidFill>
                <a:ea typeface="Alibaba PuHuiTi R" pitchFamily="18" charset="-122"/>
              </a:rPr>
              <a:t>面向对象</a:t>
            </a:r>
            <a:endParaRPr lang="zh-CN" altLang="en-US" sz="2800" b="1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Beba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23388" y="3982999"/>
            <a:ext cx="2102967" cy="546230"/>
          </a:xfrm>
          <a:prstGeom prst="rect">
            <a:avLst/>
          </a:prstGeom>
          <a:solidFill>
            <a:srgbClr val="AD2B2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ea typeface="Alibaba PuHuiTi R" pitchFamily="18" charset="-122"/>
              </a:rPr>
              <a:t>1946</a:t>
            </a:r>
            <a:r>
              <a:rPr lang="zh-CN" altLang="en-US" dirty="0">
                <a:solidFill>
                  <a:schemeClr val="bg1"/>
                </a:solidFill>
                <a:ea typeface="Alibaba PuHuiTi R" pitchFamily="18" charset="-122"/>
              </a:rPr>
              <a:t>－</a:t>
            </a:r>
            <a:r>
              <a:rPr lang="en-US" altLang="zh-CN" dirty="0">
                <a:solidFill>
                  <a:schemeClr val="bg1"/>
                </a:solidFill>
                <a:ea typeface="Alibaba PuHuiTi R" pitchFamily="18" charset="-122"/>
              </a:rPr>
              <a:t>1953</a:t>
            </a:r>
            <a:endParaRPr lang="zh-CN" altLang="en-US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663686" y="3982999"/>
            <a:ext cx="2105188" cy="546230"/>
          </a:xfrm>
          <a:prstGeom prst="rect">
            <a:avLst/>
          </a:prstGeom>
          <a:solidFill>
            <a:srgbClr val="49504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ea typeface="Alibaba PuHuiTi R" pitchFamily="18" charset="-122"/>
              </a:rPr>
              <a:t>1954</a:t>
            </a:r>
            <a:r>
              <a:rPr lang="zh-CN" altLang="en-US" dirty="0">
                <a:solidFill>
                  <a:schemeClr val="bg1"/>
                </a:solidFill>
                <a:ea typeface="Alibaba PuHuiTi R" pitchFamily="18" charset="-122"/>
              </a:rPr>
              <a:t>－至今</a:t>
            </a:r>
            <a:endParaRPr lang="zh-CN" altLang="en-US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403983" y="3982999"/>
            <a:ext cx="2105188" cy="546230"/>
          </a:xfrm>
          <a:prstGeom prst="rect">
            <a:avLst/>
          </a:prstGeom>
          <a:solidFill>
            <a:srgbClr val="AD2B2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ea typeface="Alibaba PuHuiTi R" pitchFamily="18" charset="-122"/>
              </a:rPr>
              <a:t>90</a:t>
            </a:r>
            <a:r>
              <a:rPr lang="zh-CN" altLang="en-US" dirty="0">
                <a:solidFill>
                  <a:schemeClr val="bg1"/>
                </a:solidFill>
                <a:ea typeface="Alibaba PuHuiTi R" pitchFamily="18" charset="-122"/>
              </a:rPr>
              <a:t>年代初－至今</a:t>
            </a:r>
            <a:endParaRPr lang="zh-CN" altLang="en-US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/>
            </a:endParaRPr>
          </a:p>
        </p:txBody>
      </p:sp>
      <p:sp>
        <p:nvSpPr>
          <p:cNvPr id="33" name="TextBox 16"/>
          <p:cNvSpPr txBox="1"/>
          <p:nvPr/>
        </p:nvSpPr>
        <p:spPr>
          <a:xfrm>
            <a:off x="1845945" y="4613275"/>
            <a:ext cx="250507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主要包括被称为“天书”的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机器语言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以及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汇编语言</a:t>
            </a:r>
            <a:endParaRPr lang="zh-CN" altLang="en-US" sz="16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/>
            </a:endParaRPr>
          </a:p>
        </p:txBody>
      </p:sp>
      <p:sp>
        <p:nvSpPr>
          <p:cNvPr id="34" name="TextBox 17"/>
          <p:cNvSpPr txBox="1"/>
          <p:nvPr/>
        </p:nvSpPr>
        <p:spPr>
          <a:xfrm>
            <a:off x="4592840" y="4613415"/>
            <a:ext cx="2273959" cy="132207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数十年来，全世界涌现了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2500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种以上高级语言，一些流行至今，一些则逐渐消失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.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 </a:t>
            </a:r>
            <a:r>
              <a:rPr lang="en-GB" altLang="zh-CN" sz="1600" dirty="0">
                <a:solidFill>
                  <a:srgbClr val="C00000"/>
                </a:solidFill>
                <a:ea typeface="Alibaba PuHuiTi R" pitchFamily="18" charset="-122"/>
              </a:rPr>
              <a:t>C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语言 </a:t>
            </a:r>
            <a:r>
              <a:rPr lang="en-GB" altLang="zh-CN" sz="1600" dirty="0">
                <a:solidFill>
                  <a:srgbClr val="C00000"/>
                </a:solidFill>
                <a:ea typeface="Alibaba PuHuiTi R" pitchFamily="18" charset="-122"/>
              </a:rPr>
              <a:t>BASIC</a:t>
            </a:r>
            <a:endParaRPr lang="en-GB" altLang="zh-CN" sz="1600" dirty="0">
              <a:solidFill>
                <a:srgbClr val="C00000"/>
              </a:solidFill>
              <a:ea typeface="Alibaba PuHuiTi R" pitchFamily="18" charset="-122"/>
            </a:endParaRPr>
          </a:p>
          <a:p>
            <a:r>
              <a:rPr lang="en-GB" altLang="zh-CN" sz="1600" dirty="0">
                <a:solidFill>
                  <a:schemeClr val="tx1"/>
                </a:solidFill>
                <a:ea typeface="Alibaba PuHuiTi R" pitchFamily="18" charset="-122"/>
              </a:rPr>
              <a:t>Fortran</a:t>
            </a:r>
            <a:r>
              <a:rPr lang="zh-CN" altLang="en-US" sz="1600" dirty="0">
                <a:solidFill>
                  <a:schemeClr val="tx1"/>
                </a:solidFill>
                <a:ea typeface="Alibaba PuHuiTi R" pitchFamily="18" charset="-122"/>
              </a:rPr>
              <a:t> </a:t>
            </a:r>
            <a:r>
              <a:rPr lang="en-GB" altLang="zh-CN" sz="1600" dirty="0">
                <a:solidFill>
                  <a:schemeClr val="tx1"/>
                </a:solidFill>
                <a:ea typeface="Alibaba PuHuiTi R" pitchFamily="18" charset="-122"/>
              </a:rPr>
              <a:t>Pascal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等</a:t>
            </a:r>
            <a:endParaRPr lang="zh-CN" altLang="en-US" sz="16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sp>
        <p:nvSpPr>
          <p:cNvPr id="35" name="TextBox 18"/>
          <p:cNvSpPr txBox="1"/>
          <p:nvPr/>
        </p:nvSpPr>
        <p:spPr>
          <a:xfrm>
            <a:off x="7337579" y="4613415"/>
            <a:ext cx="2273959" cy="107721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如今在整个程序设计中十分重要，其最突出的特点为封装性、继承性和多态性</a:t>
            </a:r>
            <a:r>
              <a:rPr lang="en-GB" altLang="zh-CN" sz="1600" dirty="0">
                <a:solidFill>
                  <a:srgbClr val="C00000"/>
                </a:solidFill>
                <a:ea typeface="Alibaba PuHuiTi R" pitchFamily="18" charset="-122"/>
              </a:rPr>
              <a:t>Java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 </a:t>
            </a:r>
            <a:r>
              <a:rPr lang="en-GB" altLang="zh-CN" sz="1600" dirty="0">
                <a:solidFill>
                  <a:srgbClr val="C00000"/>
                </a:solidFill>
                <a:ea typeface="Alibaba PuHuiTi R" pitchFamily="18" charset="-122"/>
              </a:rPr>
              <a:t>Python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 </a:t>
            </a:r>
            <a:r>
              <a:rPr lang="zh-CN" altLang="en-GB" sz="1600" dirty="0">
                <a:solidFill>
                  <a:srgbClr val="262626"/>
                </a:solidFill>
                <a:ea typeface="Alibaba PuHuiTi R" pitchFamily="18" charset="-122"/>
              </a:rPr>
              <a:t>等</a:t>
            </a:r>
            <a:endParaRPr lang="zh-CN" altLang="en-US" sz="16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0880" y="1457271"/>
            <a:ext cx="5314275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编程语言一般分为：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低级语言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、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高级语言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和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面向对象时代</a:t>
            </a:r>
            <a:endParaRPr lang="en-US" altLang="zh-CN" sz="1600" dirty="0">
              <a:solidFill>
                <a:srgbClr val="C00000"/>
              </a:solidFill>
              <a:ea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32313536323733373b32313536323733353bbcc6cbe3bbfabdccd1a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3320" y="2555875"/>
            <a:ext cx="2370455" cy="2370455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什么是编程语言</a:t>
            </a:r>
            <a:endParaRPr lang="zh-CN" altLang="en-US"/>
          </a:p>
        </p:txBody>
      </p:sp>
      <p:sp>
        <p:nvSpPr>
          <p:cNvPr id="36" name="文本占位符 2"/>
          <p:cNvSpPr>
            <a:spLocks noGrp="1"/>
          </p:cNvSpPr>
          <p:nvPr/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以</a:t>
            </a:r>
            <a:r>
              <a:rPr lang="en-US" altLang="zh-CN"/>
              <a:t>Python</a:t>
            </a:r>
            <a:r>
              <a:rPr lang="zh-CN" altLang="en-US"/>
              <a:t>为例</a:t>
            </a:r>
            <a:endParaRPr lang="zh-CN" altLang="en-US"/>
          </a:p>
        </p:txBody>
      </p:sp>
      <p:pic>
        <p:nvPicPr>
          <p:cNvPr id="37" name="图片 36" descr="01 (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15" y="2689860"/>
            <a:ext cx="2317115" cy="2317115"/>
          </a:xfrm>
          <a:prstGeom prst="rect">
            <a:avLst/>
          </a:prstGeom>
        </p:spPr>
      </p:pic>
      <p:sp>
        <p:nvSpPr>
          <p:cNvPr id="39" name="云形标注 38"/>
          <p:cNvSpPr/>
          <p:nvPr/>
        </p:nvSpPr>
        <p:spPr>
          <a:xfrm>
            <a:off x="2820670" y="2333625"/>
            <a:ext cx="2223135" cy="775970"/>
          </a:xfrm>
          <a:prstGeom prst="cloudCallout">
            <a:avLst>
              <a:gd name="adj1" fmla="val -38232"/>
              <a:gd name="adj2" fmla="val 5777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/>
              <a:t>print(“</a:t>
            </a:r>
            <a:r>
              <a:rPr lang="zh-CN" altLang="en-US" sz="1600"/>
              <a:t>你很帅</a:t>
            </a:r>
            <a:r>
              <a:rPr lang="en-US" altLang="zh-CN" sz="1600"/>
              <a:t>”)</a:t>
            </a:r>
            <a:endParaRPr lang="en-US" altLang="zh-CN" sz="1600"/>
          </a:p>
        </p:txBody>
      </p:sp>
      <p:sp>
        <p:nvSpPr>
          <p:cNvPr id="41" name="文本框 40"/>
          <p:cNvSpPr txBox="1"/>
          <p:nvPr/>
        </p:nvSpPr>
        <p:spPr>
          <a:xfrm>
            <a:off x="9182100" y="4926330"/>
            <a:ext cx="1572895" cy="337185"/>
          </a:xfrm>
          <a:prstGeom prst="rect">
            <a:avLst/>
          </a:prstGeom>
          <a:noFill/>
        </p:spPr>
        <p:txBody>
          <a:bodyPr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计算机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sp>
        <p:nvSpPr>
          <p:cNvPr id="43" name="云形标注 42"/>
          <p:cNvSpPr/>
          <p:nvPr/>
        </p:nvSpPr>
        <p:spPr>
          <a:xfrm>
            <a:off x="6459220" y="2253615"/>
            <a:ext cx="1901190" cy="775970"/>
          </a:xfrm>
          <a:prstGeom prst="cloudCallout">
            <a:avLst>
              <a:gd name="adj1" fmla="val -38232"/>
              <a:gd name="adj2" fmla="val 577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010101</a:t>
            </a:r>
            <a:endParaRPr lang="en-US"/>
          </a:p>
          <a:p>
            <a:pPr algn="ctr"/>
            <a:r>
              <a:rPr lang="en-US"/>
              <a:t>101010</a:t>
            </a:r>
            <a:endParaRPr lang="en-US"/>
          </a:p>
        </p:txBody>
      </p:sp>
      <p:sp>
        <p:nvSpPr>
          <p:cNvPr id="48" name="文本框 47"/>
          <p:cNvSpPr txBox="1"/>
          <p:nvPr/>
        </p:nvSpPr>
        <p:spPr>
          <a:xfrm>
            <a:off x="5309870" y="4669790"/>
            <a:ext cx="1572895" cy="337185"/>
          </a:xfrm>
          <a:prstGeom prst="rect">
            <a:avLst/>
          </a:prstGeom>
          <a:noFill/>
        </p:spPr>
        <p:txBody>
          <a:bodyPr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翻译程序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85910" y="2952750"/>
            <a:ext cx="1952625" cy="706755"/>
          </a:xfrm>
          <a:prstGeom prst="rect">
            <a:avLst/>
          </a:prstGeom>
          <a:noFill/>
          <a:scene3d>
            <a:camera prst="orthographicFront">
              <a:rot lat="600000" lon="3900000" rev="0"/>
            </a:camera>
            <a:lightRig rig="threePt" dir="t"/>
          </a:scene3d>
        </p:spPr>
        <p:txBody>
          <a:bodyPr wrap="squar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solidFill>
                  <a:schemeClr val="accent2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你很帅</a:t>
            </a:r>
            <a:endParaRPr lang="zh-CN" altLang="en-US" sz="4000" b="1" dirty="0">
              <a:solidFill>
                <a:schemeClr val="accent2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10" name="图片 9" descr="32303236333630353b32303236333832363bb3ccd0f2b4fac2eb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96840" y="3109595"/>
            <a:ext cx="1798955" cy="179895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8360410" y="2253615"/>
            <a:ext cx="2120265" cy="1375410"/>
            <a:chOff x="13166" y="3549"/>
            <a:chExt cx="3339" cy="2166"/>
          </a:xfrm>
        </p:grpSpPr>
        <p:sp>
          <p:nvSpPr>
            <p:cNvPr id="11" name="云形标注 10"/>
            <p:cNvSpPr/>
            <p:nvPr/>
          </p:nvSpPr>
          <p:spPr>
            <a:xfrm>
              <a:off x="13166" y="3549"/>
              <a:ext cx="2994" cy="1222"/>
            </a:xfrm>
            <a:prstGeom prst="cloudCallout">
              <a:avLst>
                <a:gd name="adj1" fmla="val 12591"/>
                <a:gd name="adj2" fmla="val 61538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？？？？？</a:t>
              </a:r>
              <a:endParaRPr lang="zh-CN" altLang="en-US"/>
            </a:p>
          </p:txBody>
        </p:sp>
        <p:pic>
          <p:nvPicPr>
            <p:cNvPr id="12" name="图片 11" descr="31393935333435393b31393936353535363bcecabac5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561" y="4771"/>
              <a:ext cx="945" cy="945"/>
            </a:xfrm>
            <a:prstGeom prst="rect">
              <a:avLst/>
            </a:prstGeom>
            <a:scene3d>
              <a:camera prst="orthographicFront">
                <a:rot lat="0" lon="3600000" rev="0"/>
              </a:camera>
              <a:lightRig rig="threePt" dir="t"/>
            </a:scene3d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8" grpId="0"/>
      <p:bldP spid="43" grpId="0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28870" y="2810510"/>
            <a:ext cx="5234940" cy="619760"/>
          </a:xfrm>
        </p:spPr>
        <p:txBody>
          <a:bodyPr/>
          <a:p>
            <a:pPr marL="0" indent="0" algn="l">
              <a:buNone/>
            </a:pPr>
            <a:r>
              <a:rPr lang="zh-CN" altLang="en-US"/>
              <a:t>在屏幕上显示你好帅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928870" y="2408555"/>
            <a:ext cx="1040130" cy="5626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中文</a:t>
            </a:r>
            <a:endParaRPr lang="zh-CN" altLang="en-US" sz="2000" b="1"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sp>
        <p:nvSpPr>
          <p:cNvPr id="3" name="文本占位符 1"/>
          <p:cNvSpPr>
            <a:spLocks noGrp="1"/>
          </p:cNvSpPr>
          <p:nvPr/>
        </p:nvSpPr>
        <p:spPr>
          <a:xfrm>
            <a:off x="4879975" y="1189990"/>
            <a:ext cx="6661150" cy="153479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为什么不直接把中文翻译成二进制呢？</a:t>
            </a:r>
            <a:endParaRPr lang="zh-CN" altLang="en-US"/>
          </a:p>
        </p:txBody>
      </p:sp>
      <p:sp>
        <p:nvSpPr>
          <p:cNvPr id="4" name="文本占位符 1"/>
          <p:cNvSpPr>
            <a:spLocks noGrp="1"/>
          </p:cNvSpPr>
          <p:nvPr/>
        </p:nvSpPr>
        <p:spPr>
          <a:xfrm>
            <a:off x="4928870" y="3318510"/>
            <a:ext cx="5234940" cy="61976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zh-CN" altLang="en-US"/>
              <a:t>把你好帅显示在屏幕上</a:t>
            </a:r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/>
        </p:nvSpPr>
        <p:spPr>
          <a:xfrm>
            <a:off x="4928870" y="3843020"/>
            <a:ext cx="5234940" cy="61976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zh-CN" altLang="en-US"/>
              <a:t>快夸我帅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928870" y="4462780"/>
            <a:ext cx="1040130" cy="5626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Python</a:t>
            </a:r>
            <a:endParaRPr lang="en-US" altLang="zh-CN" sz="2000" b="1"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sp>
        <p:nvSpPr>
          <p:cNvPr id="7" name="文本占位符 1"/>
          <p:cNvSpPr>
            <a:spLocks noGrp="1"/>
          </p:cNvSpPr>
          <p:nvPr/>
        </p:nvSpPr>
        <p:spPr>
          <a:xfrm>
            <a:off x="4928870" y="5025390"/>
            <a:ext cx="5234940" cy="61976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zh-CN" b="1">
                <a:solidFill>
                  <a:schemeClr val="accent3"/>
                </a:solidFill>
              </a:rPr>
              <a:t>print(“</a:t>
            </a:r>
            <a:r>
              <a:rPr lang="zh-CN" altLang="en-US" b="1">
                <a:solidFill>
                  <a:schemeClr val="accent3"/>
                </a:solidFill>
              </a:rPr>
              <a:t>你好帅</a:t>
            </a:r>
            <a:r>
              <a:rPr lang="en-US" altLang="zh-CN" b="1">
                <a:solidFill>
                  <a:schemeClr val="accent3"/>
                </a:solidFill>
              </a:rPr>
              <a:t>”)</a:t>
            </a:r>
            <a:endParaRPr lang="en-US" altLang="zh-CN" b="1">
              <a:solidFill>
                <a:schemeClr val="accent3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9480" y="4027805"/>
            <a:ext cx="3292475" cy="161734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自然语言远比编程语言复杂</a:t>
            </a:r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zh-CN" altLang="en-US"/>
              <a:t>编程语言语法</a:t>
            </a:r>
            <a:r>
              <a:rPr lang="en-US" altLang="zh-CN"/>
              <a:t>”</a:t>
            </a:r>
            <a:r>
              <a:rPr lang="zh-CN" altLang="en-US"/>
              <a:t>死板</a:t>
            </a:r>
            <a:r>
              <a:rPr lang="en-US" altLang="zh-CN"/>
              <a:t>”</a:t>
            </a:r>
            <a:endParaRPr lang="en-US" altLang="zh-CN"/>
          </a:p>
          <a:p>
            <a:pPr algn="ctr"/>
            <a:r>
              <a:rPr lang="en-US" altLang="zh-CN"/>
              <a:t>“</a:t>
            </a:r>
            <a:r>
              <a:rPr lang="zh-CN" altLang="en-US"/>
              <a:t>翻译官</a:t>
            </a:r>
            <a:r>
              <a:rPr lang="en-US" altLang="zh-CN"/>
              <a:t>”</a:t>
            </a:r>
            <a:r>
              <a:rPr lang="zh-CN" altLang="en-US"/>
              <a:t>更容易翻译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" grpId="0" build="p"/>
      <p:bldP spid="2" grpId="1" build="p"/>
      <p:bldP spid="4" grpId="0"/>
      <p:bldP spid="4" grpId="1"/>
      <p:bldP spid="5" grpId="0"/>
      <p:bldP spid="5" grpId="1"/>
      <p:bldP spid="6" grpId="0" animBg="1"/>
      <p:bldP spid="6" grpId="1" animBg="1"/>
      <p:bldP spid="7" grpId="0"/>
      <p:bldP spid="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034280" y="1780540"/>
            <a:ext cx="6506210" cy="3662045"/>
          </a:xfrm>
        </p:spPr>
        <p:txBody>
          <a:bodyPr/>
          <a:lstStyle/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1. </a:t>
            </a:r>
            <a:r>
              <a:rPr lang="zh-CN" altLang="en-US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什么是编程语言？</a:t>
            </a:r>
            <a:endParaRPr lang="zh-CN" altLang="en-US" dirty="0">
              <a:solidFill>
                <a:schemeClr val="tx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accent2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charset="-122"/>
                <a:sym typeface="纤黑体" panose="02000000000000000000" charset="-122"/>
              </a:rPr>
              <a:t>人类和计算机交流的一种专有领域语言</a:t>
            </a:r>
            <a:endParaRPr lang="zh-CN" altLang="en-US" dirty="0">
              <a:solidFill>
                <a:schemeClr val="accent2"/>
              </a:solidFill>
              <a:latin typeface="纤黑体" panose="02000000000000000000" charset="-122"/>
              <a:ea typeface="纤黑体" panose="02000000000000000000" charset="-122"/>
              <a:cs typeface="阿里巴巴普惠体" panose="00020600040101010101" charset="-122"/>
              <a:sym typeface="纤黑体" panose="02000000000000000000" charset="-122"/>
            </a:endParaRPr>
          </a:p>
          <a:p>
            <a:pPr lvl="1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altLang="zh-CN" sz="18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</a:t>
            </a:r>
            <a:r>
              <a:rPr lang="zh-CN" altLang="en-US" sz="18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. 编程语言的工作原理？</a:t>
            </a:r>
            <a:endParaRPr lang="zh-CN" altLang="en-US" sz="18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lvl="1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1800" dirty="0">
                <a:solidFill>
                  <a:schemeClr val="accent2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charset="-122"/>
                <a:sym typeface="纤黑体" panose="02000000000000000000" charset="-122"/>
              </a:rPr>
              <a:t>把想法转换为编程语言代码</a:t>
            </a:r>
            <a:endParaRPr lang="zh-CN" altLang="en-US" sz="1800" dirty="0">
              <a:solidFill>
                <a:schemeClr val="accent2"/>
              </a:solidFill>
              <a:latin typeface="纤黑体" panose="02000000000000000000" charset="-122"/>
              <a:ea typeface="纤黑体" panose="02000000000000000000" charset="-122"/>
              <a:cs typeface="阿里巴巴普惠体" panose="00020600040101010101" charset="-122"/>
              <a:sym typeface="纤黑体" panose="02000000000000000000" charset="-122"/>
            </a:endParaRPr>
          </a:p>
          <a:p>
            <a:pPr lvl="1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1800" dirty="0">
                <a:solidFill>
                  <a:schemeClr val="accent2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charset="-122"/>
                <a:sym typeface="纤黑体" panose="02000000000000000000" charset="-122"/>
              </a:rPr>
              <a:t>通过翻译官（解释器）翻译成二进制提交计算机执行</a:t>
            </a:r>
            <a:endParaRPr lang="zh-CN" altLang="en-US" sz="1800" dirty="0">
              <a:solidFill>
                <a:schemeClr val="accent2"/>
              </a:solidFill>
              <a:latin typeface="纤黑体" panose="02000000000000000000" charset="-122"/>
              <a:ea typeface="纤黑体" panose="02000000000000000000" charset="-122"/>
              <a:cs typeface="阿里巴巴普惠体" panose="00020600040101010101" charset="-122"/>
              <a:sym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39055" y="1267460"/>
            <a:ext cx="5760720" cy="955040"/>
          </a:xfrm>
        </p:spPr>
        <p:txBody>
          <a:bodyPr/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  <a:sym typeface="纤黑体" panose="02000000000000000000" charset="-122"/>
              </a:rPr>
              <a:t>0</a:t>
            </a:r>
            <a:r>
              <a:rPr lang="zh-CN" altLang="en-US" b="1">
                <a:solidFill>
                  <a:srgbClr val="FF0000"/>
                </a:solidFill>
                <a:sym typeface="纤黑体" panose="02000000000000000000" charset="-122"/>
              </a:rPr>
              <a:t>和</a:t>
            </a:r>
            <a:r>
              <a:rPr lang="en-US" altLang="zh-CN" b="1">
                <a:solidFill>
                  <a:srgbClr val="FF0000"/>
                </a:solidFill>
                <a:sym typeface="纤黑体" panose="02000000000000000000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sym typeface="纤黑体" panose="02000000000000000000" charset="-122"/>
              </a:rPr>
              <a:t>的二进制，真的能保存数据吗？</a:t>
            </a:r>
            <a:endParaRPr lang="zh-CN" altLang="en-US" b="1">
              <a:solidFill>
                <a:srgbClr val="FF0000"/>
              </a:solidFill>
              <a:sym typeface="纤黑体" panose="02000000000000000000" charset="-122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sym typeface="纤黑体" panose="02000000000000000000" charset="-122"/>
              </a:rPr>
              <a:t>大家何不亲自动手尝试一下？</a:t>
            </a:r>
            <a:endParaRPr lang="zh-CN" altLang="en-US" b="1">
              <a:solidFill>
                <a:srgbClr val="FF0000"/>
              </a:solidFill>
              <a:sym typeface="纤黑体" panose="02000000000000000000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5554980" y="2348230"/>
            <a:ext cx="4619625" cy="18148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algn="l"/>
            <a:r>
              <a:rPr sz="1400" b="1">
                <a:solidFill>
                  <a:schemeClr val="tx1"/>
                </a:solidFill>
                <a:latin typeface="Alibaba PuHuiTi Bold" panose="00020600040101010101" charset="-122"/>
                <a:ea typeface="Alibaba PuHuiTi Bold" panose="00020600040101010101" charset="-122"/>
                <a:sym typeface="+mn-ea"/>
              </a:rPr>
              <a:t>111001011010110110100110 01001001 01010100 111001101001110110100101 111010011011101110010001 111010011010100110101100 00101100 111001101001011010001100 111001011001001110100101 111001011011100010100110 111001001011110110100000 111010011010101110011000 111010001001011010101010 111001011011000010110001 111001001011100010011010 00100001 00100001 00100001 </a:t>
            </a:r>
            <a:r>
              <a:rPr lang="en-US" sz="1400" b="1">
                <a:solidFill>
                  <a:schemeClr val="tx1"/>
                </a:solidFill>
                <a:latin typeface="Alibaba PuHuiTi Bold" panose="00020600040101010101" charset="-122"/>
                <a:ea typeface="Alibaba PuHuiTi Bold" panose="00020600040101010101" charset="-122"/>
                <a:sym typeface="+mn-ea"/>
              </a:rPr>
              <a:t> </a:t>
            </a:r>
            <a:endParaRPr lang="en-US" sz="1400" b="1">
              <a:solidFill>
                <a:schemeClr val="tx1"/>
              </a:solidFill>
              <a:latin typeface="Alibaba PuHuiTi Bold" panose="00020600040101010101" charset="-122"/>
              <a:ea typeface="Alibaba PuHuiTi Bold" panose="00020600040101010101" charset="-122"/>
              <a:sym typeface="+mn-ea"/>
            </a:endParaRPr>
          </a:p>
        </p:txBody>
      </p:sp>
      <p:sp>
        <p:nvSpPr>
          <p:cNvPr id="3" name="文本框 2" descr="7b0a20202020227461726765744d6f64756c65223a202270726f636573734f6e6c696e65466f6e7473220a7d0a"/>
          <p:cNvSpPr txBox="1"/>
          <p:nvPr/>
        </p:nvSpPr>
        <p:spPr>
          <a:xfrm>
            <a:off x="425450" y="4899025"/>
            <a:ext cx="5361940" cy="12604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字语坊腹黑体" panose="02000503000000000000" charset="-122"/>
                <a:ea typeface="字语坊腹黑体" panose="02000503000000000000" charset="-122"/>
                <a:sym typeface="纤黑体" panose="02000000000000000000" charset="-122"/>
              </a:rPr>
              <a:t>百度搜索：</a:t>
            </a:r>
            <a:endParaRPr lang="zh-CN" altLang="en-US" sz="2000" b="1" dirty="0">
              <a:solidFill>
                <a:srgbClr val="FF0000"/>
              </a:solidFill>
              <a:latin typeface="字语坊腹黑体" panose="02000503000000000000" charset="-122"/>
              <a:ea typeface="字语坊腹黑体" panose="02000503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字语坊腹黑体" panose="02000503000000000000" charset="-122"/>
                <a:ea typeface="字语坊腹黑体" panose="02000503000000000000" charset="-122"/>
                <a:sym typeface="纤黑体" panose="02000000000000000000" charset="-122"/>
              </a:rPr>
              <a:t>二进制转中文</a:t>
            </a:r>
            <a:endParaRPr lang="zh-CN" altLang="en-US" sz="2000" b="1" dirty="0">
              <a:solidFill>
                <a:srgbClr val="FF0000"/>
              </a:solidFill>
              <a:latin typeface="字语坊腹黑体" panose="02000503000000000000" charset="-122"/>
              <a:ea typeface="字语坊腹黑体" panose="02000503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00B0F0"/>
                </a:solidFill>
                <a:latin typeface="字语坊腹黑体" panose="02000503000000000000" charset="-122"/>
                <a:ea typeface="字语坊腹黑体" panose="02000503000000000000" charset="-122"/>
                <a:sym typeface="纤黑体" panose="02000000000000000000" charset="-122"/>
              </a:rPr>
              <a:t>https://www.qqxiuzi.cn/bianma/erjinzhi.php</a:t>
            </a:r>
            <a:endParaRPr lang="zh-CN" altLang="en-US" b="1" dirty="0">
              <a:solidFill>
                <a:srgbClr val="00B0F0"/>
              </a:solidFill>
              <a:latin typeface="字语坊腹黑体" panose="02000503000000000000" charset="-122"/>
              <a:ea typeface="字语坊腹黑体" panose="02000503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语坊腹黑体" panose="02000503000000000000" charset="-122"/>
                <a:ea typeface="字语坊腹黑体" panose="02000503000000000000" charset="-122"/>
                <a:sym typeface="字语坊腹黑体" panose="02000503000000000000" charset="-122"/>
              </a:rPr>
              <a:t>大家试一试，这个二进制保存了什么信息？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字语坊腹黑体" panose="02000503000000000000" charset="-122"/>
              <a:ea typeface="字语坊腹黑体" panose="02000503000000000000" charset="-122"/>
              <a:sym typeface="字语坊腹黑体" panose="02000503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980" y="4288790"/>
            <a:ext cx="5092700" cy="2244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dirty="0">
                <a:solidFill>
                  <a:schemeClr val="tx1"/>
                </a:solidFill>
                <a:sym typeface="+mn-ea"/>
              </a:rPr>
              <a:t>初识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什么是编程语言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AD2B26"/>
                </a:solidFill>
                <a:sym typeface="+mn-ea"/>
              </a:rPr>
              <a:t>第一个</a:t>
            </a:r>
            <a:r>
              <a:rPr lang="en-US" altLang="zh-CN" dirty="0">
                <a:solidFill>
                  <a:srgbClr val="AD2B26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rgbClr val="AD2B26"/>
                </a:solidFill>
                <a:sym typeface="+mn-ea"/>
              </a:rPr>
              <a:t>程序</a:t>
            </a:r>
            <a:endParaRPr lang="zh-CN" altLang="en-US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331724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67275" y="1208405"/>
            <a:ext cx="6298565" cy="3023870"/>
          </a:xfrm>
        </p:spPr>
        <p:txBody>
          <a:bodyPr/>
          <a:p>
            <a:pPr marL="0" indent="0">
              <a:buNone/>
            </a:pPr>
            <a:r>
              <a:rPr lang="zh-CN" dirty="0">
                <a:solidFill>
                  <a:schemeClr val="tx1"/>
                </a:solidFill>
                <a:sym typeface="+mn-ea"/>
              </a:rPr>
              <a:t>开发出第一个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程序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第一个</a:t>
            </a:r>
            <a:r>
              <a:rPr lang="en-US" altLang="zh-CN"/>
              <a:t>Python</a:t>
            </a:r>
            <a:r>
              <a:t>程序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48200"/>
          </a:xfrm>
        </p:spPr>
        <p:txBody>
          <a:bodyPr/>
          <a:p>
            <a:r>
              <a:rPr lang="zh-CN" altLang="en-US"/>
              <a:t>向世界说你好</a:t>
            </a:r>
            <a:r>
              <a:rPr lang="en-US" altLang="zh-CN"/>
              <a:t>,</a:t>
            </a:r>
            <a:r>
              <a:rPr lang="zh-CN" altLang="en-US"/>
              <a:t>是所有程序员在入门编程语言时，都会选择的第一个程序。</a:t>
            </a:r>
            <a:endParaRPr lang="zh-CN" altLang="en-US"/>
          </a:p>
          <a:p>
            <a:r>
              <a:rPr lang="zh-CN" altLang="en-US"/>
              <a:t>让我们也延续这一份来自程序员之间的浪漫，学习如何使用</a:t>
            </a:r>
            <a:r>
              <a:rPr lang="en-US" altLang="zh-CN"/>
              <a:t>Python</a:t>
            </a:r>
            <a:r>
              <a:rPr lang="zh-CN" altLang="en-US"/>
              <a:t>，向世界说你好。</a:t>
            </a:r>
            <a:endParaRPr lang="zh-CN" altLang="en-US"/>
          </a:p>
          <a:p>
            <a:r>
              <a:rPr lang="zh-CN" altLang="en-US"/>
              <a:t>我们的</a:t>
            </a:r>
            <a:r>
              <a:rPr lang="en-US" altLang="zh-CN"/>
              <a:t>Python</a:t>
            </a:r>
            <a:r>
              <a:rPr lang="zh-CN" altLang="en-US"/>
              <a:t>代码非常简单，如下：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含义：向屏幕上输出（显示），</a:t>
            </a:r>
            <a:r>
              <a:rPr lang="en-US" altLang="zh-CN"/>
              <a:t>Hello World!!!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796290" y="3124200"/>
            <a:ext cx="3151505" cy="34734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print(</a:t>
            </a:r>
            <a:r>
              <a:rPr lang="zh-CN" altLang="en-US">
                <a:sym typeface="+mn-ea"/>
              </a:rPr>
              <a:t>“</a:t>
            </a:r>
            <a:r>
              <a:rPr lang="en-US" altLang="zh-CN">
                <a:sym typeface="+mn-ea"/>
              </a:rPr>
              <a:t>Hello World!!!</a:t>
            </a:r>
            <a:r>
              <a:rPr lang="zh-CN" altLang="en-US">
                <a:sym typeface="+mn-ea"/>
              </a:rPr>
              <a:t>”</a:t>
            </a:r>
            <a:r>
              <a:rPr lang="en-US" altLang="zh-CN">
                <a:sym typeface="+mn-ea"/>
              </a:rPr>
              <a:t>)</a:t>
            </a:r>
            <a:endParaRPr lang="zh-CN" altLang="en-US"/>
          </a:p>
        </p:txBody>
      </p:sp>
      <p:pic>
        <p:nvPicPr>
          <p:cNvPr id="12" name="图片 11" descr="1999524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4865" y="5640070"/>
            <a:ext cx="469265" cy="4692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516380" y="5772150"/>
            <a:ext cx="453453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Regular" panose="00020600040101010101" charset="-122"/>
              </a:rPr>
              <a:t>注意</a:t>
            </a:r>
            <a:r>
              <a:rPr lang="zh-CN" altLang="en-US" sz="1600" dirty="0">
                <a:solidFill>
                  <a:schemeClr val="tx1"/>
                </a:solidFill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：输入的双引号和括号，请使用</a:t>
            </a:r>
            <a:r>
              <a:rPr lang="zh-CN" altLang="en-US" sz="1600" b="1" dirty="0">
                <a:solidFill>
                  <a:srgbClr val="FF0000"/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Regular" panose="00020600040101010101" charset="-122"/>
              </a:rPr>
              <a:t>英文符号</a:t>
            </a:r>
            <a:r>
              <a:rPr lang="zh-CN" altLang="en-US" sz="1600" dirty="0">
                <a:solidFill>
                  <a:schemeClr val="tx1"/>
                </a:solidFill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哦</a:t>
            </a:r>
            <a:endParaRPr lang="zh-CN" altLang="en-US" sz="1600" dirty="0">
              <a:solidFill>
                <a:schemeClr val="tx1"/>
              </a:solidFill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</p:txBody>
      </p:sp>
      <p:pic>
        <p:nvPicPr>
          <p:cNvPr id="4" name="图片 3" descr="01 (13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729595" y="5449570"/>
            <a:ext cx="1349375" cy="1349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3" grpId="0"/>
      <p:bldP spid="1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CMD</a:t>
            </a:r>
            <a:r>
              <a:t>黑窗口编写</a:t>
            </a:r>
            <a:r>
              <a:rPr lang="en-US" altLang="zh-CN"/>
              <a:t>python</a:t>
            </a:r>
            <a:r>
              <a:t>程序</a:t>
            </a:r>
          </a:p>
        </p:txBody>
      </p:sp>
      <p:pic>
        <p:nvPicPr>
          <p:cNvPr id="4" name="图片 3" descr="01 (131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10861040" y="5581015"/>
            <a:ext cx="1217930" cy="1217930"/>
          </a:xfrm>
          <a:prstGeom prst="rect">
            <a:avLst/>
          </a:prstGeom>
        </p:spPr>
      </p:pic>
      <p:sp>
        <p:nvSpPr>
          <p:cNvPr id="6" name="文本占位符 2"/>
          <p:cNvSpPr>
            <a:spLocks noGrp="1"/>
          </p:cNvSpPr>
          <p:nvPr/>
        </p:nvSpPr>
        <p:spPr>
          <a:xfrm>
            <a:off x="2195450" y="1348660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首先使用快捷键：</a:t>
            </a:r>
            <a:r>
              <a:rPr lang="en-US" altLang="zh-CN"/>
              <a:t>win + r   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打开运行框，输入</a:t>
            </a:r>
            <a:r>
              <a:rPr lang="en-US" altLang="zh-CN"/>
              <a:t>cmd</a:t>
            </a:r>
            <a:r>
              <a:rPr lang="zh-CN" altLang="en-US"/>
              <a:t>后回车即可打开命令提示符程序</a:t>
            </a:r>
            <a:endParaRPr lang="zh-CN" altLang="en-US"/>
          </a:p>
          <a:p>
            <a:r>
              <a:rPr lang="zh-CN" altLang="en-US"/>
              <a:t>然后输入</a:t>
            </a:r>
            <a:r>
              <a:rPr lang="en-US" altLang="zh-CN"/>
              <a:t>:cmd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94255" y="1854835"/>
            <a:ext cx="6715125" cy="1955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94255" y="4310380"/>
            <a:ext cx="3716020" cy="2142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CMD</a:t>
            </a:r>
            <a:r>
              <a:rPr>
                <a:sym typeface="+mn-ea"/>
              </a:rPr>
              <a:t>黑窗口编写</a:t>
            </a:r>
            <a:r>
              <a:rPr lang="en-US" altLang="zh-CN">
                <a:sym typeface="+mn-ea"/>
              </a:rPr>
              <a:t>python</a:t>
            </a:r>
            <a:r>
              <a:rPr>
                <a:sym typeface="+mn-ea"/>
              </a:rPr>
              <a:t>程序</a:t>
            </a:r>
            <a:endParaRPr>
              <a:sym typeface="+mn-ea"/>
            </a:endParaRPr>
          </a:p>
        </p:txBody>
      </p:sp>
      <p:pic>
        <p:nvPicPr>
          <p:cNvPr id="4" name="图片 3" descr="01 (13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861040" y="5581015"/>
            <a:ext cx="1217930" cy="12179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85" y="3432175"/>
            <a:ext cx="9324340" cy="18281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00785" y="1664970"/>
            <a:ext cx="8756015" cy="195770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ym typeface="+mn-ea"/>
              </a:rPr>
              <a:t>打开</a:t>
            </a:r>
            <a:r>
              <a:rPr lang="en-US" altLang="zh-CN" sz="2000">
                <a:sym typeface="+mn-ea"/>
              </a:rPr>
              <a:t>CMD</a:t>
            </a:r>
            <a:r>
              <a:rPr lang="zh-CN" altLang="en-US" sz="2000">
                <a:sym typeface="+mn-ea"/>
              </a:rPr>
              <a:t>（命令提示符）程序后，输入</a:t>
            </a:r>
            <a:r>
              <a:rPr lang="en-US" altLang="zh-CN" sz="2000">
                <a:sym typeface="+mn-ea"/>
              </a:rPr>
              <a:t>: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python  </a:t>
            </a:r>
            <a:r>
              <a:rPr lang="zh-CN" altLang="en-US" sz="2000">
                <a:sym typeface="+mn-ea"/>
              </a:rPr>
              <a:t>回车</a:t>
            </a:r>
            <a:endParaRPr lang="zh-CN" altLang="en-US" sz="200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200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ym typeface="+mn-ea"/>
              </a:rPr>
              <a:t>然后，在里面输入</a:t>
            </a:r>
            <a:r>
              <a:rPr lang="en-US" altLang="zh-CN" sz="2000">
                <a:sym typeface="+mn-ea"/>
              </a:rPr>
              <a:t>: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print(“Hello World!!!”)</a:t>
            </a:r>
            <a:r>
              <a:rPr lang="en-US" altLang="zh-CN" sz="2000">
                <a:sym typeface="+mn-ea"/>
              </a:rPr>
              <a:t>   </a:t>
            </a:r>
            <a:r>
              <a:rPr lang="zh-CN" altLang="en-US" sz="2000">
                <a:sym typeface="+mn-ea"/>
              </a:rPr>
              <a:t>回车</a:t>
            </a:r>
            <a:endParaRPr lang="zh-CN" altLang="en-US" sz="2000">
              <a:sym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sym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ym typeface="+mn-ea"/>
              </a:rPr>
              <a:t>演示如下</a:t>
            </a:r>
            <a:r>
              <a:rPr lang="en-US" altLang="zh-CN" sz="2000">
                <a:sym typeface="+mn-ea"/>
              </a:rPr>
              <a:t>:</a:t>
            </a:r>
            <a:endParaRPr lang="zh-CN" altLang="en-US" sz="2000">
              <a:sym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开发工具编写</a:t>
            </a:r>
            <a:r>
              <a:rPr lang="en-US" altLang="zh-CN"/>
              <a:t>python</a:t>
            </a:r>
            <a:r>
              <a:t>程序</a:t>
            </a:r>
          </a:p>
        </p:txBody>
      </p:sp>
      <p:pic>
        <p:nvPicPr>
          <p:cNvPr id="4" name="图片 3" descr="01 (13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861040" y="5581015"/>
            <a:ext cx="1217930" cy="12179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660" y="1475105"/>
            <a:ext cx="6903085" cy="5050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522,&quot;width&quot;:11787}"/>
</p:tagLst>
</file>

<file path=ppt/tags/tag2.xml><?xml version="1.0" encoding="utf-8"?>
<p:tagLst xmlns:p="http://schemas.openxmlformats.org/presentationml/2006/main">
  <p:tag name="KSO_WM_UNIT_TABLE_BEAUTIFY" val="smartTable{806c665c-400c-4d34-9b4f-64f0e8ab8ba2}"/>
  <p:tag name="TABLE_RECT" val="58.5866*125.589*568.6*391.15"/>
  <p:tag name="TABLE_EMPHASIZE_COLOR" val="16736824"/>
  <p:tag name="TABLE_ONEKEY_SKIN_IDX" val="0"/>
  <p:tag name="TABLE_SKINIDX" val="1"/>
  <p:tag name="TABLE_COLORIDX" val="3"/>
  <p:tag name="TABLE_COLOR_RGB" val="0x000000*0xFFFFFF*0x212121*0xFFFFFF*0xFF6238*0xFFD147*0xFFB57D*0xFF7A51*0xFFD791*0xFF8C6D"/>
  <p:tag name="TABLE_ENDDRAG_ORIGIN_RECT" val="550*308"/>
  <p:tag name="TABLE_ENDDRAG_RECT" val="62*178*550*308"/>
</p:tagLst>
</file>

<file path=ppt/tags/tag3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4.xml><?xml version="1.0" encoding="utf-8"?>
<p:tagLst xmlns:p="http://schemas.openxmlformats.org/presentationml/2006/main">
  <p:tag name="KSO_WM_UNIT_PLACING_PICTURE_USER_VIEWPORT" val="{&quot;height&quot;:1918,&quot;width&quot;:1918}"/>
</p:tagLst>
</file>

<file path=ppt/tags/tag5.xml><?xml version="1.0" encoding="utf-8"?>
<p:tagLst xmlns:p="http://schemas.openxmlformats.org/presentationml/2006/main">
  <p:tag name="KSO_WM_UNIT_PLACING_PICTURE_USER_VIEWPORT" val="{&quot;height&quot;:2081,&quot;width&quot;:7145}"/>
</p:tagLst>
</file>

<file path=ppt/tags/tag6.xml><?xml version="1.0" encoding="utf-8"?>
<p:tagLst xmlns:p="http://schemas.openxmlformats.org/presentationml/2006/main">
  <p:tag name="KSO_WM_UNIT_PLACING_PICTURE_USER_VIEWPORT" val="{&quot;height&quot;:2797,&quot;width&quot;:4852}"/>
</p:tagLst>
</file>

<file path=ppt/tags/tag7.xml><?xml version="1.0" encoding="utf-8"?>
<p:tagLst xmlns:p="http://schemas.openxmlformats.org/presentationml/2006/main">
  <p:tag name="COMMONDATA" val="eyJoZGlkIjoiZjFlMjg2MmYxODM4Yjk5ZDc5MGVmYjg0M2JjYjM0MTgifQ=="/>
  <p:tag name="KSO_WPP_MARK_KEY" val="c9c4499e-87fc-4233-adee-815f795d6ed5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2188</Words>
  <Application>WPS 演示</Application>
  <PresentationFormat>宽屏</PresentationFormat>
  <Paragraphs>285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17</vt:i4>
      </vt:variant>
      <vt:variant>
        <vt:lpstr>幻灯片标题</vt:lpstr>
      </vt:variant>
      <vt:variant>
        <vt:i4>25</vt:i4>
      </vt:variant>
    </vt:vector>
  </HeadingPairs>
  <TitlesOfParts>
    <vt:vector size="65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Alibaba PuHuiTi M</vt:lpstr>
      <vt:lpstr>Segoe UI Light</vt:lpstr>
      <vt:lpstr>微软雅黑 Light</vt:lpstr>
      <vt:lpstr>纤黑体</vt:lpstr>
      <vt:lpstr>字语坊腹黑体</vt:lpstr>
      <vt:lpstr>Arial Unicode MS</vt:lpstr>
      <vt:lpstr>等线</vt:lpstr>
      <vt:lpstr>Bebas</vt:lpstr>
      <vt:lpstr>Alibaba PuHuiTi Bold</vt:lpstr>
      <vt:lpstr>Alibaba PuHuiTi Regular</vt:lpstr>
      <vt:lpstr>Segoe Print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1_正文设计方案</vt:lpstr>
      <vt:lpstr>2_正文设计方案</vt:lpstr>
      <vt:lpstr>1_学习目标</vt:lpstr>
      <vt:lpstr>3_正文设计方案</vt:lpstr>
      <vt:lpstr>2_学习目标</vt:lpstr>
      <vt:lpstr>4_正文设计方案</vt:lpstr>
      <vt:lpstr>5_正文设计方案</vt:lpstr>
      <vt:lpstr>6_正文设计方案</vt:lpstr>
      <vt:lpstr>7_正文设计方案</vt:lpstr>
      <vt:lpstr>8_正文设计方案</vt:lpstr>
      <vt:lpstr>妙不可言的Python之旅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857</cp:revision>
  <dcterms:created xsi:type="dcterms:W3CDTF">2022-05-27T12:58:00Z</dcterms:created>
  <dcterms:modified xsi:type="dcterms:W3CDTF">2025-04-15T15:04:23Z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B8F5CFD6E6A044F687CAA08E77445706</vt:lpwstr>
  </property>
  <property fmtid="{D5CDD505-2E9C-101B-9397-08002B2CF9AE}" pid="3" name="KSOProductBuildVer">
    <vt:lpwstr>2052-12.1.0.20305</vt:lpwstr>
  </property>
</Properties>
</file>