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60" r:id="rId4"/>
    <p:sldMasterId id="2147483663" r:id="rId5"/>
    <p:sldMasterId id="2147483665" r:id="rId6"/>
    <p:sldMasterId id="2147483668" r:id="rId7"/>
    <p:sldMasterId id="2147483687" r:id="rId8"/>
    <p:sldMasterId id="2147483689" r:id="rId9"/>
    <p:sldMasterId id="2147483692" r:id="rId10"/>
    <p:sldMasterId id="2147483695" r:id="rId11"/>
    <p:sldMasterId id="2147483698" r:id="rId12"/>
    <p:sldMasterId id="2147483701" r:id="rId13"/>
    <p:sldMasterId id="2147483704" r:id="rId14"/>
    <p:sldMasterId id="2147483707" r:id="rId15"/>
    <p:sldMasterId id="2147483710" r:id="rId16"/>
    <p:sldMasterId id="2147483729" r:id="rId17"/>
    <p:sldMasterId id="2147483732" r:id="rId18"/>
    <p:sldMasterId id="2147483735" r:id="rId19"/>
    <p:sldMasterId id="2147483738" r:id="rId20"/>
    <p:sldMasterId id="2147483757" r:id="rId21"/>
    <p:sldMasterId id="2147483760" r:id="rId22"/>
    <p:sldMasterId id="2147483763" r:id="rId23"/>
    <p:sldMasterId id="2147483766" r:id="rId24"/>
    <p:sldMasterId id="2147483769" r:id="rId25"/>
    <p:sldMasterId id="2147483772" r:id="rId26"/>
    <p:sldMasterId id="2147483791" r:id="rId27"/>
    <p:sldMasterId id="2147483794" r:id="rId28"/>
    <p:sldMasterId id="2147483797" r:id="rId29"/>
    <p:sldMasterId id="2147483800" r:id="rId30"/>
    <p:sldMasterId id="2147483803" r:id="rId31"/>
    <p:sldMasterId id="2147483806" r:id="rId32"/>
    <p:sldMasterId id="2147483809" r:id="rId33"/>
    <p:sldMasterId id="2147483812" r:id="rId34"/>
  </p:sldMasterIdLst>
  <p:notesMasterIdLst>
    <p:notesMasterId r:id="rId36"/>
  </p:notesMasterIdLst>
  <p:handoutMasterIdLst>
    <p:handoutMasterId r:id="rId75"/>
  </p:handoutMasterIdLst>
  <p:sldIdLst>
    <p:sldId id="462" r:id="rId35"/>
    <p:sldId id="1577" r:id="rId37"/>
    <p:sldId id="1174" r:id="rId38"/>
    <p:sldId id="1618" r:id="rId39"/>
    <p:sldId id="1622" r:id="rId40"/>
    <p:sldId id="1623" r:id="rId41"/>
    <p:sldId id="1624" r:id="rId42"/>
    <p:sldId id="1625" r:id="rId43"/>
    <p:sldId id="1626" r:id="rId44"/>
    <p:sldId id="1619" r:id="rId45"/>
    <p:sldId id="1647" r:id="rId46"/>
    <p:sldId id="1617" r:id="rId47"/>
    <p:sldId id="1627" r:id="rId48"/>
    <p:sldId id="1173" r:id="rId49"/>
    <p:sldId id="1645" r:id="rId50"/>
    <p:sldId id="1629" r:id="rId51"/>
    <p:sldId id="1646" r:id="rId52"/>
    <p:sldId id="1588" r:id="rId53"/>
    <p:sldId id="1579" r:id="rId54"/>
    <p:sldId id="1632" r:id="rId55"/>
    <p:sldId id="1631" r:id="rId56"/>
    <p:sldId id="1633" r:id="rId57"/>
    <p:sldId id="1634" r:id="rId58"/>
    <p:sldId id="1635" r:id="rId59"/>
    <p:sldId id="1636" r:id="rId60"/>
    <p:sldId id="1637" r:id="rId61"/>
    <p:sldId id="1638" r:id="rId62"/>
    <p:sldId id="1589" r:id="rId63"/>
    <p:sldId id="1630" r:id="rId64"/>
    <p:sldId id="868" r:id="rId65"/>
    <p:sldId id="869" r:id="rId66"/>
    <p:sldId id="1639" r:id="rId67"/>
    <p:sldId id="1640" r:id="rId68"/>
    <p:sldId id="1641" r:id="rId69"/>
    <p:sldId id="1642" r:id="rId70"/>
    <p:sldId id="1644" r:id="rId71"/>
    <p:sldId id="1643" r:id="rId72"/>
    <p:sldId id="493" r:id="rId73"/>
    <p:sldId id="264" r:id="rId74"/>
  </p:sldIdLst>
  <p:sldSz cx="12192000" cy="6858000"/>
  <p:notesSz cx="6858000" cy="9144000"/>
  <p:embeddedFontLst>
    <p:embeddedFont>
      <p:font typeface="Calibri" panose="020F0502020204030204" pitchFamily="34" charset="0"/>
      <p:regular r:id="rId79"/>
      <p:bold r:id="rId80"/>
      <p:italic r:id="rId81"/>
      <p:boldItalic r:id="rId82"/>
    </p:embeddedFont>
    <p:embeddedFont>
      <p:font typeface="黑体" panose="02010609060101010101" pitchFamily="49" charset="-122"/>
      <p:regular r:id="rId83"/>
    </p:embeddedFont>
    <p:embeddedFont>
      <p:font typeface="Verdana" panose="020B0604030504040204" pitchFamily="34" charset="0"/>
      <p:regular r:id="rId84"/>
      <p:bold r:id="rId85"/>
      <p:italic r:id="rId86"/>
      <p:boldItalic r:id="rId87"/>
    </p:embeddedFont>
    <p:embeddedFont>
      <p:font typeface="华文楷体" panose="02010600040101010101" pitchFamily="2" charset="-122"/>
      <p:regular r:id="rId88"/>
    </p:embeddedFont>
    <p:embeddedFont>
      <p:font typeface="等线" panose="02010600030101010101" charset="-122"/>
      <p:regular r:id="rId89"/>
    </p:embeddedFont>
  </p:embeddedFontLst>
  <p:custDataLst>
    <p:tags r:id="rId9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8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FFFFFF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 showGuides="1">
      <p:cViewPr varScale="1">
        <p:scale>
          <a:sx n="93" d="100"/>
          <a:sy n="93" d="100"/>
        </p:scale>
        <p:origin x="216" y="520"/>
      </p:cViewPr>
      <p:guideLst>
        <p:guide orient="horz" pos="648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gs" Target="tags/tag1.xml"/><Relationship Id="rId9" Type="http://schemas.openxmlformats.org/officeDocument/2006/relationships/slideMaster" Target="slideMasters/slideMaster8.xml"/><Relationship Id="rId89" Type="http://schemas.openxmlformats.org/officeDocument/2006/relationships/font" Target="fonts/font11.fntdata"/><Relationship Id="rId88" Type="http://schemas.openxmlformats.org/officeDocument/2006/relationships/font" Target="fonts/font10.fntdata"/><Relationship Id="rId87" Type="http://schemas.openxmlformats.org/officeDocument/2006/relationships/font" Target="fonts/font9.fntdata"/><Relationship Id="rId86" Type="http://schemas.openxmlformats.org/officeDocument/2006/relationships/font" Target="fonts/font8.fntdata"/><Relationship Id="rId85" Type="http://schemas.openxmlformats.org/officeDocument/2006/relationships/font" Target="fonts/font7.fntdata"/><Relationship Id="rId84" Type="http://schemas.openxmlformats.org/officeDocument/2006/relationships/font" Target="fonts/font6.fntdata"/><Relationship Id="rId83" Type="http://schemas.openxmlformats.org/officeDocument/2006/relationships/font" Target="fonts/font5.fntdata"/><Relationship Id="rId82" Type="http://schemas.openxmlformats.org/officeDocument/2006/relationships/font" Target="fonts/font4.fntdata"/><Relationship Id="rId81" Type="http://schemas.openxmlformats.org/officeDocument/2006/relationships/font" Target="fonts/font3.fntdata"/><Relationship Id="rId80" Type="http://schemas.openxmlformats.org/officeDocument/2006/relationships/font" Target="fonts/font2.fntdata"/><Relationship Id="rId8" Type="http://schemas.openxmlformats.org/officeDocument/2006/relationships/slideMaster" Target="slideMasters/slideMaster7.xml"/><Relationship Id="rId79" Type="http://schemas.openxmlformats.org/officeDocument/2006/relationships/font" Target="fonts/font1.fntdata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handoutMaster" Target="handoutMasters/handoutMaster1.xml"/><Relationship Id="rId74" Type="http://schemas.openxmlformats.org/officeDocument/2006/relationships/slide" Target="slides/slide39.xml"/><Relationship Id="rId73" Type="http://schemas.openxmlformats.org/officeDocument/2006/relationships/slide" Target="slides/slide38.xml"/><Relationship Id="rId72" Type="http://schemas.openxmlformats.org/officeDocument/2006/relationships/slide" Target="slides/slide37.xml"/><Relationship Id="rId71" Type="http://schemas.openxmlformats.org/officeDocument/2006/relationships/slide" Target="slides/slide36.xml"/><Relationship Id="rId70" Type="http://schemas.openxmlformats.org/officeDocument/2006/relationships/slide" Target="slides/slide3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4.xml"/><Relationship Id="rId68" Type="http://schemas.openxmlformats.org/officeDocument/2006/relationships/slide" Target="slides/slide33.xml"/><Relationship Id="rId67" Type="http://schemas.openxmlformats.org/officeDocument/2006/relationships/slide" Target="slides/slide32.xml"/><Relationship Id="rId66" Type="http://schemas.openxmlformats.org/officeDocument/2006/relationships/slide" Target="slides/slide31.xml"/><Relationship Id="rId65" Type="http://schemas.openxmlformats.org/officeDocument/2006/relationships/slide" Target="slides/slide30.xml"/><Relationship Id="rId64" Type="http://schemas.openxmlformats.org/officeDocument/2006/relationships/slide" Target="slides/slide29.xml"/><Relationship Id="rId63" Type="http://schemas.openxmlformats.org/officeDocument/2006/relationships/slide" Target="slides/slide28.xml"/><Relationship Id="rId62" Type="http://schemas.openxmlformats.org/officeDocument/2006/relationships/slide" Target="slides/slide27.xml"/><Relationship Id="rId61" Type="http://schemas.openxmlformats.org/officeDocument/2006/relationships/slide" Target="slides/slide26.xml"/><Relationship Id="rId60" Type="http://schemas.openxmlformats.org/officeDocument/2006/relationships/slide" Target="slides/slide2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4.xml"/><Relationship Id="rId58" Type="http://schemas.openxmlformats.org/officeDocument/2006/relationships/slide" Target="slides/slide23.xml"/><Relationship Id="rId57" Type="http://schemas.openxmlformats.org/officeDocument/2006/relationships/slide" Target="slides/slide22.xml"/><Relationship Id="rId56" Type="http://schemas.openxmlformats.org/officeDocument/2006/relationships/slide" Target="slides/slide21.xml"/><Relationship Id="rId55" Type="http://schemas.openxmlformats.org/officeDocument/2006/relationships/slide" Target="slides/slide20.xml"/><Relationship Id="rId54" Type="http://schemas.openxmlformats.org/officeDocument/2006/relationships/slide" Target="slides/slide19.xml"/><Relationship Id="rId53" Type="http://schemas.openxmlformats.org/officeDocument/2006/relationships/slide" Target="slides/slide18.xml"/><Relationship Id="rId52" Type="http://schemas.openxmlformats.org/officeDocument/2006/relationships/slide" Target="slides/slide17.xml"/><Relationship Id="rId51" Type="http://schemas.openxmlformats.org/officeDocument/2006/relationships/slide" Target="slides/slide16.xml"/><Relationship Id="rId50" Type="http://schemas.openxmlformats.org/officeDocument/2006/relationships/slide" Target="slides/slide1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4.xml"/><Relationship Id="rId48" Type="http://schemas.openxmlformats.org/officeDocument/2006/relationships/slide" Target="slides/slide13.xml"/><Relationship Id="rId47" Type="http://schemas.openxmlformats.org/officeDocument/2006/relationships/slide" Target="slides/slide12.xml"/><Relationship Id="rId46" Type="http://schemas.openxmlformats.org/officeDocument/2006/relationships/slide" Target="slides/slide11.xml"/><Relationship Id="rId45" Type="http://schemas.openxmlformats.org/officeDocument/2006/relationships/slide" Target="slides/slide10.xml"/><Relationship Id="rId44" Type="http://schemas.openxmlformats.org/officeDocument/2006/relationships/slide" Target="slides/slide9.xml"/><Relationship Id="rId43" Type="http://schemas.openxmlformats.org/officeDocument/2006/relationships/slide" Target="slides/slide8.xml"/><Relationship Id="rId42" Type="http://schemas.openxmlformats.org/officeDocument/2006/relationships/slide" Target="slides/slide7.xml"/><Relationship Id="rId41" Type="http://schemas.openxmlformats.org/officeDocument/2006/relationships/slide" Target="slides/slide6.xml"/><Relationship Id="rId40" Type="http://schemas.openxmlformats.org/officeDocument/2006/relationships/slide" Target="slides/slide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4.xml"/><Relationship Id="rId38" Type="http://schemas.openxmlformats.org/officeDocument/2006/relationships/slide" Target="slides/slide3.xml"/><Relationship Id="rId37" Type="http://schemas.openxmlformats.org/officeDocument/2006/relationships/slide" Target="slides/slide2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1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4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/Relationships>
</file>

<file path=ppt/slideMasters/_rels/slideMaster30.xml.rels><?xml version="1.0" encoding="UTF-8" standalone="yes"?>
<Relationships xmlns="http://schemas.openxmlformats.org/package/2006/relationships"><Relationship Id="rId5" Type="http://schemas.openxmlformats.org/officeDocument/2006/relationships/theme" Target="../theme/theme3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/Relationships>
</file>

<file path=ppt/slideMasters/_rels/slideMaster31.xml.rels><?xml version="1.0" encoding="UTF-8" standalone="yes"?>
<Relationships xmlns="http://schemas.openxmlformats.org/package/2006/relationships"><Relationship Id="rId5" Type="http://schemas.openxmlformats.org/officeDocument/2006/relationships/theme" Target="../theme/theme3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/Relationships>
</file>

<file path=ppt/slideMasters/_rels/slideMaster32.xml.rels><?xml version="1.0" encoding="UTF-8" standalone="yes"?>
<Relationships xmlns="http://schemas.openxmlformats.org/package/2006/relationships"><Relationship Id="rId5" Type="http://schemas.openxmlformats.org/officeDocument/2006/relationships/theme" Target="../theme/theme3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/Relationships>
</file>

<file path=ppt/slideMasters/_rels/slideMaster3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hyperlink" Target="https://apifox.com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2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3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4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5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6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7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8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hyperlink" Target="https://chatboxai.app/zh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1.png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1.png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5.png"/><Relationship Id="rId1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5.png"/><Relationship Id="rId1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kumimoji="1" lang="en-US" altLang="zh-CN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ollama</a:t>
            </a:r>
            <a:r>
              <a:rPr kumimoji="1"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指令详解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掌握常用的客户端指令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掌握常用的对话指令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970" y="1457325"/>
            <a:ext cx="5799455" cy="4902835"/>
          </a:xfrm>
          <a:prstGeom prst="rect">
            <a:avLst/>
          </a:prstGeom>
        </p:spPr>
      </p:pic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1619885"/>
            <a:ext cx="1676400" cy="41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0" y="2349500"/>
            <a:ext cx="7989570" cy="2625090"/>
          </a:xfrm>
          <a:prstGeom prst="rect">
            <a:avLst/>
          </a:prstGeom>
        </p:spPr>
      </p:pic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70150"/>
            <a:ext cx="6400800" cy="3517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792605"/>
            <a:ext cx="1473200" cy="457200"/>
          </a:xfrm>
          <a:prstGeom prst="rect">
            <a:avLst/>
          </a:prstGeom>
        </p:spPr>
      </p:pic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1669415"/>
            <a:ext cx="1549400" cy="482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95" y="2364105"/>
            <a:ext cx="6432550" cy="3625850"/>
          </a:xfrm>
          <a:prstGeom prst="rect">
            <a:avLst/>
          </a:prstGeom>
        </p:spPr>
      </p:pic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230" y="1659890"/>
            <a:ext cx="1447800" cy="457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30" y="2190115"/>
            <a:ext cx="5786755" cy="4464050"/>
          </a:xfrm>
          <a:prstGeom prst="rect">
            <a:avLst/>
          </a:prstGeom>
        </p:spPr>
      </p:pic>
      <p:pic>
        <p:nvPicPr>
          <p:cNvPr id="7" name="图片 6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1614170"/>
            <a:ext cx="1409700" cy="444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2291715"/>
            <a:ext cx="6903720" cy="3148965"/>
          </a:xfrm>
          <a:prstGeom prst="rect">
            <a:avLst/>
          </a:prstGeom>
        </p:spPr>
      </p:pic>
      <p:pic>
        <p:nvPicPr>
          <p:cNvPr id="7" name="图片 6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1806575"/>
            <a:ext cx="1803400" cy="4673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90" y="2559050"/>
            <a:ext cx="6883400" cy="2317750"/>
          </a:xfrm>
          <a:prstGeom prst="rect">
            <a:avLst/>
          </a:prstGeom>
        </p:spPr>
      </p:pic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rPr lang="zh-CN" altLang="en-US"/>
              <a:t>客户端指令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1724660"/>
            <a:ext cx="1651635" cy="444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85" y="2249805"/>
            <a:ext cx="7207885" cy="4149725"/>
          </a:xfrm>
          <a:prstGeom prst="rect">
            <a:avLst/>
          </a:prstGeom>
        </p:spPr>
      </p:pic>
      <p:pic>
        <p:nvPicPr>
          <p:cNvPr id="8" name="图片 7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93234" y="1569720"/>
            <a:ext cx="5760538" cy="4511040"/>
          </a:xfrm>
        </p:spPr>
        <p:txBody>
          <a:bodyPr/>
          <a:p>
            <a:pPr marL="0" indent="0">
              <a:buNone/>
            </a:pPr>
            <a:r>
              <a:rPr lang="en-US" altLang="zh-CN" dirty="0">
                <a:sym typeface="+mn-ea"/>
              </a:rPr>
              <a:t>1.ollama</a:t>
            </a:r>
            <a:r>
              <a:rPr lang="zh-CN" altLang="en-US" dirty="0">
                <a:sym typeface="+mn-ea"/>
              </a:rPr>
              <a:t>指令分为哪两类</a:t>
            </a:r>
            <a:r>
              <a:rPr lang="en-US" altLang="zh-CN" dirty="0">
                <a:sym typeface="+mn-ea"/>
              </a:rPr>
              <a:t>?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客户端指令和对话指令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2.ollama</a:t>
            </a:r>
            <a:r>
              <a:rPr lang="zh-CN" altLang="en-US" dirty="0">
                <a:sym typeface="+mn-ea"/>
              </a:rPr>
              <a:t>中最常用客户端指令</a:t>
            </a:r>
            <a:r>
              <a:rPr lang="en-US" altLang="zh-CN" dirty="0">
                <a:sym typeface="+mn-ea"/>
              </a:rPr>
              <a:t>?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ollama list</a:t>
            </a:r>
            <a:endParaRPr lang="en-US" altLang="zh-CN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ollama run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模型名</a:t>
            </a:r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endParaRPr lang="zh-CN" dirty="0"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t>对话</a:t>
            </a:r>
            <a:r>
              <a:rPr lang="zh-CN" altLang="en-US"/>
              <a:t>指令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215" y="1341120"/>
            <a:ext cx="7926070" cy="5245100"/>
          </a:xfrm>
          <a:prstGeom prst="rect">
            <a:avLst/>
          </a:prstGeom>
        </p:spPr>
      </p:pic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t>对话</a:t>
            </a:r>
            <a:r>
              <a:rPr lang="zh-CN" altLang="en-US"/>
              <a:t>指令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615" y="1384935"/>
            <a:ext cx="6770370" cy="5166360"/>
          </a:xfrm>
          <a:prstGeom prst="rect">
            <a:avLst/>
          </a:prstGeom>
        </p:spPr>
      </p:pic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595" y="4839335"/>
            <a:ext cx="176022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93234" y="1569720"/>
            <a:ext cx="5760538" cy="4511040"/>
          </a:xfrm>
        </p:spPr>
        <p:txBody>
          <a:bodyPr/>
          <a:p>
            <a:pPr marL="0" indent="0">
              <a:buNone/>
            </a:pPr>
            <a:r>
              <a:rPr lang="en-US" altLang="zh-CN" dirty="0">
                <a:sym typeface="+mn-ea"/>
              </a:rPr>
              <a:t>ollama</a:t>
            </a:r>
            <a:r>
              <a:rPr lang="zh-CN" altLang="en-US" dirty="0">
                <a:sym typeface="+mn-ea"/>
              </a:rPr>
              <a:t>中最常用会话指令</a:t>
            </a:r>
            <a:r>
              <a:rPr lang="en-US" altLang="zh-CN" dirty="0">
                <a:sym typeface="+mn-ea"/>
              </a:rPr>
              <a:t>?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dirty="0"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2700" y="3695065"/>
            <a:ext cx="1536700" cy="457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0" y="4678045"/>
            <a:ext cx="1600200" cy="482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4227195"/>
            <a:ext cx="1562100" cy="450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br>
              <a:rPr kumimoji="1" lang="en-US" altLang="zh-CN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</a:br>
            <a:r>
              <a:rPr kumimoji="1"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基于工具调用本地模型实现聊天效果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889925"/>
            <a:ext cx="5973761" cy="4256405"/>
          </a:xfrm>
        </p:spPr>
        <p:txBody>
          <a:bodyPr/>
          <a:lstStyle/>
          <a:p>
            <a:pPr algn="l"/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Apifox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工具调用本地大模型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en-US" altLang="zh-CN" sz="1600" dirty="0">
                <a:sym typeface="+mn-ea"/>
              </a:rPr>
              <a:t>Chatbox</a:t>
            </a:r>
            <a:r>
              <a:rPr lang="zh-CN" altLang="en-US" sz="1600" dirty="0">
                <a:sym typeface="+mn-ea"/>
              </a:rPr>
              <a:t>工具调用本地大模型</a:t>
            </a:r>
            <a:endParaRPr lang="zh-CN" altLang="en-US" sz="1600" dirty="0">
              <a:sym typeface="+mn-ea"/>
            </a:endParaRPr>
          </a:p>
          <a:p>
            <a:pPr marL="0" indent="0" algn="l">
              <a:buNone/>
            </a:pP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889925"/>
            <a:ext cx="5973761" cy="4256405"/>
          </a:xfrm>
        </p:spPr>
        <p:txBody>
          <a:bodyPr/>
          <a:lstStyle/>
          <a:p>
            <a:pPr algn="l"/>
            <a:r>
              <a:rPr lang="en-US" altLang="zh-CN" sz="1600" dirty="0">
                <a:solidFill>
                  <a:srgbClr val="AD2A26"/>
                </a:solidFill>
                <a:sym typeface="+mn-ea"/>
              </a:rPr>
              <a:t>Apifox</a:t>
            </a:r>
            <a:r>
              <a:rPr lang="zh-CN" altLang="en-US" sz="1600" dirty="0">
                <a:solidFill>
                  <a:srgbClr val="AD2A26"/>
                </a:solidFill>
                <a:sym typeface="+mn-ea"/>
              </a:rPr>
              <a:t>工具调用本地大模型</a:t>
            </a:r>
            <a:endParaRPr lang="zh-CN" altLang="en-US" sz="1600" dirty="0">
              <a:solidFill>
                <a:srgbClr val="AD2A26"/>
              </a:solidFill>
            </a:endParaRPr>
          </a:p>
          <a:p>
            <a:pPr algn="l"/>
            <a:r>
              <a:rPr lang="en-US" altLang="zh-CN" sz="1600" dirty="0">
                <a:sym typeface="+mn-ea"/>
              </a:rPr>
              <a:t>Chatbox</a:t>
            </a:r>
            <a:r>
              <a:rPr lang="zh-CN" altLang="en-US" sz="1600" dirty="0">
                <a:sym typeface="+mn-ea"/>
              </a:rPr>
              <a:t>工具调用本地大模型</a:t>
            </a:r>
            <a:endParaRPr lang="zh-CN" altLang="en-US" sz="1600" dirty="0">
              <a:sym typeface="+mn-ea"/>
            </a:endParaRPr>
          </a:p>
          <a:p>
            <a:pPr marL="0" indent="0" algn="l">
              <a:buNone/>
            </a:pP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了解</a:t>
            </a:r>
            <a:r>
              <a:rPr lang="en-US" altLang="zh-CN" dirty="0">
                <a:solidFill>
                  <a:schemeClr val="tx1"/>
                </a:solidFill>
              </a:rPr>
              <a:t>ollama</a:t>
            </a:r>
            <a:r>
              <a:rPr lang="zh-CN" altLang="en-US" dirty="0">
                <a:solidFill>
                  <a:schemeClr val="tx1"/>
                </a:solidFill>
              </a:rPr>
              <a:t>常用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r>
              <a:rPr lang="zh-CN" altLang="en-US" dirty="0">
                <a:solidFill>
                  <a:schemeClr val="tx1"/>
                </a:solidFill>
              </a:rPr>
              <a:t>参数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Apifox</a:t>
            </a:r>
            <a:r>
              <a:rPr lang="zh-CN" altLang="en-US" dirty="0">
                <a:solidFill>
                  <a:schemeClr val="tx1"/>
                </a:solidFill>
              </a:rPr>
              <a:t>工具</a:t>
            </a:r>
            <a:r>
              <a:rPr lang="zh-CN" altLang="en-US" dirty="0">
                <a:solidFill>
                  <a:srgbClr val="AD2A26"/>
                </a:solidFill>
                <a:sym typeface="+mn-ea"/>
              </a:rPr>
              <a:t>调用本地大模型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工具介绍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744980"/>
            <a:ext cx="8613775" cy="4219575"/>
          </a:xfrm>
        </p:spPr>
        <p:txBody>
          <a:bodyPr/>
          <a:p>
            <a:r>
              <a:rPr lang="en-US" altLang="zh-CN"/>
              <a:t>Apifox </a:t>
            </a:r>
            <a:r>
              <a:rPr lang="zh-CN" altLang="en-US"/>
              <a:t>是一款集</a:t>
            </a:r>
            <a:r>
              <a:rPr lang="en-US" altLang="zh-CN"/>
              <a:t> API</a:t>
            </a:r>
            <a:r>
              <a:rPr lang="zh-CN" altLang="en-US"/>
              <a:t>设计、</a:t>
            </a:r>
            <a:r>
              <a:rPr lang="zh-CN" altLang="en-US"/>
              <a:t>开发、测试于一体的协作平台，旨在提升开发团队的</a:t>
            </a:r>
            <a:r>
              <a:rPr lang="en-US" altLang="zh-CN"/>
              <a:t> API </a:t>
            </a:r>
            <a:r>
              <a:rPr lang="zh-CN" altLang="en-US"/>
              <a:t>开发效率。它结合了</a:t>
            </a:r>
            <a:r>
              <a:rPr lang="en-US" altLang="zh-CN"/>
              <a:t> Postman</a:t>
            </a:r>
            <a:r>
              <a:rPr lang="zh-CN" altLang="en-US"/>
              <a:t>、</a:t>
            </a:r>
            <a:r>
              <a:rPr lang="en-US" altLang="zh-CN"/>
              <a:t>Swagger</a:t>
            </a:r>
            <a:r>
              <a:rPr lang="zh-CN" altLang="en-US"/>
              <a:t>、</a:t>
            </a:r>
            <a:r>
              <a:rPr lang="en-US" altLang="zh-CN"/>
              <a:t>Mock.js </a:t>
            </a:r>
            <a:r>
              <a:rPr lang="zh-CN" altLang="en-US"/>
              <a:t>等工具的功能，提供一体化的解决方案，适用于前端、后端和测试人员。</a:t>
            </a:r>
            <a:endParaRPr lang="zh-CN" altLang="en-US"/>
          </a:p>
          <a:p>
            <a:r>
              <a:rPr lang="zh-CN" altLang="en-US"/>
              <a:t>官网</a:t>
            </a:r>
            <a:r>
              <a:rPr lang="en-US" altLang="zh-CN"/>
              <a:t>: </a:t>
            </a:r>
            <a:r>
              <a:rPr lang="en-US" altLang="zh-CN">
                <a:hlinkClick r:id="rId1" action="ppaction://hlinkfile"/>
              </a:rPr>
              <a:t>https://apifox.com/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05" y="3478530"/>
            <a:ext cx="7216775" cy="2948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工具介绍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744980"/>
            <a:ext cx="8613775" cy="4219575"/>
          </a:xfrm>
        </p:spPr>
        <p:txBody>
          <a:bodyPr/>
          <a:p>
            <a:r>
              <a:rPr lang="en-US" altLang="zh-CN" b="1"/>
              <a:t>Apifox </a:t>
            </a:r>
            <a:r>
              <a:rPr lang="zh-CN" altLang="en-US" b="1"/>
              <a:t>是一款功能强大且易于使用的</a:t>
            </a:r>
            <a:r>
              <a:rPr lang="en-US" altLang="zh-CN" b="1"/>
              <a:t> API </a:t>
            </a:r>
            <a:r>
              <a:rPr lang="zh-CN" altLang="en-US" b="1"/>
              <a:t>工具，适合开发、测试和产品团队使用。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快速入门</a:t>
            </a:r>
            <a:endParaRPr lang="en-US" altLang="zh-CN" b="1"/>
          </a:p>
          <a:p>
            <a:pPr>
              <a:lnSpc>
                <a:spcPct val="190000"/>
              </a:lnSpc>
            </a:pPr>
            <a:r>
              <a:rPr lang="en-US" altLang="zh-CN"/>
              <a:t>    </a:t>
            </a:r>
            <a:r>
              <a:rPr lang="zh-CN" altLang="en-US" b="1"/>
              <a:t>下载安装</a:t>
            </a:r>
            <a:r>
              <a:rPr lang="en-US" altLang="zh-CN" b="1"/>
              <a:t>:</a:t>
            </a:r>
            <a:r>
              <a:rPr lang="zh-CN" altLang="en-US"/>
              <a:t>访问</a:t>
            </a:r>
            <a:r>
              <a:rPr lang="en-US" altLang="zh-CN"/>
              <a:t> Apifox</a:t>
            </a:r>
            <a:r>
              <a:rPr lang="zh-CN" altLang="en-US"/>
              <a:t>官网</a:t>
            </a:r>
            <a:r>
              <a:rPr lang="en-US" altLang="zh-CN"/>
              <a:t> </a:t>
            </a:r>
            <a:r>
              <a:rPr lang="zh-CN" altLang="en-US"/>
              <a:t>下载客户端。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    </a:t>
            </a:r>
            <a:r>
              <a:rPr lang="zh-CN" altLang="en-US" b="1"/>
              <a:t>创建项目</a:t>
            </a:r>
            <a:r>
              <a:rPr lang="en-US" altLang="zh-CN" b="1"/>
              <a:t>:</a:t>
            </a:r>
            <a:r>
              <a:rPr lang="zh-CN" altLang="en-US"/>
              <a:t>登录后创建一个新项目，选择项目类型（如</a:t>
            </a:r>
            <a:r>
              <a:rPr lang="en-US" altLang="zh-CN"/>
              <a:t> RESTful API</a:t>
            </a:r>
            <a:r>
              <a:rPr lang="zh-CN" altLang="en-US"/>
              <a:t>）。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    </a:t>
            </a:r>
            <a:r>
              <a:rPr lang="zh-CN" altLang="en-US" b="1"/>
              <a:t>设计</a:t>
            </a:r>
            <a:r>
              <a:rPr lang="en-US" altLang="zh-CN" b="1"/>
              <a:t> API:</a:t>
            </a:r>
            <a:r>
              <a:rPr lang="zh-CN" altLang="en-US"/>
              <a:t>在项目中添加</a:t>
            </a:r>
            <a:r>
              <a:rPr lang="en-US" altLang="zh-CN"/>
              <a:t> API </a:t>
            </a:r>
            <a:r>
              <a:rPr lang="zh-CN" altLang="en-US"/>
              <a:t>接口，定义请求方法、路径、参数等。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  </a:t>
            </a:r>
            <a:r>
              <a:rPr lang="en-US" altLang="zh-CN" b="1"/>
              <a:t>  </a:t>
            </a:r>
            <a:r>
              <a:rPr lang="zh-CN" altLang="en-US" b="1"/>
              <a:t>调试与测试</a:t>
            </a:r>
            <a:r>
              <a:rPr lang="en-US" altLang="zh-CN" b="1"/>
              <a:t>:</a:t>
            </a:r>
            <a:r>
              <a:rPr lang="zh-CN" altLang="en-US"/>
              <a:t>使用调试功能发送请求，验证接口返回结果。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   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工具安装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744980"/>
            <a:ext cx="8613775" cy="4219575"/>
          </a:xfrm>
        </p:spPr>
        <p:txBody>
          <a:bodyPr/>
          <a:p>
            <a:r>
              <a:rPr lang="zh-CN" altLang="en-US"/>
              <a:t>找到提前下载好的</a:t>
            </a:r>
            <a:r>
              <a:rPr lang="en-US" altLang="zh-CN"/>
              <a:t>apifox</a:t>
            </a:r>
            <a:r>
              <a:rPr lang="zh-CN" altLang="en-US"/>
              <a:t>安装包</a:t>
            </a:r>
            <a:r>
              <a:rPr lang="en-US" altLang="zh-CN"/>
              <a:t>,</a:t>
            </a:r>
            <a:r>
              <a:rPr lang="zh-CN" altLang="en-US"/>
              <a:t>双击默认一直下一步安装即可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" y="2463800"/>
            <a:ext cx="6870700" cy="381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工具导入</a:t>
            </a:r>
            <a:r>
              <a:rPr lang="en-US" altLang="zh-CN"/>
              <a:t>ollamaAPI</a:t>
            </a:r>
            <a:endParaRPr lang="en-US" altLang="zh-CN"/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683385"/>
            <a:ext cx="9269730" cy="4219575"/>
          </a:xfrm>
        </p:spPr>
        <p:txBody>
          <a:bodyPr/>
          <a:p>
            <a:r>
              <a:rPr lang="zh-CN" altLang="en-US"/>
              <a:t>为了方便后续使用程序接入</a:t>
            </a:r>
            <a:r>
              <a:rPr lang="en-US" altLang="zh-CN"/>
              <a:t>Ollama</a:t>
            </a:r>
            <a:r>
              <a:rPr lang="zh-CN" altLang="en-US"/>
              <a:t>中的大模型，在此可以先通过</a:t>
            </a:r>
            <a:r>
              <a:rPr lang="en-US" altLang="zh-CN"/>
              <a:t>Apifox</a:t>
            </a:r>
            <a:r>
              <a:rPr lang="zh-CN" altLang="en-US"/>
              <a:t>进行</a:t>
            </a:r>
            <a:r>
              <a:rPr lang="en-US" altLang="zh-CN"/>
              <a:t>Api</a:t>
            </a:r>
            <a:r>
              <a:rPr lang="zh-CN" altLang="en-US"/>
              <a:t>的快速体验与学习。</a:t>
            </a:r>
            <a:endParaRPr lang="zh-CN" altLang="en-US"/>
          </a:p>
          <a:p>
            <a:r>
              <a:rPr lang="zh-CN" altLang="en-US"/>
              <a:t>在资料文件夹中</a:t>
            </a:r>
            <a:r>
              <a:rPr lang="en-US" altLang="zh-CN"/>
              <a:t> Ollama.apifox.json </a:t>
            </a:r>
            <a:r>
              <a:rPr lang="zh-CN" altLang="en-US"/>
              <a:t>文件提供了供</a:t>
            </a:r>
            <a:r>
              <a:rPr lang="en-US" altLang="zh-CN"/>
              <a:t>Apifox</a:t>
            </a:r>
            <a:r>
              <a:rPr lang="zh-CN" altLang="en-US"/>
              <a:t>软件导入的</a:t>
            </a:r>
            <a:r>
              <a:rPr lang="en-US" altLang="zh-CN"/>
              <a:t>json</a:t>
            </a:r>
            <a:r>
              <a:rPr lang="zh-CN" altLang="en-US"/>
              <a:t>内容，再此我们先导入到</a:t>
            </a:r>
            <a:r>
              <a:rPr lang="en-US" altLang="zh-CN"/>
              <a:t>Apifox</a:t>
            </a:r>
            <a:r>
              <a:rPr lang="zh-CN" altLang="en-US"/>
              <a:t>软件中，快速体验一下</a:t>
            </a:r>
            <a:r>
              <a:rPr lang="en-US" altLang="zh-CN"/>
              <a:t>API</a:t>
            </a:r>
            <a:r>
              <a:rPr lang="zh-CN" altLang="en-US"/>
              <a:t>相关功能。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55" y="2997835"/>
            <a:ext cx="7481570" cy="32804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35355" y="2997835"/>
            <a:ext cx="7482205" cy="349948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</a:t>
            </a:r>
            <a:r>
              <a:rPr>
                <a:sym typeface="+mn-ea"/>
              </a:rPr>
              <a:t>导入</a:t>
            </a:r>
            <a:r>
              <a:rPr lang="en-US" altLang="zh-CN">
                <a:sym typeface="+mn-ea"/>
              </a:rPr>
              <a:t>ollamaAPI</a:t>
            </a:r>
            <a:endParaRPr lang="en-US" altLang="zh-CN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683385"/>
            <a:ext cx="9269730" cy="4219575"/>
          </a:xfrm>
        </p:spPr>
        <p:txBody>
          <a:bodyPr/>
          <a:p>
            <a:r>
              <a:rPr lang="zh-CN" altLang="en-US"/>
              <a:t>为了方便后续使用程序接入</a:t>
            </a:r>
            <a:r>
              <a:rPr lang="en-US" altLang="zh-CN"/>
              <a:t>Ollama</a:t>
            </a:r>
            <a:r>
              <a:rPr lang="zh-CN" altLang="en-US"/>
              <a:t>中的大模型，在此可以先通过</a:t>
            </a:r>
            <a:r>
              <a:rPr lang="en-US" altLang="zh-CN"/>
              <a:t>Apifox</a:t>
            </a:r>
            <a:r>
              <a:rPr lang="zh-CN" altLang="en-US"/>
              <a:t>进行</a:t>
            </a:r>
            <a:r>
              <a:rPr lang="en-US" altLang="zh-CN"/>
              <a:t>Api</a:t>
            </a:r>
            <a:r>
              <a:rPr lang="zh-CN" altLang="en-US"/>
              <a:t>的快速体验与学习。</a:t>
            </a:r>
            <a:endParaRPr lang="zh-CN" altLang="en-US"/>
          </a:p>
          <a:p>
            <a:r>
              <a:rPr lang="zh-CN" altLang="en-US"/>
              <a:t>在资料文件夹中</a:t>
            </a:r>
            <a:r>
              <a:rPr lang="en-US" altLang="zh-CN"/>
              <a:t> Ollama.apifox.json </a:t>
            </a:r>
            <a:r>
              <a:rPr lang="zh-CN" altLang="en-US"/>
              <a:t>文件提供了供</a:t>
            </a:r>
            <a:r>
              <a:rPr lang="en-US" altLang="zh-CN"/>
              <a:t>Apifox</a:t>
            </a:r>
            <a:r>
              <a:rPr lang="zh-CN" altLang="en-US"/>
              <a:t>软件导入的</a:t>
            </a:r>
            <a:r>
              <a:rPr lang="en-US" altLang="zh-CN"/>
              <a:t>json</a:t>
            </a:r>
            <a:r>
              <a:rPr lang="zh-CN" altLang="en-US"/>
              <a:t>内容，再此我们先导入到</a:t>
            </a:r>
            <a:r>
              <a:rPr lang="en-US" altLang="zh-CN"/>
              <a:t>Apifox</a:t>
            </a:r>
            <a:r>
              <a:rPr lang="zh-CN" altLang="en-US"/>
              <a:t>软件中，快速体验一下</a:t>
            </a:r>
            <a:r>
              <a:rPr lang="en-US" altLang="zh-CN"/>
              <a:t>API</a:t>
            </a:r>
            <a:r>
              <a:rPr lang="zh-CN" altLang="en-US"/>
              <a:t>相关功能。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3042920"/>
            <a:ext cx="7566660" cy="34378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7245" y="2997835"/>
            <a:ext cx="7600315" cy="349948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</a:t>
            </a:r>
            <a:r>
              <a:rPr>
                <a:sym typeface="+mn-ea"/>
              </a:rPr>
              <a:t>导入</a:t>
            </a:r>
            <a:r>
              <a:rPr lang="en-US" altLang="zh-CN">
                <a:sym typeface="+mn-ea"/>
              </a:rPr>
              <a:t>ollamaAPI</a:t>
            </a:r>
            <a:endParaRPr lang="en-US" altLang="zh-CN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683385"/>
            <a:ext cx="9269730" cy="4219575"/>
          </a:xfrm>
        </p:spPr>
        <p:txBody>
          <a:bodyPr/>
          <a:p>
            <a:r>
              <a:rPr lang="zh-CN" altLang="en-US"/>
              <a:t>为了方便后续使用程序接入</a:t>
            </a:r>
            <a:r>
              <a:rPr lang="en-US" altLang="zh-CN"/>
              <a:t>Ollama</a:t>
            </a:r>
            <a:r>
              <a:rPr lang="zh-CN" altLang="en-US"/>
              <a:t>中的大模型，在此可以先通过</a:t>
            </a:r>
            <a:r>
              <a:rPr lang="en-US" altLang="zh-CN"/>
              <a:t>Apifox</a:t>
            </a:r>
            <a:r>
              <a:rPr lang="zh-CN" altLang="en-US"/>
              <a:t>进行</a:t>
            </a:r>
            <a:r>
              <a:rPr lang="en-US" altLang="zh-CN"/>
              <a:t>Api</a:t>
            </a:r>
            <a:r>
              <a:rPr lang="zh-CN" altLang="en-US"/>
              <a:t>的快速体验与学习。</a:t>
            </a:r>
            <a:endParaRPr lang="zh-CN" altLang="en-US"/>
          </a:p>
          <a:p>
            <a:r>
              <a:rPr lang="zh-CN" altLang="en-US"/>
              <a:t>在资料文件夹中</a:t>
            </a:r>
            <a:r>
              <a:rPr lang="en-US" altLang="zh-CN"/>
              <a:t> Ollama.apifox.json </a:t>
            </a:r>
            <a:r>
              <a:rPr lang="zh-CN" altLang="en-US"/>
              <a:t>文件提供了供</a:t>
            </a:r>
            <a:r>
              <a:rPr lang="en-US" altLang="zh-CN"/>
              <a:t>Apifox</a:t>
            </a:r>
            <a:r>
              <a:rPr lang="zh-CN" altLang="en-US"/>
              <a:t>软件导入的</a:t>
            </a:r>
            <a:r>
              <a:rPr lang="en-US" altLang="zh-CN"/>
              <a:t>json</a:t>
            </a:r>
            <a:r>
              <a:rPr lang="zh-CN" altLang="en-US"/>
              <a:t>内容，再此我们先导入到</a:t>
            </a:r>
            <a:r>
              <a:rPr lang="en-US" altLang="zh-CN"/>
              <a:t>Apifox</a:t>
            </a:r>
            <a:r>
              <a:rPr lang="zh-CN" altLang="en-US"/>
              <a:t>软件中，快速体验一下</a:t>
            </a:r>
            <a:r>
              <a:rPr lang="en-US" altLang="zh-CN"/>
              <a:t>API</a:t>
            </a:r>
            <a:r>
              <a:rPr lang="zh-CN" altLang="en-US"/>
              <a:t>相关功能。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95" y="2933065"/>
            <a:ext cx="7734935" cy="35693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35660" y="2997835"/>
            <a:ext cx="7581900" cy="349948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</a:t>
            </a:r>
            <a:r>
              <a:rPr>
                <a:sym typeface="+mn-ea"/>
              </a:rPr>
              <a:t>导入</a:t>
            </a:r>
            <a:r>
              <a:rPr lang="en-US" altLang="zh-CN">
                <a:sym typeface="+mn-ea"/>
              </a:rPr>
              <a:t>ollamaAPI</a:t>
            </a:r>
            <a:endParaRPr lang="en-US" altLang="zh-CN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683385"/>
            <a:ext cx="9269730" cy="4219575"/>
          </a:xfrm>
        </p:spPr>
        <p:txBody>
          <a:bodyPr/>
          <a:p>
            <a:r>
              <a:rPr lang="zh-CN" altLang="en-US"/>
              <a:t>为了方便后续使用程序接入</a:t>
            </a:r>
            <a:r>
              <a:rPr lang="en-US" altLang="zh-CN"/>
              <a:t>Ollama</a:t>
            </a:r>
            <a:r>
              <a:rPr lang="zh-CN" altLang="en-US"/>
              <a:t>中的大模型，在此可以先通过</a:t>
            </a:r>
            <a:r>
              <a:rPr lang="en-US" altLang="zh-CN"/>
              <a:t>Apifox</a:t>
            </a:r>
            <a:r>
              <a:rPr lang="zh-CN" altLang="en-US"/>
              <a:t>进行</a:t>
            </a:r>
            <a:r>
              <a:rPr lang="en-US" altLang="zh-CN"/>
              <a:t>Api</a:t>
            </a:r>
            <a:r>
              <a:rPr lang="zh-CN" altLang="en-US"/>
              <a:t>的快速体验与学习。</a:t>
            </a:r>
            <a:endParaRPr lang="zh-CN" altLang="en-US"/>
          </a:p>
          <a:p>
            <a:r>
              <a:rPr lang="zh-CN" altLang="en-US"/>
              <a:t>在资料文件夹中</a:t>
            </a:r>
            <a:r>
              <a:rPr lang="en-US" altLang="zh-CN"/>
              <a:t> Ollama.apifox.json </a:t>
            </a:r>
            <a:r>
              <a:rPr lang="zh-CN" altLang="en-US"/>
              <a:t>文件提供了供</a:t>
            </a:r>
            <a:r>
              <a:rPr lang="en-US" altLang="zh-CN"/>
              <a:t>Apifox</a:t>
            </a:r>
            <a:r>
              <a:rPr lang="zh-CN" altLang="en-US"/>
              <a:t>软件导入的</a:t>
            </a:r>
            <a:r>
              <a:rPr lang="en-US" altLang="zh-CN"/>
              <a:t>json</a:t>
            </a:r>
            <a:r>
              <a:rPr lang="zh-CN" altLang="en-US"/>
              <a:t>内容，再此我们先导入到</a:t>
            </a:r>
            <a:r>
              <a:rPr lang="en-US" altLang="zh-CN"/>
              <a:t>Apifox</a:t>
            </a:r>
            <a:r>
              <a:rPr lang="zh-CN" altLang="en-US"/>
              <a:t>软件中，快速体验一下</a:t>
            </a:r>
            <a:r>
              <a:rPr lang="en-US" altLang="zh-CN"/>
              <a:t>API</a:t>
            </a:r>
            <a:r>
              <a:rPr lang="zh-CN" altLang="en-US"/>
              <a:t>相关功能。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65" y="2878455"/>
            <a:ext cx="6915785" cy="37553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2997835"/>
            <a:ext cx="7541260" cy="349948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工具调用私有</a:t>
            </a:r>
            <a:r>
              <a:t>大模型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546225"/>
            <a:ext cx="9269730" cy="4219575"/>
          </a:xfrm>
        </p:spPr>
        <p:txBody>
          <a:bodyPr/>
          <a:p>
            <a:r>
              <a:rPr lang="en-US" altLang="zh-CN"/>
              <a:t>1.</a:t>
            </a:r>
            <a:r>
              <a:rPr lang="zh-CN" altLang="en-US"/>
              <a:t>配置</a:t>
            </a:r>
            <a:r>
              <a:rPr lang="en-US" altLang="zh-CN"/>
              <a:t>ollama</a:t>
            </a:r>
            <a:r>
              <a:rPr lang="zh-CN" altLang="en-US"/>
              <a:t>大模型服务器地址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062480"/>
            <a:ext cx="8977630" cy="44640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9150" y="2063115"/>
            <a:ext cx="8976995" cy="443420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Apifox</a:t>
            </a:r>
            <a:r>
              <a:t>工具</a:t>
            </a:r>
            <a:r>
              <a:rPr>
                <a:sym typeface="+mn-ea"/>
              </a:rPr>
              <a:t>调用私有大模型</a:t>
            </a:r>
            <a:endParaRPr>
              <a:sym typeface="+mn-ea"/>
            </a:endParaRP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546225"/>
            <a:ext cx="9269730" cy="4219575"/>
          </a:xfrm>
        </p:spPr>
        <p:txBody>
          <a:bodyPr/>
          <a:p>
            <a:r>
              <a:rPr lang="en-US" altLang="zh-CN"/>
              <a:t>2.</a:t>
            </a:r>
            <a:r>
              <a:rPr lang="zh-CN" altLang="en-US"/>
              <a:t>输入请求问题，点击发送，获取响应</a:t>
            </a: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5" name="图片 4" descr="01 (5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2078355"/>
            <a:ext cx="8653145" cy="45034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35355" y="2078990"/>
            <a:ext cx="8601075" cy="441833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29480" y="1173480"/>
            <a:ext cx="6130925" cy="4511040"/>
          </a:xfrm>
        </p:spPr>
        <p:txBody>
          <a:bodyPr/>
          <a:p>
            <a:pPr marL="0" indent="0">
              <a:buNone/>
            </a:pPr>
            <a:r>
              <a:rPr lang="en-US" altLang="zh-CN" dirty="0">
                <a:sym typeface="+mn-ea"/>
              </a:rPr>
              <a:t>1.Apifox</a:t>
            </a:r>
            <a:r>
              <a:rPr lang="zh-CN" altLang="en-US" dirty="0">
                <a:sym typeface="+mn-ea"/>
              </a:rPr>
              <a:t>是一款什么工具</a:t>
            </a:r>
            <a:r>
              <a:rPr lang="en-US" altLang="zh-CN" dirty="0">
                <a:sym typeface="+mn-ea"/>
              </a:rPr>
              <a:t>?</a:t>
            </a:r>
            <a:endParaRPr 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sz="1600">
                <a:sym typeface="+mn-ea"/>
              </a:rPr>
              <a:t>Apifox </a:t>
            </a:r>
            <a:r>
              <a:rPr lang="zh-CN" altLang="en-US" sz="1600">
                <a:sym typeface="+mn-ea"/>
              </a:rPr>
              <a:t>是一款集</a:t>
            </a:r>
            <a:r>
              <a:rPr lang="en-US" altLang="zh-CN" sz="1600">
                <a:sym typeface="+mn-ea"/>
              </a:rPr>
              <a:t> API</a:t>
            </a:r>
            <a:r>
              <a:rPr lang="zh-CN" altLang="en-US" sz="1600">
                <a:sym typeface="+mn-ea"/>
              </a:rPr>
              <a:t>设计、开发、测试于一体的协作平台</a:t>
            </a:r>
            <a:r>
              <a:rPr lang="zh-CN" altLang="en-US" sz="1600" dirty="0">
                <a:solidFill>
                  <a:schemeClr val="tx1"/>
                </a:solidFill>
              </a:rPr>
              <a:t>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2.ollama</a:t>
            </a:r>
            <a:r>
              <a:rPr lang="zh-CN" altLang="en-US" sz="1600" dirty="0">
                <a:solidFill>
                  <a:schemeClr val="tx1"/>
                </a:solidFill>
              </a:rPr>
              <a:t>发送请求时，必备参数是</a:t>
            </a:r>
            <a:r>
              <a:rPr lang="zh-CN" altLang="en-US" sz="1600" dirty="0">
                <a:solidFill>
                  <a:schemeClr val="tx1"/>
                </a:solidFill>
              </a:rPr>
              <a:t>哪些？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4105" y="3863340"/>
            <a:ext cx="5438775" cy="1145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889925"/>
            <a:ext cx="5973761" cy="4256405"/>
          </a:xfrm>
        </p:spPr>
        <p:txBody>
          <a:bodyPr/>
          <a:lstStyle/>
          <a:p>
            <a:pPr algn="l"/>
            <a:r>
              <a:rPr lang="en-US" altLang="zh-CN" sz="1600" dirty="0">
                <a:sym typeface="+mn-ea"/>
              </a:rPr>
              <a:t>Apifox</a:t>
            </a:r>
            <a:r>
              <a:rPr lang="zh-CN" altLang="en-US" sz="1600" dirty="0">
                <a:sym typeface="+mn-ea"/>
              </a:rPr>
              <a:t>工具调用本地大模型</a:t>
            </a:r>
            <a:endParaRPr lang="zh-CN" altLang="en-US" sz="1600" dirty="0"/>
          </a:p>
          <a:p>
            <a:pPr algn="l"/>
            <a:r>
              <a:rPr lang="en-US" altLang="zh-CN" sz="1600" dirty="0">
                <a:solidFill>
                  <a:srgbClr val="AD2A26"/>
                </a:solidFill>
                <a:sym typeface="+mn-ea"/>
              </a:rPr>
              <a:t>Chatbox</a:t>
            </a:r>
            <a:r>
              <a:rPr lang="zh-CN" altLang="en-US" sz="1600" dirty="0">
                <a:solidFill>
                  <a:srgbClr val="AD2A26"/>
                </a:solidFill>
                <a:sym typeface="+mn-ea"/>
              </a:rPr>
              <a:t>工具调用本地大模型</a:t>
            </a:r>
            <a:endParaRPr lang="zh-CN" altLang="en-US" sz="1600" dirty="0">
              <a:solidFill>
                <a:srgbClr val="AD2A26"/>
              </a:solidFill>
              <a:sym typeface="+mn-ea"/>
            </a:endParaRPr>
          </a:p>
          <a:p>
            <a:pPr marL="0" indent="0" algn="l">
              <a:buNone/>
            </a:pPr>
            <a:endParaRPr kumimoji="1" lang="zh-CN" altLang="en-US" sz="1600" dirty="0">
              <a:solidFill>
                <a:srgbClr val="AD2A26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34890" y="1525905"/>
            <a:ext cx="6298565" cy="2513965"/>
          </a:xfrm>
        </p:spPr>
        <p:txBody>
          <a:bodyPr/>
          <a:p>
            <a:pPr marL="0" indent="0">
              <a:buNone/>
            </a:pPr>
            <a:r>
              <a:rPr lang="zh-CN" altLang="en-US" dirty="0">
                <a:solidFill>
                  <a:srgbClr val="AD2A26"/>
                </a:solidFill>
                <a:sym typeface="+mn-ea"/>
              </a:rPr>
              <a:t>掌握</a:t>
            </a:r>
            <a:r>
              <a:rPr lang="en-US" altLang="zh-CN" dirty="0">
                <a:solidFill>
                  <a:srgbClr val="AD2A26"/>
                </a:solidFill>
                <a:sym typeface="+mn-ea"/>
              </a:rPr>
              <a:t>Chatbox</a:t>
            </a:r>
            <a:r>
              <a:rPr lang="zh-CN" altLang="en-US" dirty="0">
                <a:solidFill>
                  <a:srgbClr val="AD2A26"/>
                </a:solidFill>
                <a:sym typeface="+mn-ea"/>
              </a:rPr>
              <a:t>工具的基本使用</a:t>
            </a:r>
            <a:endParaRPr lang="zh-CN" altLang="en-US" dirty="0">
              <a:solidFill>
                <a:srgbClr val="AD2A26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A26"/>
                </a:solidFill>
                <a:sym typeface="+mn-ea"/>
              </a:rPr>
              <a:t>掌握</a:t>
            </a:r>
            <a:r>
              <a:rPr lang="en-US" altLang="zh-CN" dirty="0">
                <a:solidFill>
                  <a:srgbClr val="AD2A26"/>
                </a:solidFill>
                <a:sym typeface="+mn-ea"/>
              </a:rPr>
              <a:t>Chatbox</a:t>
            </a:r>
            <a:r>
              <a:rPr lang="zh-CN" altLang="en-US" dirty="0">
                <a:solidFill>
                  <a:srgbClr val="AD2A26"/>
                </a:solidFill>
                <a:sym typeface="+mn-ea"/>
              </a:rPr>
              <a:t>工具调用本地大模型，快速构建聊天</a:t>
            </a:r>
            <a:r>
              <a:rPr lang="zh-CN" altLang="en-US" dirty="0">
                <a:solidFill>
                  <a:srgbClr val="AD2A26"/>
                </a:solidFill>
                <a:sym typeface="+mn-ea"/>
              </a:rPr>
              <a:t>机器人</a:t>
            </a:r>
            <a:endParaRPr lang="zh-CN" altLang="en-US" dirty="0">
              <a:solidFill>
                <a:srgbClr val="AD2A26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Chatbox</a:t>
            </a:r>
            <a:r>
              <a:rPr>
                <a:solidFill>
                  <a:schemeClr val="tx1"/>
                </a:solidFill>
                <a:sym typeface="+mn-ea"/>
              </a:rPr>
              <a:t>工具介绍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占位符 3"/>
          <p:cNvSpPr/>
          <p:nvPr/>
        </p:nvSpPr>
        <p:spPr>
          <a:xfrm>
            <a:off x="769620" y="1685290"/>
            <a:ext cx="8888095" cy="7835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Chatbox </a:t>
            </a:r>
            <a:r>
              <a:rPr lang="zh-CN" altLang="en-US">
                <a:sym typeface="+mn-ea"/>
              </a:rPr>
              <a:t>是一款基于 </a:t>
            </a:r>
            <a:r>
              <a:rPr lang="en-US" altLang="zh-CN">
                <a:sym typeface="+mn-ea"/>
              </a:rPr>
              <a:t>OpenAI API </a:t>
            </a:r>
            <a:r>
              <a:rPr lang="zh-CN" altLang="en-US">
                <a:sym typeface="+mn-ea"/>
              </a:rPr>
              <a:t>的开源跨平台智能对话工具，支持 </a:t>
            </a:r>
            <a:r>
              <a:rPr lang="en-US" altLang="zh-CN">
                <a:sym typeface="+mn-ea"/>
              </a:rPr>
              <a:t>Windows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macOS </a:t>
            </a:r>
            <a:r>
              <a:rPr lang="zh-CN" altLang="en-US">
                <a:sym typeface="+mn-ea"/>
              </a:rPr>
              <a:t>和 </a:t>
            </a:r>
            <a:r>
              <a:rPr lang="en-US" altLang="zh-CN">
                <a:sym typeface="+mn-ea"/>
              </a:rPr>
              <a:t>Linux </a:t>
            </a:r>
            <a:r>
              <a:rPr lang="zh-CN" altLang="en-US">
                <a:sym typeface="+mn-ea"/>
              </a:rPr>
              <a:t>系统。它旨在为用户提供便捷的 </a:t>
            </a:r>
            <a:r>
              <a:rPr lang="en-US" altLang="zh-CN">
                <a:sym typeface="+mn-ea"/>
              </a:rPr>
              <a:t>AI </a:t>
            </a:r>
            <a:r>
              <a:rPr lang="zh-CN" altLang="en-US">
                <a:sym typeface="+mn-ea"/>
              </a:rPr>
              <a:t>对话体验，同时具备强大的功能扩展性和灵活性。</a:t>
            </a:r>
            <a:endParaRPr lang="zh-CN" altLang="en-US"/>
          </a:p>
          <a:p>
            <a:r>
              <a:rPr lang="zh-CN" altLang="en-US"/>
              <a:t>官网</a:t>
            </a:r>
            <a:r>
              <a:rPr lang="en-US" altLang="zh-CN"/>
              <a:t>: </a:t>
            </a:r>
            <a:r>
              <a:rPr lang="en-US" altLang="zh-CN">
                <a:hlinkClick r:id="rId1" action="ppaction://hlinkfile"/>
              </a:rPr>
              <a:t>https://chatboxai.app/zh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02585"/>
            <a:ext cx="7068185" cy="3827780"/>
          </a:xfrm>
          <a:prstGeom prst="rect">
            <a:avLst/>
          </a:prstGeom>
        </p:spPr>
      </p:pic>
      <p:pic>
        <p:nvPicPr>
          <p:cNvPr id="9" name="图片 8" descr="01 (5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840" y="5426710"/>
            <a:ext cx="1153160" cy="11531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35355" y="2997835"/>
            <a:ext cx="7466965" cy="358203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Chatbox</a:t>
            </a:r>
            <a:r>
              <a:rPr>
                <a:solidFill>
                  <a:schemeClr val="tx1"/>
                </a:solidFill>
                <a:sym typeface="+mn-ea"/>
              </a:rPr>
              <a:t>工具介绍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占位符 3"/>
          <p:cNvSpPr/>
          <p:nvPr/>
        </p:nvSpPr>
        <p:spPr>
          <a:xfrm>
            <a:off x="769620" y="1685290"/>
            <a:ext cx="9339580" cy="40417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Chatbox </a:t>
            </a:r>
            <a:r>
              <a:rPr lang="zh-CN" altLang="en-US"/>
              <a:t>是一款功能强大、易于使用的开源</a:t>
            </a:r>
            <a:r>
              <a:rPr lang="en-US" altLang="zh-CN"/>
              <a:t> AI </a:t>
            </a:r>
            <a:r>
              <a:rPr lang="zh-CN" altLang="en-US"/>
              <a:t>工具，适合开发者、学生、办公人员等多种用户群体。</a:t>
            </a:r>
            <a:r>
              <a:rPr lang="en-US" altLang="zh-CN" b="1"/>
              <a:t>1. </a:t>
            </a:r>
            <a:r>
              <a:rPr lang="zh-CN" altLang="en-US" b="1"/>
              <a:t>下载安装</a:t>
            </a:r>
            <a:endParaRPr lang="en-US" altLang="zh-CN"/>
          </a:p>
          <a:p>
            <a:r>
              <a:rPr lang="en-US" altLang="zh-CN"/>
              <a:t>   </a:t>
            </a:r>
            <a:r>
              <a:rPr lang="zh-CN" altLang="en-US"/>
              <a:t>访问</a:t>
            </a:r>
            <a:r>
              <a:rPr lang="en-US" altLang="zh-CN"/>
              <a:t> Chatbox </a:t>
            </a:r>
            <a:r>
              <a:rPr lang="zh-CN" altLang="en-US"/>
              <a:t>官网，下载并安装适合您操作系统的安装包（</a:t>
            </a:r>
            <a:r>
              <a:rPr lang="en-US" altLang="zh-CN"/>
              <a:t>Windows</a:t>
            </a:r>
            <a:r>
              <a:rPr lang="zh-CN" altLang="en-US"/>
              <a:t>、</a:t>
            </a:r>
            <a:r>
              <a:rPr lang="en-US" altLang="zh-CN"/>
              <a:t>macOS </a:t>
            </a:r>
            <a:r>
              <a:rPr lang="zh-CN" altLang="en-US"/>
              <a:t>或</a:t>
            </a:r>
            <a:r>
              <a:rPr lang="en-US" altLang="zh-CN"/>
              <a:t> Linux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en-US" altLang="zh-CN" b="1"/>
              <a:t>2. </a:t>
            </a:r>
            <a:r>
              <a:rPr lang="zh-CN" altLang="en-US" b="1"/>
              <a:t>配置</a:t>
            </a:r>
            <a:r>
              <a:rPr lang="en-US" altLang="zh-CN" b="1"/>
              <a:t> API</a:t>
            </a:r>
            <a:endParaRPr lang="en-US" altLang="zh-CN" b="1"/>
          </a:p>
          <a:p>
            <a:r>
              <a:rPr lang="en-US" altLang="zh-CN"/>
              <a:t>    </a:t>
            </a:r>
            <a:r>
              <a:rPr lang="zh-CN" altLang="en-US"/>
              <a:t>打开</a:t>
            </a:r>
            <a:r>
              <a:rPr lang="en-US" altLang="zh-CN"/>
              <a:t> Chatbox</a:t>
            </a:r>
            <a:r>
              <a:rPr lang="zh-CN" altLang="en-US"/>
              <a:t>，进入设置菜单。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选择</a:t>
            </a:r>
            <a:r>
              <a:rPr lang="en-US" altLang="zh-CN"/>
              <a:t>ollama</a:t>
            </a:r>
            <a:r>
              <a:rPr lang="zh-CN" altLang="en-US"/>
              <a:t>中本地部署的模型，并保存配置。</a:t>
            </a:r>
            <a:endParaRPr lang="en-US" altLang="zh-CN"/>
          </a:p>
          <a:p>
            <a:r>
              <a:rPr lang="en-US" altLang="zh-CN" b="1"/>
              <a:t>3. </a:t>
            </a:r>
            <a:r>
              <a:rPr lang="zh-CN" altLang="en-US" b="1"/>
              <a:t>开始对话</a:t>
            </a:r>
            <a:endParaRPr lang="zh-CN" altLang="en-US" b="1"/>
          </a:p>
          <a:p>
            <a:r>
              <a:rPr lang="en-US" altLang="zh-CN"/>
              <a:t>    </a:t>
            </a:r>
            <a:r>
              <a:rPr lang="zh-CN" altLang="en-US"/>
              <a:t>主界面，创建对话窗口</a:t>
            </a:r>
            <a:r>
              <a:rPr lang="en-US" altLang="zh-CN"/>
              <a:t>,</a:t>
            </a:r>
            <a:r>
              <a:rPr lang="zh-CN" altLang="en-US"/>
              <a:t>在输入框中输入问题或指令。</a:t>
            </a:r>
            <a:endParaRPr lang="zh-CN" altLang="en-US"/>
          </a:p>
          <a:p>
            <a:r>
              <a:rPr lang="en-US" altLang="zh-CN" b="1"/>
              <a:t>4. </a:t>
            </a:r>
            <a:r>
              <a:rPr lang="zh-CN" altLang="en-US" b="1"/>
              <a:t>保存和退出</a:t>
            </a:r>
            <a:endParaRPr lang="en-US" altLang="zh-CN" b="1"/>
          </a:p>
          <a:p>
            <a:r>
              <a:rPr lang="en-US" altLang="zh-CN"/>
              <a:t>    </a:t>
            </a:r>
            <a:r>
              <a:rPr lang="zh-CN" altLang="en-US"/>
              <a:t>聊天记录会自动保存到本地。</a:t>
            </a:r>
            <a:endParaRPr lang="en-US" altLang="zh-CN"/>
          </a:p>
          <a:p>
            <a:r>
              <a:rPr lang="en-US" altLang="zh-CN"/>
              <a:t>    </a:t>
            </a:r>
            <a:endParaRPr lang="zh-CN" altLang="en-US"/>
          </a:p>
        </p:txBody>
      </p:sp>
      <p:pic>
        <p:nvPicPr>
          <p:cNvPr id="9" name="图片 8" descr="01 (5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840" y="5426710"/>
            <a:ext cx="1153160" cy="115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Chatbox</a:t>
            </a:r>
            <a:r>
              <a:rPr>
                <a:solidFill>
                  <a:schemeClr val="tx1"/>
                </a:solidFill>
                <a:sym typeface="+mn-ea"/>
              </a:rPr>
              <a:t>工具安装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占位符 3"/>
          <p:cNvSpPr/>
          <p:nvPr/>
        </p:nvSpPr>
        <p:spPr>
          <a:xfrm>
            <a:off x="769620" y="1685290"/>
            <a:ext cx="9339580" cy="40417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找到提前下载好的</a:t>
            </a:r>
            <a:r>
              <a:rPr lang="en-US" altLang="zh-CN"/>
              <a:t>chatbox</a:t>
            </a:r>
            <a:r>
              <a:rPr lang="zh-CN" altLang="en-US"/>
              <a:t>安装包</a:t>
            </a:r>
            <a:r>
              <a:rPr lang="en-US" altLang="zh-CN"/>
              <a:t>,</a:t>
            </a:r>
            <a:r>
              <a:rPr lang="zh-CN" altLang="en-US">
                <a:sym typeface="+mn-ea"/>
              </a:rPr>
              <a:t>双击默认一直下一步安装即可</a:t>
            </a:r>
            <a:r>
              <a:rPr lang="en-US" altLang="zh-CN"/>
              <a:t>   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0" y="2241550"/>
            <a:ext cx="7420610" cy="4004945"/>
          </a:xfrm>
          <a:prstGeom prst="rect">
            <a:avLst/>
          </a:prstGeom>
        </p:spPr>
      </p:pic>
      <p:pic>
        <p:nvPicPr>
          <p:cNvPr id="9" name="图片 8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840" y="5426710"/>
            <a:ext cx="1153160" cy="115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Chatbox</a:t>
            </a:r>
            <a:r>
              <a:rPr>
                <a:solidFill>
                  <a:schemeClr val="tx1"/>
                </a:solidFill>
                <a:sym typeface="+mn-ea"/>
              </a:rPr>
              <a:t>工具设置本地大模型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占位符 3"/>
          <p:cNvSpPr/>
          <p:nvPr/>
        </p:nvSpPr>
        <p:spPr>
          <a:xfrm>
            <a:off x="710565" y="1420495"/>
            <a:ext cx="9339580" cy="40417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打开</a:t>
            </a:r>
            <a:r>
              <a:rPr lang="en-US" altLang="zh-CN"/>
              <a:t>chatbox</a:t>
            </a:r>
            <a:r>
              <a:rPr lang="zh-CN" altLang="en-US"/>
              <a:t>软件</a:t>
            </a:r>
            <a:r>
              <a:rPr lang="en-US" altLang="zh-CN"/>
              <a:t>,</a:t>
            </a:r>
            <a:r>
              <a:rPr lang="zh-CN" altLang="en-US"/>
              <a:t>选择</a:t>
            </a:r>
            <a:r>
              <a:rPr lang="en-US" altLang="zh-CN"/>
              <a:t>ollama</a:t>
            </a:r>
            <a:r>
              <a:rPr lang="zh-CN" altLang="en-US"/>
              <a:t>服务器中大模型</a:t>
            </a:r>
            <a:r>
              <a:rPr lang="en-US" altLang="zh-CN"/>
              <a:t>   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2035" y="1958340"/>
            <a:ext cx="3783965" cy="4686935"/>
          </a:xfrm>
          <a:prstGeom prst="rect">
            <a:avLst/>
          </a:prstGeom>
        </p:spPr>
      </p:pic>
      <p:pic>
        <p:nvPicPr>
          <p:cNvPr id="9" name="图片 8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840" y="5426710"/>
            <a:ext cx="1153160" cy="115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Chatbox</a:t>
            </a:r>
            <a:r>
              <a:rPr>
                <a:solidFill>
                  <a:schemeClr val="tx1"/>
                </a:solidFill>
                <a:sym typeface="+mn-ea"/>
              </a:rPr>
              <a:t>聊天机器人对话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70" y="1416685"/>
            <a:ext cx="8822055" cy="5148580"/>
          </a:xfrm>
          <a:prstGeom prst="rect">
            <a:avLst/>
          </a:prstGeom>
        </p:spPr>
      </p:pic>
      <p:pic>
        <p:nvPicPr>
          <p:cNvPr id="6" name="图片 5" descr="01 (12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465" y="5527040"/>
            <a:ext cx="1065530" cy="10655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35355" y="1532255"/>
            <a:ext cx="9015095" cy="505968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Chatbox</a:t>
            </a:r>
            <a:r>
              <a:rPr>
                <a:solidFill>
                  <a:schemeClr val="tx1"/>
                </a:solidFill>
                <a:sym typeface="+mn-ea"/>
              </a:rPr>
              <a:t>聊天机器人对话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503680"/>
            <a:ext cx="9041130" cy="4968240"/>
          </a:xfrm>
          <a:prstGeom prst="rect">
            <a:avLst/>
          </a:prstGeom>
        </p:spPr>
      </p:pic>
      <p:pic>
        <p:nvPicPr>
          <p:cNvPr id="4" name="图片 3" descr="01 (12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465" y="5527040"/>
            <a:ext cx="1065530" cy="10655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9930" y="1504315"/>
            <a:ext cx="9218295" cy="499300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Chatbox</a:t>
            </a:r>
            <a:r>
              <a:rPr>
                <a:solidFill>
                  <a:schemeClr val="tx1"/>
                </a:solidFill>
                <a:sym typeface="+mn-ea"/>
              </a:rPr>
              <a:t>聊天机器人对话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1410335"/>
            <a:ext cx="8872220" cy="5177790"/>
          </a:xfrm>
          <a:prstGeom prst="rect">
            <a:avLst/>
          </a:prstGeom>
        </p:spPr>
      </p:pic>
      <p:pic>
        <p:nvPicPr>
          <p:cNvPr id="5" name="图片 4" descr="01 (12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465" y="5527040"/>
            <a:ext cx="1065530" cy="10655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2165" y="1356360"/>
            <a:ext cx="8816340" cy="514096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922114" y="1512570"/>
            <a:ext cx="5760538" cy="4511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b="1" dirty="0"/>
              <a:t>Chatbox</a:t>
            </a:r>
            <a:r>
              <a:rPr lang="zh-CN" altLang="en-US" sz="1600" b="1" dirty="0"/>
              <a:t>是一款什么工具？</a:t>
            </a:r>
            <a:endParaRPr lang="zh-CN" altLang="en-US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Chatbox AI </a:t>
            </a:r>
            <a:r>
              <a:rPr lang="zh-CN" altLang="en-US" sz="1600"/>
              <a:t>是一款</a:t>
            </a:r>
            <a:r>
              <a:rPr lang="en-US" altLang="zh-CN" sz="1600"/>
              <a:t> AI </a:t>
            </a:r>
            <a:r>
              <a:rPr lang="zh-CN" altLang="en-US" sz="1600"/>
              <a:t>客户端应用和智能助手，支持众多先进的</a:t>
            </a:r>
            <a:r>
              <a:rPr lang="en-US" altLang="zh-CN" sz="1600"/>
              <a:t> AI </a:t>
            </a:r>
            <a:r>
              <a:rPr lang="zh-CN" altLang="en-US" sz="1600"/>
              <a:t>模型和</a:t>
            </a:r>
            <a:r>
              <a:rPr lang="en-US" altLang="zh-CN" sz="1600"/>
              <a:t> API</a:t>
            </a:r>
            <a:r>
              <a:rPr lang="zh-CN" altLang="en-US" sz="1600"/>
              <a:t>，可在</a:t>
            </a:r>
            <a:r>
              <a:rPr lang="en-US" altLang="zh-CN" sz="1600"/>
              <a:t> Windows</a:t>
            </a:r>
            <a:r>
              <a:rPr lang="zh-CN" altLang="en-US" sz="1600"/>
              <a:t>、</a:t>
            </a:r>
            <a:r>
              <a:rPr lang="en-US" altLang="zh-CN" sz="1600"/>
              <a:t>MacOS</a:t>
            </a:r>
            <a:r>
              <a:rPr lang="zh-CN" altLang="en-US" sz="1600"/>
              <a:t>、</a:t>
            </a:r>
            <a:r>
              <a:rPr lang="en-US" altLang="zh-CN" sz="1600"/>
              <a:t>Android</a:t>
            </a:r>
            <a:r>
              <a:rPr lang="zh-CN" altLang="en-US" sz="1600"/>
              <a:t>、</a:t>
            </a:r>
            <a:r>
              <a:rPr lang="en-US" altLang="zh-CN" sz="1600"/>
              <a:t>iOS</a:t>
            </a:r>
            <a:r>
              <a:rPr lang="zh-CN" altLang="en-US" sz="1600"/>
              <a:t>、</a:t>
            </a:r>
            <a:r>
              <a:rPr lang="en-US" altLang="zh-CN" sz="1600"/>
              <a:t>Linux </a:t>
            </a:r>
            <a:r>
              <a:rPr lang="zh-CN" altLang="en-US" sz="1600"/>
              <a:t>和网页版上使用。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FlMjg2MmYxODM4Yjk5ZDc5MGVmYjg0M2JjYjM0MTgifQ=="/>
  <p:tag name="KSO_WPP_MARK_KEY" val="216ea374-5a2a-4dbc-86e3-012f022b80e2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WPS 演示</Application>
  <PresentationFormat>宽屏</PresentationFormat>
  <Paragraphs>159</Paragraphs>
  <Slides>39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33</vt:i4>
      </vt:variant>
      <vt:variant>
        <vt:lpstr>幻灯片标题</vt:lpstr>
      </vt:variant>
      <vt:variant>
        <vt:i4>39</vt:i4>
      </vt:variant>
    </vt:vector>
  </HeadingPairs>
  <TitlesOfParts>
    <vt:vector size="90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Arial Unicode MS</vt:lpstr>
      <vt:lpstr>等线</vt:lpstr>
      <vt:lpstr>Consolas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20_学习目标</vt:lpstr>
      <vt:lpstr>21_学习目标</vt:lpstr>
      <vt:lpstr>22_学习目标</vt:lpstr>
      <vt:lpstr>23_学习目标</vt:lpstr>
      <vt:lpstr>ollama指令详解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基于工具调用本地模型实现聊天效果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1362</cp:revision>
  <dcterms:created xsi:type="dcterms:W3CDTF">2022-04-23T05:57:00Z</dcterms:created>
  <dcterms:modified xsi:type="dcterms:W3CDTF">2025-04-14T07:11:05Z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2052-12.1.0.20305</vt:lpwstr>
  </property>
  <property fmtid="{D5CDD505-2E9C-101B-9397-08002B2CF9AE}" pid="4" name="commondata">
    <vt:lpwstr>eyJoZGlkIjoiMDAzZmIwZjU2YjM3ZmIyZjYxNWQ1NTViMjdhYzBlM2EifQ==</vt:lpwstr>
  </property>
</Properties>
</file>