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9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59" r:id="rId6"/>
    <p:sldMasterId id="2147483662" r:id="rId7"/>
    <p:sldMasterId id="2147483679" r:id="rId8"/>
    <p:sldMasterId id="2147483681" r:id="rId9"/>
    <p:sldMasterId id="2147483684" r:id="rId10"/>
    <p:sldMasterId id="2147483687" r:id="rId11"/>
    <p:sldMasterId id="2147483704" r:id="rId12"/>
    <p:sldMasterId id="2147483707" r:id="rId13"/>
    <p:sldMasterId id="2147483724" r:id="rId14"/>
    <p:sldMasterId id="2147483727" r:id="rId15"/>
    <p:sldMasterId id="2147483730" r:id="rId16"/>
    <p:sldMasterId id="2147483733" r:id="rId17"/>
    <p:sldMasterId id="2147483736" r:id="rId18"/>
    <p:sldMasterId id="2147483739" r:id="rId19"/>
  </p:sldMasterIdLst>
  <p:notesMasterIdLst>
    <p:notesMasterId r:id="rId45"/>
  </p:notesMasterIdLst>
  <p:handoutMasterIdLst>
    <p:handoutMasterId r:id="rId133"/>
  </p:handoutMasterIdLst>
  <p:sldIdLst>
    <p:sldId id="739" r:id="rId20"/>
    <p:sldId id="463" r:id="rId21"/>
    <p:sldId id="1516" r:id="rId22"/>
    <p:sldId id="464" r:id="rId23"/>
    <p:sldId id="896" r:id="rId24"/>
    <p:sldId id="897" r:id="rId25"/>
    <p:sldId id="745" r:id="rId26"/>
    <p:sldId id="1517" r:id="rId27"/>
    <p:sldId id="1502" r:id="rId28"/>
    <p:sldId id="1503" r:id="rId29"/>
    <p:sldId id="1504" r:id="rId30"/>
    <p:sldId id="1505" r:id="rId31"/>
    <p:sldId id="1506" r:id="rId32"/>
    <p:sldId id="1507" r:id="rId33"/>
    <p:sldId id="1525" r:id="rId34"/>
    <p:sldId id="1508" r:id="rId35"/>
    <p:sldId id="1509" r:id="rId36"/>
    <p:sldId id="1510" r:id="rId37"/>
    <p:sldId id="1512" r:id="rId38"/>
    <p:sldId id="1513" r:id="rId39"/>
    <p:sldId id="1514" r:id="rId40"/>
    <p:sldId id="1515" r:id="rId41"/>
    <p:sldId id="1518" r:id="rId42"/>
    <p:sldId id="749" r:id="rId43"/>
    <p:sldId id="746" r:id="rId44"/>
    <p:sldId id="747" r:id="rId46"/>
    <p:sldId id="750" r:id="rId47"/>
    <p:sldId id="1052" r:id="rId48"/>
    <p:sldId id="1055" r:id="rId49"/>
    <p:sldId id="748" r:id="rId50"/>
    <p:sldId id="754" r:id="rId51"/>
    <p:sldId id="771" r:id="rId52"/>
    <p:sldId id="934" r:id="rId53"/>
    <p:sldId id="937" r:id="rId54"/>
    <p:sldId id="1162" r:id="rId55"/>
    <p:sldId id="1161" r:id="rId56"/>
    <p:sldId id="1056" r:id="rId57"/>
    <p:sldId id="770" r:id="rId58"/>
    <p:sldId id="879" r:id="rId59"/>
    <p:sldId id="751" r:id="rId60"/>
    <p:sldId id="760" r:id="rId61"/>
    <p:sldId id="914" r:id="rId62"/>
    <p:sldId id="763" r:id="rId63"/>
    <p:sldId id="764" r:id="rId64"/>
    <p:sldId id="756" r:id="rId65"/>
    <p:sldId id="905" r:id="rId66"/>
    <p:sldId id="913" r:id="rId67"/>
    <p:sldId id="915" r:id="rId68"/>
    <p:sldId id="918" r:id="rId69"/>
    <p:sldId id="1526" r:id="rId70"/>
    <p:sldId id="1519" r:id="rId71"/>
    <p:sldId id="765" r:id="rId72"/>
    <p:sldId id="766" r:id="rId73"/>
    <p:sldId id="767" r:id="rId74"/>
    <p:sldId id="768" r:id="rId75"/>
    <p:sldId id="773" r:id="rId76"/>
    <p:sldId id="924" r:id="rId77"/>
    <p:sldId id="774" r:id="rId78"/>
    <p:sldId id="775" r:id="rId79"/>
    <p:sldId id="1520" r:id="rId80"/>
    <p:sldId id="1482" r:id="rId81"/>
    <p:sldId id="906" r:id="rId82"/>
    <p:sldId id="907" r:id="rId83"/>
    <p:sldId id="908" r:id="rId84"/>
    <p:sldId id="909" r:id="rId85"/>
    <p:sldId id="910" r:id="rId86"/>
    <p:sldId id="921" r:id="rId87"/>
    <p:sldId id="1521" r:id="rId88"/>
    <p:sldId id="923" r:id="rId89"/>
    <p:sldId id="927" r:id="rId90"/>
    <p:sldId id="926" r:id="rId91"/>
    <p:sldId id="928" r:id="rId92"/>
    <p:sldId id="929" r:id="rId93"/>
    <p:sldId id="932" r:id="rId94"/>
    <p:sldId id="933" r:id="rId95"/>
    <p:sldId id="1024" r:id="rId96"/>
    <p:sldId id="1469" r:id="rId97"/>
    <p:sldId id="1025" r:id="rId98"/>
    <p:sldId id="1046" r:id="rId99"/>
    <p:sldId id="1022" r:id="rId100"/>
    <p:sldId id="1522" r:id="rId101"/>
    <p:sldId id="1027" r:id="rId102"/>
    <p:sldId id="1036" r:id="rId103"/>
    <p:sldId id="1034" r:id="rId104"/>
    <p:sldId id="1032" r:id="rId105"/>
    <p:sldId id="1035" r:id="rId106"/>
    <p:sldId id="1037" r:id="rId107"/>
    <p:sldId id="1038" r:id="rId108"/>
    <p:sldId id="1039" r:id="rId109"/>
    <p:sldId id="1328" r:id="rId110"/>
    <p:sldId id="1330" r:id="rId111"/>
    <p:sldId id="1040" r:id="rId112"/>
    <p:sldId id="1041" r:id="rId113"/>
    <p:sldId id="1042" r:id="rId114"/>
    <p:sldId id="1050" r:id="rId115"/>
    <p:sldId id="1048" r:id="rId116"/>
    <p:sldId id="1045" r:id="rId117"/>
    <p:sldId id="1047" r:id="rId118"/>
    <p:sldId id="1523" r:id="rId119"/>
    <p:sldId id="1494" r:id="rId120"/>
    <p:sldId id="1496" r:id="rId121"/>
    <p:sldId id="1497" r:id="rId122"/>
    <p:sldId id="1498" r:id="rId123"/>
    <p:sldId id="1499" r:id="rId124"/>
    <p:sldId id="1500" r:id="rId125"/>
    <p:sldId id="1524" r:id="rId126"/>
    <p:sldId id="1495" r:id="rId127"/>
    <p:sldId id="1480" r:id="rId128"/>
    <p:sldId id="1471" r:id="rId129"/>
    <p:sldId id="1470" r:id="rId130"/>
    <p:sldId id="1479" r:id="rId131"/>
    <p:sldId id="264" r:id="rId132"/>
  </p:sldIdLst>
  <p:sldSz cx="12192000" cy="6858000"/>
  <p:notesSz cx="6858000" cy="9144000"/>
  <p:custDataLst>
    <p:tags r:id="rId1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FFFFFF"/>
    <a:srgbClr val="AD2B26"/>
    <a:srgbClr val="49504F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97" autoAdjust="0"/>
    <p:restoredTop sz="91908" autoAdjust="0"/>
  </p:normalViewPr>
  <p:slideViewPr>
    <p:cSldViewPr snapToGrid="0">
      <p:cViewPr varScale="1">
        <p:scale>
          <a:sx n="102" d="100"/>
          <a:sy n="102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79.xml"/><Relationship Id="rId98" Type="http://schemas.openxmlformats.org/officeDocument/2006/relationships/slide" Target="slides/slide78.xml"/><Relationship Id="rId97" Type="http://schemas.openxmlformats.org/officeDocument/2006/relationships/slide" Target="slides/slide77.xml"/><Relationship Id="rId96" Type="http://schemas.openxmlformats.org/officeDocument/2006/relationships/slide" Target="slides/slide76.xml"/><Relationship Id="rId95" Type="http://schemas.openxmlformats.org/officeDocument/2006/relationships/slide" Target="slides/slide75.xml"/><Relationship Id="rId94" Type="http://schemas.openxmlformats.org/officeDocument/2006/relationships/slide" Target="slides/slide74.xml"/><Relationship Id="rId93" Type="http://schemas.openxmlformats.org/officeDocument/2006/relationships/slide" Target="slides/slide73.xml"/><Relationship Id="rId92" Type="http://schemas.openxmlformats.org/officeDocument/2006/relationships/slide" Target="slides/slide72.xml"/><Relationship Id="rId91" Type="http://schemas.openxmlformats.org/officeDocument/2006/relationships/slide" Target="slides/slide71.xml"/><Relationship Id="rId90" Type="http://schemas.openxmlformats.org/officeDocument/2006/relationships/slide" Target="slides/slide70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69.xml"/><Relationship Id="rId88" Type="http://schemas.openxmlformats.org/officeDocument/2006/relationships/slide" Target="slides/slide68.xml"/><Relationship Id="rId87" Type="http://schemas.openxmlformats.org/officeDocument/2006/relationships/slide" Target="slides/slide67.xml"/><Relationship Id="rId86" Type="http://schemas.openxmlformats.org/officeDocument/2006/relationships/slide" Target="slides/slide66.xml"/><Relationship Id="rId85" Type="http://schemas.openxmlformats.org/officeDocument/2006/relationships/slide" Target="slides/slide65.xml"/><Relationship Id="rId84" Type="http://schemas.openxmlformats.org/officeDocument/2006/relationships/slide" Target="slides/slide64.xml"/><Relationship Id="rId83" Type="http://schemas.openxmlformats.org/officeDocument/2006/relationships/slide" Target="slides/slide63.xml"/><Relationship Id="rId82" Type="http://schemas.openxmlformats.org/officeDocument/2006/relationships/slide" Target="slides/slide62.xml"/><Relationship Id="rId81" Type="http://schemas.openxmlformats.org/officeDocument/2006/relationships/slide" Target="slides/slide61.xml"/><Relationship Id="rId80" Type="http://schemas.openxmlformats.org/officeDocument/2006/relationships/slide" Target="slides/slide6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59.xml"/><Relationship Id="rId78" Type="http://schemas.openxmlformats.org/officeDocument/2006/relationships/slide" Target="slides/slide58.xml"/><Relationship Id="rId77" Type="http://schemas.openxmlformats.org/officeDocument/2006/relationships/slide" Target="slides/slide57.xml"/><Relationship Id="rId76" Type="http://schemas.openxmlformats.org/officeDocument/2006/relationships/slide" Target="slides/slide56.xml"/><Relationship Id="rId75" Type="http://schemas.openxmlformats.org/officeDocument/2006/relationships/slide" Target="slides/slide55.xml"/><Relationship Id="rId74" Type="http://schemas.openxmlformats.org/officeDocument/2006/relationships/slide" Target="slides/slide54.xml"/><Relationship Id="rId73" Type="http://schemas.openxmlformats.org/officeDocument/2006/relationships/slide" Target="slides/slide53.xml"/><Relationship Id="rId72" Type="http://schemas.openxmlformats.org/officeDocument/2006/relationships/slide" Target="slides/slide52.xml"/><Relationship Id="rId71" Type="http://schemas.openxmlformats.org/officeDocument/2006/relationships/slide" Target="slides/slide51.xml"/><Relationship Id="rId70" Type="http://schemas.openxmlformats.org/officeDocument/2006/relationships/slide" Target="slides/slide5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49.xml"/><Relationship Id="rId68" Type="http://schemas.openxmlformats.org/officeDocument/2006/relationships/slide" Target="slides/slide48.xml"/><Relationship Id="rId67" Type="http://schemas.openxmlformats.org/officeDocument/2006/relationships/slide" Target="slides/slide47.xml"/><Relationship Id="rId66" Type="http://schemas.openxmlformats.org/officeDocument/2006/relationships/slide" Target="slides/slide46.xml"/><Relationship Id="rId65" Type="http://schemas.openxmlformats.org/officeDocument/2006/relationships/slide" Target="slides/slide45.xml"/><Relationship Id="rId64" Type="http://schemas.openxmlformats.org/officeDocument/2006/relationships/slide" Target="slides/slide44.xml"/><Relationship Id="rId63" Type="http://schemas.openxmlformats.org/officeDocument/2006/relationships/slide" Target="slides/slide43.xml"/><Relationship Id="rId62" Type="http://schemas.openxmlformats.org/officeDocument/2006/relationships/slide" Target="slides/slide42.xml"/><Relationship Id="rId61" Type="http://schemas.openxmlformats.org/officeDocument/2006/relationships/slide" Target="slides/slide41.xml"/><Relationship Id="rId60" Type="http://schemas.openxmlformats.org/officeDocument/2006/relationships/slide" Target="slides/slide4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9.xml"/><Relationship Id="rId58" Type="http://schemas.openxmlformats.org/officeDocument/2006/relationships/slide" Target="slides/slide38.xml"/><Relationship Id="rId57" Type="http://schemas.openxmlformats.org/officeDocument/2006/relationships/slide" Target="slides/slide37.xml"/><Relationship Id="rId56" Type="http://schemas.openxmlformats.org/officeDocument/2006/relationships/slide" Target="slides/slide36.xml"/><Relationship Id="rId55" Type="http://schemas.openxmlformats.org/officeDocument/2006/relationships/slide" Target="slides/slide35.xml"/><Relationship Id="rId54" Type="http://schemas.openxmlformats.org/officeDocument/2006/relationships/slide" Target="slides/slide34.xml"/><Relationship Id="rId53" Type="http://schemas.openxmlformats.org/officeDocument/2006/relationships/slide" Target="slides/slide33.xml"/><Relationship Id="rId52" Type="http://schemas.openxmlformats.org/officeDocument/2006/relationships/slide" Target="slides/slide32.xml"/><Relationship Id="rId51" Type="http://schemas.openxmlformats.org/officeDocument/2006/relationships/slide" Target="slides/slide31.xml"/><Relationship Id="rId50" Type="http://schemas.openxmlformats.org/officeDocument/2006/relationships/slide" Target="slides/slide3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9.xml"/><Relationship Id="rId48" Type="http://schemas.openxmlformats.org/officeDocument/2006/relationships/slide" Target="slides/slide28.xml"/><Relationship Id="rId47" Type="http://schemas.openxmlformats.org/officeDocument/2006/relationships/slide" Target="slides/slide27.xml"/><Relationship Id="rId46" Type="http://schemas.openxmlformats.org/officeDocument/2006/relationships/slide" Target="slides/slide26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7" Type="http://schemas.openxmlformats.org/officeDocument/2006/relationships/tags" Target="tags/tag22.xml"/><Relationship Id="rId136" Type="http://schemas.openxmlformats.org/officeDocument/2006/relationships/tableStyles" Target="tableStyles.xml"/><Relationship Id="rId135" Type="http://schemas.openxmlformats.org/officeDocument/2006/relationships/viewProps" Target="viewProps.xml"/><Relationship Id="rId134" Type="http://schemas.openxmlformats.org/officeDocument/2006/relationships/presProps" Target="presProps.xml"/><Relationship Id="rId133" Type="http://schemas.openxmlformats.org/officeDocument/2006/relationships/handoutMaster" Target="handoutMasters/handoutMaster1.xml"/><Relationship Id="rId132" Type="http://schemas.openxmlformats.org/officeDocument/2006/relationships/slide" Target="slides/slide112.xml"/><Relationship Id="rId131" Type="http://schemas.openxmlformats.org/officeDocument/2006/relationships/slide" Target="slides/slide111.xml"/><Relationship Id="rId130" Type="http://schemas.openxmlformats.org/officeDocument/2006/relationships/slide" Target="slides/slide110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109.xml"/><Relationship Id="rId128" Type="http://schemas.openxmlformats.org/officeDocument/2006/relationships/slide" Target="slides/slide108.xml"/><Relationship Id="rId127" Type="http://schemas.openxmlformats.org/officeDocument/2006/relationships/slide" Target="slides/slide107.xml"/><Relationship Id="rId126" Type="http://schemas.openxmlformats.org/officeDocument/2006/relationships/slide" Target="slides/slide106.xml"/><Relationship Id="rId125" Type="http://schemas.openxmlformats.org/officeDocument/2006/relationships/slide" Target="slides/slide105.xml"/><Relationship Id="rId124" Type="http://schemas.openxmlformats.org/officeDocument/2006/relationships/slide" Target="slides/slide104.xml"/><Relationship Id="rId123" Type="http://schemas.openxmlformats.org/officeDocument/2006/relationships/slide" Target="slides/slide103.xml"/><Relationship Id="rId122" Type="http://schemas.openxmlformats.org/officeDocument/2006/relationships/slide" Target="slides/slide102.xml"/><Relationship Id="rId121" Type="http://schemas.openxmlformats.org/officeDocument/2006/relationships/slide" Target="slides/slide101.xml"/><Relationship Id="rId120" Type="http://schemas.openxmlformats.org/officeDocument/2006/relationships/slide" Target="slides/slide100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99.xml"/><Relationship Id="rId118" Type="http://schemas.openxmlformats.org/officeDocument/2006/relationships/slide" Target="slides/slide98.xml"/><Relationship Id="rId117" Type="http://schemas.openxmlformats.org/officeDocument/2006/relationships/slide" Target="slides/slide97.xml"/><Relationship Id="rId116" Type="http://schemas.openxmlformats.org/officeDocument/2006/relationships/slide" Target="slides/slide96.xml"/><Relationship Id="rId115" Type="http://schemas.openxmlformats.org/officeDocument/2006/relationships/slide" Target="slides/slide95.xml"/><Relationship Id="rId114" Type="http://schemas.openxmlformats.org/officeDocument/2006/relationships/slide" Target="slides/slide94.xml"/><Relationship Id="rId113" Type="http://schemas.openxmlformats.org/officeDocument/2006/relationships/slide" Target="slides/slide93.xml"/><Relationship Id="rId112" Type="http://schemas.openxmlformats.org/officeDocument/2006/relationships/slide" Target="slides/slide92.xml"/><Relationship Id="rId111" Type="http://schemas.openxmlformats.org/officeDocument/2006/relationships/slide" Target="slides/slide91.xml"/><Relationship Id="rId110" Type="http://schemas.openxmlformats.org/officeDocument/2006/relationships/slide" Target="slides/slide90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89.xml"/><Relationship Id="rId108" Type="http://schemas.openxmlformats.org/officeDocument/2006/relationships/slide" Target="slides/slide88.xml"/><Relationship Id="rId107" Type="http://schemas.openxmlformats.org/officeDocument/2006/relationships/slide" Target="slides/slide87.xml"/><Relationship Id="rId106" Type="http://schemas.openxmlformats.org/officeDocument/2006/relationships/slide" Target="slides/slide86.xml"/><Relationship Id="rId105" Type="http://schemas.openxmlformats.org/officeDocument/2006/relationships/slide" Target="slides/slide85.xml"/><Relationship Id="rId104" Type="http://schemas.openxmlformats.org/officeDocument/2006/relationships/slide" Target="slides/slide84.xml"/><Relationship Id="rId103" Type="http://schemas.openxmlformats.org/officeDocument/2006/relationships/slide" Target="slides/slide83.xml"/><Relationship Id="rId102" Type="http://schemas.openxmlformats.org/officeDocument/2006/relationships/slide" Target="slides/slide82.xml"/><Relationship Id="rId101" Type="http://schemas.openxmlformats.org/officeDocument/2006/relationships/slide" Target="slides/slide81.xml"/><Relationship Id="rId100" Type="http://schemas.openxmlformats.org/officeDocument/2006/relationships/slide" Target="slides/slide8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8" Type="http://schemas.openxmlformats.org/officeDocument/2006/relationships/theme" Target="../theme/theme10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8" Type="http://schemas.openxmlformats.org/officeDocument/2006/relationships/theme" Target="../theme/theme12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5.xml.rels><?xml version="1.0" encoding="UTF-8" standalone="yes"?>
<Relationships xmlns="http://schemas.openxmlformats.org/package/2006/relationships"><Relationship Id="rId5" Type="http://schemas.openxmlformats.org/officeDocument/2006/relationships/theme" Target="../theme/theme15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6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46.png"/><Relationship Id="rId2" Type="http://schemas.openxmlformats.org/officeDocument/2006/relationships/image" Target="../media/image20.png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6.png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60.png"/><Relationship Id="rId3" Type="http://schemas.openxmlformats.org/officeDocument/2006/relationships/tags" Target="../tags/tag5.xml"/><Relationship Id="rId2" Type="http://schemas.openxmlformats.org/officeDocument/2006/relationships/image" Target="../media/image59.png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7.png"/><Relationship Id="rId1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8.png"/><Relationship Id="rId1" Type="http://schemas.openxmlformats.org/officeDocument/2006/relationships/tags" Target="../tags/tag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71.png"/><Relationship Id="rId3" Type="http://schemas.openxmlformats.org/officeDocument/2006/relationships/tags" Target="../tags/tag8.xml"/><Relationship Id="rId2" Type="http://schemas.openxmlformats.org/officeDocument/2006/relationships/image" Target="../media/image70.png"/><Relationship Id="rId1" Type="http://schemas.openxmlformats.org/officeDocument/2006/relationships/tags" Target="../tags/tag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0.xml"/><Relationship Id="rId4" Type="http://schemas.openxmlformats.org/officeDocument/2006/relationships/image" Target="../media/image68.png"/><Relationship Id="rId3" Type="http://schemas.openxmlformats.org/officeDocument/2006/relationships/image" Target="../media/image75.png"/><Relationship Id="rId2" Type="http://schemas.openxmlformats.org/officeDocument/2006/relationships/tags" Target="../tags/tag9.xml"/><Relationship Id="rId1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80.png"/><Relationship Id="rId2" Type="http://schemas.openxmlformats.org/officeDocument/2006/relationships/image" Target="../media/image48.png"/><Relationship Id="rId1" Type="http://schemas.openxmlformats.org/officeDocument/2006/relationships/tags" Target="../tags/tag1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92.png"/><Relationship Id="rId2" Type="http://schemas.openxmlformats.org/officeDocument/2006/relationships/image" Target="../media/image91.GIF"/><Relationship Id="rId1" Type="http://schemas.openxmlformats.org/officeDocument/2006/relationships/image" Target="../media/image90.GI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6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07.png"/><Relationship Id="rId1" Type="http://schemas.openxmlformats.org/officeDocument/2006/relationships/tags" Target="../tags/tag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09.svg"/><Relationship Id="rId2" Type="http://schemas.openxmlformats.org/officeDocument/2006/relationships/image" Target="../media/image108.png"/><Relationship Id="rId1" Type="http://schemas.openxmlformats.org/officeDocument/2006/relationships/image" Target="../media/image110.png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2.png"/><Relationship Id="rId5" Type="http://schemas.openxmlformats.org/officeDocument/2006/relationships/tags" Target="../tags/tag16.xml"/><Relationship Id="rId4" Type="http://schemas.openxmlformats.org/officeDocument/2006/relationships/image" Target="../media/image111.png"/><Relationship Id="rId3" Type="http://schemas.openxmlformats.org/officeDocument/2006/relationships/tags" Target="../tags/tag15.xml"/><Relationship Id="rId2" Type="http://schemas.openxmlformats.org/officeDocument/2006/relationships/image" Target="../media/image9.png"/><Relationship Id="rId1" Type="http://schemas.openxmlformats.org/officeDocument/2006/relationships/tags" Target="../tags/tag1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5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9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14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3.png"/><Relationship Id="rId1" Type="http://schemas.openxmlformats.org/officeDocument/2006/relationships/image" Target="../media/image122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7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tags" Target="../tags/tag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0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2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8.png"/><Relationship Id="rId1" Type="http://schemas.openxmlformats.org/officeDocument/2006/relationships/tags" Target="../tags/tag1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数据容器</a:t>
            </a:r>
            <a:endParaRPr lang="zh-CN" altLang="en-US" sz="4400" dirty="0">
              <a:solidFill>
                <a:srgbClr val="262626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数据容器的概念和作用</a:t>
            </a:r>
            <a:endParaRPr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了解数据容器是什么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为什么学习数据容器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239645" y="1656080"/>
            <a:ext cx="9170035" cy="4219575"/>
          </a:xfrm>
        </p:spPr>
        <p:txBody>
          <a:bodyPr/>
          <a:p>
            <a:r>
              <a:rPr lang="zh-CN" altLang="en-US"/>
              <a:t>思考一个问题：如果我想要在程序中，记录</a:t>
            </a:r>
            <a:r>
              <a:rPr lang="en-US" altLang="zh-CN"/>
              <a:t>5</a:t>
            </a:r>
            <a:r>
              <a:rPr lang="zh-CN" altLang="en-US"/>
              <a:t>名学生的信息，如姓名。</a:t>
            </a:r>
            <a:endParaRPr lang="zh-CN" altLang="en-US"/>
          </a:p>
          <a:p>
            <a:r>
              <a:rPr lang="zh-CN" altLang="en-US"/>
              <a:t>如何做呢？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" y="1332865"/>
            <a:ext cx="2082165" cy="208216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590040" y="2591435"/>
            <a:ext cx="3892550" cy="2578735"/>
            <a:chOff x="2504" y="4081"/>
            <a:chExt cx="6130" cy="406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" y="4081"/>
              <a:ext cx="3795" cy="328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文本占位符 2"/>
            <p:cNvSpPr>
              <a:spLocks noGrp="1"/>
            </p:cNvSpPr>
            <p:nvPr/>
          </p:nvSpPr>
          <p:spPr>
            <a:xfrm>
              <a:off x="2504" y="7366"/>
              <a:ext cx="6130" cy="77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/>
                <a:t>定义五个变量</a:t>
              </a:r>
              <a:endParaRPr lang="zh-CN" altLang="en-US"/>
            </a:p>
          </p:txBody>
        </p:sp>
      </p:grpSp>
      <p:sp>
        <p:nvSpPr>
          <p:cNvPr id="7" name="文本占位符 2"/>
          <p:cNvSpPr>
            <a:spLocks noGrp="1"/>
          </p:cNvSpPr>
          <p:nvPr/>
        </p:nvSpPr>
        <p:spPr>
          <a:xfrm>
            <a:off x="1589405" y="5207000"/>
            <a:ext cx="3892550" cy="4933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不高级且低效</a:t>
            </a:r>
            <a:endParaRPr lang="zh-CN" altLang="en-US" sz="1800" b="1">
              <a:solidFill>
                <a:schemeClr val="tx2">
                  <a:lumMod val="60000"/>
                  <a:lumOff val="40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482590" y="2591435"/>
            <a:ext cx="5932170" cy="2313940"/>
            <a:chOff x="8634" y="4498"/>
            <a:chExt cx="9342" cy="3644"/>
          </a:xfrm>
        </p:grpSpPr>
        <p:sp>
          <p:nvSpPr>
            <p:cNvPr id="12" name="文本占位符 2"/>
            <p:cNvSpPr>
              <a:spLocks noGrp="1"/>
            </p:cNvSpPr>
            <p:nvPr/>
          </p:nvSpPr>
          <p:spPr>
            <a:xfrm>
              <a:off x="10240" y="7366"/>
              <a:ext cx="6130" cy="777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/>
                <a:t>一个变量完成</a:t>
              </a:r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34" y="4498"/>
              <a:ext cx="9342" cy="245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5" name="文本占位符 2"/>
          <p:cNvSpPr>
            <a:spLocks noGrp="1"/>
          </p:cNvSpPr>
          <p:nvPr/>
        </p:nvSpPr>
        <p:spPr>
          <a:xfrm>
            <a:off x="5933440" y="4906010"/>
            <a:ext cx="5030470" cy="4933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优雅、高效</a:t>
            </a:r>
            <a:endParaRPr lang="zh-CN" altLang="en-US" sz="1800" b="1">
              <a:solidFill>
                <a:schemeClr val="tx2">
                  <a:lumMod val="60000"/>
                  <a:lumOff val="40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 sz="1800" b="1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这就是数据容器，一个容器可以容纳多份数据</a:t>
            </a:r>
            <a:endParaRPr lang="zh-CN" altLang="en-US" sz="1800" b="1">
              <a:solidFill>
                <a:schemeClr val="tx2">
                  <a:lumMod val="60000"/>
                  <a:lumOff val="40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6" name="文本占位符 2"/>
          <p:cNvSpPr>
            <a:spLocks noGrp="1"/>
          </p:cNvSpPr>
          <p:nvPr/>
        </p:nvSpPr>
        <p:spPr>
          <a:xfrm>
            <a:off x="3027680" y="6206490"/>
            <a:ext cx="6137275" cy="4933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学习数据容器，就是为了批量存储或批量使用多份数据</a:t>
            </a:r>
            <a:endParaRPr lang="zh-CN" altLang="en-US" sz="18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846955" y="3249295"/>
            <a:ext cx="529590" cy="35941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7" grpId="2"/>
      <p:bldP spid="15" grpId="1"/>
      <p:bldP spid="15" grpId="2"/>
      <p:bldP spid="16" grpId="1"/>
      <p:bldP spid="16" grpId="2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Python</a:t>
            </a:r>
            <a:r>
              <a:rPr lang="zh-CN" altLang="en-US"/>
              <a:t>中的数据容器：</a:t>
            </a:r>
            <a:endParaRPr lang="zh-CN" altLang="en-US"/>
          </a:p>
          <a:p>
            <a:r>
              <a:rPr lang="zh-CN" altLang="en-US"/>
              <a:t>一种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可以容纳多份数据</a:t>
            </a:r>
            <a:r>
              <a:rPr lang="zh-CN" altLang="en-US"/>
              <a:t>的数据类型，容纳的每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一份数据称之为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个元素</a:t>
            </a:r>
            <a:endParaRPr lang="zh-CN" altLang="en-US"/>
          </a:p>
          <a:p>
            <a:r>
              <a:rPr lang="zh-CN" altLang="en-US"/>
              <a:t>每一个元素，可以是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任意类型</a:t>
            </a:r>
            <a:r>
              <a:rPr lang="zh-CN" altLang="en-US"/>
              <a:t>的数据，如字符串、数字、布尔等。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数据容器根据特点的不同，如：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是否支持重复元素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是否可以修改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是否有序，等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分为</a:t>
            </a:r>
            <a:r>
              <a:rPr lang="en-US" altLang="zh-CN"/>
              <a:t>5</a:t>
            </a:r>
            <a:r>
              <a:rPr lang="zh-CN" altLang="en-US"/>
              <a:t>类，分别是：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字符串（</a:t>
            </a:r>
            <a:r>
              <a:rPr lang="en-US" altLang="zh-CN">
                <a:sym typeface="+mn-ea"/>
              </a:rPr>
              <a:t>str</a:t>
            </a:r>
            <a:r>
              <a:rPr lang="zh-CN" altLang="en-US">
                <a:sym typeface="+mn-ea"/>
              </a:rPr>
              <a:t>）、</a:t>
            </a:r>
            <a:r>
              <a:rPr lang="zh-CN" altLang="en-US"/>
              <a:t>列表（</a:t>
            </a:r>
            <a:r>
              <a:rPr lang="en-US" altLang="zh-CN"/>
              <a:t>list</a:t>
            </a:r>
            <a:r>
              <a:rPr lang="zh-CN" altLang="en-US"/>
              <a:t>）、元组（</a:t>
            </a:r>
            <a:r>
              <a:rPr lang="en-US" altLang="zh-CN"/>
              <a:t>tuple</a:t>
            </a:r>
            <a:r>
              <a:rPr lang="zh-CN" altLang="en-US"/>
              <a:t>）、集合（</a:t>
            </a:r>
            <a:r>
              <a:rPr lang="en-US" altLang="zh-CN"/>
              <a:t>set</a:t>
            </a:r>
            <a:r>
              <a:rPr lang="zh-CN" altLang="en-US"/>
              <a:t>）、字典（</a:t>
            </a:r>
            <a:r>
              <a:rPr lang="en-US" altLang="zh-CN"/>
              <a:t>dict</a:t>
            </a:r>
            <a:r>
              <a:rPr lang="zh-CN" altLang="en-US"/>
              <a:t>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我们将一一学习它们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090" y="1946910"/>
            <a:ext cx="4467225" cy="3638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265555"/>
            <a:ext cx="5760720" cy="4863465"/>
          </a:xfrm>
        </p:spPr>
        <p:txBody>
          <a:bodyPr/>
          <a:p>
            <a:r>
              <a:rPr lang="zh-CN" altLang="en-US"/>
              <a:t>什么是数据容器？</a:t>
            </a:r>
            <a:endParaRPr lang="zh-CN" altLang="en-US"/>
          </a:p>
          <a:p>
            <a:pPr marL="0" indent="0">
              <a:buNone/>
            </a:pPr>
            <a:r>
              <a:rPr lang="zh-CN" altLang="en-US" sz="1600"/>
              <a:t>一种可以存储多个元素的</a:t>
            </a:r>
            <a:r>
              <a:rPr lang="en-US" altLang="zh-CN" sz="1600"/>
              <a:t>Python</a:t>
            </a:r>
            <a:r>
              <a:rPr lang="zh-CN" altLang="en-US" sz="1600"/>
              <a:t>数据类型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/>
              <a:t>2. Python</a:t>
            </a:r>
            <a:r>
              <a:rPr lang="zh-CN" altLang="en-US"/>
              <a:t>有哪些数据容器？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str(</a:t>
            </a:r>
            <a:r>
              <a:rPr lang="zh-CN" altLang="en-US">
                <a:sym typeface="+mn-ea"/>
              </a:rPr>
              <a:t>字符串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、</a:t>
            </a:r>
            <a:endParaRPr lang="zh-CN" altLang="en-US"/>
          </a:p>
          <a:p>
            <a:pPr marL="0" indent="0">
              <a:buNone/>
            </a:pPr>
            <a:r>
              <a:rPr lang="en-US" altLang="zh-CN" sz="1600"/>
              <a:t>list(</a:t>
            </a:r>
            <a:r>
              <a:rPr lang="zh-CN" altLang="en-US" sz="1600"/>
              <a:t>列表</a:t>
            </a:r>
            <a:r>
              <a:rPr lang="en-US" altLang="zh-CN" sz="1600"/>
              <a:t>)</a:t>
            </a:r>
            <a:r>
              <a:rPr lang="zh-CN" altLang="en-US" sz="1600"/>
              <a:t>、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tuple(</a:t>
            </a:r>
            <a:r>
              <a:rPr lang="zh-CN" altLang="en-US" sz="1600"/>
              <a:t>元组</a:t>
            </a:r>
            <a:r>
              <a:rPr lang="en-US" altLang="zh-CN" sz="1600"/>
              <a:t>)</a:t>
            </a:r>
            <a:r>
              <a:rPr lang="zh-CN" altLang="en-US" sz="1600"/>
              <a:t>、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set(</a:t>
            </a:r>
            <a:r>
              <a:rPr lang="zh-CN" altLang="en-US" sz="1600"/>
              <a:t>集合</a:t>
            </a:r>
            <a:r>
              <a:rPr lang="en-US" altLang="zh-CN" sz="1600"/>
              <a:t>)</a:t>
            </a:r>
            <a:r>
              <a:rPr lang="zh-CN" altLang="en-US" sz="1600"/>
              <a:t>、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dict(</a:t>
            </a:r>
            <a:r>
              <a:rPr lang="zh-CN" altLang="en-US" sz="1600"/>
              <a:t>字典</a:t>
            </a:r>
            <a:r>
              <a:rPr lang="en-US" altLang="zh-CN" sz="1600"/>
              <a:t>)</a:t>
            </a:r>
            <a:endParaRPr lang="en-US" altLang="zh-CN" sz="1600"/>
          </a:p>
          <a:p>
            <a:pPr marL="0" indent="0">
              <a:buNone/>
            </a:pP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掌握字符串的常见操作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710565" y="3811905"/>
            <a:ext cx="8667115" cy="1295400"/>
            <a:chOff x="1119" y="6003"/>
            <a:chExt cx="12540" cy="204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19" y="6003"/>
              <a:ext cx="12540" cy="204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1" y="6330"/>
              <a:ext cx="12192" cy="1041"/>
            </a:xfrm>
            <a:prstGeom prst="rect">
              <a:avLst/>
            </a:prstGeom>
          </p:spPr>
        </p:pic>
      </p:grp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再识字符串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尽管字符串看起来并不像：列表、元组那样，一看就是存放了许多数据的容器。</a:t>
            </a:r>
            <a:endParaRPr lang="zh-CN" altLang="en-US"/>
          </a:p>
          <a:p>
            <a:r>
              <a:rPr lang="zh-CN" altLang="en-US"/>
              <a:t>但不可否认的是，字符串同样也是数据容器的一员。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字符串是字符的容器，一个字符串可以存放任意数量的字符。</a:t>
            </a:r>
            <a:endParaRPr lang="zh-CN" altLang="en-US"/>
          </a:p>
          <a:p>
            <a:r>
              <a:rPr lang="zh-CN" altLang="en-US"/>
              <a:t>如，字符串：</a:t>
            </a:r>
            <a:r>
              <a:rPr lang="en-US" altLang="zh-CN"/>
              <a:t>"itheima"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 descr="01 (1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805" y="5453380"/>
            <a:ext cx="1179195" cy="11791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217" t="15147" r="84123" b="33333"/>
          <a:stretch>
            <a:fillRect/>
          </a:stretch>
        </p:blipFill>
        <p:spPr>
          <a:xfrm>
            <a:off x="832485" y="4013200"/>
            <a:ext cx="1087755" cy="6673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5893" t="15931" r="70455" b="32549"/>
          <a:stretch>
            <a:fillRect/>
          </a:stretch>
        </p:blipFill>
        <p:spPr>
          <a:xfrm>
            <a:off x="2044065" y="4019550"/>
            <a:ext cx="1087120" cy="667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29442" t="15147" r="56539" b="32598"/>
          <a:stretch>
            <a:fillRect/>
          </a:stretch>
        </p:blipFill>
        <p:spPr>
          <a:xfrm>
            <a:off x="3255010" y="4019550"/>
            <a:ext cx="1116330" cy="6769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3477" t="13627" r="42990" b="31814"/>
          <a:stretch>
            <a:fillRect/>
          </a:stretch>
        </p:blipFill>
        <p:spPr>
          <a:xfrm>
            <a:off x="4495165" y="4019550"/>
            <a:ext cx="1077595" cy="7067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57281" t="16618" r="28939" b="31814"/>
          <a:stretch>
            <a:fillRect/>
          </a:stretch>
        </p:blipFill>
        <p:spPr>
          <a:xfrm>
            <a:off x="5696585" y="4039235"/>
            <a:ext cx="1097280" cy="6680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71204" t="13627" r="14904" b="31814"/>
          <a:stretch>
            <a:fillRect/>
          </a:stretch>
        </p:blipFill>
        <p:spPr>
          <a:xfrm>
            <a:off x="6917690" y="4004310"/>
            <a:ext cx="1106170" cy="7067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85112" t="14363" r="1603" b="33333"/>
          <a:stretch>
            <a:fillRect/>
          </a:stretch>
        </p:blipFill>
        <p:spPr>
          <a:xfrm>
            <a:off x="8119110" y="4048760"/>
            <a:ext cx="1057910" cy="677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字符串的下标（索引）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579800"/>
            <a:ext cx="10698800" cy="4219575"/>
          </a:xfrm>
        </p:spPr>
        <p:txBody>
          <a:bodyPr/>
          <a:p>
            <a:r>
              <a:rPr lang="zh-CN" altLang="en-US"/>
              <a:t>和其它容器如：列表、元组一样，字符串也可以通过下标进行访问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从前向后，下标从</a:t>
            </a:r>
            <a:r>
              <a:rPr lang="en-US" altLang="zh-CN"/>
              <a:t>0</a:t>
            </a:r>
            <a:r>
              <a:rPr lang="zh-CN" altLang="en-US"/>
              <a:t>开始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从后向前，下标从</a:t>
            </a:r>
            <a:r>
              <a:rPr lang="en-US" altLang="zh-CN"/>
              <a:t>-1</a:t>
            </a:r>
            <a:r>
              <a:rPr lang="zh-CN" altLang="en-US"/>
              <a:t>开始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同元组一样，字符串是一个：</a:t>
            </a:r>
            <a:r>
              <a:rPr lang="zh-CN" altLang="en-US">
                <a:solidFill>
                  <a:srgbClr val="FF0000"/>
                </a:solidFill>
              </a:rPr>
              <a:t>无法修改</a:t>
            </a:r>
            <a:r>
              <a:rPr lang="zh-CN" altLang="en-US"/>
              <a:t>的数据容器。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所以：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修改指定下标的字符</a:t>
            </a:r>
            <a:r>
              <a:rPr lang="en-US" altLang="zh-CN"/>
              <a:t>	</a:t>
            </a:r>
            <a:r>
              <a:rPr lang="zh-CN" altLang="en-US"/>
              <a:t>（如：字符串</a:t>
            </a:r>
            <a:r>
              <a:rPr lang="en-US" altLang="zh-CN"/>
              <a:t>[0] = “a”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移除特定下标的字符</a:t>
            </a:r>
            <a:r>
              <a:rPr lang="en-US" altLang="zh-CN"/>
              <a:t>	</a:t>
            </a:r>
            <a:r>
              <a:rPr lang="zh-CN" altLang="en-US"/>
              <a:t>（如：del 字符串[0]、字符串</a:t>
            </a:r>
            <a:r>
              <a:rPr lang="en-US" altLang="zh-CN"/>
              <a:t>.remove()</a:t>
            </a:r>
            <a:r>
              <a:rPr lang="zh-CN" altLang="en-US"/>
              <a:t>、字符串</a:t>
            </a:r>
            <a:r>
              <a:rPr lang="en-US" altLang="zh-CN"/>
              <a:t>.pop()</a:t>
            </a:r>
            <a:r>
              <a:rPr lang="zh-CN" altLang="en-US"/>
              <a:t>等）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追加字符等</a:t>
            </a:r>
            <a:r>
              <a:rPr lang="en-US" altLang="zh-CN"/>
              <a:t>		</a:t>
            </a:r>
            <a:r>
              <a:rPr lang="zh-CN" altLang="en-US"/>
              <a:t>（如：字符串</a:t>
            </a:r>
            <a:r>
              <a:rPr lang="en-US" altLang="zh-CN"/>
              <a:t>.append()</a:t>
            </a:r>
            <a:r>
              <a:rPr lang="zh-CN" altLang="en-US"/>
              <a:t>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均无法完成。如果必须要做，只能得到一个新的字符串，旧的字符串是无法修改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10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595" y="5109210"/>
            <a:ext cx="1552575" cy="1552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545" y="2133600"/>
            <a:ext cx="2705100" cy="1057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查找特定字符串的下标索引值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.index(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5" name="图片 4" descr="01 (12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1520" y="5253990"/>
            <a:ext cx="1458595" cy="1458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75" y="2620010"/>
            <a:ext cx="4861560" cy="7734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统计字符串中某字符串的出现次数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</a:t>
            </a:r>
            <a:r>
              <a:rPr 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.count(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01 (10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390" y="5452745"/>
            <a:ext cx="1169670" cy="1169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15" y="2694940"/>
            <a:ext cx="5307330" cy="6578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统计字符串的长度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len(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可以看出：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数字（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3...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字母（</a:t>
            </a:r>
            <a:r>
              <a:rPr lang="en-US" altLang="zh-CN">
                <a:solidFill>
                  <a:srgbClr val="FF0000"/>
                </a:solidFill>
              </a:rPr>
              <a:t>abcd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ABCD</a:t>
            </a:r>
            <a:r>
              <a:rPr lang="zh-CN" altLang="en-US">
                <a:solidFill>
                  <a:srgbClr val="FF0000"/>
                </a:solidFill>
              </a:rPr>
              <a:t>等）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符号（空格、</a:t>
            </a:r>
            <a:r>
              <a:rPr lang="en-US" altLang="zh-CN">
                <a:solidFill>
                  <a:srgbClr val="FF0000"/>
                </a:solidFill>
              </a:rPr>
              <a:t>!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@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#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$</a:t>
            </a:r>
            <a:r>
              <a:rPr lang="zh-CN" altLang="en-US">
                <a:solidFill>
                  <a:srgbClr val="FF0000"/>
                </a:solidFill>
              </a:rPr>
              <a:t>等）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中文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均算作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个字符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所以上述代码，结果</a:t>
            </a:r>
            <a:r>
              <a:rPr lang="en-US" altLang="zh-CN">
                <a:solidFill>
                  <a:srgbClr val="FF0000"/>
                </a:solidFill>
              </a:rPr>
              <a:t>20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01 (10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390" y="5452745"/>
            <a:ext cx="1169670" cy="1169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" y="2622550"/>
            <a:ext cx="3752850" cy="5143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字符串常用操作汇总</a:t>
            </a: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3585" y="1467485"/>
          <a:ext cx="10603230" cy="449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80"/>
                <a:gridCol w="4686300"/>
                <a:gridCol w="3689350"/>
              </a:tblGrid>
              <a:tr h="3937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操作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说明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070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[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下标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]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根据下标索引取出特定位置字符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640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.index(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字符串）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查找给定字符的第一个匹配项的下标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.count(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统计字符串内某字符串的出现次数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4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统计字符串的字符个数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pic>
        <p:nvPicPr>
          <p:cNvPr id="4" name="图片 3" descr="01 (7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915" y="5496560"/>
            <a:ext cx="1159510" cy="11595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字符串的特有操作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字符串的替换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.replace(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，字符串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功能：将字符串内的全部：字符串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，替换为字符串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注意：不是修改字符串本身，而是得到了一个新字符串哦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rgbClr val="FF0000"/>
                </a:solidFill>
              </a:rPr>
              <a:t>可以看到，字符串</a:t>
            </a:r>
            <a:r>
              <a:rPr lang="en-US" altLang="zh-CN">
                <a:solidFill>
                  <a:srgbClr val="FF0000"/>
                </a:solidFill>
              </a:rPr>
              <a:t>name</a:t>
            </a:r>
            <a:r>
              <a:rPr lang="zh-CN" altLang="en-US">
                <a:solidFill>
                  <a:srgbClr val="FF0000"/>
                </a:solidFill>
              </a:rPr>
              <a:t>本身并没有发生变化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rgbClr val="FF0000"/>
                </a:solidFill>
              </a:rPr>
              <a:t>而是得到了一个新字符串对象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 descr="01 (12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2805" y="5304790"/>
            <a:ext cx="1317625" cy="1317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35" y="3489960"/>
            <a:ext cx="4667250" cy="12858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</a:t>
            </a:r>
            <a:r>
              <a:rPr>
                <a:sym typeface="+mn-ea"/>
              </a:rPr>
              <a:t>特有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字符串的分割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.split(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分隔符字符串）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功能：</a:t>
            </a:r>
            <a:r>
              <a:rPr 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按照指定的分隔符字符串，将字符串划分为多个字符串，并存入列表对象中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注意：</a:t>
            </a:r>
            <a:r>
              <a:rPr lang="zh-CN" altLang="en-US">
                <a:solidFill>
                  <a:srgbClr val="FF0000"/>
                </a:solidFill>
              </a:rPr>
              <a:t>字符串本身不变，而是得到了一个列表对象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rgbClr val="FF0000"/>
                </a:solidFill>
              </a:rPr>
              <a:t>可以看到，字符串按照给定的</a:t>
            </a:r>
            <a:r>
              <a:rPr lang="en-US" altLang="zh-CN">
                <a:solidFill>
                  <a:srgbClr val="FF0000"/>
                </a:solidFill>
              </a:rPr>
              <a:t> &lt;</a:t>
            </a:r>
            <a:r>
              <a:rPr lang="zh-CN" altLang="en-US">
                <a:solidFill>
                  <a:srgbClr val="FF0000"/>
                </a:solidFill>
              </a:rPr>
              <a:t>空格</a:t>
            </a:r>
            <a:r>
              <a:rPr lang="en-US" altLang="zh-CN">
                <a:solidFill>
                  <a:srgbClr val="FF0000"/>
                </a:solidFill>
              </a:rPr>
              <a:t>&gt;</a:t>
            </a:r>
            <a:r>
              <a:rPr lang="zh-CN" altLang="en-US">
                <a:solidFill>
                  <a:srgbClr val="FF0000"/>
                </a:solidFill>
              </a:rPr>
              <a:t>进行了分割，变成多个子字符串，并存入一个列表对象中。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 descr="01 (10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390" y="5452745"/>
            <a:ext cx="1169670" cy="1169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3432810"/>
            <a:ext cx="7658100" cy="12858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</a:t>
            </a:r>
            <a:r>
              <a:rPr>
                <a:sym typeface="+mn-ea"/>
              </a:rPr>
              <a:t>特有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字符串的规整操作（去除前后两端空格）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</a:t>
            </a:r>
            <a:r>
              <a:rPr 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strip()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字符串的规整操作（</a:t>
            </a:r>
            <a:r>
              <a:rPr lang="zh-CN" altLang="en-US">
                <a:sym typeface="+mn-ea"/>
              </a:rPr>
              <a:t>去除前后两端</a:t>
            </a:r>
            <a:r>
              <a:rPr lang="zh-CN" altLang="en-US">
                <a:sym typeface="+mn-ea"/>
              </a:rPr>
              <a:t>指定字符串）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语法：</a:t>
            </a:r>
            <a:r>
              <a:rPr 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字符串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.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strip(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字符串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)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注意，传入的是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“12” 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其实就是：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”1”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”2”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都会移除，是按照单个字符。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01 (10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390" y="5452745"/>
            <a:ext cx="1169670" cy="1169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10" y="2567940"/>
            <a:ext cx="6534150" cy="619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10" y="4298315"/>
            <a:ext cx="6573520" cy="5340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字符串特有操作汇总</a:t>
            </a: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3585" y="1467485"/>
          <a:ext cx="10603230" cy="449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80"/>
                <a:gridCol w="4686300"/>
                <a:gridCol w="3689350"/>
              </a:tblGrid>
              <a:tr h="3937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操作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说明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.replace(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1, 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将字符串内的全部字符串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1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，替换为字符串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不会修改原字符串，而是得到一个新的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.split(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按照给定字符串，对字符串进行分隔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不会修改原字符串，而是得到一个新的列表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.strip()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.strip(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字符串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移除首尾的空格和换行符或指定字符串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pic>
        <p:nvPicPr>
          <p:cNvPr id="4" name="图片 3" descr="01 (7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915" y="5496560"/>
            <a:ext cx="1159510" cy="11595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字符串的遍历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同列表、元组一样，字符串也支持</a:t>
            </a:r>
            <a:r>
              <a:rPr lang="en-US" altLang="zh-CN"/>
              <a:t>while</a:t>
            </a:r>
            <a:r>
              <a:rPr lang="zh-CN" altLang="en-US"/>
              <a:t>循环和</a:t>
            </a:r>
            <a:r>
              <a:rPr lang="en-US" altLang="zh-CN"/>
              <a:t>for</a:t>
            </a:r>
            <a:r>
              <a:rPr lang="zh-CN" altLang="en-US"/>
              <a:t>循环进行遍历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693545" y="2503170"/>
            <a:ext cx="2910840" cy="1685290"/>
            <a:chOff x="2808" y="3950"/>
            <a:chExt cx="4584" cy="265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b="62061"/>
            <a:stretch>
              <a:fillRect/>
            </a:stretch>
          </p:blipFill>
          <p:spPr>
            <a:xfrm>
              <a:off x="2808" y="3950"/>
              <a:ext cx="4584" cy="217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4435" y="6122"/>
              <a:ext cx="1329" cy="483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FF0000"/>
                  </a:solidFill>
                  <a:latin typeface="纤黑体" panose="02000000000000000000" charset="-122"/>
                  <a:ea typeface="纤黑体" panose="02000000000000000000" charset="-122"/>
                  <a:cs typeface="纤黑体" panose="02000000000000000000" charset="-122"/>
                  <a:sym typeface="+mn-ea"/>
                </a:rPr>
                <a:t>while</a:t>
              </a:r>
              <a:r>
                <a:rPr lang="zh-CN" altLang="en-US" sz="1400">
                  <a:solidFill>
                    <a:srgbClr val="FF0000"/>
                  </a:solidFill>
                  <a:latin typeface="纤黑体" panose="02000000000000000000" charset="-122"/>
                  <a:ea typeface="纤黑体" panose="02000000000000000000" charset="-122"/>
                  <a:cs typeface="纤黑体" panose="02000000000000000000" charset="-122"/>
                  <a:sym typeface="+mn-ea"/>
                </a:rPr>
                <a:t>循环</a:t>
              </a:r>
              <a:endParaRPr lang="zh-CN" altLang="en-US" sz="14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637530" y="6243320"/>
            <a:ext cx="89408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运行结果</a:t>
            </a:r>
            <a:endParaRPr lang="zh-CN" altLang="en-US" sz="1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15225" y="2995295"/>
            <a:ext cx="2461260" cy="1203325"/>
            <a:chOff x="11284" y="4226"/>
            <a:chExt cx="3876" cy="189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rcRect b="72845"/>
            <a:stretch>
              <a:fillRect/>
            </a:stretch>
          </p:blipFill>
          <p:spPr>
            <a:xfrm>
              <a:off x="11284" y="4226"/>
              <a:ext cx="3877" cy="140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12654" y="5639"/>
              <a:ext cx="1136" cy="483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FF0000"/>
                  </a:solidFill>
                  <a:latin typeface="纤黑体" panose="02000000000000000000" charset="-122"/>
                  <a:ea typeface="纤黑体" panose="02000000000000000000" charset="-122"/>
                  <a:cs typeface="纤黑体" panose="02000000000000000000" charset="-122"/>
                  <a:sym typeface="+mn-ea"/>
                </a:rPr>
                <a:t>for</a:t>
              </a:r>
              <a:r>
                <a:rPr lang="zh-CN" altLang="en-US" sz="1400">
                  <a:solidFill>
                    <a:srgbClr val="FF0000"/>
                  </a:solidFill>
                  <a:latin typeface="纤黑体" panose="02000000000000000000" charset="-122"/>
                  <a:ea typeface="纤黑体" panose="02000000000000000000" charset="-122"/>
                  <a:cs typeface="纤黑体" panose="02000000000000000000" charset="-122"/>
                  <a:sym typeface="+mn-ea"/>
                </a:rPr>
                <a:t>循环</a:t>
              </a:r>
              <a:endParaRPr lang="zh-CN" altLang="en-US" sz="14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endParaRPr>
            </a:p>
          </p:txBody>
        </p:sp>
      </p:grpSp>
      <p:pic>
        <p:nvPicPr>
          <p:cNvPr id="8" name="图片 7" descr="01 (14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425" y="5160010"/>
            <a:ext cx="1492250" cy="1492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50725"/>
          <a:stretch>
            <a:fillRect/>
          </a:stretch>
        </p:blipFill>
        <p:spPr>
          <a:xfrm>
            <a:off x="4604385" y="4451985"/>
            <a:ext cx="2910840" cy="17913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右箭头 16"/>
          <p:cNvSpPr/>
          <p:nvPr/>
        </p:nvSpPr>
        <p:spPr>
          <a:xfrm rot="2340000">
            <a:off x="4468495" y="4064000"/>
            <a:ext cx="568960" cy="23558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 rot="8340000">
            <a:off x="7146925" y="4039870"/>
            <a:ext cx="568960" cy="23558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7" grpId="0" bldLvl="0" animBg="1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字符串的特点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作为数据容器，字符串有如下特点：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只可以存储字符串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长度任意（取决于内存大小）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支持下标索引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允许重复字符串存在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不可以修改</a:t>
            </a:r>
            <a:r>
              <a:rPr lang="zh-CN" altLang="en-US">
                <a:sym typeface="+mn-ea"/>
              </a:rPr>
              <a:t>（增加或删除元素等）</a:t>
            </a:r>
            <a:endParaRPr lang="zh-CN" alt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支持for循环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支持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while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循环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zh-CN" altLang="en-US"/>
          </a:p>
          <a:p>
            <a:r>
              <a:rPr lang="zh-CN" altLang="en-US"/>
              <a:t>基本和列表、元组相同</a:t>
            </a:r>
            <a:endParaRPr lang="zh-CN" altLang="en-US"/>
          </a:p>
          <a:p>
            <a:r>
              <a:rPr lang="zh-CN" altLang="en-US"/>
              <a:t>不同与列表和元组的在于：字符串容器可以容纳的类型是单一的，只能是字符串类型。</a:t>
            </a:r>
            <a:endParaRPr lang="zh-CN" altLang="en-US"/>
          </a:p>
          <a:p>
            <a:r>
              <a:rPr lang="zh-CN" altLang="en-US"/>
              <a:t>不同于列表，相同于元组的在于：字符串不可修改</a:t>
            </a:r>
            <a:endParaRPr lang="zh-CN" altLang="en-US"/>
          </a:p>
        </p:txBody>
      </p:sp>
      <p:pic>
        <p:nvPicPr>
          <p:cNvPr id="4" name="图片 3" descr="01 (13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650" y="5139690"/>
            <a:ext cx="1512570" cy="1512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/>
              <a:t>字符串为什么被称之为数据容器呢？</a:t>
            </a:r>
            <a:endParaRPr lang="zh-CN"/>
          </a:p>
          <a:p>
            <a:pPr marL="0" indent="0">
              <a:buNone/>
            </a:pPr>
            <a:r>
              <a:rPr lang="zh-CN" sz="1400"/>
              <a:t>字符串可以看做是字符的容器，支持下标索引等特性</a:t>
            </a:r>
            <a:r>
              <a:rPr lang="en-US" altLang="zh-CN" sz="1400"/>
              <a:t>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字符串有哪些常用操作方法？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3. </a:t>
            </a:r>
            <a:r>
              <a:rPr lang="zh-CN" altLang="en-US">
                <a:sym typeface="+mn-ea"/>
              </a:rPr>
              <a:t>字符串有哪些特点：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16245" y="4826000"/>
            <a:ext cx="2522220" cy="17329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245" y="3016250"/>
            <a:ext cx="3009900" cy="14814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掌握列表的定义格式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思考：</a:t>
            </a:r>
            <a:r>
              <a:rPr lang="zh-CN" altLang="en-US" dirty="0"/>
              <a:t>有一个人的姓名</a:t>
            </a:r>
            <a:r>
              <a:rPr lang="en-US" altLang="zh-CN" dirty="0"/>
              <a:t>(TOM)</a:t>
            </a:r>
            <a:r>
              <a:rPr lang="zh-CN" altLang="en-US" dirty="0"/>
              <a:t>怎么在程序中存储？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答：字符串变量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思考：</a:t>
            </a:r>
            <a:r>
              <a:rPr lang="zh-CN" altLang="en-US" dirty="0"/>
              <a:t>如果一个班级</a:t>
            </a:r>
            <a:r>
              <a:rPr lang="en-US" altLang="zh-CN" dirty="0"/>
              <a:t>100</a:t>
            </a:r>
            <a:r>
              <a:rPr lang="zh-CN" altLang="en-US" dirty="0"/>
              <a:t>位学生，每个人的姓名都要存储，应该如何书写程序？声明</a:t>
            </a:r>
            <a:r>
              <a:rPr lang="en-US" altLang="zh-CN" dirty="0"/>
              <a:t>100</a:t>
            </a:r>
            <a:r>
              <a:rPr lang="zh-CN" altLang="en-US" dirty="0"/>
              <a:t>个变量吗？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答：</a:t>
            </a:r>
            <a:r>
              <a:rPr lang="en-US" altLang="zh-CN" dirty="0"/>
              <a:t>No</a:t>
            </a:r>
            <a:r>
              <a:rPr lang="zh-CN" altLang="en-US" dirty="0"/>
              <a:t>，我们使用列表就可以了， 列表一次可以存储多个数据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列表（</a:t>
            </a:r>
            <a:r>
              <a:rPr dirty="0"/>
              <a:t>list</a:t>
            </a:r>
            <a:r>
              <a:rPr lang="zh-CN" altLang="en-US" dirty="0"/>
              <a:t>）类型，是数据容器的一类，我们来详细学习它。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为什么需要列表</a:t>
            </a:r>
            <a:endParaRPr lang="zh-CN" altLang="en-US" dirty="0"/>
          </a:p>
        </p:txBody>
      </p:sp>
      <p:pic>
        <p:nvPicPr>
          <p:cNvPr id="3" name="图片 2" descr="01 (1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245" y="5455285"/>
            <a:ext cx="1136015" cy="11360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565" y="1388745"/>
            <a:ext cx="10749915" cy="50234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基本语法：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列表内的</a:t>
            </a:r>
            <a:r>
              <a:rPr lang="zh-CN" altLang="en-US" dirty="0">
                <a:solidFill>
                  <a:srgbClr val="FF0000"/>
                </a:solidFill>
              </a:rPr>
              <a:t>每一个数据，称之为元素</a:t>
            </a:r>
            <a:endParaRPr lang="en-US" altLang="zh-CN" dirty="0"/>
          </a:p>
          <a:p>
            <a:pPr marL="0" algn="l"/>
            <a:r>
              <a:rPr lang="zh-CN" altLang="en-US">
                <a:sym typeface="+mn-ea"/>
              </a:rPr>
              <a:t>以 [</a:t>
            </a:r>
            <a:r>
              <a:rPr>
                <a:sym typeface="+mn-ea"/>
              </a:rPr>
              <a:t> </a:t>
            </a:r>
            <a:r>
              <a:rPr lang="zh-CN" altLang="en-US">
                <a:sym typeface="+mn-ea"/>
              </a:rPr>
              <a:t>] 作为标识</a:t>
            </a:r>
            <a:endParaRPr lang="zh-CN" altLang="en-US" dirty="0"/>
          </a:p>
          <a:p>
            <a:pPr marL="0" algn="l"/>
            <a:r>
              <a:rPr lang="zh-CN" altLang="en-US">
                <a:sym typeface="+mn-ea"/>
              </a:rPr>
              <a:t>列表内每一个元素之间用, 逗号隔开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列表的定义</a:t>
            </a:r>
            <a:endParaRPr lang="zh-CN" altLang="en-US" dirty="0"/>
          </a:p>
        </p:txBody>
      </p:sp>
      <p:pic>
        <p:nvPicPr>
          <p:cNvPr id="12" name="图片 11" descr="01 (9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9165" y="5550535"/>
            <a:ext cx="1250315" cy="1250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55" y="1974850"/>
            <a:ext cx="434340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列表的定义方式</a:t>
            </a:r>
            <a:r>
              <a:rPr dirty="0"/>
              <a:t>：</a:t>
            </a:r>
            <a:endParaRPr dirty="0"/>
          </a:p>
        </p:txBody>
      </p:sp>
      <p:sp>
        <p:nvSpPr>
          <p:cNvPr id="6" name="三角形 9"/>
          <p:cNvSpPr/>
          <p:nvPr/>
        </p:nvSpPr>
        <p:spPr>
          <a:xfrm rot="2651319">
            <a:off x="717495" y="5892262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85446" y="5923728"/>
            <a:ext cx="977328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注意：列表可以一次存储多个数据，且</a:t>
            </a:r>
            <a:r>
              <a:rPr lang="zh-CN" altLang="en-US" sz="20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可以为不同的数据类型，支持嵌套</a:t>
            </a:r>
            <a:endParaRPr lang="zh-CN" altLang="en-US" sz="20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0969" y="5507162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0881" y="5608149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文本占位符 11"/>
          <p:cNvSpPr/>
          <p:nvPr>
            <p:ph type="body" sz="quarter" idx="11"/>
          </p:nvPr>
        </p:nvSpPr>
        <p:spPr>
          <a:xfrm>
            <a:off x="710565" y="1457960"/>
            <a:ext cx="10749915" cy="4407535"/>
          </a:xfrm>
        </p:spPr>
        <p:txBody>
          <a:bodyPr/>
          <a:p>
            <a:pPr marL="0" indent="0">
              <a:buNone/>
            </a:pPr>
            <a:r>
              <a:rPr lang="zh-CN" altLang="en-US"/>
              <a:t>案例演示：使用</a:t>
            </a:r>
            <a:r>
              <a:t>[]</a:t>
            </a:r>
            <a:r>
              <a:rPr lang="zh-CN" altLang="en-US"/>
              <a:t>的方式定义列表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660" y="4506595"/>
            <a:ext cx="2943225" cy="647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图片 16" descr="01 (11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385" y="5608320"/>
            <a:ext cx="1004570" cy="1004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71410" y="3313430"/>
            <a:ext cx="160972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嵌套列表的定义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" y="4679950"/>
            <a:ext cx="2981325" cy="676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55" y="2936875"/>
            <a:ext cx="4133850" cy="619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55" y="1991995"/>
            <a:ext cx="4524375" cy="8477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55" y="3703955"/>
            <a:ext cx="3467100" cy="7810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660" y="3637280"/>
            <a:ext cx="3686175" cy="84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列表的定义语法</a:t>
            </a:r>
            <a:endParaRPr lang="zh-CN" altLang="en-US"/>
          </a:p>
          <a:p>
            <a:pPr marL="0" indent="0">
              <a:buNone/>
            </a:pP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元素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1, 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元素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2, 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元素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3, ......]</a:t>
            </a:r>
            <a:endParaRPr lang="en-US" altLang="zh-CN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什么是元素？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数据容器内的每一份数据，都称之为元素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algn="l">
              <a:buNone/>
            </a:pPr>
            <a:r>
              <a:rPr lang="zh-CN" altLang="en-US" sz="1800"/>
              <a:t>3. 元素的类型有限制吗？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元素的数据类型没有任何限制，甚至元素也可以是列表，这样就定义了嵌套列表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掌握使用列表的下标索引从列表中取出元素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algn="l">
              <a:buNone/>
            </a:pPr>
            <a:r>
              <a:rPr lang="zh-CN" altLang="en-US" dirty="0"/>
              <a:t>如何从列表中取出特定位置的数据呢？</a:t>
            </a:r>
            <a:endParaRPr lang="zh-CN" altLang="en-US" dirty="0"/>
          </a:p>
          <a:p>
            <a:pPr marL="0" algn="l">
              <a:buNone/>
            </a:pPr>
            <a:r>
              <a:rPr lang="zh-CN" altLang="en-US" dirty="0"/>
              <a:t>我们可以使用：下标</a:t>
            </a:r>
            <a:r>
              <a:rPr lang="zh-CN" altLang="en-US">
                <a:sym typeface="+mn-ea"/>
              </a:rPr>
              <a:t>索引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如图，列表中的每一个元素，都有其位置下标索引，从前向后的方向，</a:t>
            </a:r>
            <a:r>
              <a:rPr lang="zh-CN" altLang="en-US" dirty="0">
                <a:solidFill>
                  <a:srgbClr val="FF0000"/>
                </a:solidFill>
              </a:rPr>
              <a:t>从</a:t>
            </a:r>
            <a:r>
              <a:rPr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开始，依次递增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我们只需要按照</a:t>
            </a:r>
            <a:r>
              <a:rPr lang="zh-CN" altLang="en-US">
                <a:sym typeface="+mn-ea"/>
              </a:rPr>
              <a:t>下标索引</a:t>
            </a:r>
            <a:r>
              <a:rPr lang="zh-CN" altLang="en-US" dirty="0"/>
              <a:t>，即可取得对应位置的元素。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列表的下标（索引）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554605"/>
            <a:ext cx="10858500" cy="1552575"/>
          </a:xfrm>
          <a:prstGeom prst="rect">
            <a:avLst/>
          </a:prstGeom>
        </p:spPr>
      </p:pic>
      <p:pic>
        <p:nvPicPr>
          <p:cNvPr id="6" name="图片 5" descr="01 (10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640" y="5708015"/>
            <a:ext cx="934085" cy="934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" y="5000625"/>
            <a:ext cx="3752850" cy="1533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algn="l">
              <a:buNone/>
            </a:pPr>
            <a:r>
              <a:rPr lang="zh-CN" altLang="en-US" dirty="0"/>
              <a:t>或者，可以反向索引，也就是从后向前：从</a:t>
            </a:r>
            <a:r>
              <a:rPr dirty="0"/>
              <a:t>-1</a:t>
            </a:r>
            <a:r>
              <a:rPr lang="zh-CN" altLang="en-US" dirty="0"/>
              <a:t>开始，依次递减（</a:t>
            </a:r>
            <a:r>
              <a:rPr dirty="0"/>
              <a:t>-1</a:t>
            </a:r>
            <a:r>
              <a:rPr lang="zh-CN" altLang="en-US" dirty="0"/>
              <a:t>、</a:t>
            </a:r>
            <a:r>
              <a:rPr dirty="0"/>
              <a:t>-2</a:t>
            </a:r>
            <a:r>
              <a:rPr lang="zh-CN" altLang="en-US" dirty="0"/>
              <a:t>、</a:t>
            </a:r>
            <a:r>
              <a:rPr dirty="0"/>
              <a:t>-3......</a:t>
            </a:r>
            <a:r>
              <a:rPr lang="zh-CN" altLang="en-US" dirty="0"/>
              <a:t>）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如图，从后向前，下标索引为：</a:t>
            </a:r>
            <a:r>
              <a:rPr dirty="0"/>
              <a:t>-1</a:t>
            </a:r>
            <a:r>
              <a:rPr lang="zh-CN" altLang="en-US" dirty="0"/>
              <a:t>、</a:t>
            </a:r>
            <a:r>
              <a:rPr dirty="0"/>
              <a:t>-2</a:t>
            </a:r>
            <a:r>
              <a:rPr lang="zh-CN" altLang="en-US" dirty="0"/>
              <a:t>、</a:t>
            </a:r>
            <a:r>
              <a:rPr dirty="0"/>
              <a:t>-3</a:t>
            </a:r>
            <a:r>
              <a:rPr lang="zh-CN" altLang="en-US" dirty="0"/>
              <a:t>，依次递减。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列表的下标（索引）</a:t>
            </a:r>
            <a:r>
              <a:rPr lang="en-US" altLang="zh-CN" dirty="0"/>
              <a:t> - </a:t>
            </a:r>
            <a:r>
              <a:rPr dirty="0"/>
              <a:t>反向</a:t>
            </a:r>
            <a:endParaRPr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12010"/>
            <a:ext cx="10715625" cy="1514475"/>
          </a:xfrm>
          <a:prstGeom prst="rect">
            <a:avLst/>
          </a:prstGeom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765" y="5649595"/>
            <a:ext cx="963295" cy="9632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5" y="4281170"/>
            <a:ext cx="3695700" cy="151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如果列表是嵌套的列表，同样支持下标索引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如图，下标就有</a:t>
            </a:r>
            <a:r>
              <a:rPr dirty="0"/>
              <a:t>2</a:t>
            </a:r>
            <a:r>
              <a:rPr lang="zh-CN" altLang="en-US" dirty="0"/>
              <a:t>个层级了。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嵌套列表的下标（索引）</a:t>
            </a:r>
            <a:endParaRPr lang="zh-CN" altLang="en-US" dirty="0"/>
          </a:p>
        </p:txBody>
      </p:sp>
      <p:pic>
        <p:nvPicPr>
          <p:cNvPr id="6" name="图片 5" descr="01 (10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3640" y="5708015"/>
            <a:ext cx="934085" cy="934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172970"/>
            <a:ext cx="6515735" cy="1699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55" y="4231005"/>
            <a:ext cx="50292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列表的下标索引是什么？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列表的每一个元素，都有编号称之为下标索引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从前向后的方向，编号从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0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开始递增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从后向前的方向，编号从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开始递减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如何通过下标索引取出对应位置的元素呢？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列表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下标</a:t>
            </a:r>
            <a:r>
              <a:rPr lang="en-US" altLang="zh-CN" sz="140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，即可取出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algn="l">
              <a:buNone/>
            </a:pPr>
            <a:r>
              <a:rPr lang="zh-CN" altLang="en-US" sz="1800"/>
              <a:t>3. 下标索引的注意事项：</a:t>
            </a:r>
            <a:endParaRPr lang="zh-CN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>
                    <a:lumMod val="60000"/>
                    <a:lumOff val="40000"/>
                  </a:schemeClr>
                </a:solidFill>
              </a:rPr>
              <a:t>要注意下标索引的取值范围，超出范围无法取出元素，并且会报错</a:t>
            </a:r>
            <a:endParaRPr lang="zh-CN" altLang="en-US" sz="1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66150" y="2817495"/>
            <a:ext cx="3192780" cy="4565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005" y="3201035"/>
            <a:ext cx="3227070" cy="455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掌握列表的常用操作（方法）和特点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列表的常用操作（方法）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列表除了可以：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定义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使用下标索引获取值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以外，列表也提供了一系列功能：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插入元素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删除元素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清空列表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修改元素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统计元素个数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等等功能，这些功能我们都称之为：</a:t>
            </a:r>
            <a:r>
              <a:rPr lang="zh-CN" altLang="en-US">
                <a:solidFill>
                  <a:srgbClr val="FF0000"/>
                </a:solidFill>
              </a:rPr>
              <a:t>列表的方法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列表的查询功能（方法）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60500"/>
            <a:ext cx="10161270" cy="477012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回忆：函数是一个封装的代码单元，可以提供特定功能。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在</a:t>
            </a:r>
            <a:r>
              <a:rPr lang="en-US" altLang="zh-CN"/>
              <a:t>Python</a:t>
            </a:r>
            <a:r>
              <a:rPr lang="zh-CN" altLang="en-US"/>
              <a:t>中，如果将函数定义为</a:t>
            </a:r>
            <a:r>
              <a:rPr lang="en-US" altLang="zh-CN"/>
              <a:t>class</a:t>
            </a:r>
            <a:r>
              <a:rPr lang="zh-CN" altLang="en-US"/>
              <a:t>（类）的成员，那么函数会称之为：方法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方法和函数功能一样，</a:t>
            </a:r>
            <a:r>
              <a:rPr lang="en-US" altLang="zh-CN"/>
              <a:t> </a:t>
            </a:r>
            <a:r>
              <a:rPr lang="zh-CN" altLang="en-US"/>
              <a:t>有传入参数，有返回值，只是方法的使用格式不同：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函数的使用：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方法的使用：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关于类和方法的定义，在面向对象章节我们学习，目前我们知道如何使用方法即可。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180" y="5678170"/>
            <a:ext cx="1081405" cy="1081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15" y="2943225"/>
            <a:ext cx="2266950" cy="619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50" y="2557145"/>
            <a:ext cx="3219450" cy="13906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3015615" y="3562350"/>
            <a:ext cx="5905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函数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88300" y="3947795"/>
            <a:ext cx="5905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方法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425" y="4397375"/>
            <a:ext cx="2085975" cy="2762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425" y="4883150"/>
            <a:ext cx="3076575" cy="6286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列表的查询功能（方法）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16127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查找某元素的下标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功能：查找指定元素在列表的下标，如果找不到，报错ValueError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语法：列表</a:t>
            </a:r>
            <a:r>
              <a:rPr lang="en-US" altLang="zh-CN">
                <a:solidFill>
                  <a:schemeClr val="accent1"/>
                </a:solidFill>
              </a:rPr>
              <a:t>.index(</a:t>
            </a:r>
            <a:r>
              <a:rPr lang="zh-CN" altLang="en-US">
                <a:solidFill>
                  <a:schemeClr val="accent1"/>
                </a:solidFill>
              </a:rPr>
              <a:t>元素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>
                <a:sym typeface="+mn-ea"/>
              </a:rPr>
              <a:t>      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index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就是列表对象（变量）内置的方法（函数）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180" y="5678170"/>
            <a:ext cx="1081405" cy="10814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513455"/>
            <a:ext cx="4762500" cy="50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列表的修改功能（方法）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修改特定位置（索引）的元素值：</a:t>
            </a:r>
            <a:endParaRPr lang="zh-CN" altLang="en-US"/>
          </a:p>
          <a:p>
            <a:r>
              <a:rPr lang="en-US" altLang="zh-CN">
                <a:sym typeface="+mn-ea"/>
              </a:rPr>
              <a:t>     </a:t>
            </a:r>
            <a:r>
              <a:rPr lang="zh-CN">
                <a:solidFill>
                  <a:schemeClr val="accent1"/>
                </a:solidFill>
              </a:rPr>
              <a:t>语法：列表</a:t>
            </a:r>
            <a:r>
              <a:rPr lang="en-US" altLang="zh-CN">
                <a:solidFill>
                  <a:schemeClr val="accent1"/>
                </a:solidFill>
              </a:rPr>
              <a:t>[</a:t>
            </a:r>
            <a:r>
              <a:rPr lang="zh-CN" altLang="en-US">
                <a:solidFill>
                  <a:schemeClr val="accent1"/>
                </a:solidFill>
              </a:rPr>
              <a:t>下标</a:t>
            </a:r>
            <a:r>
              <a:rPr lang="en-US" altLang="zh-CN">
                <a:solidFill>
                  <a:schemeClr val="accent1"/>
                </a:solidFill>
              </a:rPr>
              <a:t>] = </a:t>
            </a:r>
            <a:r>
              <a:rPr lang="zh-CN" altLang="en-US">
                <a:solidFill>
                  <a:schemeClr val="accent1"/>
                </a:solidFill>
              </a:rPr>
              <a:t>值</a:t>
            </a:r>
            <a:endParaRPr lang="zh-CN" altLang="en-US"/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/>
              <a:t>可以使用如上语法，直接对指定下标（正向、反向下标均可）的值进行：重新赋值（修改）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5" name="图片 4" descr="01 (1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2335" y="5561330"/>
            <a:ext cx="1129665" cy="11296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" y="3178810"/>
            <a:ext cx="379095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列表的修改功能（方法）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插入元素：</a:t>
            </a:r>
            <a:endParaRPr lang="zh-CN" altLang="en-US"/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语法：列表</a:t>
            </a:r>
            <a:r>
              <a:rPr lang="en-US" altLang="zh-CN">
                <a:solidFill>
                  <a:schemeClr val="accent1"/>
                </a:solidFill>
              </a:rPr>
              <a:t>.insert(</a:t>
            </a:r>
            <a:r>
              <a:rPr lang="zh-CN" altLang="en-US">
                <a:solidFill>
                  <a:schemeClr val="accent1"/>
                </a:solidFill>
              </a:rPr>
              <a:t>下标</a:t>
            </a:r>
            <a:r>
              <a:rPr lang="en-US" altLang="zh-CN">
                <a:solidFill>
                  <a:schemeClr val="accent1"/>
                </a:solidFill>
              </a:rPr>
              <a:t>, </a:t>
            </a:r>
            <a:r>
              <a:rPr lang="zh-CN" altLang="en-US">
                <a:solidFill>
                  <a:schemeClr val="accent1"/>
                </a:solidFill>
              </a:rPr>
              <a:t>元素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r>
              <a:rPr lang="zh-CN" altLang="en-US">
                <a:solidFill>
                  <a:schemeClr val="accent1"/>
                </a:solidFill>
              </a:rPr>
              <a:t>，在指定的下标位置，插入指定的元素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追加元素：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语法：列表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.append(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元素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，将指定元素，追加到列表的尾部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5" name="图片 4" descr="01 (1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2335" y="5561330"/>
            <a:ext cx="1129665" cy="1129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676775"/>
            <a:ext cx="4924425" cy="1847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55395" y="2583815"/>
            <a:ext cx="5616575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列表的修改功能（方法）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追加元素方式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语法：列表</a:t>
            </a:r>
            <a:r>
              <a:rPr lang="en-US" altLang="zh-CN">
                <a:solidFill>
                  <a:schemeClr val="accent1"/>
                </a:solidFill>
              </a:rPr>
              <a:t>.extend(</a:t>
            </a:r>
            <a:r>
              <a:rPr lang="zh-CN" altLang="en-US">
                <a:solidFill>
                  <a:schemeClr val="accent1"/>
                </a:solidFill>
              </a:rPr>
              <a:t>其它数据容器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r>
              <a:rPr lang="zh-CN" altLang="en-US">
                <a:solidFill>
                  <a:schemeClr val="accent1"/>
                </a:solidFill>
              </a:rPr>
              <a:t>，将其它数据容器的内容取出，依次追加到列表尾部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删除元素：</a:t>
            </a:r>
            <a:endParaRPr lang="zh-CN" altLang="en-US"/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：</a:t>
            </a:r>
            <a:r>
              <a:rPr lang="en-US" altLang="zh-CN">
                <a:solidFill>
                  <a:schemeClr val="accent1"/>
                </a:solidFill>
              </a:rPr>
              <a:t> del </a:t>
            </a:r>
            <a:r>
              <a:rPr lang="zh-CN" altLang="en-US">
                <a:solidFill>
                  <a:schemeClr val="accent1"/>
                </a:solidFill>
              </a:rPr>
              <a:t>列表</a:t>
            </a:r>
            <a:r>
              <a:rPr lang="en-US" altLang="zh-CN">
                <a:solidFill>
                  <a:schemeClr val="accent1"/>
                </a:solidFill>
              </a:rPr>
              <a:t>[</a:t>
            </a:r>
            <a:r>
              <a:rPr lang="zh-CN" altLang="en-US">
                <a:solidFill>
                  <a:schemeClr val="accent1"/>
                </a:solidFill>
              </a:rPr>
              <a:t>下标</a:t>
            </a:r>
            <a:r>
              <a:rPr lang="en-US" altLang="zh-CN">
                <a:solidFill>
                  <a:schemeClr val="accent1"/>
                </a:solidFill>
              </a:rPr>
              <a:t>]</a:t>
            </a:r>
            <a:endParaRPr lang="en-US" altLang="zh-CN">
              <a:solidFill>
                <a:schemeClr val="accent1"/>
              </a:solidFill>
            </a:endParaRPr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</a:t>
            </a:r>
            <a:r>
              <a:rPr lang="en-US" altLang="zh-CN">
                <a:solidFill>
                  <a:schemeClr val="accent1"/>
                </a:solidFill>
              </a:rPr>
              <a:t>2</a:t>
            </a:r>
            <a:r>
              <a:rPr lang="zh-CN" altLang="en-US">
                <a:solidFill>
                  <a:schemeClr val="accent1"/>
                </a:solidFill>
              </a:rPr>
              <a:t>：列表</a:t>
            </a:r>
            <a:r>
              <a:rPr lang="en-US" altLang="zh-CN">
                <a:solidFill>
                  <a:schemeClr val="accent1"/>
                </a:solidFill>
              </a:rPr>
              <a:t>.pop(</a:t>
            </a:r>
            <a:r>
              <a:rPr lang="zh-CN" altLang="en-US">
                <a:solidFill>
                  <a:schemeClr val="accent1"/>
                </a:solidFill>
              </a:rPr>
              <a:t>下标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5" name="图片 4" descr="01 (1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2335" y="5561330"/>
            <a:ext cx="1129665" cy="1129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85" y="4258310"/>
            <a:ext cx="3400425" cy="2057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2604135"/>
            <a:ext cx="4686300" cy="80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列表的修改功能（方法）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删除指定元素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语法：列表</a:t>
            </a:r>
            <a:r>
              <a:rPr lang="en-US" altLang="zh-CN">
                <a:solidFill>
                  <a:schemeClr val="accent1"/>
                </a:solidFill>
              </a:rPr>
              <a:t>.remove(</a:t>
            </a:r>
            <a:r>
              <a:rPr lang="zh-CN" altLang="en-US">
                <a:solidFill>
                  <a:schemeClr val="accent1"/>
                </a:solidFill>
              </a:rPr>
              <a:t>元素</a:t>
            </a:r>
            <a:r>
              <a:rPr lang="en-US" altLang="zh-CN"/>
              <a:t>)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清空列表内容，</a:t>
            </a:r>
            <a:r>
              <a:rPr lang="en-US" altLang="zh-CN">
                <a:solidFill>
                  <a:schemeClr val="accent1"/>
                </a:solidFill>
              </a:rPr>
              <a:t>语法：列表.clear()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统计某元素在列表内的数量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语法：列表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.count(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元素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)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01 (11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0290" y="5829300"/>
            <a:ext cx="981710" cy="981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85" y="2484120"/>
            <a:ext cx="3952875" cy="781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85" y="3726815"/>
            <a:ext cx="3000375" cy="7715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485" y="5492115"/>
            <a:ext cx="3800475" cy="514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列表的查询功能（方法）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5297805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统计列表内，有多少元素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chemeClr val="accent1"/>
                </a:solidFill>
              </a:rPr>
              <a:t>语法：</a:t>
            </a:r>
            <a:r>
              <a:rPr lang="en-US">
                <a:solidFill>
                  <a:schemeClr val="accent1"/>
                </a:solidFill>
              </a:rPr>
              <a:t>len(</a:t>
            </a:r>
            <a:r>
              <a:rPr lang="zh-CN" altLang="en-US">
                <a:solidFill>
                  <a:schemeClr val="accent1"/>
                </a:solidFill>
              </a:rPr>
              <a:t>列表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  <a:endParaRPr lang="en-US" altLang="zh-CN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可以得到一个</a:t>
            </a:r>
            <a:r>
              <a:rPr lang="en-US" altLang="zh-CN"/>
              <a:t>int</a:t>
            </a:r>
            <a:r>
              <a:rPr lang="zh-CN" altLang="en-US"/>
              <a:t>数字，表示列表内的元素数量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180" y="5678170"/>
            <a:ext cx="1081405" cy="1081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65" y="3517900"/>
            <a:ext cx="36957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列表的方法</a:t>
            </a:r>
            <a:r>
              <a:rPr lang="en-US" altLang="zh-CN"/>
              <a:t> - </a:t>
            </a:r>
            <a:r>
              <a:t>总览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00480" y="1751330"/>
          <a:ext cx="9558655" cy="4210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2185035"/>
                <a:gridCol w="6573520"/>
              </a:tblGrid>
              <a:tr h="434975">
                <a:tc>
                  <a:txBody>
                    <a:bodyPr/>
                    <a:p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使用方式</a:t>
                      </a:r>
                      <a:endParaRPr lang="zh-CN" altLang="en-US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作用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354330">
                <a:tc>
                  <a:txBody>
                    <a:bodyPr/>
                    <a:p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/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.append(</a:t>
                      </a: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向列表中追加一个元素</a:t>
                      </a:r>
                      <a:endParaRPr 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.extend(</a:t>
                      </a: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容器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将数据容器的内容依次取出，追加到列表尾部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.insert(</a:t>
                      </a: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下标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, </a:t>
                      </a: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在指定下标处，插入指定的元素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4330">
                <a:tc>
                  <a:txBody>
                    <a:bodyPr/>
                    <a:p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4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/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del 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[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下标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]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删除列表指定下标元素</a:t>
                      </a:r>
                      <a:endParaRPr lang="zh-CN" altLang="en-US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3695">
                <a:tc>
                  <a:txBody>
                    <a:bodyPr/>
                    <a:p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5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.pop(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下标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删</a:t>
                      </a:r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除列表指定下标元素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marL="90000" anchor="ctr" anchorCtr="1"/>
                </a:tc>
              </a:tr>
              <a:tr h="354330">
                <a:tc>
                  <a:txBody>
                    <a:bodyPr/>
                    <a:p>
                      <a:r>
                        <a:rPr lang="en-US" altLang="zh-CN" sz="1200" u="none" strike="noStrike" kern="1200" baseline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6</a:t>
                      </a:r>
                      <a:endParaRPr lang="en-US" altLang="zh-CN" sz="1200" u="none" strike="noStrike" kern="1200" baseline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.remove(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从前向后，删除此元素第一个匹配项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u="none" strike="noStrike" kern="1200" baseline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7</a:t>
                      </a:r>
                      <a:endParaRPr lang="en-US" altLang="zh-CN" sz="1200" u="none" strike="noStrike" kern="1200" baseline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.clear()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清空列表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u="none" strike="noStrike" kern="1200" baseline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8</a:t>
                      </a:r>
                      <a:endParaRPr lang="en-US" altLang="zh-CN" sz="1200" u="none" strike="noStrike" kern="1200" baseline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.count(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统计此元素在列表中出现的次数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589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u="none" strike="noStrike" kern="1200" baseline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9</a:t>
                      </a:r>
                      <a:endParaRPr lang="en-US" altLang="zh-CN" sz="1200" u="none" strike="noStrike" kern="1200" baseline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.index(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查找指定元素在列表的下标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找不到报错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ValueError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543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u="none" strike="noStrike" kern="1200" baseline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10</a:t>
                      </a:r>
                      <a:endParaRPr lang="en-US" altLang="zh-CN" sz="1200" u="none" strike="noStrike" kern="1200" baseline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统计容器内有多少元素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</a:tbl>
          </a:graphicData>
        </a:graphic>
      </p:graphicFrame>
      <p:pic>
        <p:nvPicPr>
          <p:cNvPr id="3" name="图片 2" descr="01 (2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340" y="5616575"/>
            <a:ext cx="962660" cy="9626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列表的方法</a:t>
            </a:r>
            <a:r>
              <a:rPr lang="en-US" altLang="zh-CN"/>
              <a:t> - </a:t>
            </a:r>
            <a:r>
              <a:t>说明</a:t>
            </a:r>
          </a:p>
        </p:txBody>
      </p:sp>
      <p:sp>
        <p:nvSpPr>
          <p:cNvPr id="3" name="文本占位符 2"/>
          <p:cNvSpPr>
            <a:spLocks noGrp="1"/>
          </p:cNvSpPr>
          <p:nvPr/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功能方法非常多，同学们不需要硬记下来。</a:t>
            </a:r>
            <a:endParaRPr lang="zh-CN"/>
          </a:p>
          <a:p>
            <a:endParaRPr lang="zh-CN"/>
          </a:p>
          <a:p>
            <a:r>
              <a:rPr lang="zh-CN"/>
              <a:t>学习编程，不仅仅是</a:t>
            </a:r>
            <a:r>
              <a:rPr lang="en-US" altLang="zh-CN"/>
              <a:t>Python</a:t>
            </a:r>
            <a:r>
              <a:rPr lang="zh-CN" altLang="en-US"/>
              <a:t>语言本身，以后根据方向，会学习更多的框架技术。</a:t>
            </a:r>
            <a:endParaRPr lang="zh-CN" altLang="en-US"/>
          </a:p>
          <a:p>
            <a:r>
              <a:rPr lang="zh-CN" altLang="en-US"/>
              <a:t>除了经常用的，大多数是记忆不下来的。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我们要做的是，有一个模糊印象，知晓有这样的用法即可。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需要的时候，随时查阅资料即可。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 descr="01 (15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855" y="4001135"/>
            <a:ext cx="2788285" cy="2788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061085"/>
            <a:ext cx="5760720" cy="2834005"/>
          </a:xfrm>
        </p:spPr>
        <p:txBody>
          <a:bodyPr/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>
                <a:sym typeface="+mn-ea"/>
              </a:rPr>
              <a:t>列表的常见方法有</a:t>
            </a:r>
            <a:r>
              <a:rPr lang="en-US" altLang="zh-CN">
                <a:sym typeface="+mn-ea"/>
              </a:rPr>
              <a:t>: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列表有哪些特点？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82565" y="4652645"/>
            <a:ext cx="5048250" cy="1635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82565" y="1531620"/>
            <a:ext cx="6067425" cy="2674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79645" y="821055"/>
            <a:ext cx="6298565" cy="3768090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掌握使用</a:t>
            </a:r>
            <a:r>
              <a:rPr lang="en-US" altLang="zh-CN"/>
              <a:t>while</a:t>
            </a:r>
            <a:r>
              <a:rPr lang="zh-CN" altLang="en-US"/>
              <a:t>循环，遍历列表的元素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>
                <a:sym typeface="+mn-ea"/>
              </a:rPr>
              <a:t>掌握使用</a:t>
            </a:r>
            <a:r>
              <a:rPr lang="en-US" altLang="zh-CN">
                <a:sym typeface="+mn-ea"/>
              </a:rPr>
              <a:t>for</a:t>
            </a:r>
            <a:r>
              <a:rPr lang="zh-CN" altLang="en-US">
                <a:sym typeface="+mn-ea"/>
              </a:rPr>
              <a:t>循环，遍历列表的元素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列表的遍历</a:t>
            </a:r>
            <a:r>
              <a:rPr lang="en-US" altLang="zh-CN"/>
              <a:t> - while</a:t>
            </a:r>
            <a:r>
              <a:t>循环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既然数据容器可以存储多个元素，那么，就会有需求从容器内依次取出元素进行操作。</a:t>
            </a:r>
            <a:endParaRPr lang="zh-CN" altLang="en-US"/>
          </a:p>
          <a:p>
            <a:r>
              <a:rPr lang="zh-CN" altLang="en-US"/>
              <a:t>将容器内的元素依次取出进行处理的行为，称之为：遍历、迭代。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如何遍历列表的元素呢？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可以使用前面学过的</a:t>
            </a:r>
            <a:r>
              <a:rPr lang="en-US" altLang="zh-CN"/>
              <a:t>while</a:t>
            </a:r>
            <a:r>
              <a:rPr lang="zh-CN" altLang="en-US"/>
              <a:t>循环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如何在循环中取出列表的元素呢？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使用列表</a:t>
            </a:r>
            <a:r>
              <a:rPr lang="en-US" altLang="zh-CN"/>
              <a:t>[</a:t>
            </a:r>
            <a:r>
              <a:rPr lang="zh-CN" altLang="en-US"/>
              <a:t>下标</a:t>
            </a:r>
            <a:r>
              <a:rPr lang="en-US" altLang="zh-CN"/>
              <a:t>]</a:t>
            </a:r>
            <a:r>
              <a:rPr lang="zh-CN" altLang="en-US"/>
              <a:t>的方式取出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循环条件如何控制？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定义一个变量表示下标，从</a:t>
            </a:r>
            <a:r>
              <a:rPr lang="en-US" altLang="zh-CN"/>
              <a:t>0</a:t>
            </a:r>
            <a:r>
              <a:rPr lang="zh-CN" altLang="en-US"/>
              <a:t>开始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循环条件为</a:t>
            </a:r>
            <a:r>
              <a:rPr lang="en-US" altLang="zh-CN"/>
              <a:t> </a:t>
            </a:r>
            <a:r>
              <a:rPr lang="zh-CN" altLang="en-US"/>
              <a:t>下标值</a:t>
            </a:r>
            <a:r>
              <a:rPr lang="en-US" altLang="zh-CN"/>
              <a:t> &lt; </a:t>
            </a:r>
            <a:r>
              <a:rPr lang="zh-CN" altLang="en-US"/>
              <a:t>列表的元素数量</a:t>
            </a:r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5295265" y="4184015"/>
            <a:ext cx="1088390" cy="372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835" y="3298190"/>
            <a:ext cx="3914775" cy="2419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 descr="01 (1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615" y="5367655"/>
            <a:ext cx="1457960" cy="1457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列表的遍历</a:t>
            </a:r>
            <a:r>
              <a:rPr lang="en-US" altLang="zh-CN"/>
              <a:t> - for</a:t>
            </a:r>
            <a:r>
              <a:t>循环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除了</a:t>
            </a:r>
            <a:r>
              <a:rPr lang="en-US" altLang="zh-CN"/>
              <a:t>while</a:t>
            </a:r>
            <a:r>
              <a:rPr lang="zh-CN" altLang="en-US"/>
              <a:t>循环外，</a:t>
            </a:r>
            <a:r>
              <a:rPr lang="en-US" altLang="zh-CN"/>
              <a:t>Python</a:t>
            </a:r>
            <a:r>
              <a:rPr lang="zh-CN" altLang="en-US"/>
              <a:t>中还有另外一种循环形式：</a:t>
            </a:r>
            <a:r>
              <a:rPr lang="en-US" altLang="zh-CN"/>
              <a:t>for</a:t>
            </a:r>
            <a:r>
              <a:rPr lang="zh-CN" altLang="en-US"/>
              <a:t>循环。</a:t>
            </a:r>
            <a:endParaRPr lang="zh-CN" altLang="en-US"/>
          </a:p>
          <a:p>
            <a:r>
              <a:rPr lang="zh-CN" altLang="en-US"/>
              <a:t>对比</a:t>
            </a:r>
            <a:r>
              <a:rPr lang="en-US" altLang="zh-CN"/>
              <a:t>while</a:t>
            </a:r>
            <a:r>
              <a:rPr lang="zh-CN" altLang="en-US"/>
              <a:t>，</a:t>
            </a:r>
            <a:r>
              <a:rPr lang="en-US" altLang="zh-CN"/>
              <a:t>for</a:t>
            </a:r>
            <a:r>
              <a:rPr lang="zh-CN" altLang="en-US"/>
              <a:t>循环更加适合对列表等数据容器进行遍历。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表示，从容器内，依次取出元素并赋值到临时变量上。</a:t>
            </a:r>
            <a:endParaRPr lang="zh-CN" altLang="en-US"/>
          </a:p>
          <a:p>
            <a:r>
              <a:rPr lang="zh-CN" altLang="en-US"/>
              <a:t>在每一次的循环中，我们可以对临时变量（元素）进行处理。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3322955"/>
            <a:ext cx="3705225" cy="885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71956"/>
          <a:stretch>
            <a:fillRect/>
          </a:stretch>
        </p:blipFill>
        <p:spPr>
          <a:xfrm>
            <a:off x="7298690" y="3384550"/>
            <a:ext cx="2597785" cy="762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右箭头 5"/>
          <p:cNvSpPr/>
          <p:nvPr/>
        </p:nvSpPr>
        <p:spPr>
          <a:xfrm>
            <a:off x="5981700" y="3579495"/>
            <a:ext cx="1088390" cy="372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6744970" y="5327650"/>
            <a:ext cx="4606925" cy="8058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1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每一次循环将列表中的元素取出，赋值到变量</a:t>
            </a:r>
            <a:r>
              <a:rPr lang="en-US" altLang="zh-CN" sz="1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</a:t>
            </a:r>
            <a:r>
              <a:rPr lang="zh-CN" altLang="en-US" sz="1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，供操作</a:t>
            </a:r>
            <a:endParaRPr lang="zh-CN" altLang="en-US" sz="1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2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765" y="5641975"/>
            <a:ext cx="959485" cy="9594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rcRect t="43024" r="66047"/>
          <a:stretch>
            <a:fillRect/>
          </a:stretch>
        </p:blipFill>
        <p:spPr>
          <a:xfrm>
            <a:off x="10603865" y="2991485"/>
            <a:ext cx="882015" cy="15481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8302625" y="4146550"/>
            <a:ext cx="5905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代码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1345" y="4539615"/>
            <a:ext cx="59055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结果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10" grpId="0"/>
      <p:bldP spid="11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什么是遍历？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将容器内的元素依次取出，并处理，称之为遍历操作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如何遍历列表的元素？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可以使用</a:t>
            </a:r>
            <a:r>
              <a:rPr lang="en-US" altLang="zh-CN" sz="1400"/>
              <a:t>while</a:t>
            </a:r>
            <a:r>
              <a:rPr lang="zh-CN" altLang="en-US" sz="1400"/>
              <a:t>或</a:t>
            </a:r>
            <a:r>
              <a:rPr lang="en-US" altLang="zh-CN" sz="1400"/>
              <a:t>for</a:t>
            </a:r>
            <a:r>
              <a:rPr lang="zh-CN" altLang="en-US" sz="1400"/>
              <a:t>循环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for</a:t>
            </a:r>
            <a:r>
              <a:rPr lang="zh-CN" altLang="en-US"/>
              <a:t>循环的语法：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4. for</a:t>
            </a:r>
            <a:r>
              <a:rPr lang="zh-CN" altLang="en-US"/>
              <a:t>循环和</a:t>
            </a:r>
            <a:r>
              <a:rPr lang="en-US" altLang="zh-CN"/>
              <a:t>while</a:t>
            </a:r>
            <a:r>
              <a:rPr lang="zh-CN" altLang="en-US"/>
              <a:t>对比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for</a:t>
            </a:r>
            <a:r>
              <a:rPr lang="zh-CN" altLang="en-US" sz="1400"/>
              <a:t>循环更简单，</a:t>
            </a:r>
            <a:r>
              <a:rPr lang="en-US" altLang="zh-CN" sz="1400"/>
              <a:t>while</a:t>
            </a:r>
            <a:r>
              <a:rPr lang="zh-CN" altLang="en-US" sz="1400"/>
              <a:t>更灵活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for</a:t>
            </a:r>
            <a:r>
              <a:rPr lang="zh-CN" altLang="en-US" sz="1400"/>
              <a:t>用于从容器内依次取出元素并处理，</a:t>
            </a:r>
            <a:r>
              <a:rPr lang="en-US" altLang="zh-CN" sz="1400"/>
              <a:t>while</a:t>
            </a:r>
            <a:r>
              <a:rPr lang="zh-CN" altLang="en-US" sz="1400"/>
              <a:t>用以任何需要循环的场景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0" y="3538855"/>
            <a:ext cx="3088005" cy="7385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列表的特点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经过上述对列表的学习，可以总结出列表有如下特点：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可以容纳多个元素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可以容纳不同类型的元素（混装）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数据是有序存储的（有下标序号）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允许重复数据存在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可以修改（增加或删除元素等）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支持</a:t>
            </a:r>
            <a:r>
              <a:rPr lang="en-US" altLang="zh-CN"/>
              <a:t>for</a:t>
            </a:r>
            <a:r>
              <a:rPr lang="zh-CN" altLang="en-US"/>
              <a:t>循环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支持</a:t>
            </a:r>
            <a:r>
              <a:rPr lang="en-US" altLang="zh-CN"/>
              <a:t>while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4" name="图片 3" descr="01 (15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7380" y="5453380"/>
            <a:ext cx="1404620" cy="14046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掌握元组的定义格式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为什么需要元组</a:t>
            </a:r>
            <a:endParaRPr lang="zh-CN" altLang="en-US" dirty="0"/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3074670" y="1645920"/>
            <a:ext cx="8385810" cy="496760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思考：列表是</a:t>
            </a:r>
            <a:r>
              <a:rPr lang="zh-CN" altLang="en-US" dirty="0">
                <a:solidFill>
                  <a:srgbClr val="FF0000"/>
                </a:solidFill>
              </a:rPr>
              <a:t>可以修改</a:t>
            </a:r>
            <a:r>
              <a:rPr lang="zh-CN" altLang="en-US" dirty="0"/>
              <a:t>的。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如果想要传递的信息，</a:t>
            </a:r>
            <a:r>
              <a:rPr lang="zh-CN" altLang="en-US" dirty="0">
                <a:solidFill>
                  <a:srgbClr val="FF0000"/>
                </a:solidFill>
              </a:rPr>
              <a:t>不被篡改</a:t>
            </a:r>
            <a:r>
              <a:rPr lang="zh-CN" altLang="en-US" dirty="0"/>
              <a:t>，列表就不合适了。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元组同列表一样，都是可以封装多个、不同类型的元素在内。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但最大的不同点在于：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元组一旦定义完成，就不可修改</a:t>
            </a:r>
            <a:endParaRPr lang="zh-CN" altLang="en-US" sz="2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所以，当我们需要在程序内封装数据，又不希望封装的数据被篡改，那么元组就非常合适了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1285240"/>
            <a:ext cx="3091815" cy="3091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定义元组</a:t>
            </a:r>
            <a:endParaRPr lang="zh-CN" altLang="en-US" dirty="0"/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元组定义：定义元组使用</a:t>
            </a:r>
            <a:r>
              <a:rPr lang="zh-CN" altLang="en-US" dirty="0">
                <a:solidFill>
                  <a:srgbClr val="B60206"/>
                </a:solidFill>
              </a:rPr>
              <a:t>小括号</a:t>
            </a:r>
            <a:r>
              <a:rPr lang="zh-CN" altLang="en-US" dirty="0"/>
              <a:t>，且使用</a:t>
            </a:r>
            <a:r>
              <a:rPr lang="zh-CN" altLang="en-US" dirty="0">
                <a:solidFill>
                  <a:srgbClr val="B60206"/>
                </a:solidFill>
              </a:rPr>
              <a:t>逗号</a:t>
            </a:r>
            <a:r>
              <a:rPr lang="zh-CN" altLang="en-US" dirty="0"/>
              <a:t>隔开各个数据，</a:t>
            </a:r>
            <a:r>
              <a:rPr lang="zh-CN" altLang="en-US" dirty="0">
                <a:solidFill>
                  <a:srgbClr val="B60206"/>
                </a:solidFill>
              </a:rPr>
              <a:t>数据可以是不同的数据类型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 </a:t>
            </a:r>
            <a:r>
              <a:rPr dirty="0">
                <a:solidFill>
                  <a:srgbClr val="B60206"/>
                </a:solidFill>
              </a:rPr>
              <a:t>                                                     </a:t>
            </a:r>
            <a:r>
              <a:rPr lang="zh-CN" altLang="en-US" dirty="0">
                <a:solidFill>
                  <a:srgbClr val="B60206"/>
                </a:solidFill>
              </a:rPr>
              <a:t>注意：元组只有一个数据，这个数据后面要添加逗号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元组也支持嵌套：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pic>
        <p:nvPicPr>
          <p:cNvPr id="2" name="图片 1" descr="01 (11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5515" y="5427345"/>
            <a:ext cx="1205230" cy="12052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330" y="2924810"/>
            <a:ext cx="5162550" cy="1276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5" y="5047615"/>
            <a:ext cx="3124200" cy="7810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2377440"/>
            <a:ext cx="3695700" cy="17811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23646" y="2490934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元组的相关操作</a:t>
            </a:r>
            <a:endParaRPr lang="zh-CN" altLang="en-US" dirty="0"/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3750" y="1536065"/>
          <a:ext cx="5768340" cy="131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920"/>
                <a:gridCol w="1113155"/>
                <a:gridCol w="4025265"/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方法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作用</a:t>
                      </a:r>
                      <a:endParaRPr lang="zh-CN" altLang="en-US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index()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查找某个数据，如果数据存在返回对应的下标，否则报错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count()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统计某个数据在当前元组出现的次数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2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</a:t>
                      </a: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元组</a:t>
                      </a:r>
                      <a:r>
                        <a:rPr lang="en-US" altLang="zh-CN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统计元组内的元素个数</a:t>
                      </a:r>
                      <a:endParaRPr lang="zh-CN" altLang="en-US" sz="12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</a:tbl>
          </a:graphicData>
        </a:graphic>
      </p:graphicFrame>
      <p:pic>
        <p:nvPicPr>
          <p:cNvPr id="2" name="图片 1" descr="01 (10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815" y="5395595"/>
            <a:ext cx="1217930" cy="1217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910" y="4130675"/>
            <a:ext cx="484886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元组由于不可修改的特性，所以其操作方法非常少。</a:t>
            </a:r>
            <a:endParaRPr lang="zh-CN" altLang="en-US" sz="20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3750" y="3714115"/>
            <a:ext cx="5319395" cy="95821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3576" y="3814909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240" y="1457325"/>
            <a:ext cx="4191000" cy="4000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3" grpId="0" bldLvl="0" animBg="1"/>
      <p:bldP spid="7" grpId="1"/>
      <p:bldP spid="8" grpId="1" animBg="1"/>
      <p:bldP spid="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元组的相关操作</a:t>
            </a:r>
            <a:r>
              <a:rPr lang="en-US" altLang="zh-CN" dirty="0"/>
              <a:t> - </a:t>
            </a:r>
            <a:r>
              <a:rPr dirty="0"/>
              <a:t>注意事项</a:t>
            </a:r>
            <a:endParaRPr dirty="0"/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</p:txBody>
      </p:sp>
      <p:pic>
        <p:nvPicPr>
          <p:cNvPr id="2" name="图片 1" descr="01 (10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2815" y="5395595"/>
            <a:ext cx="1217930" cy="1217930"/>
          </a:xfrm>
          <a:prstGeom prst="rect">
            <a:avLst/>
          </a:prstGeom>
        </p:spPr>
      </p:pic>
      <p:sp>
        <p:nvSpPr>
          <p:cNvPr id="6" name="文本占位符 1"/>
          <p:cNvSpPr>
            <a:spLocks noGrp="1"/>
          </p:cNvSpPr>
          <p:nvPr/>
        </p:nvSpPr>
        <p:spPr>
          <a:xfrm>
            <a:off x="837881" y="1773133"/>
            <a:ext cx="10749598" cy="496767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B60206"/>
                </a:solidFill>
              </a:rPr>
              <a:t>不可以修改元组的内容，否则会直接报错</a:t>
            </a:r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可以修改元组内的</a:t>
            </a:r>
            <a:r>
              <a:rPr dirty="0">
                <a:solidFill>
                  <a:srgbClr val="B60206"/>
                </a:solidFill>
              </a:rPr>
              <a:t>list</a:t>
            </a:r>
            <a:r>
              <a:rPr lang="zh-CN" altLang="en-US" dirty="0">
                <a:solidFill>
                  <a:srgbClr val="B60206"/>
                </a:solidFill>
              </a:rPr>
              <a:t>的内容（修改元素、增加、删除、反转等）</a:t>
            </a:r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endParaRPr lang="zh-CN" altLang="en-US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不可以替换</a:t>
            </a:r>
            <a:r>
              <a:rPr dirty="0">
                <a:solidFill>
                  <a:srgbClr val="B60206"/>
                </a:solidFill>
              </a:rPr>
              <a:t>list</a:t>
            </a:r>
            <a:r>
              <a:rPr lang="zh-CN" altLang="en-US" dirty="0">
                <a:solidFill>
                  <a:srgbClr val="B60206"/>
                </a:solidFill>
              </a:rPr>
              <a:t>为其它</a:t>
            </a:r>
            <a:r>
              <a:rPr dirty="0">
                <a:solidFill>
                  <a:srgbClr val="B60206"/>
                </a:solidFill>
              </a:rPr>
              <a:t>list</a:t>
            </a:r>
            <a:r>
              <a:rPr lang="zh-CN" altLang="en-US" dirty="0">
                <a:solidFill>
                  <a:srgbClr val="B60206"/>
                </a:solidFill>
              </a:rPr>
              <a:t>或其它类型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640" y="2292985"/>
            <a:ext cx="5236845" cy="8394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05" y="5653405"/>
            <a:ext cx="5248910" cy="844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130" y="2303145"/>
            <a:ext cx="1933575" cy="819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右箭头 6"/>
          <p:cNvSpPr/>
          <p:nvPr/>
        </p:nvSpPr>
        <p:spPr>
          <a:xfrm>
            <a:off x="3717925" y="2531745"/>
            <a:ext cx="784860" cy="245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130" y="3968115"/>
            <a:ext cx="4752975" cy="10382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130" y="5565775"/>
            <a:ext cx="3676650" cy="1047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右箭头 10"/>
          <p:cNvSpPr/>
          <p:nvPr/>
        </p:nvSpPr>
        <p:spPr>
          <a:xfrm>
            <a:off x="5014595" y="5966460"/>
            <a:ext cx="784860" cy="245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元组的遍历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同列表一样，元组也可以被遍历。</a:t>
            </a:r>
            <a:endParaRPr lang="zh-CN" altLang="en-US"/>
          </a:p>
          <a:p>
            <a:r>
              <a:rPr lang="zh-CN" altLang="en-US"/>
              <a:t>可以使用</a:t>
            </a:r>
            <a:r>
              <a:rPr lang="en-US" altLang="zh-CN"/>
              <a:t>while</a:t>
            </a:r>
            <a:r>
              <a:rPr lang="zh-CN" altLang="en-US"/>
              <a:t>循环和</a:t>
            </a:r>
            <a:r>
              <a:rPr lang="en-US" altLang="zh-CN"/>
              <a:t>for</a:t>
            </a:r>
            <a:r>
              <a:rPr lang="zh-CN" altLang="en-US"/>
              <a:t>循环遍历它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59962"/>
          <a:stretch>
            <a:fillRect/>
          </a:stretch>
        </p:blipFill>
        <p:spPr>
          <a:xfrm>
            <a:off x="1964055" y="2802890"/>
            <a:ext cx="2896235" cy="13296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71577"/>
          <a:stretch>
            <a:fillRect/>
          </a:stretch>
        </p:blipFill>
        <p:spPr>
          <a:xfrm>
            <a:off x="7400290" y="3043555"/>
            <a:ext cx="2949575" cy="8489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990215" y="4132580"/>
            <a:ext cx="843915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while</a:t>
            </a: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循环</a:t>
            </a:r>
            <a:endParaRPr lang="zh-CN" altLang="en-US" sz="1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14715" y="3892550"/>
            <a:ext cx="72136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for</a:t>
            </a: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循环</a:t>
            </a:r>
            <a:endParaRPr lang="zh-CN" altLang="en-US" sz="1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pic>
        <p:nvPicPr>
          <p:cNvPr id="8" name="图片 7" descr="01 (14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005" y="5187315"/>
            <a:ext cx="1483995" cy="14839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51969"/>
          <a:stretch>
            <a:fillRect/>
          </a:stretch>
        </p:blipFill>
        <p:spPr>
          <a:xfrm>
            <a:off x="4648200" y="4698365"/>
            <a:ext cx="2896235" cy="1595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5606415" y="6293485"/>
            <a:ext cx="894080" cy="306705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运行结果</a:t>
            </a:r>
            <a:endParaRPr lang="zh-CN" altLang="en-US" sz="1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sp>
        <p:nvSpPr>
          <p:cNvPr id="13" name="右箭头 12"/>
          <p:cNvSpPr/>
          <p:nvPr/>
        </p:nvSpPr>
        <p:spPr>
          <a:xfrm rot="2340000">
            <a:off x="4429125" y="4310380"/>
            <a:ext cx="568960" cy="23558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 rot="8340000">
            <a:off x="7107555" y="4286250"/>
            <a:ext cx="568960" cy="23558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7" grpId="1"/>
      <p:bldP spid="6" grpId="1"/>
      <p:bldP spid="10" grpId="0"/>
      <p:bldP spid="10" grpId="1"/>
      <p:bldP spid="13" grpId="0" animBg="1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元组的特点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经过上述对元组的学习，可以总结出元组有如下特点：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可以容纳多个数据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可以容纳不同类型的数据（混装）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数据是有序存储的（下标索引）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允许重复数据存在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不可以修改</a:t>
            </a:r>
            <a:r>
              <a:rPr lang="zh-CN" altLang="en-US"/>
              <a:t>（增加或删除元素等）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for</a:t>
            </a:r>
            <a:r>
              <a:rPr lang="zh-CN" altLang="en-US">
                <a:sym typeface="+mn-ea"/>
              </a:rPr>
              <a:t>循环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while</a:t>
            </a:r>
            <a:r>
              <a:rPr lang="zh-CN" altLang="en-US">
                <a:sym typeface="+mn-ea"/>
              </a:rPr>
              <a:t>循环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多数特性和</a:t>
            </a:r>
            <a:r>
              <a:rPr lang="en-US" altLang="zh-CN"/>
              <a:t>list</a:t>
            </a:r>
            <a:r>
              <a:rPr lang="zh-CN" altLang="en-US"/>
              <a:t>一致，不同点在于不可修改的特性。</a:t>
            </a:r>
            <a:endParaRPr lang="zh-CN" altLang="en-US"/>
          </a:p>
        </p:txBody>
      </p:sp>
      <p:pic>
        <p:nvPicPr>
          <p:cNvPr id="4" name="图片 3" descr="01 (15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7380" y="5453380"/>
            <a:ext cx="1404620" cy="140462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5760720" cy="4916805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元组的定义方式：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(</a:t>
            </a:r>
            <a:r>
              <a:rPr lang="zh-CN" altLang="en-US" sz="1400"/>
              <a:t>元素</a:t>
            </a:r>
            <a:r>
              <a:rPr lang="en-US" altLang="zh-CN" sz="1400"/>
              <a:t>, </a:t>
            </a:r>
            <a:r>
              <a:rPr lang="zh-CN" altLang="en-US" sz="1400"/>
              <a:t>元素</a:t>
            </a:r>
            <a:r>
              <a:rPr lang="en-US" altLang="zh-CN" sz="1400"/>
              <a:t>, </a:t>
            </a:r>
            <a:r>
              <a:rPr lang="zh-CN" altLang="en-US" sz="1400"/>
              <a:t>元素</a:t>
            </a:r>
            <a:r>
              <a:rPr lang="en-US" altLang="zh-CN" sz="1400"/>
              <a:t>, ......)</a:t>
            </a:r>
            <a:endParaRPr lang="en-US" altLang="zh-CN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元组的操作方法：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元组的注意事项：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不可修改内容（可以修改</a:t>
            </a:r>
            <a:r>
              <a:rPr lang="zh-CN" altLang="en-US" sz="1400">
                <a:solidFill>
                  <a:srgbClr val="FF0000"/>
                </a:solidFill>
              </a:rPr>
              <a:t>内部</a:t>
            </a:r>
            <a:r>
              <a:rPr lang="en-US" altLang="zh-CN" sz="1400">
                <a:solidFill>
                  <a:srgbClr val="FF0000"/>
                </a:solidFill>
              </a:rPr>
              <a:t>list</a:t>
            </a:r>
            <a:r>
              <a:rPr lang="zh-CN" altLang="en-US" sz="1400">
                <a:solidFill>
                  <a:srgbClr val="FF0000"/>
                </a:solidFill>
              </a:rPr>
              <a:t>的内部元素</a:t>
            </a:r>
            <a:r>
              <a:rPr lang="zh-CN" altLang="en-US" sz="1400"/>
              <a:t>）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4. </a:t>
            </a:r>
            <a:r>
              <a:rPr lang="zh-CN" altLang="en-US"/>
              <a:t>元组的特点：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和</a:t>
            </a:r>
            <a:r>
              <a:rPr lang="en-US" altLang="zh-CN" sz="1400"/>
              <a:t>list</a:t>
            </a:r>
            <a:r>
              <a:rPr lang="zh-CN" altLang="en-US" sz="1400"/>
              <a:t>基本相同（有序、任意数量元素、允许重复元素）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唯一不同在于</a:t>
            </a:r>
            <a:r>
              <a:rPr lang="zh-CN" altLang="en-US" sz="1400">
                <a:solidFill>
                  <a:srgbClr val="FF0000"/>
                </a:solidFill>
              </a:rPr>
              <a:t>不可修改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支持</a:t>
            </a:r>
            <a:r>
              <a:rPr lang="en-US" altLang="zh-CN" sz="1400"/>
              <a:t>while</a:t>
            </a:r>
            <a:r>
              <a:rPr lang="zh-CN" altLang="en-US" sz="1400"/>
              <a:t>和</a:t>
            </a:r>
            <a:r>
              <a:rPr lang="en-US" altLang="zh-CN" sz="1400"/>
              <a:t>for</a:t>
            </a:r>
            <a:r>
              <a:rPr lang="zh-CN" altLang="en-US" sz="1400"/>
              <a:t>循环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825" y="2566670"/>
            <a:ext cx="6316980" cy="787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数据容器：切片操作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数据容器分类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 sz="1800"/>
              <a:t>数据容器可以从以下视角进行简单的分类：</a:t>
            </a:r>
            <a:endParaRPr lang="zh-CN" altLang="en-US" sz="1800"/>
          </a:p>
          <a:p>
            <a:pPr>
              <a:buFont typeface="Arial" panose="020B0604020202020204" pitchFamily="34" charset="0"/>
            </a:pPr>
            <a:endParaRPr lang="zh-CN" altLang="en-US" sz="1800"/>
          </a:p>
          <a:p>
            <a:pPr>
              <a:buFont typeface="Arial" panose="020B0604020202020204" pitchFamily="34" charset="0"/>
            </a:pPr>
            <a:r>
              <a:rPr lang="zh-CN" altLang="en-US" sz="1800"/>
              <a:t>是否是序列</a:t>
            </a:r>
            <a:r>
              <a:rPr lang="en-US" altLang="zh-CN" sz="1800"/>
              <a:t>?</a:t>
            </a:r>
            <a:endParaRPr lang="zh-CN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C00000"/>
                </a:solidFill>
              </a:rPr>
              <a:t>序列：</a:t>
            </a:r>
            <a:r>
              <a:rPr lang="zh-CN" altLang="en-US" sz="1800"/>
              <a:t>列表</a:t>
            </a:r>
            <a:r>
              <a:rPr lang="en-US" altLang="zh-CN" sz="1800"/>
              <a:t> </a:t>
            </a:r>
            <a:r>
              <a:rPr lang="zh-CN" altLang="en-US" sz="1800"/>
              <a:t>元组</a:t>
            </a:r>
            <a:r>
              <a:rPr lang="en-US" altLang="zh-CN" sz="1800"/>
              <a:t> </a:t>
            </a:r>
            <a:r>
              <a:rPr lang="zh-CN" altLang="en-US" sz="1800"/>
              <a:t>字符串</a:t>
            </a:r>
            <a:endParaRPr lang="zh-CN" altLang="en-US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1800"/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en-US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C00000"/>
                </a:solidFill>
              </a:rPr>
              <a:t>非序列</a:t>
            </a:r>
            <a:r>
              <a:rPr lang="en-US" altLang="zh-CN" sz="1800">
                <a:solidFill>
                  <a:srgbClr val="C00000"/>
                </a:solidFill>
              </a:rPr>
              <a:t>:</a:t>
            </a:r>
            <a:r>
              <a:rPr lang="en-US" altLang="zh-CN" sz="1800"/>
              <a:t> </a:t>
            </a:r>
            <a:r>
              <a:rPr lang="zh-CN" altLang="en-US" sz="1800"/>
              <a:t>集合</a:t>
            </a:r>
            <a:r>
              <a:rPr lang="en-US" altLang="zh-CN" sz="1800"/>
              <a:t>  </a:t>
            </a:r>
            <a:r>
              <a:rPr lang="zh-CN" altLang="en-US" sz="1800"/>
              <a:t>字典</a:t>
            </a:r>
            <a:endParaRPr lang="zh-CN" altLang="en-US" sz="18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07890" y="1377950"/>
            <a:ext cx="6298565" cy="2850515"/>
          </a:xfrm>
        </p:spPr>
        <p:txBody>
          <a:bodyPr/>
          <a:p>
            <a:pPr marL="342900" indent="-342900"/>
            <a:r>
              <a:rPr lang="zh-CN" altLang="en-US">
                <a:solidFill>
                  <a:srgbClr val="FF0000"/>
                </a:solidFill>
              </a:rPr>
              <a:t>了解什么是序列</a:t>
            </a:r>
            <a:endParaRPr lang="zh-CN" altLang="en-US">
              <a:solidFill>
                <a:srgbClr val="FF0000"/>
              </a:solidFill>
            </a:endParaRPr>
          </a:p>
          <a:p>
            <a:pPr marL="342900" indent="-342900"/>
            <a:r>
              <a:rPr lang="zh-CN" altLang="en-US">
                <a:solidFill>
                  <a:srgbClr val="FF0000"/>
                </a:solidFill>
              </a:rPr>
              <a:t>掌握序列的切片操作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序列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序列是指：内容连续、有序，可使用下标索引的一类数据容器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列表、元组、字符串，均可以可以视为序列。</a:t>
            </a:r>
            <a:endParaRPr lang="zh-CN" altLang="en-US">
              <a:solidFill>
                <a:srgbClr val="FF0000"/>
              </a:solidFill>
            </a:endParaRP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如图，序列的典型特征就是：有序并可用下标索引，字符串、元组、列表均满足这个要求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834390" y="2779078"/>
            <a:ext cx="5715000" cy="75247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834390" y="4122738"/>
            <a:ext cx="5715000" cy="73342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pic>
        <p:nvPicPr>
          <p:cNvPr id="4" name="图片 3" descr="01 (8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075" y="5443855"/>
            <a:ext cx="1267460" cy="126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序列的常用操作</a:t>
            </a:r>
            <a:r>
              <a:rPr lang="en-US" altLang="zh-CN"/>
              <a:t> - </a:t>
            </a:r>
            <a:r>
              <a:t>切片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98365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序列支持切片，即：列表、元组、字符串，均支持进行切片操作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切片：从一个序列中，取出一个子序列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语法：序列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起始下标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结束下标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步长</a:t>
            </a:r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endParaRPr lang="en-US" altLang="zh-CN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 sz="1400">
                <a:solidFill>
                  <a:srgbClr val="FF0000"/>
                </a:solidFill>
              </a:rPr>
              <a:t>表示从序列中，从指定位置开始，依次取出元素，到指定位置结束，得到一个新序列</a:t>
            </a:r>
            <a:r>
              <a:rPr lang="zh-CN" altLang="en-US" sz="1400"/>
              <a:t>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起始下标表示从何处开始，可以留空，留空视作从头开始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结束下标（不含）表示何处结束，可以留空，留空视作截取到结尾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步长表示，依次取元素的间隔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350"/>
              <a:t>步长</a:t>
            </a:r>
            <a:r>
              <a:rPr lang="en-US" altLang="zh-CN" sz="1350"/>
              <a:t>1</a:t>
            </a:r>
            <a:r>
              <a:rPr lang="zh-CN" altLang="en-US" sz="1350"/>
              <a:t>表示，一个个取元素</a:t>
            </a:r>
            <a:endParaRPr lang="zh-CN" altLang="en-US" sz="13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350"/>
              <a:t>步长</a:t>
            </a:r>
            <a:r>
              <a:rPr lang="en-US" altLang="zh-CN" sz="1350"/>
              <a:t>2</a:t>
            </a:r>
            <a:r>
              <a:rPr lang="zh-CN" altLang="en-US" sz="1350"/>
              <a:t>表示，每次跳过</a:t>
            </a:r>
            <a:r>
              <a:rPr lang="en-US" altLang="zh-CN" sz="1350"/>
              <a:t>1</a:t>
            </a:r>
            <a:r>
              <a:rPr lang="zh-CN" altLang="en-US" sz="1350"/>
              <a:t>个元素取</a:t>
            </a:r>
            <a:endParaRPr lang="zh-CN" altLang="en-US" sz="13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350"/>
              <a:t>步长</a:t>
            </a:r>
            <a:r>
              <a:rPr lang="en-US" altLang="zh-CN" sz="1350"/>
              <a:t>N</a:t>
            </a:r>
            <a:r>
              <a:rPr lang="zh-CN" altLang="en-US" sz="1350"/>
              <a:t>表示，每次跳过</a:t>
            </a:r>
            <a:r>
              <a:rPr lang="en-US" altLang="zh-CN" sz="1350"/>
              <a:t>N-1</a:t>
            </a:r>
            <a:r>
              <a:rPr lang="zh-CN" altLang="en-US" sz="1350"/>
              <a:t>个元素取</a:t>
            </a:r>
            <a:endParaRPr lang="zh-CN" altLang="en-US" sz="135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350"/>
              <a:t>步长为负数表示，反向取（注意，起始下标和结束下标也要反向标记）</a:t>
            </a:r>
            <a:endParaRPr lang="zh-CN" altLang="en-US" sz="1350"/>
          </a:p>
          <a:p>
            <a:pPr>
              <a:buFont typeface="Arial" panose="020B0604020202020204" pitchFamily="34" charset="0"/>
            </a:pPr>
            <a:endParaRPr lang="zh-CN" altLang="en-US" sz="1200"/>
          </a:p>
          <a:p>
            <a:pPr>
              <a:buFont typeface="Arial" panose="020B0604020202020204" pitchFamily="34" charset="0"/>
            </a:pPr>
            <a:r>
              <a:rPr lang="zh-CN" altLang="en-US" sz="1200"/>
              <a:t>注意，此操作</a:t>
            </a:r>
            <a:r>
              <a:rPr lang="zh-CN" altLang="en-US">
                <a:solidFill>
                  <a:srgbClr val="FF0000"/>
                </a:solidFill>
              </a:rPr>
              <a:t>不会影响序列本身，而是会得到一个新的序列（列表、元组、字符串）</a:t>
            </a:r>
            <a:endParaRPr lang="zh-CN" altLang="en-US" sz="1200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8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9800" y="5502275"/>
            <a:ext cx="1139825" cy="113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序列的常用操作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切片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 sz="2000" b="1"/>
              <a:t>序列的切片演示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pPr>
              <a:buFont typeface="Arial" panose="020B0604020202020204" pitchFamily="34" charset="0"/>
            </a:pPr>
            <a:endParaRPr lang="zh-CN" altLang="en-US" sz="1200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2" name="TextBox 3"/>
          <p:cNvSpPr txBox="1"/>
          <p:nvPr/>
        </p:nvSpPr>
        <p:spPr>
          <a:xfrm>
            <a:off x="762635" y="2218055"/>
            <a:ext cx="693737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my_list = [1, 2, 3, 4, 5]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new_list = my_list[1:4]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开始，下标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（不含）结束，步长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print(new_list)	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[2, 3, 4]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62635" y="3060700"/>
            <a:ext cx="693737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my_tuple = (1, 2, 3, 4, 5)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new_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tuple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= my_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tuple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[:]	# 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从头开始，到最后结束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，步长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print(new_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tuple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)	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(1, 2, 3, 4, 5)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62635" y="3903345"/>
            <a:ext cx="693737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my_list = [1, 2, 3, 4, 5]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new_list = my_list[::2]		# 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从头开始，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到最后结束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，步长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2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print(new_list)	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[1, 3, 5]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62635" y="4842510"/>
            <a:ext cx="693737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my_str = "12345"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new_str = my_str[:4:2]	# 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从头开始，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到下标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（不含）结束，步长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2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print(new_str)	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"13"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 descr="01 (9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0445" y="5570220"/>
            <a:ext cx="1209040" cy="1209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序列的常用操作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切片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 sz="2000" b="1"/>
              <a:t>序列的切片演示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r>
              <a:rPr lang="zh-CN" altLang="en-US" sz="2000" b="1">
                <a:solidFill>
                  <a:srgbClr val="FF0000"/>
                </a:solidFill>
              </a:rPr>
              <a:t>可以看到，这个操作对列表、元组、字符串是通用的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同时非常灵活，根据需求，起始位置，结束位置，步长（正反序）都是可以自行控制的</a:t>
            </a:r>
            <a:endParaRPr lang="zh-CN" altLang="en-US" sz="2000" b="1"/>
          </a:p>
          <a:p>
            <a:pPr>
              <a:buFont typeface="Arial" panose="020B0604020202020204" pitchFamily="34" charset="0"/>
            </a:pPr>
            <a:endParaRPr lang="zh-CN" altLang="en-US" sz="1200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2" name="TextBox 3"/>
          <p:cNvSpPr txBox="1"/>
          <p:nvPr/>
        </p:nvSpPr>
        <p:spPr>
          <a:xfrm>
            <a:off x="762635" y="2218055"/>
            <a:ext cx="770318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my_str = "12345"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new_str = my_str[::-1]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从头（最后）开始，到尾结束，步长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-1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（倒序）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print(new_str)		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结果："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54321"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62635" y="3060700"/>
            <a:ext cx="770318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my_list = [1, 2, 3, 4, 5]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new_list = my_list[3:1:-1]	# 从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3开始，到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（不含）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结束，步长-1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（倒序）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print(new_list)		# 结果：[4, 3]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62635" y="3903345"/>
            <a:ext cx="770318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my_tuple = (1, 2, 3, 4, 5)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new_tuple = my_tuple[:1:-2] 	# 从头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（最后）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开始，到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下标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1(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不含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)结束，步长-2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（倒序）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print(new_tuple)		# 结果：(5, 3)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8" name="图片 7" descr="01 (9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540" y="5396865"/>
            <a:ext cx="1394460" cy="139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什么是序列？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>
                <a:sym typeface="+mn-ea"/>
              </a:rPr>
              <a:t>内容连续、有序，支持下标索引的一类数据容器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哪些数据容器可以视为序列？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 sz="1400">
                <a:sym typeface="+mn-ea"/>
              </a:rPr>
              <a:t>列表、元组、字符串</a:t>
            </a:r>
            <a:endParaRPr lang="zh-CN" altLang="en-US" sz="1400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序列如何做切片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 sz="1400">
                <a:sym typeface="+mn-ea"/>
              </a:rPr>
              <a:t>序列</a:t>
            </a:r>
            <a:r>
              <a:rPr lang="en-US" altLang="zh-CN" sz="1400">
                <a:sym typeface="+mn-ea"/>
              </a:rPr>
              <a:t>[</a:t>
            </a:r>
            <a:r>
              <a:rPr lang="zh-CN" altLang="en-US" sz="1400">
                <a:sym typeface="+mn-ea"/>
              </a:rPr>
              <a:t>起始</a:t>
            </a:r>
            <a:r>
              <a:rPr lang="en-US" altLang="zh-CN" sz="1400">
                <a:sym typeface="+mn-ea"/>
              </a:rPr>
              <a:t>:</a:t>
            </a:r>
            <a:r>
              <a:rPr lang="zh-CN" altLang="en-US" sz="1400">
                <a:sym typeface="+mn-ea"/>
              </a:rPr>
              <a:t>结束</a:t>
            </a:r>
            <a:r>
              <a:rPr lang="en-US" altLang="zh-CN" sz="1400">
                <a:sym typeface="+mn-ea"/>
              </a:rPr>
              <a:t>:</a:t>
            </a:r>
            <a:r>
              <a:rPr lang="zh-CN" altLang="en-US" sz="1400">
                <a:sym typeface="+mn-ea"/>
              </a:rPr>
              <a:t>步长</a:t>
            </a:r>
            <a:r>
              <a:rPr lang="en-US" altLang="zh-CN" sz="1400">
                <a:sym typeface="+mn-ea"/>
              </a:rPr>
              <a:t>]</a:t>
            </a:r>
            <a:endParaRPr lang="en-US" altLang="zh-CN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起始可以省略，省略从头开始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结束可以省略，省略到尾结束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步长可以省略，省略步长为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（可以为负数，表示倒序执行）</a:t>
            </a:r>
            <a:endParaRPr lang="zh-CN" altLang="en-US" sz="1400">
              <a:sym typeface="+mn-ea"/>
            </a:endParaRPr>
          </a:p>
          <a:p>
            <a:pPr marL="0" indent="0">
              <a:buNone/>
            </a:pP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)</a:t>
            </a:r>
            <a:endParaRPr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1"/>
          <p:cNvSpPr>
            <a:spLocks noGrp="1"/>
          </p:cNvSpPr>
          <p:nvPr/>
        </p:nvSpPr>
        <p:spPr>
          <a:xfrm>
            <a:off x="4707890" y="1377950"/>
            <a:ext cx="6298565" cy="285051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dirty="0">
                <a:solidFill>
                  <a:srgbClr val="C00000"/>
                </a:solidFill>
                <a:sym typeface="+mn-ea"/>
              </a:rPr>
              <a:t>掌握集合的定义格式</a:t>
            </a:r>
            <a:endParaRPr lang="zh-CN" altLang="en-US" dirty="0">
              <a:solidFill>
                <a:srgbClr val="C00000"/>
              </a:solidFill>
            </a:endParaRPr>
          </a:p>
          <a:p>
            <a:pPr marL="342900" indent="-342900"/>
            <a:r>
              <a:rPr lang="zh-CN" altLang="en-US" dirty="0">
                <a:solidFill>
                  <a:srgbClr val="C00000"/>
                </a:solidFill>
                <a:sym typeface="+mn-ea"/>
              </a:rPr>
              <a:t>掌握集合的特点</a:t>
            </a:r>
            <a:endParaRPr lang="zh-CN" altLang="en-US" dirty="0">
              <a:solidFill>
                <a:srgbClr val="C00000"/>
              </a:solidFill>
            </a:endParaRPr>
          </a:p>
          <a:p>
            <a:pPr marL="342900" indent="-342900"/>
            <a:r>
              <a:rPr lang="zh-CN" altLang="en-US" dirty="0">
                <a:solidFill>
                  <a:srgbClr val="C00000"/>
                </a:solidFill>
                <a:sym typeface="+mn-ea"/>
              </a:rPr>
              <a:t>掌握集合的常见操作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为什么使用集合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309495" y="1656080"/>
            <a:ext cx="9100185" cy="4219575"/>
          </a:xfrm>
        </p:spPr>
        <p:txBody>
          <a:bodyPr/>
          <a:p>
            <a:r>
              <a:rPr lang="zh-CN" altLang="en-US"/>
              <a:t>我们目前接触到了列表、元组、字符串三个数据容器了。基本满足大多数的使用场景。</a:t>
            </a:r>
            <a:endParaRPr lang="zh-CN" altLang="en-US"/>
          </a:p>
          <a:p>
            <a:r>
              <a:rPr lang="zh-CN" altLang="en-US"/>
              <a:t>为何又需要学习新的集合类型呢？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通过特性来分析：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列表可修改、支持重复元素且有序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元组、字符串不可修改、支持重复元素且有序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同学们，有没有看出一些局限？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局限就在于：它们都支持重复元素。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如果场景需要对内容做去重处理，列表、元组、字符串就不方便了。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而集合，最主要的特点就是：不支持元素的重复（自带去重功能）、并且内容无序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1295400"/>
            <a:ext cx="2149475" cy="21494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99535" y="3448050"/>
            <a:ext cx="1844675" cy="264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909820" y="3869690"/>
            <a:ext cx="1864360" cy="264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5" grpId="0" bldLvl="0" animBg="1"/>
      <p:bldP spid="6" grpId="1" animBg="1"/>
      <p:bldP spid="5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集合的定义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58360"/>
          </a:xfrm>
        </p:spPr>
        <p:txBody>
          <a:bodyPr/>
          <a:p>
            <a:r>
              <a:rPr lang="zh-CN" altLang="en-US"/>
              <a:t>基本语法：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和列表、元组、字符串等定义基本相同：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列表使用：</a:t>
            </a:r>
            <a:r>
              <a:rPr lang="en-US" altLang="zh-CN"/>
              <a:t>[]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元组使用：</a:t>
            </a:r>
            <a:r>
              <a:rPr lang="en-US" altLang="zh-CN"/>
              <a:t>()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字符串使用：""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集合使用：</a:t>
            </a:r>
            <a:r>
              <a:rPr lang="en-US" altLang="zh-CN"/>
              <a:t>{</a:t>
            </a:r>
            <a:r>
              <a:rPr lang="zh-CN" altLang="en-US"/>
              <a:t>元素</a:t>
            </a:r>
            <a:r>
              <a:rPr lang="en-US" altLang="zh-CN"/>
              <a:t>1,</a:t>
            </a:r>
            <a:r>
              <a:rPr lang="zh-CN" altLang="en-US"/>
              <a:t>元素</a:t>
            </a:r>
            <a:r>
              <a:rPr lang="en-US" altLang="zh-CN"/>
              <a:t>2}</a:t>
            </a:r>
            <a:endParaRPr lang="en-US" altLang="zh-CN"/>
          </a:p>
        </p:txBody>
      </p:sp>
      <p:pic>
        <p:nvPicPr>
          <p:cNvPr id="4" name="图片 3" descr="01 (13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530" y="5443855"/>
            <a:ext cx="1404620" cy="1404620"/>
          </a:xfrm>
          <a:prstGeom prst="rect">
            <a:avLst/>
          </a:prstGeom>
        </p:spPr>
      </p:pic>
      <p:sp>
        <p:nvSpPr>
          <p:cNvPr id="8" name="文本占位符 2"/>
          <p:cNvSpPr>
            <a:spLocks noGrp="1"/>
          </p:cNvSpPr>
          <p:nvPr/>
        </p:nvSpPr>
        <p:spPr>
          <a:xfrm>
            <a:off x="6459855" y="4483100"/>
            <a:ext cx="3695700" cy="4546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结果中可见：去重且无序</a:t>
            </a:r>
            <a:endParaRPr lang="zh-CN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9" name="文本占位符 2"/>
          <p:cNvSpPr>
            <a:spLocks noGrp="1"/>
          </p:cNvSpPr>
          <p:nvPr/>
        </p:nvSpPr>
        <p:spPr>
          <a:xfrm>
            <a:off x="4790440" y="5196205"/>
            <a:ext cx="7320915" cy="4546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因为要对元素做去重处理</a:t>
            </a:r>
            <a:endParaRPr lang="zh-CN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所以无法保证顺序和创建的时候一致</a:t>
            </a:r>
            <a:endParaRPr lang="zh-CN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63300"/>
          <a:stretch>
            <a:fillRect/>
          </a:stretch>
        </p:blipFill>
        <p:spPr>
          <a:xfrm>
            <a:off x="5216525" y="3502660"/>
            <a:ext cx="6193155" cy="4152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525" y="2397125"/>
            <a:ext cx="6182360" cy="4292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7787640" y="3917950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运行结果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88275" y="2816860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示例代码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" y="2345055"/>
            <a:ext cx="4051300" cy="1737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9" grpId="1"/>
      <p:bldP spid="13" grpId="0"/>
      <p:bldP spid="12" grpId="0"/>
      <p:bldP spid="8" grpId="2"/>
      <p:bldP spid="9" grpId="2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</a:t>
            </a:r>
            <a:r>
              <a:t>修改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27400"/>
            <a:ext cx="10698800" cy="4219575"/>
          </a:xfrm>
        </p:spPr>
        <p:txBody>
          <a:bodyPr/>
          <a:p>
            <a:r>
              <a:rPr lang="zh-CN" altLang="en-US"/>
              <a:t>首先，因为集合是无序的，所以集合</a:t>
            </a:r>
            <a:r>
              <a:rPr lang="zh-CN" altLang="en-US">
                <a:solidFill>
                  <a:srgbClr val="FF0000"/>
                </a:solidFill>
              </a:rPr>
              <a:t>不支持：下标索引访问</a:t>
            </a:r>
            <a:endParaRPr lang="zh-CN" altLang="en-US"/>
          </a:p>
          <a:p>
            <a:r>
              <a:rPr lang="zh-CN" altLang="en-US"/>
              <a:t>但是集合和列表一样，是允许修改的，所以我们来看看集合的修改方法。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添加新元素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语法：集合</a:t>
            </a:r>
            <a:r>
              <a:rPr lang="en-US" altLang="zh-CN"/>
              <a:t>.add(</a:t>
            </a:r>
            <a:r>
              <a:rPr lang="zh-CN" altLang="en-US"/>
              <a:t>元素</a:t>
            </a:r>
            <a:r>
              <a:rPr lang="en-US" altLang="zh-CN"/>
              <a:t>)</a:t>
            </a:r>
            <a:r>
              <a:rPr lang="zh-CN" altLang="en-US"/>
              <a:t>。将指定元素，添加到集合内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结果：集合本身被修改，添加了新元素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移除元素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语法：集合</a:t>
            </a:r>
            <a:r>
              <a:rPr lang="en-US" altLang="zh-CN"/>
              <a:t>.remove(</a:t>
            </a:r>
            <a:r>
              <a:rPr lang="zh-CN" altLang="en-US"/>
              <a:t>元素</a:t>
            </a:r>
            <a:r>
              <a:rPr lang="en-US" altLang="zh-CN"/>
              <a:t>)</a:t>
            </a:r>
            <a:r>
              <a:rPr lang="zh-CN" altLang="en-US"/>
              <a:t>，将指定元素，从集合内移除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结果：集合本身被修改，移除了元素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755" y="5608955"/>
            <a:ext cx="4448175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55" y="3533140"/>
            <a:ext cx="5162550" cy="79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</a:t>
            </a:r>
            <a:r>
              <a:t>修改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从集合中随机取出元素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语法：集合</a:t>
            </a:r>
            <a:r>
              <a:rPr lang="en-US" altLang="zh-CN"/>
              <a:t>.pop()</a:t>
            </a:r>
            <a:r>
              <a:rPr lang="zh-CN" altLang="en-US"/>
              <a:t>，功能，从集合中随机取出一个元素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结果：会得到一个元素的结果。同时集合本身被修改，元素被移除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清空集合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语法：集合</a:t>
            </a:r>
            <a:r>
              <a:rPr lang="en-US" altLang="zh-CN"/>
              <a:t>.clear()</a:t>
            </a:r>
            <a:r>
              <a:rPr lang="zh-CN" altLang="en-US"/>
              <a:t>，功能，清空集合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结果：集合本身被清空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2998470"/>
            <a:ext cx="4914900" cy="1057275"/>
          </a:xfrm>
          <a:prstGeom prst="rect">
            <a:avLst/>
          </a:prstGeom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5461635"/>
            <a:ext cx="4010025" cy="76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</a:t>
            </a:r>
            <a:r>
              <a:t>修改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修改为和另外一个集合的差集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语法：</a:t>
            </a:r>
            <a:r>
              <a:rPr lang="zh-CN"/>
              <a:t>集合</a:t>
            </a:r>
            <a:r>
              <a:rPr lang="en-US" altLang="zh-CN"/>
              <a:t>1.difference_update(</a:t>
            </a:r>
            <a:r>
              <a:rPr lang="zh-CN" altLang="en-US"/>
              <a:t>集合</a:t>
            </a:r>
            <a:r>
              <a:rPr lang="en-US" altLang="zh-CN"/>
              <a:t>2)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功能：</a:t>
            </a:r>
            <a:r>
              <a:rPr lang="zh-CN"/>
              <a:t>对比集合</a:t>
            </a:r>
            <a:r>
              <a:rPr lang="en-US" altLang="zh-CN"/>
              <a:t>1</a:t>
            </a:r>
            <a:r>
              <a:rPr lang="zh-CN" altLang="en-US"/>
              <a:t>和集合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在集合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内，删除和集合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相同的元素。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>
                <a:solidFill>
                  <a:srgbClr val="FF0000"/>
                </a:solidFill>
              </a:rPr>
              <a:t>结果：集合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被修改，集合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不变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95" y="3536315"/>
            <a:ext cx="417195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</a:t>
            </a:r>
            <a:r>
              <a:t>修改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修改为和另外一个集合的并集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语法：</a:t>
            </a:r>
            <a:r>
              <a:rPr lang="zh-CN"/>
              <a:t>集合</a:t>
            </a:r>
            <a:r>
              <a:rPr lang="en-US" altLang="zh-CN"/>
              <a:t>1</a:t>
            </a:r>
            <a:r>
              <a:rPr lang="en-US"/>
              <a:t>.update(</a:t>
            </a:r>
            <a:r>
              <a:rPr lang="zh-CN" altLang="en-US"/>
              <a:t>集合</a:t>
            </a:r>
            <a:r>
              <a:rPr lang="en-US" altLang="zh-CN"/>
              <a:t>2)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/>
              <a:t>功能：</a:t>
            </a:r>
            <a:r>
              <a:rPr lang="zh-CN">
                <a:solidFill>
                  <a:srgbClr val="FF0000"/>
                </a:solidFill>
              </a:rPr>
              <a:t>将集合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和集合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组合成新集合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    </a:t>
            </a:r>
            <a:r>
              <a:rPr lang="en-US" altLang="zh-CN">
                <a:solidFill>
                  <a:schemeClr val="tx1"/>
                </a:solidFill>
              </a:rPr>
              <a:t> set1 = {1,2,3}</a:t>
            </a:r>
            <a:endParaRPr lang="en-US" altLang="zh-CN">
              <a:solidFill>
                <a:schemeClr val="tx1"/>
              </a:solidFill>
            </a:endParaRPr>
          </a:p>
          <a:p>
            <a:pPr indent="457200">
              <a:buFont typeface="Arial" panose="020B0604020202020204" pitchFamily="34" charset="0"/>
            </a:pPr>
            <a:r>
              <a:rPr lang="en-US" altLang="zh-CN">
                <a:solidFill>
                  <a:schemeClr val="tx1"/>
                </a:solidFill>
              </a:rPr>
              <a:t> set2 = {1,5,6}</a:t>
            </a:r>
            <a:endParaRPr lang="en-US" altLang="zh-CN">
              <a:solidFill>
                <a:schemeClr val="tx1"/>
              </a:solidFill>
            </a:endParaRPr>
          </a:p>
          <a:p>
            <a:pPr indent="457200">
              <a:buFont typeface="Arial" panose="020B0604020202020204" pitchFamily="34" charset="0"/>
            </a:pPr>
            <a:r>
              <a:rPr lang="en-US" altLang="zh-CN">
                <a:solidFill>
                  <a:schemeClr val="tx1"/>
                </a:solidFill>
              </a:rPr>
              <a:t> set1.update(set2)</a:t>
            </a:r>
            <a:endParaRPr lang="en-US" altLang="zh-CN">
              <a:solidFill>
                <a:schemeClr val="tx1"/>
              </a:solidFill>
            </a:endParaRPr>
          </a:p>
          <a:p>
            <a:pPr indent="457200">
              <a:buFont typeface="Arial" panose="020B0604020202020204" pitchFamily="34" charset="0"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结果</a:t>
            </a:r>
            <a:r>
              <a:rPr lang="en-US" altLang="zh-CN">
                <a:solidFill>
                  <a:schemeClr val="tx1"/>
                </a:solidFill>
              </a:rPr>
              <a:t>: </a:t>
            </a:r>
            <a:endParaRPr lang="en-US" altLang="zh-CN">
              <a:solidFill>
                <a:schemeClr val="tx1"/>
              </a:solidFill>
            </a:endParaRPr>
          </a:p>
          <a:p>
            <a:pPr indent="457200">
              <a:buFont typeface="Arial" panose="020B0604020202020204" pitchFamily="34" charset="0"/>
            </a:pPr>
            <a:r>
              <a:rPr lang="en-US" altLang="zh-CN">
                <a:solidFill>
                  <a:schemeClr val="tx1"/>
                </a:solidFill>
              </a:rPr>
              <a:t> set1 = {1,2,3,5,6}</a:t>
            </a:r>
            <a:endParaRPr lang="en-US" altLang="zh-CN">
              <a:solidFill>
                <a:schemeClr val="tx1"/>
              </a:solidFill>
            </a:endParaRPr>
          </a:p>
          <a:p>
            <a:pPr indent="457200">
              <a:buFont typeface="Arial" panose="020B0604020202020204" pitchFamily="34" charset="0"/>
            </a:pPr>
            <a:r>
              <a:rPr lang="en-US" altLang="zh-CN">
                <a:solidFill>
                  <a:schemeClr val="tx1"/>
                </a:solidFill>
              </a:rPr>
              <a:t> set2 = {1,5,6}</a:t>
            </a:r>
            <a:endParaRPr lang="zh-CN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>
                <a:solidFill>
                  <a:srgbClr val="FF0000"/>
                </a:solidFill>
              </a:rPr>
              <a:t>结果</a:t>
            </a:r>
            <a:r>
              <a:rPr lang="zh-CN">
                <a:solidFill>
                  <a:srgbClr val="FF0000"/>
                </a:solidFill>
              </a:rPr>
              <a:t>：</a:t>
            </a:r>
            <a:r>
              <a:rPr lang="zh-CN">
                <a:solidFill>
                  <a:srgbClr val="FF0000"/>
                </a:solidFill>
                <a:sym typeface="+mn-ea"/>
              </a:rPr>
              <a:t>修改集合1:保留和集合2的并集,集合2不变</a:t>
            </a:r>
            <a:endParaRPr lang="zh-CN" altLang="en-US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</a:t>
            </a:r>
            <a:r>
              <a:t>集合长度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查看集合的元素数量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 altLang="en-US"/>
              <a:t>语法：</a:t>
            </a:r>
            <a:r>
              <a:rPr lang="en-US"/>
              <a:t>len(</a:t>
            </a:r>
            <a:r>
              <a:rPr lang="zh-CN" altLang="en-US"/>
              <a:t>集合</a:t>
            </a:r>
            <a:r>
              <a:rPr lang="en-US"/>
              <a:t>)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/>
              <a:t>功能：统计集合内有多少元素</a:t>
            </a:r>
            <a:endParaRPr lang="zh-CN"/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     </a:t>
            </a:r>
            <a:r>
              <a:rPr lang="zh-CN"/>
              <a:t>结果：得到一个整数结果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770" y="3596005"/>
            <a:ext cx="292417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集合常用功能总结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07085" y="1683385"/>
          <a:ext cx="10603230" cy="450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80"/>
                <a:gridCol w="4156710"/>
                <a:gridCol w="4218940"/>
              </a:tblGrid>
              <a:tr h="3937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操作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说明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070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.add(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集合内添加一个元素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5003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.remove(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移除集合内指定的元素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6400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.pop()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从集合中随机取出一个元素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3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4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.clear()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将集合清空</a:t>
                      </a:r>
                      <a:endParaRPr lang="zh-CN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6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集合1.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difference_update(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修改集合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1: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只保留和集合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的差集，集合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不变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7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1.update(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修改集合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1: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保留和集合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的并集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,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集合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不变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2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8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得到一个整数，记录了集合的元素数量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集合的常用操作</a:t>
            </a:r>
            <a:r>
              <a:rPr lang="en-US" altLang="zh-CN"/>
              <a:t> - for</a:t>
            </a:r>
            <a:r>
              <a:t>循环遍历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/>
              <a:t>集合同样支持使用</a:t>
            </a:r>
            <a:r>
              <a:rPr lang="en-US" altLang="zh-CN"/>
              <a:t>for</a:t>
            </a:r>
            <a:r>
              <a:rPr lang="zh-CN" altLang="en-US"/>
              <a:t>循环遍历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要注意：集合</a:t>
            </a:r>
            <a:r>
              <a:rPr lang="zh-CN" altLang="en-US" b="1">
                <a:solidFill>
                  <a:srgbClr val="FF0000"/>
                </a:solidFill>
              </a:rPr>
              <a:t>不支持下标索引</a:t>
            </a:r>
            <a:r>
              <a:rPr lang="zh-CN" altLang="en-US">
                <a:solidFill>
                  <a:srgbClr val="FF0000"/>
                </a:solidFill>
              </a:rPr>
              <a:t>，所以也就</a:t>
            </a:r>
            <a:r>
              <a:rPr lang="zh-CN" altLang="en-US" b="1">
                <a:solidFill>
                  <a:srgbClr val="FF0000"/>
                </a:solidFill>
              </a:rPr>
              <a:t>不支持使用</a:t>
            </a:r>
            <a:r>
              <a:rPr lang="en-US" altLang="zh-CN" b="1">
                <a:solidFill>
                  <a:srgbClr val="FF0000"/>
                </a:solidFill>
              </a:rPr>
              <a:t>while</a:t>
            </a:r>
            <a:r>
              <a:rPr lang="zh-CN" altLang="en-US" b="1">
                <a:solidFill>
                  <a:srgbClr val="FF0000"/>
                </a:solidFill>
              </a:rPr>
              <a:t>循环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2208530"/>
            <a:ext cx="2276475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集合的特点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经过上述对集合的学习，可以总结出集合有如下特点：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可以容纳多个数据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可以容纳不同类型的数据（混装）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数据是无序存储的（不支持下标索引）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不允许重复数据存在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可以修改</a:t>
            </a:r>
            <a:r>
              <a:rPr lang="zh-CN" altLang="en-US">
                <a:sym typeface="+mn-ea"/>
              </a:rPr>
              <a:t>（增加或删除元素等）</a:t>
            </a:r>
            <a:endParaRPr lang="zh-CN" altLang="en-US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只支持for循环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07839" y="349885"/>
            <a:ext cx="5760538" cy="4511040"/>
          </a:xfrm>
        </p:spPr>
        <p:txBody>
          <a:bodyPr/>
          <a:p>
            <a:r>
              <a:rPr lang="zh-CN" altLang="en-US"/>
              <a:t>集合有哪些特点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集合内不允许重复元素（去重）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集合内元素是无序的（不支持下标索引）</a:t>
            </a:r>
            <a:endParaRPr lang="zh-CN" altLang="en-US" sz="1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集合的定义方式：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accent1"/>
                </a:solidFill>
              </a:rPr>
              <a:t>{</a:t>
            </a:r>
            <a:r>
              <a:rPr lang="zh-CN" altLang="en-US" sz="1200">
                <a:solidFill>
                  <a:schemeClr val="accent1"/>
                </a:solidFill>
              </a:rPr>
              <a:t>元素</a:t>
            </a:r>
            <a:r>
              <a:rPr lang="en-US" altLang="zh-CN" sz="1200">
                <a:solidFill>
                  <a:schemeClr val="accent1"/>
                </a:solidFill>
              </a:rPr>
              <a:t>, </a:t>
            </a:r>
            <a:r>
              <a:rPr lang="zh-CN" altLang="en-US" sz="1200">
                <a:solidFill>
                  <a:schemeClr val="accent1"/>
                </a:solidFill>
              </a:rPr>
              <a:t>元素</a:t>
            </a:r>
            <a:r>
              <a:rPr lang="en-US" altLang="zh-CN" sz="1200">
                <a:solidFill>
                  <a:schemeClr val="accent1"/>
                </a:solidFill>
              </a:rPr>
              <a:t>, ......, </a:t>
            </a:r>
            <a:r>
              <a:rPr lang="zh-CN" altLang="en-US" sz="1200">
                <a:solidFill>
                  <a:schemeClr val="accent1"/>
                </a:solidFill>
              </a:rPr>
              <a:t>元素</a:t>
            </a:r>
            <a:r>
              <a:rPr lang="en-US" altLang="zh-CN" sz="1200">
                <a:solidFill>
                  <a:schemeClr val="accent1"/>
                </a:solidFill>
              </a:rPr>
              <a:t>}   </a:t>
            </a:r>
            <a:r>
              <a:rPr lang="zh-CN" altLang="en-US" sz="1200">
                <a:solidFill>
                  <a:schemeClr val="accent1"/>
                </a:solidFill>
              </a:rPr>
              <a:t>注意</a:t>
            </a:r>
            <a:r>
              <a:rPr lang="en-US" altLang="zh-CN" sz="1200">
                <a:solidFill>
                  <a:schemeClr val="accent1"/>
                </a:solidFill>
              </a:rPr>
              <a:t>: {}</a:t>
            </a:r>
            <a:r>
              <a:rPr lang="zh-CN" altLang="en-US" sz="1200">
                <a:solidFill>
                  <a:schemeClr val="accent1"/>
                </a:solidFill>
              </a:rPr>
              <a:t>代表字典并不代表空集合</a:t>
            </a:r>
            <a:endParaRPr lang="en-US" altLang="zh-CN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集合的常用操作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74640" y="3901440"/>
            <a:ext cx="5201920" cy="239141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rgbClr val="C00000"/>
                </a:solidFill>
                <a:sym typeface="+mn-ea"/>
              </a:rPr>
              <a:t>)</a:t>
            </a:r>
            <a:endParaRPr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1"/>
          <p:cNvSpPr>
            <a:spLocks noGrp="1"/>
          </p:cNvSpPr>
          <p:nvPr/>
        </p:nvSpPr>
        <p:spPr>
          <a:xfrm>
            <a:off x="4707890" y="1377950"/>
            <a:ext cx="6298565" cy="285051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掌握字典的定义格式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为什么使用字典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325880"/>
            <a:ext cx="10699115" cy="5249545"/>
          </a:xfrm>
        </p:spPr>
        <p:txBody>
          <a:bodyPr/>
          <a:p>
            <a:r>
              <a:rPr lang="zh-CN" altLang="en-US"/>
              <a:t>生活中的字典：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                                                                                                             </a:t>
            </a:r>
            <a:r>
              <a:rPr lang="zh-CN" altLang="en-US"/>
              <a:t>通过【字】</a:t>
            </a:r>
            <a:endParaRPr lang="zh-CN" altLang="en-US"/>
          </a:p>
          <a:p>
            <a:r>
              <a:rPr lang="en-US" altLang="zh-CN"/>
              <a:t>                                                                                                                               </a:t>
            </a:r>
            <a:r>
              <a:rPr lang="zh-CN" altLang="en-US"/>
              <a:t>就能找到对应的【含义】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所以，我们可以认为，生活中的字典就是记录的一堆：</a:t>
            </a:r>
            <a:endParaRPr lang="zh-CN" altLang="en-US"/>
          </a:p>
          <a:p>
            <a:r>
              <a:rPr lang="zh-CN" altLang="en-US"/>
              <a:t>【字】：【含义】</a:t>
            </a:r>
            <a:endParaRPr lang="zh-CN" altLang="en-US"/>
          </a:p>
          <a:p>
            <a:r>
              <a:rPr lang="zh-CN" altLang="en-US"/>
              <a:t>【字】：【含义】</a:t>
            </a:r>
            <a:endParaRPr lang="zh-CN" altLang="en-US"/>
          </a:p>
          <a:p>
            <a:r>
              <a:rPr lang="en-US" altLang="zh-CN">
                <a:sym typeface="+mn-ea"/>
              </a:rPr>
              <a:t> ......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  <p:pic>
        <p:nvPicPr>
          <p:cNvPr id="7" name="图片 6" descr="32313538333630353b32313538333631363bd7d6b5e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520" y="2185670"/>
            <a:ext cx="1902460" cy="19024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15" y="1774190"/>
            <a:ext cx="3206750" cy="27260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21180000">
            <a:off x="5169535" y="2143125"/>
            <a:ext cx="332740" cy="231140"/>
          </a:xfrm>
          <a:prstGeom prst="rect">
            <a:avLst/>
          </a:prstGeom>
          <a:noFill/>
          <a:ln>
            <a:solidFill>
              <a:srgbClr val="B700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21180000">
            <a:off x="5598160" y="2020570"/>
            <a:ext cx="1139825" cy="381000"/>
          </a:xfrm>
          <a:prstGeom prst="rect">
            <a:avLst/>
          </a:prstGeom>
          <a:noFill/>
          <a:ln>
            <a:solidFill>
              <a:srgbClr val="B700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为什么需要字典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Python</a:t>
            </a:r>
            <a:r>
              <a:rPr lang="zh-CN" altLang="en-US"/>
              <a:t>中字典和生活中字典十分相像：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2342515"/>
            <a:ext cx="2172335" cy="1846580"/>
          </a:xfrm>
          <a:prstGeom prst="rect">
            <a:avLst/>
          </a:prstGeom>
        </p:spPr>
      </p:pic>
      <p:pic>
        <p:nvPicPr>
          <p:cNvPr id="9" name="图片 8" descr="32313538333630353b32313538333631363bd7d6b5e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270" y="2477770"/>
            <a:ext cx="1902460" cy="1902460"/>
          </a:xfrm>
          <a:prstGeom prst="rect">
            <a:avLst/>
          </a:prstGeom>
        </p:spPr>
      </p:pic>
      <p:sp>
        <p:nvSpPr>
          <p:cNvPr id="10" name="文本占位符 2"/>
          <p:cNvSpPr>
            <a:spLocks noGrp="1"/>
          </p:cNvSpPr>
          <p:nvPr/>
        </p:nvSpPr>
        <p:spPr>
          <a:xfrm>
            <a:off x="1906270" y="4693285"/>
            <a:ext cx="4385945" cy="16611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【字】：【含义】</a:t>
            </a:r>
            <a:endParaRPr lang="zh-CN" altLang="en-US"/>
          </a:p>
          <a:p>
            <a:r>
              <a:rPr lang="zh-CN" altLang="en-US"/>
              <a:t>【字】：【含义】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可以按【字】找出对应的【含义】</a:t>
            </a:r>
            <a:endParaRPr lang="zh-CN" altLang="en-US"/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6986270" y="4693285"/>
            <a:ext cx="4385945" cy="16611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Key: Value</a:t>
            </a:r>
            <a:endParaRPr lang="en-US" altLang="zh-CN"/>
          </a:p>
          <a:p>
            <a:r>
              <a:rPr lang="en-US" altLang="zh-CN"/>
              <a:t>Key: Value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可以按【</a:t>
            </a:r>
            <a:r>
              <a:rPr lang="en-US" altLang="zh-CN"/>
              <a:t>Key</a:t>
            </a:r>
            <a:r>
              <a:rPr lang="zh-CN" altLang="en-US"/>
              <a:t>】找出对应的【</a:t>
            </a:r>
            <a:r>
              <a:rPr lang="en-US" altLang="zh-CN"/>
              <a:t>Value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文本占位符 2"/>
          <p:cNvSpPr>
            <a:spLocks noGrp="1"/>
          </p:cNvSpPr>
          <p:nvPr/>
        </p:nvSpPr>
        <p:spPr>
          <a:xfrm>
            <a:off x="2035810" y="4380230"/>
            <a:ext cx="1797685" cy="626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生活中的字典</a:t>
            </a:r>
            <a:endParaRPr lang="en-US" altLang="zh-CN"/>
          </a:p>
        </p:txBody>
      </p:sp>
      <p:sp>
        <p:nvSpPr>
          <p:cNvPr id="13" name="文本占位符 2"/>
          <p:cNvSpPr>
            <a:spLocks noGrp="1"/>
          </p:cNvSpPr>
          <p:nvPr/>
        </p:nvSpPr>
        <p:spPr>
          <a:xfrm>
            <a:off x="6986270" y="4380230"/>
            <a:ext cx="1797685" cy="626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Python</a:t>
            </a:r>
            <a:r>
              <a:rPr lang="zh-CN" altLang="en-US"/>
              <a:t>中的字典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为什么需要字典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762250" y="1310005"/>
            <a:ext cx="8647430" cy="5201920"/>
          </a:xfrm>
        </p:spPr>
        <p:txBody>
          <a:bodyPr/>
          <a:p>
            <a:r>
              <a:rPr lang="zh-CN" altLang="en-US"/>
              <a:t>老师有一份名单，记录了学生的姓名和考试总成绩。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现在需要将其通过</a:t>
            </a:r>
            <a:r>
              <a:rPr lang="en-US" altLang="zh-CN"/>
              <a:t>Python</a:t>
            </a:r>
            <a:r>
              <a:rPr lang="zh-CN" altLang="en-US"/>
              <a:t>录入至程序中，并可以</a:t>
            </a:r>
            <a:r>
              <a:rPr lang="zh-CN" altLang="en-US">
                <a:solidFill>
                  <a:srgbClr val="FF0000"/>
                </a:solidFill>
              </a:rPr>
              <a:t>通过学生姓名检索学生的成绩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使用字典最为合适：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可以通过</a:t>
            </a:r>
            <a:r>
              <a:rPr lang="en-US" altLang="zh-CN"/>
              <a:t>Key</a:t>
            </a:r>
            <a:r>
              <a:rPr lang="zh-CN" altLang="en-US"/>
              <a:t>（学生姓名），取到对应的</a:t>
            </a:r>
            <a:r>
              <a:rPr lang="en-US" altLang="zh-CN"/>
              <a:t>Value</a:t>
            </a:r>
            <a:r>
              <a:rPr lang="zh-CN" altLang="en-US"/>
              <a:t>（考试成绩）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所以，为什么使用字典？</a:t>
            </a:r>
            <a:endParaRPr lang="zh-CN" altLang="en-US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en-US" alt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	</a:t>
            </a:r>
            <a:r>
              <a:rPr 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因为可以使用字典，实现用</a:t>
            </a:r>
            <a:r>
              <a:rPr lang="en-US" alt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key</a:t>
            </a:r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取出</a:t>
            </a:r>
            <a:r>
              <a:rPr lang="en-US" alt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Value</a:t>
            </a:r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的操作</a:t>
            </a:r>
            <a:endParaRPr lang="zh-CN" altLang="en-US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17" name="图片 16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1960" y="1309370"/>
            <a:ext cx="2319655" cy="2319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98390" y="3429000"/>
            <a:ext cx="3629025" cy="1314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15615" y="1741805"/>
            <a:ext cx="2176780" cy="1249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字典的定义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字典的定义，同样</a:t>
            </a:r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{}</a:t>
            </a:r>
            <a:r>
              <a:rPr lang="zh-CN" altLang="en-US"/>
              <a:t>，不过存储的</a:t>
            </a:r>
            <a:r>
              <a:rPr lang="zh-CN" altLang="en-US">
                <a:solidFill>
                  <a:srgbClr val="FF0000"/>
                </a:solidFill>
              </a:rPr>
              <a:t>元素是一个个的：键值对</a:t>
            </a:r>
            <a:r>
              <a:rPr lang="zh-CN" altLang="en-US"/>
              <a:t>，如下语法：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                                                                                               </a:t>
            </a:r>
            <a:endParaRPr lang="zh-CN" altLang="en-US"/>
          </a:p>
          <a:p>
            <a:r>
              <a:rPr lang="zh-CN" altLang="en-US"/>
              <a:t>前文中提到的，记录学生成绩，可以使用如下定义：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前文中记录学生成绩的需求，可以如下记录：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5006975"/>
            <a:ext cx="7802245" cy="490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2232660"/>
            <a:ext cx="5610225" cy="1800225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/>
        </p:nvSpPr>
        <p:spPr>
          <a:xfrm>
            <a:off x="6586220" y="2150745"/>
            <a:ext cx="6345555" cy="188214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{}</a:t>
            </a:r>
            <a:r>
              <a:rPr lang="zh-CN" altLang="en-US">
                <a:sym typeface="+mn-ea"/>
              </a:rPr>
              <a:t>存储原始，每一个元素是一个键值对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每一个键值对包含</a:t>
            </a:r>
            <a:r>
              <a:rPr lang="en-US" altLang="zh-CN">
                <a:sym typeface="+mn-ea"/>
              </a:rPr>
              <a:t>Key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Value</a:t>
            </a:r>
            <a:r>
              <a:rPr lang="zh-CN" altLang="en-US">
                <a:sym typeface="+mn-ea"/>
              </a:rPr>
              <a:t>（用冒号分隔）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键值对之间使用逗号分隔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注意</a:t>
            </a:r>
            <a:r>
              <a:rPr lang="en-US" altLang="zh-CN">
                <a:sym typeface="+mn-ea"/>
              </a:rPr>
              <a:t>: key</a:t>
            </a:r>
            <a:r>
              <a:rPr lang="zh-CN" altLang="en-US">
                <a:sym typeface="+mn-ea"/>
              </a:rPr>
              <a:t>不能是可变类型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Value</a:t>
            </a:r>
            <a:r>
              <a:rPr lang="zh-CN" altLang="en-US">
                <a:sym typeface="+mn-ea"/>
              </a:rPr>
              <a:t>可以是任意类型的数据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Key</a:t>
            </a:r>
            <a:r>
              <a:rPr lang="zh-CN" altLang="en-US">
                <a:sym typeface="+mn-ea"/>
              </a:rPr>
              <a:t>不可重复，重复会对原有数据覆盖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字典数据的获取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字典同集合一样，不可以使用下标索引</a:t>
            </a:r>
            <a:endParaRPr lang="zh-CN" altLang="en-US"/>
          </a:p>
          <a:p>
            <a:r>
              <a:rPr lang="zh-CN" altLang="en-US"/>
              <a:t>但是字典可以通过</a:t>
            </a:r>
            <a:r>
              <a:rPr lang="en-US" altLang="zh-CN"/>
              <a:t>Key</a:t>
            </a:r>
            <a:r>
              <a:rPr lang="zh-CN" altLang="en-US"/>
              <a:t>值来取得对应的</a:t>
            </a:r>
            <a:r>
              <a:rPr lang="en-US" altLang="zh-CN"/>
              <a:t>Value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2747010"/>
            <a:ext cx="534352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字典的嵌套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字典的</a:t>
            </a:r>
            <a:r>
              <a:rPr lang="en-US" altLang="zh-CN"/>
              <a:t>Key</a:t>
            </a:r>
            <a:r>
              <a:rPr lang="zh-CN" altLang="en-US"/>
              <a:t>不能是可变类型数据</a:t>
            </a:r>
            <a:r>
              <a:rPr lang="en-US" altLang="zh-CN"/>
              <a:t>,Value</a:t>
            </a:r>
            <a:r>
              <a:rPr lang="zh-CN" altLang="en-US"/>
              <a:t>可以是任意数据类型</a:t>
            </a:r>
            <a:endParaRPr lang="zh-CN" altLang="en-US"/>
          </a:p>
          <a:p>
            <a:r>
              <a:rPr lang="zh-CN" altLang="en-US"/>
              <a:t>那么，就表明，字典是可以嵌套的</a:t>
            </a:r>
            <a:endParaRPr lang="zh-CN" altLang="en-US"/>
          </a:p>
          <a:p>
            <a:r>
              <a:rPr lang="zh-CN" altLang="en-US"/>
              <a:t>需求如下：记录学生各科的考试信息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代码：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优化一下可读性，可以写成：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0" y="2371090"/>
            <a:ext cx="3065780" cy="765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35" y="3754755"/>
            <a:ext cx="10467975" cy="533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35" y="5092700"/>
            <a:ext cx="5086350" cy="125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嵌套字典的内容获取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嵌套字典的内容获取，如下所示：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25" y="2303780"/>
            <a:ext cx="8315325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为什么使用字典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字典可以提供基于</a:t>
            </a:r>
            <a:r>
              <a:rPr lang="en-US" altLang="zh-CN" sz="1400"/>
              <a:t>Key</a:t>
            </a:r>
            <a:r>
              <a:rPr lang="zh-CN" altLang="en-US" sz="1400"/>
              <a:t>检索</a:t>
            </a:r>
            <a:r>
              <a:rPr lang="en-US" altLang="zh-CN" sz="1400"/>
              <a:t>Value</a:t>
            </a:r>
            <a:r>
              <a:rPr lang="zh-CN" altLang="en-US" sz="1400"/>
              <a:t>的场景实现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就像查字典一样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字典的定义语法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字典的注意事项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键值对的</a:t>
            </a:r>
            <a:r>
              <a:rPr lang="en-US" altLang="zh-CN" sz="1400">
                <a:sym typeface="+mn-ea"/>
              </a:rPr>
              <a:t>Key</a:t>
            </a:r>
            <a:r>
              <a:rPr lang="zh-CN" altLang="en-US" sz="1400">
                <a:sym typeface="+mn-ea"/>
              </a:rPr>
              <a:t>不能是可变类型</a:t>
            </a:r>
            <a:r>
              <a:rPr lang="en-US" altLang="zh-CN" sz="1400">
                <a:sym typeface="+mn-ea"/>
              </a:rPr>
              <a:t>,Value</a:t>
            </a:r>
            <a:r>
              <a:rPr lang="zh-CN" altLang="en-US" sz="1400">
                <a:sym typeface="+mn-ea"/>
              </a:rPr>
              <a:t>可以是任意类型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字典内</a:t>
            </a:r>
            <a:r>
              <a:rPr lang="en-US" altLang="zh-CN" sz="1400">
                <a:solidFill>
                  <a:srgbClr val="FF0000"/>
                </a:solidFill>
                <a:sym typeface="+mn-ea"/>
              </a:rPr>
              <a:t>Key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不允许重复</a:t>
            </a:r>
            <a:r>
              <a:rPr lang="zh-CN" altLang="en-US" sz="1400">
                <a:sym typeface="+mn-ea"/>
              </a:rPr>
              <a:t>，重复添加等同于覆盖原有数据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字典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不可用下标索引</a:t>
            </a:r>
            <a:r>
              <a:rPr lang="zh-CN" altLang="en-US" sz="1400">
                <a:sym typeface="+mn-ea"/>
              </a:rPr>
              <a:t>，而是通过</a:t>
            </a:r>
            <a:r>
              <a:rPr lang="en-US" altLang="zh-CN" sz="1400">
                <a:sym typeface="+mn-ea"/>
              </a:rPr>
              <a:t>Key</a:t>
            </a:r>
            <a:r>
              <a:rPr lang="zh-CN" altLang="en-US" sz="1400">
                <a:sym typeface="+mn-ea"/>
              </a:rPr>
              <a:t>检索</a:t>
            </a:r>
            <a:r>
              <a:rPr lang="en-US" altLang="zh-CN" sz="1400">
                <a:sym typeface="+mn-ea"/>
              </a:rPr>
              <a:t>Value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9410" y="2917190"/>
            <a:ext cx="4523105" cy="14516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1"/>
          <p:cNvSpPr>
            <a:spLocks noGrp="1"/>
          </p:cNvSpPr>
          <p:nvPr/>
        </p:nvSpPr>
        <p:spPr>
          <a:xfrm>
            <a:off x="4707890" y="1377950"/>
            <a:ext cx="6298565" cy="285051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US" dirty="0">
                <a:solidFill>
                  <a:srgbClr val="C00000"/>
                </a:solidFill>
                <a:sym typeface="+mn-ea"/>
              </a:rPr>
              <a:t>掌握字典的常用操作</a:t>
            </a:r>
            <a:endParaRPr lang="zh-CN" altLang="en-US" dirty="0">
              <a:solidFill>
                <a:srgbClr val="C00000"/>
              </a:solidFill>
              <a:sym typeface="+mn-ea"/>
            </a:endParaRPr>
          </a:p>
          <a:p>
            <a:pPr marL="342900" indent="-342900" algn="l"/>
            <a:r>
              <a:rPr lang="zh-CN" altLang="en-US" dirty="0">
                <a:solidFill>
                  <a:srgbClr val="C00000"/>
                </a:solidFill>
              </a:rPr>
              <a:t>掌握字典的特点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313100"/>
            <a:ext cx="1069880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新增元素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语法：字典</a:t>
            </a:r>
            <a:r>
              <a:rPr lang="en-US" altLang="zh-CN"/>
              <a:t>[Key] = Value</a:t>
            </a:r>
            <a:r>
              <a:rPr lang="zh-CN" altLang="en-US"/>
              <a:t>，结果：字典被修改，新增了元素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更新元素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语法：字典</a:t>
            </a:r>
            <a:r>
              <a:rPr lang="en-US" altLang="zh-CN"/>
              <a:t>[Key] = Value</a:t>
            </a:r>
            <a:r>
              <a:rPr lang="zh-CN" altLang="en-US"/>
              <a:t>，结果：字典被修改，元素被更新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注意：</a:t>
            </a:r>
            <a:r>
              <a:rPr lang="zh-CN" altLang="en-US">
                <a:solidFill>
                  <a:srgbClr val="FF0000"/>
                </a:solidFill>
              </a:rPr>
              <a:t>字典</a:t>
            </a:r>
            <a:r>
              <a:rPr lang="en-US" altLang="zh-CN">
                <a:solidFill>
                  <a:srgbClr val="FF0000"/>
                </a:solidFill>
              </a:rPr>
              <a:t>Key</a:t>
            </a:r>
            <a:r>
              <a:rPr lang="zh-CN" altLang="en-US">
                <a:solidFill>
                  <a:srgbClr val="FF0000"/>
                </a:solidFill>
              </a:rPr>
              <a:t>不可以重复，所以对已存在的</a:t>
            </a:r>
            <a:r>
              <a:rPr lang="en-US" altLang="zh-CN">
                <a:solidFill>
                  <a:srgbClr val="FF0000"/>
                </a:solidFill>
              </a:rPr>
              <a:t>Key</a:t>
            </a:r>
            <a:r>
              <a:rPr lang="zh-CN" altLang="en-US">
                <a:solidFill>
                  <a:srgbClr val="FF0000"/>
                </a:solidFill>
              </a:rPr>
              <a:t>执行上述操作，就是更新</a:t>
            </a:r>
            <a:r>
              <a:rPr lang="en-US" altLang="zh-CN">
                <a:solidFill>
                  <a:srgbClr val="FF0000"/>
                </a:solidFill>
              </a:rPr>
              <a:t>Value</a:t>
            </a:r>
            <a:r>
              <a:rPr lang="zh-CN" altLang="en-US">
                <a:solidFill>
                  <a:srgbClr val="FF0000"/>
                </a:solidFill>
              </a:rPr>
              <a:t>值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925" y="2169160"/>
            <a:ext cx="6129655" cy="14998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25" y="4708525"/>
            <a:ext cx="6185535" cy="176085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02000"/>
            <a:ext cx="1069880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删除元素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语法：字典</a:t>
            </a:r>
            <a:r>
              <a:rPr lang="en-US" altLang="zh-CN"/>
              <a:t>.pop(Key)</a:t>
            </a:r>
            <a:r>
              <a:rPr lang="zh-CN" altLang="en-US"/>
              <a:t>，结果：获得指定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en-US" altLang="zh-CN"/>
              <a:t>Value</a:t>
            </a:r>
            <a:r>
              <a:rPr lang="zh-CN" altLang="en-US"/>
              <a:t>，同时字典被修改，指定</a:t>
            </a:r>
            <a:r>
              <a:rPr lang="en-US" altLang="zh-CN"/>
              <a:t>Key</a:t>
            </a:r>
            <a:r>
              <a:rPr lang="zh-CN" altLang="en-US"/>
              <a:t>的数据被删除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清空字典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语法：字典</a:t>
            </a:r>
            <a:r>
              <a:rPr lang="en-US" altLang="zh-CN"/>
              <a:t>.clear()</a:t>
            </a:r>
            <a:r>
              <a:rPr lang="zh-CN" altLang="en-US"/>
              <a:t>，结果：字典被修改，元素被清空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820" y="2286635"/>
            <a:ext cx="4754880" cy="1745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20" y="4778375"/>
            <a:ext cx="3662045" cy="181673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363900"/>
            <a:ext cx="1069880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获取全部的</a:t>
            </a:r>
            <a:r>
              <a:rPr lang="en-US" altLang="zh-CN"/>
              <a:t>key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语法：字典</a:t>
            </a:r>
            <a:r>
              <a:rPr lang="en-US" altLang="zh-CN"/>
              <a:t>.keys()</a:t>
            </a:r>
            <a:r>
              <a:rPr lang="zh-CN" altLang="en-US"/>
              <a:t>，结果：得到字典中的全部</a:t>
            </a:r>
            <a:r>
              <a:rPr lang="en-US" altLang="zh-CN"/>
              <a:t>Key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遍历字典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</a:t>
            </a:r>
            <a:r>
              <a:rPr lang="en-US" altLang="zh-CN"/>
              <a:t>for key in </a:t>
            </a:r>
            <a:r>
              <a:rPr lang="zh-CN" altLang="en-US"/>
              <a:t>字典</a:t>
            </a:r>
            <a:r>
              <a:rPr lang="en-US" altLang="zh-CN"/>
              <a:t>.keys()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495" y="2249805"/>
            <a:ext cx="5446395" cy="1511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665" y="5111115"/>
            <a:ext cx="2400300" cy="962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95" y="4334510"/>
            <a:ext cx="4651375" cy="19818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26705" y="6074410"/>
            <a:ext cx="99822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运行结果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1270" y="4563110"/>
            <a:ext cx="554291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注意：字典不支持下标索引，所以同样不可以用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while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循环遍历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字典的常用操作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计算字典内的全部元素（键值对）数量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语法：</a:t>
            </a:r>
            <a:r>
              <a:rPr lang="en-US"/>
              <a:t>len(</a:t>
            </a:r>
            <a:r>
              <a:rPr lang="zh-CN" altLang="en-US"/>
              <a:t>字典</a:t>
            </a:r>
            <a:r>
              <a:rPr lang="en-US" altLang="zh-CN"/>
              <a:t>)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结果：得到一个整数，表示字典内元素（键值对）的数量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265" y="2994660"/>
            <a:ext cx="3905250" cy="154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字典的常用操作总结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07085" y="1683385"/>
          <a:ext cx="10683240" cy="322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090"/>
                <a:gridCol w="3396615"/>
                <a:gridCol w="5042535"/>
              </a:tblGrid>
              <a:tr h="4000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编号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操作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说明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1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[Key]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获取指定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Key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对应的</a:t>
                      </a:r>
                      <a:r>
                        <a:rPr lang="en-US" altLang="zh-CN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Value</a:t>
                      </a: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值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40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2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 </a:t>
                      </a:r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[Key] = 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 value 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添加或更新键值对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5086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3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.pop(Key)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取出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Key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对应的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Value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并在字典内删除此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Key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的键值对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65087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4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.clear()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清空字典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203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5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.keys()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获取字典的全部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Key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，可用于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for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循环遍历字典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973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6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</a:t>
                      </a: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)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计算字典内的元素数量</a:t>
                      </a:r>
                      <a:endParaRPr lang="zh-CN" altLang="en-US" sz="16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字典的特点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经过上述对字典的学习，可以总结出字典有如下特点：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可以容纳多个数据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可以容纳不同类型的数据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每一份数据是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KeyValue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键值对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可以通过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Key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获取到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Value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Key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不可重复（重复会覆盖）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不支持下标索引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可以修改</a:t>
            </a:r>
            <a:r>
              <a:rPr lang="zh-CN" altLang="en-US">
                <a:sym typeface="+mn-ea"/>
              </a:rPr>
              <a:t>（增加或删除更新元素等）</a:t>
            </a:r>
            <a:endParaRPr lang="zh-CN" altLang="en-US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只支持for循环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06035" y="1038860"/>
            <a:ext cx="5760720" cy="3549650"/>
          </a:xfr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zh-CN" altLang="en-US"/>
              <a:t>字典的常用操作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操作注意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新增和更新元素的语法一致，如果</a:t>
            </a:r>
            <a:r>
              <a:rPr lang="en-US" altLang="zh-CN" sz="1400"/>
              <a:t>Key</a:t>
            </a:r>
            <a:r>
              <a:rPr lang="zh-CN" altLang="en-US" sz="1400"/>
              <a:t>不存在即新增，如果</a:t>
            </a:r>
            <a:r>
              <a:rPr lang="en-US" altLang="zh-CN" sz="1400"/>
              <a:t>Key</a:t>
            </a:r>
            <a:r>
              <a:rPr lang="zh-CN" altLang="en-US" sz="1400"/>
              <a:t>存在即更新（</a:t>
            </a:r>
            <a:r>
              <a:rPr lang="en-US" altLang="zh-CN" sz="1400"/>
              <a:t>Key</a:t>
            </a:r>
            <a:r>
              <a:rPr lang="zh-CN" altLang="en-US" sz="1400"/>
              <a:t>不可重复）</a:t>
            </a:r>
            <a:endParaRPr lang="zh-CN" altLang="en-US" sz="1400"/>
          </a:p>
          <a:p>
            <a:pPr marL="0" algn="l">
              <a:buFont typeface="Arial" panose="020B0604020202020204" pitchFamily="34" charset="0"/>
              <a:buNone/>
            </a:pPr>
            <a:r>
              <a:rPr lang="zh-CN" altLang="en-US" sz="1800"/>
              <a:t>3. 字典的特点</a:t>
            </a:r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06415" y="1379220"/>
            <a:ext cx="4242435" cy="14865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415" y="4794250"/>
            <a:ext cx="3337560" cy="17513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数据容器：推导式操作</a:t>
            </a:r>
            <a:endParaRPr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数据容器分类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数据容器还可以从以下视角进行简单的分类：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lvl="0">
              <a:buFont typeface="Arial" panose="020B0604020202020204" pitchFamily="34" charset="0"/>
            </a:pPr>
            <a:r>
              <a:rPr lang="zh-CN" altLang="en-US">
                <a:solidFill>
                  <a:schemeClr val="tx1"/>
                </a:solidFill>
              </a:rPr>
              <a:t>是否是可变类型</a:t>
            </a:r>
            <a:r>
              <a:rPr lang="en-US" altLang="zh-CN">
                <a:solidFill>
                  <a:schemeClr val="tx1"/>
                </a:solidFill>
              </a:rPr>
              <a:t>?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B60206"/>
                </a:solidFill>
              </a:rPr>
              <a:t>可变类型：</a:t>
            </a:r>
            <a:r>
              <a:rPr lang="zh-CN" altLang="en-US"/>
              <a:t>列表、集合、字典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B60206"/>
                </a:solidFill>
              </a:rPr>
              <a:t>不可变类型：</a:t>
            </a:r>
            <a:r>
              <a:rPr lang="zh-CN" altLang="en-US"/>
              <a:t>元组、字符串</a:t>
            </a:r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07890" y="1377950"/>
            <a:ext cx="6298565" cy="2850515"/>
          </a:xfrm>
        </p:spPr>
        <p:txBody>
          <a:bodyPr/>
          <a:p>
            <a:pPr marL="342900" indent="-342900"/>
            <a:r>
              <a:rPr lang="zh-CN" altLang="en-US">
                <a:solidFill>
                  <a:srgbClr val="FF0000"/>
                </a:solidFill>
              </a:rPr>
              <a:t>了解什么是推导式</a:t>
            </a:r>
            <a:endParaRPr lang="zh-CN" altLang="en-US">
              <a:solidFill>
                <a:srgbClr val="FF0000"/>
              </a:solidFill>
            </a:endParaRPr>
          </a:p>
          <a:p>
            <a:pPr marL="342900" indent="-342900"/>
            <a:r>
              <a:rPr lang="zh-CN" altLang="en-US">
                <a:solidFill>
                  <a:srgbClr val="FF0000"/>
                </a:solidFill>
              </a:rPr>
              <a:t>熟悉列表的推导式操作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数据容器的推导式操作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en-US" altLang="zh-CN" b="1"/>
              <a:t>Python </a:t>
            </a:r>
            <a:r>
              <a:rPr lang="zh-CN" altLang="en-US" b="1"/>
              <a:t>的推导式（</a:t>
            </a:r>
            <a:r>
              <a:rPr lang="en-US" altLang="zh-CN" b="1"/>
              <a:t>Comprehension</a:t>
            </a:r>
            <a:r>
              <a:rPr lang="zh-CN" altLang="en-US" b="1"/>
              <a:t>）是一种简洁、优雅的语法，用于创建数据结构。它能够通过一行代码生成列表、字典、集合或生成器表达式。</a:t>
            </a:r>
            <a:r>
              <a:rPr lang="en-US" altLang="zh-CN"/>
              <a:t> 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数据容器中共有三种支持推导式</a:t>
            </a:r>
            <a:r>
              <a:rPr lang="zh-CN" altLang="en-US" b="1"/>
              <a:t>：列表推导式、集合推导式、字典推导式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r>
              <a:rPr lang="zh-CN" altLang="en-US" b="1"/>
              <a:t>提示</a:t>
            </a:r>
            <a:r>
              <a:rPr lang="en-US" altLang="zh-CN" b="1"/>
              <a:t>: </a:t>
            </a:r>
            <a:r>
              <a:rPr lang="zh-CN" altLang="en-US" b="1"/>
              <a:t>其中最常用的是列表推导式</a:t>
            </a:r>
            <a:r>
              <a:rPr lang="en-US" altLang="zh-CN" b="1"/>
              <a:t>!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75" y="3228975"/>
            <a:ext cx="9066530" cy="207581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数据容器的推导式操作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数据容器中共有三种支持推导式</a:t>
            </a:r>
            <a:r>
              <a:rPr lang="zh-CN" altLang="en-US" b="1">
                <a:sym typeface="+mn-ea"/>
              </a:rPr>
              <a:t>：列表推导式、字典推导式</a:t>
            </a:r>
            <a:r>
              <a:rPr lang="zh-CN" altLang="en-US" b="1">
                <a:sym typeface="+mn-ea"/>
              </a:rPr>
              <a:t>、集合推导式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2047875"/>
            <a:ext cx="6358890" cy="469201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数据容器的推导式操作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7447915" cy="4219575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 altLang="en-US" b="1"/>
              <a:t>注意</a:t>
            </a:r>
            <a:r>
              <a:rPr lang="en-US" altLang="zh-CN" b="1"/>
              <a:t>: </a:t>
            </a:r>
            <a:r>
              <a:rPr lang="zh-CN" altLang="en-US" b="1"/>
              <a:t>元组是不可变类型，所以没有专门的元组推导式</a:t>
            </a:r>
            <a:r>
              <a:rPr lang="en-US" altLang="zh-CN" b="1"/>
              <a:t>!!!</a:t>
            </a:r>
            <a:endParaRPr lang="en-US" altLang="zh-CN" b="1"/>
          </a:p>
          <a:p>
            <a:pPr>
              <a:buFont typeface="Arial" panose="020B0604020202020204" pitchFamily="34" charset="0"/>
            </a:pPr>
            <a:r>
              <a:rPr lang="zh-CN" altLang="en-US" b="1"/>
              <a:t>如果你试图用类似列表推导式的语法创建元组，实际上会得到一个生成器对象，而不是元组</a:t>
            </a:r>
            <a:r>
              <a:rPr lang="en-US" altLang="zh-CN" b="1"/>
              <a:t>!</a:t>
            </a:r>
            <a:r>
              <a:rPr lang="zh-CN" altLang="en-US" b="1"/>
              <a:t>但是你可以使用</a:t>
            </a:r>
            <a:r>
              <a:rPr lang="en-US" altLang="zh-CN" b="1"/>
              <a:t>tuple()</a:t>
            </a:r>
            <a:r>
              <a:rPr lang="zh-CN" altLang="en-US" b="1"/>
              <a:t>做类型转换</a:t>
            </a:r>
            <a:r>
              <a:rPr lang="en-US" altLang="zh-CN" b="1"/>
              <a:t>!</a:t>
            </a: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 b="1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05" y="2962910"/>
            <a:ext cx="7461250" cy="160655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173480"/>
            <a:ext cx="5760538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五大容器中支持推导式的有哪些</a:t>
            </a:r>
            <a:r>
              <a:rPr lang="en-US" altLang="zh-CN"/>
              <a:t>?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列表</a:t>
            </a:r>
            <a:r>
              <a:rPr lang="zh-CN" altLang="en-US">
                <a:sym typeface="+mn-ea"/>
              </a:rPr>
              <a:t>、</a:t>
            </a:r>
            <a:r>
              <a:rPr lang="zh-CN" altLang="en-US"/>
              <a:t>字典</a:t>
            </a:r>
            <a:r>
              <a:rPr lang="zh-CN" altLang="en-US">
                <a:sym typeface="+mn-ea"/>
              </a:rPr>
              <a:t>、</a:t>
            </a:r>
            <a:r>
              <a:rPr lang="zh-CN" altLang="en-US"/>
              <a:t>集合</a:t>
            </a: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</a:t>
            </a:r>
            <a:r>
              <a:rPr lang="zh-CN" altLang="en-US"/>
              <a:t>列表推导式的格式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变量名</a:t>
            </a:r>
            <a:r>
              <a:rPr lang="en-US" altLang="zh-CN"/>
              <a:t> = [</a:t>
            </a:r>
            <a:r>
              <a:rPr lang="zh-CN" altLang="en-US"/>
              <a:t>表达式</a:t>
            </a:r>
            <a:r>
              <a:rPr lang="en-US" altLang="zh-CN"/>
              <a:t> for </a:t>
            </a:r>
            <a:r>
              <a:rPr lang="zh-CN" altLang="en-US"/>
              <a:t>变量</a:t>
            </a:r>
            <a:r>
              <a:rPr lang="en-US" altLang="zh-CN"/>
              <a:t> in </a:t>
            </a:r>
            <a:r>
              <a:rPr lang="zh-CN" altLang="en-US"/>
              <a:t>列表</a:t>
            </a:r>
            <a:r>
              <a:rPr lang="en-US" altLang="zh-CN"/>
              <a:t>]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69828" y="944880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数据容器的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概念和作用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数据容器：str(字符串)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数据容器：list(列表)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数据容器：tuple(元组)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切片操作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set(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集合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dict(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字典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数据容器：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推导式操作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数据容器的总结和通用操作</a:t>
            </a:r>
            <a:endParaRPr lang="zh-CN" altLang="en-US" sz="1600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数据容器分类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数据容器还可以从以下视角进行简单的分类：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是否是序列</a:t>
            </a:r>
            <a:r>
              <a:rPr lang="en-US" altLang="zh-CN">
                <a:sym typeface="+mn-ea"/>
              </a:rPr>
              <a:t>?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92D050"/>
                </a:solidFill>
                <a:sym typeface="+mn-ea"/>
              </a:rPr>
              <a:t>序列：</a:t>
            </a:r>
            <a:r>
              <a:rPr lang="zh-CN" altLang="en-US">
                <a:sym typeface="+mn-ea"/>
              </a:rPr>
              <a:t>列表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元组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字符串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92D050"/>
                </a:solidFill>
                <a:sym typeface="+mn-ea"/>
              </a:rPr>
              <a:t>非序列</a:t>
            </a:r>
            <a:r>
              <a:rPr lang="en-US" altLang="zh-CN">
                <a:solidFill>
                  <a:srgbClr val="92D050"/>
                </a:solidFill>
                <a:sym typeface="+mn-ea"/>
              </a:rPr>
              <a:t>: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集合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字典</a:t>
            </a:r>
            <a:endParaRPr lang="zh-CN" altLang="en-US"/>
          </a:p>
          <a:p>
            <a:pPr lvl="0">
              <a:buFont typeface="Arial" panose="020B0604020202020204" pitchFamily="34" charset="0"/>
            </a:pPr>
            <a:endParaRPr lang="zh-CN" altLang="en-US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</a:pPr>
            <a:r>
              <a:rPr lang="zh-CN" altLang="en-US">
                <a:solidFill>
                  <a:schemeClr val="tx1"/>
                </a:solidFill>
              </a:rPr>
              <a:t>是否是可变类型</a:t>
            </a:r>
            <a:r>
              <a:rPr lang="en-US" altLang="zh-CN">
                <a:solidFill>
                  <a:schemeClr val="tx1"/>
                </a:solidFill>
              </a:rPr>
              <a:t>?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B60206"/>
                </a:solidFill>
              </a:rPr>
              <a:t>可变类型：</a:t>
            </a:r>
            <a:r>
              <a:rPr lang="zh-CN" altLang="en-US"/>
              <a:t>列表、集合、字典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B60206"/>
                </a:solidFill>
              </a:rPr>
              <a:t>不可变类型：</a:t>
            </a:r>
            <a:r>
              <a:rPr lang="zh-CN" altLang="en-US"/>
              <a:t>元组、字符串</a:t>
            </a:r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数据容器特点对比</a:t>
            </a: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06961" y="1457120"/>
          <a:ext cx="10505440" cy="402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46"/>
                <a:gridCol w="1668780"/>
                <a:gridCol w="1894881"/>
                <a:gridCol w="1944976"/>
                <a:gridCol w="1738630"/>
                <a:gridCol w="2151326"/>
              </a:tblGrid>
              <a:tr h="40830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列表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元组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字符串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集合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22256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元素数量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支持多个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支持多个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支持多个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支持多个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支持多个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519764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元素类型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任意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任意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仅字符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不可变类型</a:t>
                      </a:r>
                      <a:endParaRPr lang="en-US" altLang="zh-CN" sz="1800" dirty="0">
                        <a:solidFill>
                          <a:srgbClr val="FF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Key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：不可变类型</a:t>
                      </a:r>
                      <a:endParaRPr lang="en-US" altLang="zh-CN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Value</a:t>
                      </a:r>
                      <a:r>
                        <a:rPr lang="zh-CN" altLang="en-US" sz="16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：任意类型</a:t>
                      </a:r>
                      <a:endParaRPr lang="zh-CN" altLang="en-US" sz="16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4121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下标索引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428324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重复元素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427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数据有序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否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否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  <a:tr h="427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可修改性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C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支持</a:t>
                      </a:r>
                      <a:endParaRPr lang="zh-CN" altLang="en-US" sz="1800" b="1">
                        <a:solidFill>
                          <a:srgbClr val="C0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不支持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C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 b="1">
                        <a:solidFill>
                          <a:srgbClr val="C0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solidFill>
                            <a:srgbClr val="C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支持</a:t>
                      </a:r>
                      <a:endParaRPr lang="zh-CN" altLang="en-US" sz="1800" b="1">
                        <a:solidFill>
                          <a:srgbClr val="C0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marL="90000" anchor="ctr" anchorCtr="1"/>
                </a:tc>
              </a:tr>
              <a:tr h="427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使用场景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可修改、可重复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的一批数据记录场景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不可修改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、可重复的一批数据记录场景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一串字符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的记录场景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可修改</a:t>
                      </a: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、</a:t>
                      </a:r>
                      <a:r>
                        <a:rPr lang="zh-CN" altLang="en-US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不可重复</a:t>
                      </a:r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的数据记录场景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存储键值对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,</a:t>
                      </a:r>
                      <a:r>
                        <a:rPr lang="zh-CN" altLang="en-US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然后根据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Key</a:t>
                      </a:r>
                      <a:r>
                        <a:rPr lang="zh-CN" altLang="en-US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找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Value</a:t>
                      </a:r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的数据记录场景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marL="90000" anchor="ctr" anchorCtr="1"/>
                </a:tc>
              </a:tr>
            </a:tbl>
          </a:graphicData>
        </a:graphic>
      </p:graphicFrame>
      <p:pic>
        <p:nvPicPr>
          <p:cNvPr id="3" name="图片 2" descr="01 (2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650" y="5451475"/>
            <a:ext cx="1159510" cy="115951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容器通用功能总览</a:t>
            </a: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64565" y="1457325"/>
          <a:ext cx="10262870" cy="5070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970"/>
                <a:gridCol w="6057900"/>
              </a:tblGrid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功能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描述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615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通用</a:t>
                      </a: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for</a:t>
                      </a: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循环</a:t>
                      </a:r>
                      <a:endParaRPr lang="zh-CN" altLang="en-US" sz="1800">
                        <a:solidFill>
                          <a:srgbClr val="FF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遍历容器（字典是遍历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key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）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len()</a:t>
                      </a:r>
                      <a:endParaRPr lang="en-US" altLang="zh-CN" sz="1800">
                        <a:solidFill>
                          <a:srgbClr val="FF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容器内元素个数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del 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容器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直接删除容器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通用拆包操作</a:t>
                      </a:r>
                      <a:endParaRPr lang="zh-CN" altLang="en-US" sz="1800">
                        <a:solidFill>
                          <a:srgbClr val="FF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拆包容器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(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字典拆的是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key)</a:t>
                      </a:r>
                      <a:endParaRPr lang="en-US" altLang="zh-CN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max()/min()</a:t>
                      </a:r>
                      <a:endParaRPr lang="en-US" altLang="zh-CN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r>
                        <a:rPr 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容器内最大元素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最小元素</a:t>
                      </a:r>
                      <a:endParaRPr lang="en-US" altLang="zh-CN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sorted(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序列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, [reverse=True])</a:t>
                      </a:r>
                      <a:endParaRPr lang="en-US" altLang="zh-CN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排序，</a:t>
                      </a:r>
                      <a:r>
                        <a:rPr lang="en-US" altLang="zh-CN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reverse=True</a:t>
                      </a: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表示降序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得到一个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排好序的列表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!!!</a:t>
                      </a:r>
                      <a:endParaRPr lang="en-US" altLang="zh-CN" sz="1800">
                        <a:solidFill>
                          <a:srgbClr val="C00000"/>
                        </a:solidFill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容器互转功能总览</a:t>
            </a: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64565" y="1457325"/>
          <a:ext cx="10262870" cy="5070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970"/>
                <a:gridCol w="6057900"/>
              </a:tblGrid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功能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dirty="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描述</a:t>
                      </a:r>
                      <a:endParaRPr lang="zh-CN" altLang="en-US" sz="1800" dirty="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</a:tr>
              <a:tr h="4121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list()</a:t>
                      </a:r>
                      <a:endParaRPr 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转换为列表</a:t>
                      </a:r>
                      <a:endParaRPr lang="en-US" altLang="zh-CN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  <a:sym typeface="+mn-ea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tuple()</a:t>
                      </a:r>
                      <a:endParaRPr 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转换为元组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str()</a:t>
                      </a:r>
                      <a:endParaRPr 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</a:rPr>
                        <a:t>转换为字符串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set()</a:t>
                      </a:r>
                      <a:endParaRPr 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+mn-ea"/>
                        </a:rPr>
                        <a:t>转换为集合</a:t>
                      </a:r>
                      <a:endParaRPr lang="zh-CN" altLang="en-US" sz="1800">
                        <a:latin typeface="阿里巴巴普惠体" panose="00020600040101010101" charset="-122"/>
                        <a:ea typeface="阿里巴巴普惠体" panose="00020600040101010101" charset="-122"/>
                        <a:cs typeface="阿里巴巴普惠体" panose="00020600040101010101" charset="-122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基于各类数据容器的特点，它们的应用场景如下：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列表：一批数据，可修改、可重复的存储</a:t>
            </a:r>
            <a:r>
              <a:rPr lang="zh-CN" altLang="en-US">
                <a:sym typeface="+mn-ea"/>
              </a:rPr>
              <a:t>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元组：一批数据，不可修改、可重复的存储</a:t>
            </a:r>
            <a:r>
              <a:rPr lang="zh-CN" altLang="en-US">
                <a:sym typeface="+mn-ea"/>
              </a:rPr>
              <a:t>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字符串：一串字符串的存储</a:t>
            </a:r>
            <a:r>
              <a:rPr lang="zh-CN" altLang="en-US">
                <a:sym typeface="+mn-ea"/>
              </a:rPr>
              <a:t>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集合：一批数据，去重存储</a:t>
            </a:r>
            <a:r>
              <a:rPr lang="zh-CN" altLang="en-US">
                <a:sym typeface="+mn-ea"/>
              </a:rPr>
              <a:t>场景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字典：一批数据，可用</a:t>
            </a:r>
            <a:r>
              <a:rPr lang="en-US" altLang="zh-CN"/>
              <a:t>Key</a:t>
            </a:r>
            <a:r>
              <a:rPr lang="zh-CN" altLang="en-US"/>
              <a:t>检索</a:t>
            </a:r>
            <a:r>
              <a:rPr lang="en-US" altLang="zh-CN"/>
              <a:t>Value</a:t>
            </a:r>
            <a:r>
              <a:rPr lang="zh-CN" altLang="en-US"/>
              <a:t>的存储场景</a:t>
            </a:r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46d752f-deb0-4470-a156-7a30ccff4a13}"/>
  <p:tag name="TABLE_ENDDRAG_ORIGIN_RECT" val="834*281"/>
  <p:tag name="TABLE_ENDDRAG_RECT" val="63*132*834*281"/>
</p:tagLst>
</file>

<file path=ppt/tags/tag2.xml><?xml version="1.0" encoding="utf-8"?>
<p:tagLst xmlns:p="http://schemas.openxmlformats.org/presentationml/2006/main">
  <p:tag name="KSO_WM_UNIT_TABLE_BEAUTIFY" val="smartTable{aa5a0a10-ab2a-4fec-bdd9-e1c2a8d94853}"/>
  <p:tag name="TABLE_ENDDRAG_ORIGIN_RECT" val="834*281"/>
  <p:tag name="TABLE_ENDDRAG_RECT" val="63*132*834*281"/>
</p:tagLst>
</file>

<file path=ppt/tags/tag3.xml><?xml version="1.0" encoding="utf-8"?>
<p:tagLst xmlns:p="http://schemas.openxmlformats.org/presentationml/2006/main">
  <p:tag name="KSO_WM_UNIT_PLACING_PICTURE_USER_VIEWPORT" val="{&quot;height&quot;:2729,&quot;width&quot;:3972}"/>
</p:tagLst>
</file>

<file path=ppt/tags/tag4.xml><?xml version="1.0" encoding="utf-8"?>
<p:tagLst xmlns:p="http://schemas.openxmlformats.org/presentationml/2006/main">
  <p:tag name="KSO_WM_UNIT_PLACING_PICTURE_USER_VIEWPORT" val="{&quot;height&quot;:2445,&quot;width&quot;:17100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TABLE_BEAUTIFY" val="smartTable{f0b28bb6-a62c-4d9c-a1af-94d905d7072f}"/>
  <p:tag name="TABLE_ENDDRAG_ORIGIN_RECT" val="727*304"/>
  <p:tag name="TABLE_ENDDRAG_RECT" val="127*137*727*304"/>
</p:tagLst>
</file>

<file path=ppt/tags/tag7.xml><?xml version="1.0" encoding="utf-8"?>
<p:tagLst xmlns:p="http://schemas.openxmlformats.org/presentationml/2006/main">
  <p:tag name="KSO_WM_UNIT_PLACING_PICTURE_USER_VIEWPORT" val="{&quot;height&quot;:2575,&quot;width&quot;:7950}"/>
</p:tagLst>
</file>

<file path=ppt/tags/tag8.xml><?xml version="1.0" encoding="utf-8"?>
<p:tagLst xmlns:p="http://schemas.openxmlformats.org/presentationml/2006/main">
  <p:tag name="KSO_WM_UNIT_PLACING_PICTURE_USER_VIEWPORT" val="{&quot;height&quot;:4635,&quot;width&quot;:10515}"/>
</p:tagLst>
</file>

<file path=ppt/tags/tag9.xml><?xml version="1.0" encoding="utf-8"?>
<p:tagLst xmlns:p="http://schemas.openxmlformats.org/presentationml/2006/main">
  <p:tag name="KSO_WM_UNIT_PLACING_PICTURE_USER_VIEWPORT" val="{&quot;height&quot;:4279,&quot;width&quot;:4091}"/>
</p:tagLst>
</file>

<file path=ppt/tags/tag10.xml><?xml version="1.0" encoding="utf-8"?>
<p:tagLst xmlns:p="http://schemas.openxmlformats.org/presentationml/2006/main">
  <p:tag name="KSO_WM_UNIT_PLACING_PICTURE_USER_VIEWPORT" val="{&quot;height&quot;:4279,&quot;width&quot;:4091}"/>
</p:tagLst>
</file>

<file path=ppt/tags/tag11.xml><?xml version="1.0" encoding="utf-8"?>
<p:tagLst xmlns:p="http://schemas.openxmlformats.org/presentationml/2006/main">
  <p:tag name="KSO_WM_UNIT_TABLE_BEAUTIFY" val="smartTable{49afa58c-b024-4c8a-9bab-126df2e38dd3}"/>
  <p:tag name="TABLE_ENDDRAG_ORIGIN_RECT" val="454*87"/>
  <p:tag name="TABLE_ENDDRAG_RECT" val="62*120*454*87"/>
</p:tagLst>
</file>

<file path=ppt/tags/tag12.xml><?xml version="1.0" encoding="utf-8"?>
<p:tagLst xmlns:p="http://schemas.openxmlformats.org/presentationml/2006/main">
  <p:tag name="KSO_WM_UNIT_TABLE_BEAUTIFY" val="smartTable{ff54890a-824b-4e8b-8c97-6eb7dde7b2e1}"/>
  <p:tag name="TABLE_ENDDRAG_ORIGIN_RECT" val="834*281"/>
  <p:tag name="TABLE_ENDDRAG_RECT" val="63*132*834*281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PLACING_PICTURE_USER_VIEWPORT" val="{&quot;height&quot;:3653,&quot;width&quot;:3653}"/>
</p:tagLst>
</file>

<file path=ppt/tags/tag15.xml><?xml version="1.0" encoding="utf-8"?>
<p:tagLst xmlns:p="http://schemas.openxmlformats.org/presentationml/2006/main">
  <p:tag name="KSO_WM_UNIT_PLACING_PICTURE_USER_VIEWPORT" val="{&quot;height&quot;:2070,&quot;width&quot;:5715}"/>
</p:tagLst>
</file>

<file path=ppt/tags/tag16.xml><?xml version="1.0" encoding="utf-8"?>
<p:tagLst xmlns:p="http://schemas.openxmlformats.org/presentationml/2006/main">
  <p:tag name="KSO_WM_UNIT_PLACING_PICTURE_USER_VIEWPORT" val="{&quot;height&quot;:1980,&quot;width&quot;:3450}"/>
</p:tagLst>
</file>

<file path=ppt/tags/tag17.xml><?xml version="1.0" encoding="utf-8"?>
<p:tagLst xmlns:p="http://schemas.openxmlformats.org/presentationml/2006/main">
  <p:tag name="KSO_WM_UNIT_TABLE_BEAUTIFY" val="smartTable{068b8997-e329-4ea1-ba99-6048102a5308}"/>
  <p:tag name="TABLE_ENDDRAG_ORIGIN_RECT" val="834*281"/>
  <p:tag name="TABLE_ENDDRAG_RECT" val="63*132*834*281"/>
</p:tagLst>
</file>

<file path=ppt/tags/tag18.xml><?xml version="1.0" encoding="utf-8"?>
<p:tagLst xmlns:p="http://schemas.openxmlformats.org/presentationml/2006/main">
  <p:tag name="KSO_WM_UNIT_PLACING_PICTURE_USER_VIEWPORT" val="{&quot;height&quot;:4110,&quot;width&quot;:11730}"/>
</p:tagLst>
</file>

<file path=ppt/tags/tag19.xml><?xml version="1.0" encoding="utf-8"?>
<p:tagLst xmlns:p="http://schemas.openxmlformats.org/presentationml/2006/main">
  <p:tag name="KSO_WM_UNIT_TABLE_BEAUTIFY" val="smartTable{518138a7-b297-43dd-9e32-757dc705ba35}"/>
</p:tagLst>
</file>

<file path=ppt/tags/tag20.xml><?xml version="1.0" encoding="utf-8"?>
<p:tagLst xmlns:p="http://schemas.openxmlformats.org/presentationml/2006/main">
  <p:tag name="KSO_WM_UNIT_TABLE_BEAUTIFY" val="smartTable{5dd51b02-80a0-4f01-9b72-126fdc378037}"/>
  <p:tag name="TABLE_ENDDRAG_ORIGIN_RECT" val="808*248"/>
  <p:tag name="TABLE_ENDDRAG_RECT" val="63*132*808*248"/>
</p:tagLst>
</file>

<file path=ppt/tags/tag21.xml><?xml version="1.0" encoding="utf-8"?>
<p:tagLst xmlns:p="http://schemas.openxmlformats.org/presentationml/2006/main">
  <p:tag name="KSO_WM_UNIT_TABLE_BEAUTIFY" val="smartTable{e4861119-27dd-4b92-8981-8f9002647f44}"/>
  <p:tag name="TABLE_ENDDRAG_ORIGIN_RECT" val="808*248"/>
  <p:tag name="TABLE_ENDDRAG_RECT" val="63*132*808*248"/>
</p:tagLst>
</file>

<file path=ppt/tags/tag22.xml><?xml version="1.0" encoding="utf-8"?>
<p:tagLst xmlns:p="http://schemas.openxmlformats.org/presentationml/2006/main">
  <p:tag name="COMMONDATA" val="eyJoZGlkIjoiZjFlMjg2MmYxODM4Yjk5ZDc5MGVmYjg0M2JjYjM0MTgifQ=="/>
  <p:tag name="KSO_WPP_MARK_KEY" val="e178b831-e863-4400-bc3c-338ac3769e08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12330</Words>
  <Application>WPS 演示</Application>
  <PresentationFormat>宽屏</PresentationFormat>
  <Paragraphs>1537</Paragraphs>
  <Slides>112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112</vt:i4>
      </vt:variant>
    </vt:vector>
  </HeadingPairs>
  <TitlesOfParts>
    <vt:vector size="148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 M</vt:lpstr>
      <vt:lpstr>Segoe UI Light</vt:lpstr>
      <vt:lpstr>微软雅黑 Light</vt:lpstr>
      <vt:lpstr>纤黑体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1_正文设计方案</vt:lpstr>
      <vt:lpstr>3_学习目标</vt:lpstr>
      <vt:lpstr>2_正文设计方案</vt:lpstr>
      <vt:lpstr>4_学习目标</vt:lpstr>
      <vt:lpstr>5_学习目标</vt:lpstr>
      <vt:lpstr>6_学习目标</vt:lpstr>
      <vt:lpstr>7_学习目标</vt:lpstr>
      <vt:lpstr>8_学习目标</vt:lpstr>
      <vt:lpstr>9_学习目标</vt:lpstr>
      <vt:lpstr>Python数据容器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1717</cp:revision>
  <dcterms:created xsi:type="dcterms:W3CDTF">2022-07-07T06:43:00Z</dcterms:created>
  <dcterms:modified xsi:type="dcterms:W3CDTF">2026-03-23T03:09:23Z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81096B09271E49CDBA9D73AF615A53C4</vt:lpwstr>
  </property>
  <property fmtid="{D5CDD505-2E9C-101B-9397-08002B2CF9AE}" pid="3" name="KSOProductBuildVer">
    <vt:lpwstr>2052-12.1.0.25225</vt:lpwstr>
  </property>
</Properties>
</file>