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0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6" r:id="rId5"/>
    <p:sldMasterId id="2147483658" r:id="rId6"/>
    <p:sldMasterId id="2147483660" r:id="rId7"/>
    <p:sldMasterId id="2147483677" r:id="rId8"/>
    <p:sldMasterId id="2147483679" r:id="rId9"/>
    <p:sldMasterId id="2147483682" r:id="rId10"/>
    <p:sldMasterId id="2147483685" r:id="rId11"/>
    <p:sldMasterId id="2147483688" r:id="rId12"/>
    <p:sldMasterId id="2147483691" r:id="rId13"/>
  </p:sldMasterIdLst>
  <p:notesMasterIdLst>
    <p:notesMasterId r:id="rId20"/>
  </p:notesMasterIdLst>
  <p:handoutMasterIdLst>
    <p:handoutMasterId r:id="rId40"/>
  </p:handoutMasterIdLst>
  <p:sldIdLst>
    <p:sldId id="997" r:id="rId14"/>
    <p:sldId id="1001" r:id="rId15"/>
    <p:sldId id="1057" r:id="rId16"/>
    <p:sldId id="1098" r:id="rId17"/>
    <p:sldId id="1058" r:id="rId18"/>
    <p:sldId id="579" r:id="rId19"/>
    <p:sldId id="954" r:id="rId21"/>
    <p:sldId id="1099" r:id="rId22"/>
    <p:sldId id="956" r:id="rId23"/>
    <p:sldId id="1061" r:id="rId24"/>
    <p:sldId id="1062" r:id="rId25"/>
    <p:sldId id="1063" r:id="rId26"/>
    <p:sldId id="1065" r:id="rId27"/>
    <p:sldId id="1100" r:id="rId28"/>
    <p:sldId id="1005" r:id="rId29"/>
    <p:sldId id="965" r:id="rId30"/>
    <p:sldId id="1002" r:id="rId31"/>
    <p:sldId id="1003" r:id="rId32"/>
    <p:sldId id="1004" r:id="rId33"/>
    <p:sldId id="1006" r:id="rId34"/>
    <p:sldId id="1068" r:id="rId35"/>
    <p:sldId id="1069" r:id="rId36"/>
    <p:sldId id="1070" r:id="rId37"/>
    <p:sldId id="1072" r:id="rId38"/>
    <p:sldId id="264" r:id="rId39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49504F"/>
    <a:srgbClr val="B70006"/>
    <a:srgbClr val="AD2B2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94" autoAdjust="0"/>
    <p:restoredTop sz="91802" autoAdjust="0"/>
  </p:normalViewPr>
  <p:slideViewPr>
    <p:cSldViewPr snapToGrid="0">
      <p:cViewPr varScale="1">
        <p:scale>
          <a:sx n="111" d="100"/>
          <a:sy n="111" d="100"/>
        </p:scale>
        <p:origin x="24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gs" Target="tags/tag5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8" Type="http://schemas.openxmlformats.org/officeDocument/2006/relationships/theme" Target="../theme/theme12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函数基础</a:t>
            </a:r>
            <a:endParaRPr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/>
        </p:nvSpPr>
        <p:spPr>
          <a:xfrm>
            <a:off x="912495" y="2606040"/>
            <a:ext cx="10367010" cy="600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32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为什么要学习、使用函数呢？</a:t>
            </a:r>
            <a:endParaRPr lang="zh-CN" sz="3200" b="1">
              <a:solidFill>
                <a:schemeClr val="tx2">
                  <a:lumMod val="60000"/>
                  <a:lumOff val="40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912495" y="3488690"/>
            <a:ext cx="10367010" cy="600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为了得到一个针对特定需求、可供重复利用的代码段</a:t>
            </a:r>
            <a:endParaRPr lang="zh-CN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提高程序的复用性，减少重复性代码，提高开发效率</a:t>
            </a:r>
            <a:endParaRPr lang="zh-CN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5" name="图片 4" descr="01 (15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9920" y="2769235"/>
            <a:ext cx="1889125" cy="1889125"/>
          </a:xfrm>
          <a:prstGeom prst="rect">
            <a:avLst/>
          </a:prstGeom>
        </p:spPr>
      </p:pic>
      <p:pic>
        <p:nvPicPr>
          <p:cNvPr id="6" name="图片 5" descr="01 (10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50" y="2865755"/>
            <a:ext cx="1434465" cy="1434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7828" y="709711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函数的定义和调用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函数的参数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函数的返回值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7828" y="709711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C00000"/>
                </a:solidFill>
              </a:rPr>
              <a:t>函数的定义和调用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函数的参数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函数的返回值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掌握函数的基础定义语法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函数的定义：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函数的调用：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函数的定义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94063" y="3775593"/>
            <a:ext cx="10666853" cy="3067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三角形 9"/>
          <p:cNvSpPr/>
          <p:nvPr/>
        </p:nvSpPr>
        <p:spPr>
          <a:xfrm rot="2651319">
            <a:off x="717493" y="482413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/>
          <p:cNvSpPr txBox="1"/>
          <p:nvPr/>
        </p:nvSpPr>
        <p:spPr>
          <a:xfrm>
            <a:off x="1085444" y="4848142"/>
            <a:ext cx="977328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 参数如不需要，可以省略（后续章节讲解）</a:t>
            </a:r>
            <a:endParaRPr lang="en-US" altLang="zh-CN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 返回值如不需要，可以省略（后续章节讲解）</a:t>
            </a:r>
            <a:endParaRPr lang="zh-CN" altLang="en-US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③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函数必须先定义后使用</a:t>
            </a:r>
            <a:endParaRPr lang="zh-CN" altLang="en-US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1055" y="4439285"/>
            <a:ext cx="10302240" cy="142621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0879" y="454002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1055" y="2141855"/>
            <a:ext cx="2266950" cy="933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01 (26).png01 (26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7" grpId="0" animBg="1"/>
      <p:bldP spid="8" grpId="0"/>
      <p:bldP spid="9" grpId="0" animBg="1"/>
      <p:bldP spid="10" grpId="0" animBg="1"/>
      <p:bldP spid="7" grpId="1" animBg="1"/>
      <p:bldP spid="8" grpId="1"/>
      <p:bldP spid="9" grpId="1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505973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1.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 函数的定义语法</a:t>
            </a:r>
            <a:endParaRPr lang="zh-CN" altLang="en-US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altLang="zh-CN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altLang="zh-CN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2.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 函数使用步骤</a:t>
            </a: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:</a:t>
            </a:r>
            <a:endParaRPr lang="en-US" altLang="zh-CN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C00000"/>
                </a:solidFill>
                <a:latin typeface="Helvetica Neue" panose="02000503000000020004" pitchFamily="2" charset="0"/>
              </a:rPr>
              <a:t>先定义函数</a:t>
            </a:r>
            <a:endParaRPr lang="zh-CN" altLang="en-US" b="0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C00000"/>
                </a:solidFill>
                <a:latin typeface="Helvetica Neue" panose="02000503000000020004" pitchFamily="2" charset="0"/>
              </a:rPr>
              <a:t>后调用函数</a:t>
            </a:r>
            <a:endParaRPr lang="zh-CN" altLang="en-US" b="0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marL="0" lvl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3. 注意事项：</a:t>
            </a:r>
            <a:endParaRPr lang="zh-CN" altLang="en-US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rgbClr val="C00000"/>
                </a:solidFill>
                <a:latin typeface="Helvetica Neue" panose="02000503000000020004" pitchFamily="2" charset="0"/>
              </a:rPr>
              <a:t>参数不需要，可以省略</a:t>
            </a:r>
            <a:endParaRPr lang="zh-CN" altLang="en-US" sz="1800" b="0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rgbClr val="C00000"/>
                </a:solidFill>
                <a:latin typeface="Helvetica Neue" panose="02000503000000020004" pitchFamily="2" charset="0"/>
              </a:rPr>
              <a:t>返回值不需要，可以省略</a:t>
            </a:r>
            <a:endParaRPr lang="zh-CN" altLang="en-US" sz="1800" b="0" dirty="0">
              <a:solidFill>
                <a:srgbClr val="C00000"/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46090" y="2324100"/>
            <a:ext cx="2266950" cy="9334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7828" y="709711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函数的定义和调用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函数的参数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函数的返回值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掌握函数传入参数的使用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函数的传入参数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传入参数的功能是：在函数进行计算的时候，接受外部（调用时）提供的数据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有如下代码，完成了</a:t>
            </a:r>
            <a:r>
              <a:rPr lang="en-US" altLang="zh-CN"/>
              <a:t>2</a:t>
            </a:r>
            <a:r>
              <a:rPr lang="zh-CN" altLang="en-US"/>
              <a:t>个数字相加的功能：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函数的功能非常局限，只能计算</a:t>
            </a:r>
            <a:r>
              <a:rPr lang="en-US" altLang="zh-CN"/>
              <a:t>1 + 2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有没有可能实现：每一次使用函数，去计算用户指定的</a:t>
            </a:r>
            <a:r>
              <a:rPr lang="en-US" altLang="zh-CN"/>
              <a:t>2</a:t>
            </a:r>
            <a:r>
              <a:rPr lang="zh-CN" altLang="en-US"/>
              <a:t>个数字，而非每次都是</a:t>
            </a:r>
            <a:r>
              <a:rPr lang="en-US" altLang="zh-CN"/>
              <a:t>1 + 2</a:t>
            </a:r>
            <a:r>
              <a:rPr lang="zh-CN" altLang="en-US"/>
              <a:t>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可以的，使用函数的传入参数功能，即可实现。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952750"/>
            <a:ext cx="4305300" cy="952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01 (26).png01 (26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函数的传入参数</a:t>
            </a:r>
            <a:r>
              <a:rPr lang="en-US" altLang="zh-CN"/>
              <a:t> - </a:t>
            </a:r>
            <a:r>
              <a:t>传参定义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基于函数的定义语法：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可以有如下函数定义：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实现了，每次计算的是</a:t>
            </a:r>
            <a:r>
              <a:rPr lang="en-US" altLang="zh-CN"/>
              <a:t>x + y</a:t>
            </a:r>
            <a:r>
              <a:rPr lang="zh-CN" altLang="en-US"/>
              <a:t>，而非固定的</a:t>
            </a:r>
            <a:r>
              <a:rPr lang="en-US" altLang="zh-CN"/>
              <a:t>1 + 2</a:t>
            </a:r>
            <a:endParaRPr lang="en-US" altLang="zh-CN"/>
          </a:p>
          <a:p>
            <a:r>
              <a:rPr lang="en-US" altLang="zh-CN"/>
              <a:t>x + y</a:t>
            </a:r>
            <a:r>
              <a:rPr lang="zh-CN" altLang="en-US"/>
              <a:t>的值，可以在调用函数的时候指定。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0580" y="2103755"/>
            <a:ext cx="2684780" cy="11055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" y="3757930"/>
            <a:ext cx="4829175" cy="971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01 (26).png01 (26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函数的传入参数</a:t>
            </a:r>
            <a:r>
              <a:rPr lang="en-US" altLang="zh-CN"/>
              <a:t> - </a:t>
            </a:r>
            <a:r>
              <a:t>语法解析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语法解析：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函数定义中，提供的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zh-CN" altLang="en-US"/>
              <a:t>，称之为：形式参数（形参），表示函数声明将要使用</a:t>
            </a:r>
            <a:r>
              <a:rPr lang="en-US" altLang="zh-CN"/>
              <a:t>2</a:t>
            </a:r>
            <a:r>
              <a:rPr lang="zh-CN" altLang="en-US"/>
              <a:t>个参数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参数之间使用逗号进行分隔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函数调用中，提供的</a:t>
            </a:r>
            <a:r>
              <a:rPr lang="en-US" altLang="zh-CN"/>
              <a:t>5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，称之为：实际参数（实参），表示函数执行时真正使用的参数值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/>
              <a:t>传入的时候，按照顺序传入数据，使用逗号分隔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5815" y="2089150"/>
            <a:ext cx="4829175" cy="2257425"/>
          </a:xfrm>
          <a:prstGeom prst="rect">
            <a:avLst/>
          </a:prstGeom>
        </p:spPr>
      </p:pic>
      <p:pic>
        <p:nvPicPr>
          <p:cNvPr id="4" name="图片 3" descr="D:/新版课程资料/AI+数据分析研发/播仔最新素材库 - All update/播仔最新素材库 - All update/01 (26).png01 (26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函数的传入参数的作用是？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在函数运行的时候，接受外部传入的数据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使用方式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注意事项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函数定义中的参数，称之为形式参数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函数调用中的参数，称之为实际参数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函数的参数数量不限，使用逗号分隔开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传入参数的时候，要和形式参数一一对应，逗号隔开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8940" y="2989580"/>
            <a:ext cx="4368800" cy="8788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7828" y="709711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函数的定义和调用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函数的参数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函数的返回值</a:t>
            </a:r>
            <a:endParaRPr lang="zh-CN" altLang="en-US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5065" y="1386840"/>
            <a:ext cx="5973445" cy="27266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函数的返回值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457200" lvl="1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函数返回值的定义</a:t>
            </a:r>
            <a:endParaRPr lang="zh-CN" altLang="en-US" sz="1800" b="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457200" lvl="1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None类型</a:t>
            </a:r>
            <a:endParaRPr lang="zh-CN" altLang="en-US" sz="1800" b="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4855" y="273304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76431" y="325742"/>
            <a:ext cx="6654482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掌握函数返回值的作用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掌握函数返回值的定义语法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什么是返回值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生活中的返回值：</a:t>
            </a:r>
            <a:endParaRPr lang="zh-CN" altLang="en-US"/>
          </a:p>
        </p:txBody>
      </p:sp>
      <p:pic>
        <p:nvPicPr>
          <p:cNvPr id="4" name="图片 3" descr="01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2265680"/>
            <a:ext cx="1865630" cy="1865630"/>
          </a:xfrm>
          <a:prstGeom prst="rect">
            <a:avLst/>
          </a:prstGeom>
        </p:spPr>
      </p:pic>
      <p:pic>
        <p:nvPicPr>
          <p:cNvPr id="5" name="图片 4" descr="01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245995"/>
            <a:ext cx="1905000" cy="1905000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1997075" y="2241550"/>
            <a:ext cx="1763395" cy="392430"/>
          </a:xfrm>
          <a:prstGeom prst="wedgeRoundRectCallout">
            <a:avLst>
              <a:gd name="adj1" fmla="val -57763"/>
              <a:gd name="adj2" fmla="val 10242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帮我买</a:t>
            </a:r>
            <a:r>
              <a:rPr lang="en-US" altLang="zh-CN"/>
              <a:t>3</a:t>
            </a:r>
            <a:r>
              <a:rPr lang="zh-CN" altLang="en-US"/>
              <a:t>瓶可乐</a:t>
            </a:r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4114800" y="2241550"/>
            <a:ext cx="1548765" cy="392430"/>
          </a:xfrm>
          <a:prstGeom prst="wedgeRoundRectCallout">
            <a:avLst>
              <a:gd name="adj1" fmla="val 47908"/>
              <a:gd name="adj2" fmla="val 9741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收到</a:t>
            </a:r>
            <a:endParaRPr lang="zh-CN"/>
          </a:p>
        </p:txBody>
      </p:sp>
      <p:sp>
        <p:nvSpPr>
          <p:cNvPr id="8" name="圆角矩形标注 7"/>
          <p:cNvSpPr/>
          <p:nvPr/>
        </p:nvSpPr>
        <p:spPr>
          <a:xfrm>
            <a:off x="6664960" y="2245995"/>
            <a:ext cx="1548765" cy="392430"/>
          </a:xfrm>
          <a:prstGeom prst="wedgeRoundRectCallout">
            <a:avLst>
              <a:gd name="adj1" fmla="val -47088"/>
              <a:gd name="adj2" fmla="val 10987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给你</a:t>
            </a:r>
            <a:endParaRPr lang="zh-CN"/>
          </a:p>
        </p:txBody>
      </p:sp>
      <p:grpSp>
        <p:nvGrpSpPr>
          <p:cNvPr id="12" name="组合 11"/>
          <p:cNvGrpSpPr/>
          <p:nvPr/>
        </p:nvGrpSpPr>
        <p:grpSpPr>
          <a:xfrm>
            <a:off x="4639945" y="3944620"/>
            <a:ext cx="2408555" cy="934085"/>
            <a:chOff x="2687" y="5594"/>
            <a:chExt cx="3793" cy="1471"/>
          </a:xfrm>
        </p:grpSpPr>
        <p:pic>
          <p:nvPicPr>
            <p:cNvPr id="9" name="图片 8" descr="32313534303834323b32313534303832393bbfc9c0d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87" y="5594"/>
              <a:ext cx="1440" cy="1440"/>
            </a:xfrm>
            <a:prstGeom prst="rect">
              <a:avLst/>
            </a:prstGeom>
          </p:spPr>
        </p:pic>
        <p:pic>
          <p:nvPicPr>
            <p:cNvPr id="10" name="图片 9" descr="32313534303834323b32313534303832393bbfc9c0d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3" y="5625"/>
              <a:ext cx="1440" cy="1440"/>
            </a:xfrm>
            <a:prstGeom prst="rect">
              <a:avLst/>
            </a:prstGeom>
          </p:spPr>
        </p:pic>
        <p:pic>
          <p:nvPicPr>
            <p:cNvPr id="11" name="图片 10" descr="32313534303834323b32313534303832393bbfc9c0d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40" y="5594"/>
              <a:ext cx="1440" cy="1440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2791460" y="2270760"/>
            <a:ext cx="362585" cy="32385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91460" y="1800225"/>
            <a:ext cx="640080" cy="3683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纤黑体" panose="02000000000000000000" charset="-122"/>
                <a:ea typeface="纤黑体" panose="02000000000000000000" charset="-122"/>
              </a:rPr>
              <a:t>参数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3305" y="4939665"/>
            <a:ext cx="868680" cy="3683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纤黑体" panose="02000000000000000000" charset="-122"/>
                <a:ea typeface="纤黑体" panose="02000000000000000000" charset="-122"/>
              </a:rPr>
              <a:t>返回值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2031 0 " pathEditMode="relative" ptsTypes="">
                                      <p:cBhvr>
                                        <p:cTn id="3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13" grpId="0" animBg="1"/>
      <p:bldP spid="14" grpId="0"/>
      <p:bldP spid="13" grpId="1" animBg="1"/>
      <p:bldP spid="14" grpId="1"/>
      <p:bldP spid="17" grpId="0"/>
      <p:bldP spid="1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什么是返回值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程序中的返回值：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785" y="2155825"/>
            <a:ext cx="3038475" cy="3781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4046220" y="2155825"/>
            <a:ext cx="724662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如图代码</a:t>
            </a:r>
            <a:endParaRPr lang="zh-CN" altLang="en-US"/>
          </a:p>
          <a:p>
            <a:r>
              <a:rPr lang="zh-CN" altLang="en-US"/>
              <a:t>定义两数相加的函数功能。完成功能后，会将相加的结果返回给函数调用者</a:t>
            </a:r>
            <a:endParaRPr lang="zh-CN" altLang="en-US"/>
          </a:p>
          <a:p>
            <a:r>
              <a:rPr lang="zh-CN" altLang="en-US"/>
              <a:t>所以，变量</a:t>
            </a:r>
            <a:r>
              <a:rPr lang="en-US" altLang="zh-CN"/>
              <a:t>r</a:t>
            </a:r>
            <a:r>
              <a:rPr lang="zh-CN" altLang="en-US"/>
              <a:t>接收到了函数的执行结果。</a:t>
            </a:r>
            <a:endParaRPr lang="zh-CN" altLang="en-US"/>
          </a:p>
          <a:p>
            <a:endParaRPr lang="zh-CN" altLang="en-US"/>
          </a:p>
          <a:p>
            <a:r>
              <a:rPr lang="zh-CN" altLang="en-US" dirty="0">
                <a:sym typeface="+mn-ea"/>
              </a:rPr>
              <a:t>综上所述：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       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所谓“返回值”，就是程序中函数完成事情后，最后给调用者的结果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D:/新版课程资料/AI+数据分析研发/播仔最新素材库 - All update/播仔最新素材库 - All update/01 (26).png01 (26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返回值的语法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语法格式如图：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如图，变量就能接收到函数的返回值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语法就是：通过</a:t>
            </a:r>
            <a:r>
              <a:rPr lang="en-US" altLang="zh-CN">
                <a:solidFill>
                  <a:srgbClr val="FF0000"/>
                </a:solidFill>
              </a:rPr>
              <a:t>return</a:t>
            </a:r>
            <a:r>
              <a:rPr lang="zh-CN" altLang="en-US">
                <a:solidFill>
                  <a:srgbClr val="FF0000"/>
                </a:solidFill>
              </a:rPr>
              <a:t>关键字，就能向调用者返回数据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101850"/>
            <a:ext cx="3152775" cy="2457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8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09665" y="2719070"/>
            <a:ext cx="2092960" cy="209296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8302625" y="2965450"/>
            <a:ext cx="2990850" cy="18465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去实践一下吧：</a:t>
            </a:r>
            <a:endParaRPr lang="zh-CN"/>
          </a:p>
          <a:p>
            <a:r>
              <a:rPr lang="zh-CN" sz="20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定义一个函数，完成</a:t>
            </a:r>
            <a:r>
              <a:rPr lang="zh-CN" altLang="en-US" sz="20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两</a:t>
            </a:r>
            <a:r>
              <a:rPr lang="zh-CN" altLang="en-US" sz="20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数相加的功能，并返回结果</a:t>
            </a:r>
            <a:endParaRPr lang="zh-CN" altLang="en-US" sz="2000" b="1">
              <a:solidFill>
                <a:schemeClr val="tx2">
                  <a:lumMod val="60000"/>
                  <a:lumOff val="40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什么是函数返回值？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函数在执行完成后，返回给调用者的结果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返回值的应用语法：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使用关键字：</a:t>
            </a:r>
            <a:r>
              <a:rPr lang="en-US" altLang="zh-CN" sz="1400"/>
              <a:t>return </a:t>
            </a:r>
            <a:r>
              <a:rPr lang="zh-CN" altLang="en-US" sz="1400"/>
              <a:t>来返回结果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注意：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函数体在遇到</a:t>
            </a:r>
            <a:r>
              <a:rPr lang="en-US" altLang="zh-CN" sz="1400"/>
              <a:t>return</a:t>
            </a:r>
            <a:r>
              <a:rPr lang="zh-CN" altLang="en-US" sz="1400"/>
              <a:t>后就结束了，所以写在</a:t>
            </a:r>
            <a:r>
              <a:rPr lang="en-US" altLang="zh-CN" sz="1400"/>
              <a:t>return</a:t>
            </a:r>
            <a:r>
              <a:rPr lang="zh-CN" altLang="en-US" sz="1400"/>
              <a:t>后的代码不会执行。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090" y="3274060"/>
            <a:ext cx="1976120" cy="15405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5065" y="1386840"/>
            <a:ext cx="5973445" cy="27266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函数的返回值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457200" lvl="1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函数返回值的定义</a:t>
            </a:r>
            <a:endParaRPr lang="zh-CN" altLang="en-US" sz="1800" b="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457200" lvl="1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None类型</a:t>
            </a:r>
            <a:endParaRPr lang="zh-CN" altLang="en-US" sz="1800" b="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4855" y="33274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None</a:t>
            </a:r>
            <a:r>
              <a:t>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思考：如果函数没有使用</a:t>
            </a:r>
            <a:r>
              <a:rPr lang="en-US" altLang="zh-CN"/>
              <a:t>return</a:t>
            </a:r>
            <a:r>
              <a:rPr lang="zh-CN" altLang="en-US"/>
              <a:t>语句返回数据，那么函数有返回值吗？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实际上是：有的。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Python</a:t>
            </a:r>
            <a:r>
              <a:rPr lang="zh-CN" altLang="en-US"/>
              <a:t>中有一个特殊的字面量：</a:t>
            </a:r>
            <a:r>
              <a:rPr lang="en-US" altLang="zh-CN"/>
              <a:t>None</a:t>
            </a:r>
            <a:r>
              <a:rPr lang="zh-CN" altLang="en-US"/>
              <a:t>，其类型是：&lt;class 'NoneType'&gt;</a:t>
            </a:r>
            <a:endParaRPr lang="zh-CN" altLang="en-US"/>
          </a:p>
          <a:p>
            <a:r>
              <a:rPr lang="zh-CN" altLang="en-US"/>
              <a:t>无返回值的函数，实际上就是返回了：</a:t>
            </a:r>
            <a:r>
              <a:rPr lang="en-US" altLang="zh-CN"/>
              <a:t>None</a:t>
            </a:r>
            <a:r>
              <a:rPr lang="zh-CN" altLang="en-US"/>
              <a:t>这个字面量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None</a:t>
            </a:r>
            <a:r>
              <a:rPr lang="zh-CN" altLang="en-US"/>
              <a:t>表示：空的、无实际意义的意思</a:t>
            </a:r>
            <a:endParaRPr lang="zh-CN" altLang="en-US"/>
          </a:p>
          <a:p>
            <a:r>
              <a:rPr lang="zh-CN" altLang="en-US"/>
              <a:t>函数返回的</a:t>
            </a:r>
            <a:r>
              <a:rPr lang="en-US" altLang="zh-CN"/>
              <a:t>None</a:t>
            </a:r>
            <a:r>
              <a:rPr lang="zh-CN" altLang="en-US"/>
              <a:t>，就表示，这个函数没有返回什么有意义的内容。</a:t>
            </a:r>
            <a:endParaRPr lang="zh-CN" altLang="en-US"/>
          </a:p>
          <a:p>
            <a:r>
              <a:rPr lang="zh-CN" altLang="en-US"/>
              <a:t>也就是返回了空的意思。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None</a:t>
            </a:r>
            <a:r>
              <a:t>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306750"/>
            <a:ext cx="10698800" cy="4219575"/>
          </a:xfrm>
        </p:spPr>
        <p:txBody>
          <a:bodyPr/>
          <a:p>
            <a:r>
              <a:rPr lang="zh-CN" altLang="en-US"/>
              <a:t>演示：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None</a:t>
            </a:r>
            <a:r>
              <a:rPr lang="zh-CN" altLang="en-US"/>
              <a:t>可以主动使用</a:t>
            </a:r>
            <a:r>
              <a:rPr lang="en-US" altLang="zh-CN"/>
              <a:t>return</a:t>
            </a:r>
            <a:r>
              <a:rPr lang="zh-CN" altLang="en-US"/>
              <a:t>返回，效果等同于不写</a:t>
            </a:r>
            <a:r>
              <a:rPr lang="en-US" altLang="zh-CN"/>
              <a:t>return</a:t>
            </a:r>
            <a:r>
              <a:rPr lang="zh-CN" altLang="en-US"/>
              <a:t>语句：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20" y="1823720"/>
            <a:ext cx="4141470" cy="2027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4251960"/>
            <a:ext cx="3319145" cy="2011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</a:t>
            </a:r>
            <a:r>
              <a:rPr lang="en-US" altLang="zh-CN"/>
              <a:t>None</a:t>
            </a:r>
            <a:endParaRPr lang="en-US" altLang="zh-CN"/>
          </a:p>
          <a:p>
            <a:pPr marL="0" indent="0">
              <a:buNone/>
            </a:pPr>
            <a:r>
              <a:rPr lang="en-US" altLang="zh-CN" sz="1400"/>
              <a:t>None</a:t>
            </a:r>
            <a:r>
              <a:rPr lang="zh-CN" altLang="en-US" sz="1400"/>
              <a:t>是类型</a:t>
            </a:r>
            <a:r>
              <a:rPr lang="en-US" altLang="zh-CN" sz="1400"/>
              <a:t>’NoneType’</a:t>
            </a:r>
            <a:r>
              <a:rPr lang="zh-CN" altLang="en-US" sz="1400"/>
              <a:t>的字面量，用于表示：空的、无意义的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函数</a:t>
            </a:r>
            <a:r>
              <a:rPr lang="zh-CN"/>
              <a:t>如何返回</a:t>
            </a:r>
            <a:r>
              <a:rPr lang="en-US" altLang="zh-CN"/>
              <a:t>None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不使用</a:t>
            </a:r>
            <a:r>
              <a:rPr lang="en-US" altLang="zh-CN" sz="1400"/>
              <a:t>return</a:t>
            </a:r>
            <a:r>
              <a:rPr lang="zh-CN" altLang="en-US" sz="1400"/>
              <a:t>语句即返回</a:t>
            </a:r>
            <a:r>
              <a:rPr lang="en-US" altLang="zh-CN" sz="1400"/>
              <a:t>None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主动</a:t>
            </a:r>
            <a:r>
              <a:rPr lang="en-US" altLang="zh-CN" sz="1400"/>
              <a:t>return None</a:t>
            </a:r>
            <a:endParaRPr lang="en-US" altLang="zh-CN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使用场景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函数返回值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if</a:t>
            </a:r>
            <a:r>
              <a:rPr lang="zh-CN" altLang="en-US" sz="1400"/>
              <a:t>判断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变量定义</a:t>
            </a:r>
            <a:endParaRPr lang="zh-CN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70,&quot;width&quot;:3570}"/>
</p:tagLst>
</file>

<file path=ppt/tags/tag2.xml><?xml version="1.0" encoding="utf-8"?>
<p:tagLst xmlns:p="http://schemas.openxmlformats.org/presentationml/2006/main">
  <p:tag name="KSO_WM_UNIT_PLACING_PICTURE_USER_VIEWPORT" val="{&quot;height&quot;:1470,&quot;width&quot;:3570}"/>
</p:tagLst>
</file>

<file path=ppt/tags/tag3.xml><?xml version="1.0" encoding="utf-8"?>
<p:tagLst xmlns:p="http://schemas.openxmlformats.org/presentationml/2006/main">
  <p:tag name="KSO_WM_UNIT_PLACING_PICTURE_USER_VIEWPORT" val="{&quot;height&quot;:1470,&quot;width&quot;:3570}"/>
</p:tagLst>
</file>

<file path=ppt/tags/tag4.xml><?xml version="1.0" encoding="utf-8"?>
<p:tagLst xmlns:p="http://schemas.openxmlformats.org/presentationml/2006/main">
  <p:tag name="KSO_WM_UNIT_PLACING_PICTURE_USER_VIEWPORT" val="{&quot;height&quot;:3555,&quot;width&quot;:7605}"/>
</p:tagLst>
</file>

<file path=ppt/tags/tag5.xml><?xml version="1.0" encoding="utf-8"?>
<p:tagLst xmlns:p="http://schemas.openxmlformats.org/presentationml/2006/main">
  <p:tag name="COMMONDATA" val="eyJoZGlkIjoiNDhiY2VkMGUwZjljMDllYTk3ZWVhNzg1MGY3MjdkNGMifQ=="/>
  <p:tag name="KSO_WPP_MARK_KEY" val="4d4b0676-ac95-4bd1-823b-49fd65b280e2"/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WPS 演示</Application>
  <PresentationFormat>宽屏</PresentationFormat>
  <Paragraphs>205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25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 M</vt:lpstr>
      <vt:lpstr>Segoe UI Light</vt:lpstr>
      <vt:lpstr>微软雅黑 Light</vt:lpstr>
      <vt:lpstr>纤黑体</vt:lpstr>
      <vt:lpstr>Helvetica Neue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1_正文设计方案</vt:lpstr>
      <vt:lpstr>Python函数基础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1031</cp:revision>
  <dcterms:created xsi:type="dcterms:W3CDTF">2020-03-31T02:23:00Z</dcterms:created>
  <dcterms:modified xsi:type="dcterms:W3CDTF">2025-04-16T12:26:08Z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E60140B0F68B4162A05F45C22E953B4D</vt:lpwstr>
  </property>
  <property fmtid="{D5CDD505-2E9C-101B-9397-08002B2CF9AE}" pid="3" name="KSOProductBuildVer">
    <vt:lpwstr>2052-12.1.0.20305</vt:lpwstr>
  </property>
</Properties>
</file>