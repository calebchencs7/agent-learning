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  <p:sldMasterId id="2147483658" r:id="rId5"/>
    <p:sldMasterId id="2147483660" r:id="rId6"/>
    <p:sldMasterId id="2147483663" r:id="rId7"/>
    <p:sldMasterId id="2147483680" r:id="rId8"/>
    <p:sldMasterId id="2147483682" r:id="rId9"/>
    <p:sldMasterId id="2147483686" r:id="rId10"/>
    <p:sldMasterId id="2147483703" r:id="rId11"/>
    <p:sldMasterId id="2147483720" r:id="rId12"/>
    <p:sldMasterId id="2147483724" r:id="rId13"/>
  </p:sldMasterIdLst>
  <p:notesMasterIdLst>
    <p:notesMasterId r:id="rId21"/>
  </p:notesMasterIdLst>
  <p:handoutMasterIdLst>
    <p:handoutMasterId r:id="rId63"/>
  </p:handoutMasterIdLst>
  <p:sldIdLst>
    <p:sldId id="989" r:id="rId14"/>
    <p:sldId id="990" r:id="rId15"/>
    <p:sldId id="1034" r:id="rId16"/>
    <p:sldId id="463" r:id="rId17"/>
    <p:sldId id="464" r:id="rId18"/>
    <p:sldId id="1035" r:id="rId19"/>
    <p:sldId id="467" r:id="rId20"/>
    <p:sldId id="951" r:id="rId22"/>
    <p:sldId id="1078" r:id="rId23"/>
    <p:sldId id="1079" r:id="rId24"/>
    <p:sldId id="461" r:id="rId25"/>
    <p:sldId id="953" r:id="rId26"/>
    <p:sldId id="955" r:id="rId27"/>
    <p:sldId id="1080" r:id="rId28"/>
    <p:sldId id="960" r:id="rId29"/>
    <p:sldId id="480" r:id="rId30"/>
    <p:sldId id="1081" r:id="rId31"/>
    <p:sldId id="1139" r:id="rId32"/>
    <p:sldId id="1086" r:id="rId33"/>
    <p:sldId id="1088" r:id="rId34"/>
    <p:sldId id="1101" r:id="rId35"/>
    <p:sldId id="488" r:id="rId36"/>
    <p:sldId id="1090" r:id="rId37"/>
    <p:sldId id="1089" r:id="rId38"/>
    <p:sldId id="965" r:id="rId39"/>
    <p:sldId id="1095" r:id="rId40"/>
    <p:sldId id="1094" r:id="rId41"/>
    <p:sldId id="1103" r:id="rId42"/>
    <p:sldId id="1104" r:id="rId43"/>
    <p:sldId id="1105" r:id="rId44"/>
    <p:sldId id="1186" r:id="rId45"/>
    <p:sldId id="1107" r:id="rId46"/>
    <p:sldId id="1109" r:id="rId47"/>
    <p:sldId id="1117" r:id="rId48"/>
    <p:sldId id="1116" r:id="rId49"/>
    <p:sldId id="1118" r:id="rId50"/>
    <p:sldId id="1119" r:id="rId51"/>
    <p:sldId id="969" r:id="rId52"/>
    <p:sldId id="1099" r:id="rId53"/>
    <p:sldId id="1098" r:id="rId54"/>
    <p:sldId id="1123" r:id="rId55"/>
    <p:sldId id="1124" r:id="rId56"/>
    <p:sldId id="496" r:id="rId57"/>
    <p:sldId id="1125" r:id="rId58"/>
    <p:sldId id="1126" r:id="rId59"/>
    <p:sldId id="1131" r:id="rId60"/>
    <p:sldId id="1134" r:id="rId61"/>
    <p:sldId id="264" r:id="rId62"/>
  </p:sldIdLst>
  <p:sldSz cx="12192000" cy="6858000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8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A26"/>
    <a:srgbClr val="AD2B26"/>
    <a:srgbClr val="49504F"/>
    <a:srgbClr val="B60206"/>
    <a:srgbClr val="B70006"/>
    <a:srgbClr val="FFFFE4"/>
    <a:srgbClr val="919191"/>
    <a:srgbClr val="333333"/>
    <a:srgbClr val="FFFFF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43" autoAdjust="0"/>
    <p:restoredTop sz="95344" autoAdjust="0"/>
  </p:normalViewPr>
  <p:slideViewPr>
    <p:cSldViewPr snapToGrid="0" showGuides="1">
      <p:cViewPr varScale="1">
        <p:scale>
          <a:sx n="104" d="100"/>
          <a:sy n="104" d="100"/>
        </p:scale>
        <p:origin x="232" y="280"/>
      </p:cViewPr>
      <p:guideLst>
        <p:guide orient="horz" pos="648"/>
        <p:guide pos="379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7" Type="http://schemas.openxmlformats.org/officeDocument/2006/relationships/tags" Target="tags/tag13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slide" Target="slides/slide48.xml"/><Relationship Id="rId61" Type="http://schemas.openxmlformats.org/officeDocument/2006/relationships/slide" Target="slides/slide47.xml"/><Relationship Id="rId60" Type="http://schemas.openxmlformats.org/officeDocument/2006/relationships/slide" Target="slides/slide46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5.xml"/><Relationship Id="rId58" Type="http://schemas.openxmlformats.org/officeDocument/2006/relationships/slide" Target="slides/slide44.xml"/><Relationship Id="rId57" Type="http://schemas.openxmlformats.org/officeDocument/2006/relationships/slide" Target="slides/slide43.xml"/><Relationship Id="rId56" Type="http://schemas.openxmlformats.org/officeDocument/2006/relationships/slide" Target="slides/slide42.xml"/><Relationship Id="rId55" Type="http://schemas.openxmlformats.org/officeDocument/2006/relationships/slide" Target="slides/slide41.xml"/><Relationship Id="rId54" Type="http://schemas.openxmlformats.org/officeDocument/2006/relationships/slide" Target="slides/slide40.xml"/><Relationship Id="rId53" Type="http://schemas.openxmlformats.org/officeDocument/2006/relationships/slide" Target="slides/slide39.xml"/><Relationship Id="rId52" Type="http://schemas.openxmlformats.org/officeDocument/2006/relationships/slide" Target="slides/slide38.xml"/><Relationship Id="rId51" Type="http://schemas.openxmlformats.org/officeDocument/2006/relationships/slide" Target="slides/slide37.xml"/><Relationship Id="rId50" Type="http://schemas.openxmlformats.org/officeDocument/2006/relationships/slide" Target="slides/slide3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5.xml"/><Relationship Id="rId48" Type="http://schemas.openxmlformats.org/officeDocument/2006/relationships/slide" Target="slides/slide34.xml"/><Relationship Id="rId47" Type="http://schemas.openxmlformats.org/officeDocument/2006/relationships/slide" Target="slides/slide33.xml"/><Relationship Id="rId46" Type="http://schemas.openxmlformats.org/officeDocument/2006/relationships/slide" Target="slides/slide32.xml"/><Relationship Id="rId45" Type="http://schemas.openxmlformats.org/officeDocument/2006/relationships/slide" Target="slides/slide31.xml"/><Relationship Id="rId44" Type="http://schemas.openxmlformats.org/officeDocument/2006/relationships/slide" Target="slides/slide30.xml"/><Relationship Id="rId43" Type="http://schemas.openxmlformats.org/officeDocument/2006/relationships/slide" Target="slides/slide29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40" Type="http://schemas.openxmlformats.org/officeDocument/2006/relationships/slide" Target="slides/slide2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8" Type="http://schemas.openxmlformats.org/officeDocument/2006/relationships/theme" Target="../theme/theme6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Masters/_rels/slideMaster8.xml.rels><?xml version="1.0" encoding="UTF-8" standalone="yes"?>
<Relationships xmlns="http://schemas.openxmlformats.org/package/2006/relationships"><Relationship Id="rId6" Type="http://schemas.openxmlformats.org/officeDocument/2006/relationships/theme" Target="../theme/theme8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8" Type="http://schemas.openxmlformats.org/officeDocument/2006/relationships/theme" Target="../theme/theme9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8" Type="http://schemas.openxmlformats.org/officeDocument/2006/relationships/theme" Target="../theme/theme10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47.xml"/></Relationships>
</file>

<file path=ppt/slideMasters/_rels/slideMaster1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1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/Relationships>
</file>

<file path=ppt/slideMasters/_rels/slideMaster12.xml.rels><?xml version="1.0" encoding="UTF-8" standalone="yes"?>
<Relationships xmlns="http://schemas.openxmlformats.org/package/2006/relationships"><Relationship Id="rId6" Type="http://schemas.openxmlformats.org/officeDocument/2006/relationships/theme" Target="../theme/theme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11.GIF"/><Relationship Id="rId3" Type="http://schemas.openxmlformats.org/officeDocument/2006/relationships/image" Target="../media/image10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14.png"/><Relationship Id="rId3" Type="http://schemas.openxmlformats.org/officeDocument/2006/relationships/tags" Target="../tags/tag3.xml"/><Relationship Id="rId2" Type="http://schemas.openxmlformats.org/officeDocument/2006/relationships/image" Target="../media/image13.png"/><Relationship Id="rId1" Type="http://schemas.openxmlformats.org/officeDocument/2006/relationships/tags" Target="../tags/tag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25.png"/><Relationship Id="rId2" Type="http://schemas.openxmlformats.org/officeDocument/2006/relationships/tags" Target="../tags/tag4.xml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6.png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8.png"/><Relationship Id="rId1" Type="http://schemas.openxmlformats.org/officeDocument/2006/relationships/tags" Target="../tags/tag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1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32.png"/><Relationship Id="rId4" Type="http://schemas.openxmlformats.org/officeDocument/2006/relationships/image" Target="../media/image14.png"/><Relationship Id="rId3" Type="http://schemas.openxmlformats.org/officeDocument/2006/relationships/tags" Target="../tags/tag8.xml"/><Relationship Id="rId2" Type="http://schemas.openxmlformats.org/officeDocument/2006/relationships/image" Target="../media/image13.png"/><Relationship Id="rId1" Type="http://schemas.openxmlformats.org/officeDocument/2006/relationships/tags" Target="../tags/tag7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5.xml"/><Relationship Id="rId3" Type="http://schemas.openxmlformats.org/officeDocument/2006/relationships/image" Target="../media/image25.png"/><Relationship Id="rId2" Type="http://schemas.openxmlformats.org/officeDocument/2006/relationships/tags" Target="../tags/tag9.xml"/><Relationship Id="rId1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3.png"/><Relationship Id="rId1" Type="http://schemas.openxmlformats.org/officeDocument/2006/relationships/tags" Target="../tags/tag10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0.png"/><Relationship Id="rId2" Type="http://schemas.openxmlformats.org/officeDocument/2006/relationships/image" Target="../media/image13.png"/><Relationship Id="rId1" Type="http://schemas.openxmlformats.org/officeDocument/2006/relationships/tags" Target="../tags/tag11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0.png"/><Relationship Id="rId2" Type="http://schemas.openxmlformats.org/officeDocument/2006/relationships/image" Target="../media/image13.png"/><Relationship Id="rId1" Type="http://schemas.openxmlformats.org/officeDocument/2006/relationships/tags" Target="../tags/tag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en-US" altLang="zh-CN" sz="4400" dirty="0">
                <a:solidFill>
                  <a:schemeClr val="accent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P</a:t>
            </a:r>
            <a:r>
              <a:rPr lang="en-US" altLang="zh-CN" sz="4400" dirty="0">
                <a:solidFill>
                  <a:schemeClr val="accent3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y</a:t>
            </a:r>
            <a:r>
              <a:rPr lang="en-US" altLang="zh-CN" sz="4400" dirty="0">
                <a:solidFill>
                  <a:schemeClr val="accent4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t</a:t>
            </a:r>
            <a:r>
              <a:rPr lang="en-US" altLang="zh-CN" sz="4400" dirty="0">
                <a:solidFill>
                  <a:schemeClr val="accent5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h</a:t>
            </a:r>
            <a:r>
              <a:rPr lang="en-US" altLang="zh-CN" sz="4400" dirty="0">
                <a:solidFill>
                  <a:schemeClr val="accent6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o</a:t>
            </a:r>
            <a:r>
              <a:rPr lang="en-US" altLang="zh-CN" sz="4400" dirty="0">
                <a:solidFill>
                  <a:srgbClr val="92D050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n</a:t>
            </a:r>
            <a:r>
              <a:rPr lang="zh-CN" altLang="en-US" sz="4400" dirty="0">
                <a:solidFill>
                  <a:srgbClr val="262626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循环</a:t>
            </a:r>
            <a:r>
              <a:rPr lang="zh-CN" altLang="en-US" sz="4400" dirty="0">
                <a:solidFill>
                  <a:srgbClr val="262626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语句</a:t>
            </a:r>
            <a:endParaRPr lang="zh-CN" altLang="en-US" sz="4400" dirty="0">
              <a:solidFill>
                <a:srgbClr val="262626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前言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循环普遍存在于日常生活中，同样，在程序中，循环功能也是至关重要的基础功能。</a:t>
            </a:r>
            <a:endParaRPr lang="zh-CN" altLang="en-US"/>
          </a:p>
        </p:txBody>
      </p:sp>
      <p:pic>
        <p:nvPicPr>
          <p:cNvPr id="5" name="图片 4" descr="01 (11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6800" y="5653405"/>
            <a:ext cx="981710" cy="981710"/>
          </a:xfrm>
          <a:prstGeom prst="rect">
            <a:avLst/>
          </a:prstGeom>
        </p:spPr>
      </p:pic>
      <p:sp>
        <p:nvSpPr>
          <p:cNvPr id="8" name="菱形 7"/>
          <p:cNvSpPr/>
          <p:nvPr/>
        </p:nvSpPr>
        <p:spPr>
          <a:xfrm>
            <a:off x="5587365" y="3748405"/>
            <a:ext cx="945515" cy="945515"/>
          </a:xfrm>
          <a:prstGeom prst="diamon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r>
              <a:rPr lang="zh-CN" altLang="en-US"/>
              <a:t>条件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259580" y="4044950"/>
            <a:ext cx="713105" cy="35242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是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703570" y="5070475"/>
            <a:ext cx="713105" cy="35242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否</a:t>
            </a:r>
            <a:endParaRPr lang="zh-CN" altLang="en-US"/>
          </a:p>
        </p:txBody>
      </p:sp>
      <p:cxnSp>
        <p:nvCxnSpPr>
          <p:cNvPr id="11" name="直接箭头连接符 10"/>
          <p:cNvCxnSpPr>
            <a:stCxn id="8" idx="1"/>
            <a:endCxn id="9" idx="3"/>
          </p:cNvCxnSpPr>
          <p:nvPr/>
        </p:nvCxnSpPr>
        <p:spPr>
          <a:xfrm flipH="1">
            <a:off x="4972685" y="4221480"/>
            <a:ext cx="6146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5703570" y="3019425"/>
            <a:ext cx="713105" cy="35242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操作</a:t>
            </a:r>
            <a:endParaRPr lang="zh-CN" altLang="en-US"/>
          </a:p>
        </p:txBody>
      </p:sp>
      <p:cxnSp>
        <p:nvCxnSpPr>
          <p:cNvPr id="13" name="曲线连接符 12"/>
          <p:cNvCxnSpPr>
            <a:stCxn id="9" idx="1"/>
            <a:endCxn id="12" idx="1"/>
          </p:cNvCxnSpPr>
          <p:nvPr/>
        </p:nvCxnSpPr>
        <p:spPr>
          <a:xfrm rot="10800000" flipH="1">
            <a:off x="4259580" y="3195320"/>
            <a:ext cx="1443990" cy="1025525"/>
          </a:xfrm>
          <a:prstGeom prst="curvedConnector3">
            <a:avLst>
              <a:gd name="adj1" fmla="val -3707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曲线连接符 13"/>
          <p:cNvCxnSpPr>
            <a:stCxn id="12" idx="3"/>
            <a:endCxn id="8" idx="3"/>
          </p:cNvCxnSpPr>
          <p:nvPr/>
        </p:nvCxnSpPr>
        <p:spPr>
          <a:xfrm>
            <a:off x="6416675" y="3195955"/>
            <a:ext cx="116205" cy="1025525"/>
          </a:xfrm>
          <a:prstGeom prst="curvedConnector3">
            <a:avLst>
              <a:gd name="adj1" fmla="val 164918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2"/>
            <a:endCxn id="10" idx="0"/>
          </p:cNvCxnSpPr>
          <p:nvPr/>
        </p:nvCxnSpPr>
        <p:spPr>
          <a:xfrm>
            <a:off x="6060440" y="4693920"/>
            <a:ext cx="0" cy="3765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5703570" y="5853430"/>
            <a:ext cx="713105" cy="352425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结束</a:t>
            </a:r>
            <a:endParaRPr lang="zh-CN" altLang="en-US"/>
          </a:p>
        </p:txBody>
      </p:sp>
      <p:cxnSp>
        <p:nvCxnSpPr>
          <p:cNvPr id="17" name="直接箭头连接符 16"/>
          <p:cNvCxnSpPr>
            <a:stCxn id="10" idx="2"/>
            <a:endCxn id="16" idx="0"/>
          </p:cNvCxnSpPr>
          <p:nvPr/>
        </p:nvCxnSpPr>
        <p:spPr>
          <a:xfrm>
            <a:off x="6060440" y="5422900"/>
            <a:ext cx="0" cy="430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873365" y="3446780"/>
            <a:ext cx="90932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循环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为什么学习循环</a:t>
            </a:r>
            <a:r>
              <a:t>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循环在程序中同判断一样，也是广泛存在的，是非常多功能实现的</a:t>
            </a:r>
            <a:r>
              <a:rPr lang="zh-CN" altLang="en-US"/>
              <a:t>基础：</a:t>
            </a:r>
            <a:endParaRPr lang="zh-CN" altLang="en-US"/>
          </a:p>
        </p:txBody>
      </p:sp>
      <p:pic>
        <p:nvPicPr>
          <p:cNvPr id="4" name="循环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959225" y="2653665"/>
            <a:ext cx="3496945" cy="25088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25495" y="5053330"/>
            <a:ext cx="3316605" cy="460375"/>
          </a:xfrm>
          <a:prstGeom prst="rect">
            <a:avLst/>
          </a:prstGeom>
          <a:noFill/>
        </p:spPr>
        <p:txBody>
          <a:bodyPr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2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BiliBili</a:t>
            </a:r>
            <a:r>
              <a:rPr lang="zh-CN" altLang="en-US" sz="2400" b="1" dirty="0">
                <a:solidFill>
                  <a:schemeClr val="tx2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循环轮播图</a:t>
            </a:r>
            <a:endParaRPr lang="zh-CN" altLang="en-US" sz="2400" b="1" dirty="0">
              <a:solidFill>
                <a:schemeClr val="tx2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136255" y="2222500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循环广告</a:t>
            </a:r>
            <a:r>
              <a:rPr lang="zh-CN" altLang="en-US"/>
              <a:t>牌</a:t>
            </a:r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136255" y="289496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视频</a:t>
            </a:r>
            <a:r>
              <a:rPr lang="zh-CN" altLang="en-US"/>
              <a:t>轮播</a:t>
            </a:r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9879330" y="289496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音乐</a:t>
            </a:r>
            <a:r>
              <a:rPr lang="zh-CN" altLang="en-US"/>
              <a:t>轮播</a:t>
            </a:r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879330" y="222186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批量</a:t>
            </a:r>
            <a:r>
              <a:rPr lang="zh-CN" altLang="en-US"/>
              <a:t>修图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8136255" y="358330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图片</a:t>
            </a:r>
            <a:r>
              <a:rPr lang="zh-CN" altLang="en-US"/>
              <a:t>轮播</a:t>
            </a:r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9879330" y="358203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大喇叭</a:t>
            </a:r>
            <a:r>
              <a:rPr lang="zh-CN" altLang="en-US"/>
              <a:t>喊话</a:t>
            </a:r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8136255" y="427164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动态</a:t>
            </a:r>
            <a:r>
              <a:rPr lang="zh-CN" altLang="en-US"/>
              <a:t>壁纸</a:t>
            </a:r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9879330" y="426910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视频</a:t>
            </a:r>
            <a:r>
              <a:rPr lang="zh-CN" altLang="en-US"/>
              <a:t>监控</a:t>
            </a:r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8136255" y="4876165"/>
            <a:ext cx="322008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。。。。。。</a:t>
            </a: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8136255" y="5410200"/>
            <a:ext cx="3237230" cy="82994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循环</a:t>
            </a: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同样是程序最基础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最核心的逻辑功能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6" name="图片 5" descr="e752f6befe754ac7af59ceb61b729ad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60" y="3021330"/>
            <a:ext cx="2286000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259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>
                <p:cTn id="7" repeatCount="indefinite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r>
              <a:rPr lang="en-US" altLang="zh-CN" dirty="0">
                <a:solidFill>
                  <a:srgbClr val="AD2A26"/>
                </a:solidFill>
              </a:rPr>
              <a:t>while</a:t>
            </a:r>
            <a:r>
              <a:rPr lang="zh-CN" altLang="en-US" dirty="0">
                <a:solidFill>
                  <a:srgbClr val="AD2A26"/>
                </a:solidFill>
              </a:rPr>
              <a:t>循环的基础语法</a:t>
            </a:r>
            <a:endParaRPr lang="en-US" altLang="zh-CN" dirty="0">
              <a:solidFill>
                <a:srgbClr val="AD2A26"/>
              </a:solidFill>
            </a:endParaRPr>
          </a:p>
          <a:p>
            <a:r>
              <a:rPr lang="en-US" altLang="zh-CN" dirty="0"/>
              <a:t>while</a:t>
            </a:r>
            <a:r>
              <a:rPr lang="zh-CN" altLang="en-US" dirty="0"/>
              <a:t>循环的基础案例</a:t>
            </a:r>
            <a:endParaRPr lang="en-US" altLang="zh-CN" dirty="0"/>
          </a:p>
          <a:p>
            <a:r>
              <a:rPr lang="en-US" altLang="zh-CN" dirty="0"/>
              <a:t>while</a:t>
            </a:r>
            <a:r>
              <a:rPr lang="zh-CN" altLang="en-US" dirty="0"/>
              <a:t>循环的嵌套</a:t>
            </a:r>
            <a:r>
              <a:rPr lang="zh-CN" altLang="en-US" dirty="0"/>
              <a:t>应用</a:t>
            </a:r>
            <a:endParaRPr lang="zh-CN" altLang="en-US" dirty="0"/>
          </a:p>
          <a:p>
            <a:r>
              <a:rPr lang="en-US" altLang="zh-CN" dirty="0"/>
              <a:t>for</a:t>
            </a:r>
            <a:r>
              <a:rPr lang="zh-CN" altLang="en-US" dirty="0"/>
              <a:t>循环的基础语法</a:t>
            </a:r>
            <a:endParaRPr lang="zh-CN" altLang="en-US" dirty="0"/>
          </a:p>
          <a:p>
            <a:r>
              <a:rPr lang="en-US" altLang="zh-CN" dirty="0"/>
              <a:t>for</a:t>
            </a:r>
            <a:r>
              <a:rPr lang="zh-CN" altLang="en-US" dirty="0"/>
              <a:t>循环的嵌套应用</a:t>
            </a:r>
            <a:endParaRPr lang="en-US" altLang="zh-CN" dirty="0"/>
          </a:p>
          <a:p>
            <a:r>
              <a:rPr lang="zh-CN" altLang="en-US" dirty="0"/>
              <a:t>循环中断 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break</a:t>
            </a:r>
            <a:r>
              <a:rPr lang="zh-CN" altLang="en-US" dirty="0"/>
              <a:t>和</a:t>
            </a:r>
            <a:r>
              <a:rPr lang="en-US" altLang="zh-CN" dirty="0"/>
              <a:t>continue</a:t>
            </a:r>
            <a:endParaRPr lang="zh-CN" altLang="en-US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150368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掌握使用</a:t>
            </a:r>
            <a:r>
              <a:rPr lang="en-US" altLang="zh-CN" dirty="0">
                <a:solidFill>
                  <a:schemeClr val="tx1"/>
                </a:solidFill>
              </a:rPr>
              <a:t>while</a:t>
            </a:r>
            <a:r>
              <a:rPr lang="zh-CN" altLang="en-US" dirty="0">
                <a:solidFill>
                  <a:schemeClr val="tx1"/>
                </a:solidFill>
              </a:rPr>
              <a:t>循环的基础</a:t>
            </a:r>
            <a:r>
              <a:rPr lang="zh-CN" altLang="en-US" dirty="0">
                <a:solidFill>
                  <a:schemeClr val="tx1"/>
                </a:solidFill>
              </a:rPr>
              <a:t>应用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while</a:t>
            </a:r>
            <a:r>
              <a:t>循环</a:t>
            </a:r>
            <a:r>
              <a:t>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生活中的循环</a:t>
            </a:r>
            <a:r>
              <a:rPr lang="en-US" altLang="zh-CN"/>
              <a:t>                                                                           </a:t>
            </a:r>
            <a:r>
              <a:rPr lang="zh-CN" altLang="en-US"/>
              <a:t>程序中的</a:t>
            </a:r>
            <a:r>
              <a:rPr lang="zh-CN" altLang="en-US"/>
              <a:t>循环</a:t>
            </a:r>
            <a:endParaRPr lang="zh-CN" altLang="en-US"/>
          </a:p>
        </p:txBody>
      </p:sp>
      <p:pic>
        <p:nvPicPr>
          <p:cNvPr id="4" name="图片 3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6110" y="4071620"/>
            <a:ext cx="1414145" cy="1414145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>
          <a:xfrm>
            <a:off x="2537460" y="4603115"/>
            <a:ext cx="2452370" cy="617855"/>
          </a:xfrm>
          <a:prstGeom prst="wedgeRoundRectCallout">
            <a:avLst>
              <a:gd name="adj1" fmla="val -80838"/>
              <a:gd name="adj2" fmla="val -37461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每天</a:t>
            </a: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都去向小美表白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直到</a:t>
            </a: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成功为止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10" name="图片 9" descr="01 (13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4420" y="5332730"/>
            <a:ext cx="1395730" cy="139573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65" y="2145665"/>
            <a:ext cx="2934335" cy="19259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124" y="2145674"/>
            <a:ext cx="3810000" cy="2273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2" name="文本框 41"/>
          <p:cNvSpPr txBox="1"/>
          <p:nvPr/>
        </p:nvSpPr>
        <p:spPr>
          <a:xfrm>
            <a:off x="6707823" y="4497070"/>
            <a:ext cx="2320925" cy="82994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只要条件满足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会无限循环执行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dirty="0"/>
              <a:t>循环语句</a:t>
            </a:r>
            <a:endParaRPr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710881" y="1475432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小美心软，只要表白</a:t>
            </a:r>
            <a:r>
              <a:rPr dirty="0"/>
              <a:t>100</a:t>
            </a:r>
            <a:r>
              <a:rPr lang="zh-CN" altLang="en-US" dirty="0"/>
              <a:t>次，就会成功</a:t>
            </a:r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806241" y="2045994"/>
            <a:ext cx="4435819" cy="156845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print("</a:t>
            </a:r>
            <a:r>
              <a:rPr lang="zh-CN" altLang="en-US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小美，我喜欢你</a:t>
            </a:r>
            <a:r>
              <a:rPr lang="en-US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")</a:t>
            </a:r>
            <a:br>
              <a:rPr lang="en-US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print("</a:t>
            </a:r>
            <a:r>
              <a:rPr lang="zh-CN" altLang="en-US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小美，我喜欢你</a:t>
            </a:r>
            <a:r>
              <a:rPr lang="en-US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")</a:t>
            </a:r>
            <a:br>
              <a:rPr lang="en-US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print("</a:t>
            </a:r>
            <a:r>
              <a:rPr lang="zh-CN" altLang="en-US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小美，我喜欢你</a:t>
            </a:r>
            <a:r>
              <a:rPr lang="en-US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")</a:t>
            </a:r>
            <a:br>
              <a:rPr lang="en-US" altLang="zh-CN" sz="1600" dirty="0"/>
            </a:b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...(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还有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97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次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)...</a:t>
            </a:r>
            <a:endParaRPr lang="en-US" altLang="zh-CN" sz="1600" dirty="0">
              <a:solidFill>
                <a:srgbClr val="080808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3" name="图片 2" descr="01 (10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3030" y="3569335"/>
            <a:ext cx="2602230" cy="260223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3895408" y="4531995"/>
            <a:ext cx="488315" cy="46037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累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5" name="图片 4" descr="01 (11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015" y="5609590"/>
            <a:ext cx="1022985" cy="1022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程序中的</a:t>
            </a:r>
            <a:r>
              <a:rPr lang="en-US" altLang="zh-CN" dirty="0"/>
              <a:t>while</a:t>
            </a:r>
            <a:r>
              <a:rPr lang="zh-CN" altLang="en-US" dirty="0"/>
              <a:t>循环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710881" y="1475432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使用</a:t>
            </a:r>
            <a:r>
              <a:rPr lang="zh-CN" altLang="en-US" dirty="0">
                <a:solidFill>
                  <a:srgbClr val="AD2A26"/>
                </a:solidFill>
              </a:rPr>
              <a:t>循环语句简单</a:t>
            </a:r>
            <a:r>
              <a:rPr lang="zh-CN" altLang="en-US" dirty="0"/>
              <a:t>搞定</a:t>
            </a:r>
            <a:endParaRPr lang="zh-CN" altLang="en-US" dirty="0"/>
          </a:p>
        </p:txBody>
      </p:sp>
      <p:sp>
        <p:nvSpPr>
          <p:cNvPr id="25" name="TextBox 3"/>
          <p:cNvSpPr txBox="1"/>
          <p:nvPr/>
        </p:nvSpPr>
        <p:spPr>
          <a:xfrm>
            <a:off x="803910" y="2063115"/>
            <a:ext cx="3809365" cy="156845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en-GB" altLang="zh-CN" sz="1600" dirty="0" err="1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= 0</a:t>
            </a:r>
            <a:b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while </a:t>
            </a:r>
            <a:r>
              <a:rPr lang="en-GB" altLang="zh-CN" sz="1600" dirty="0" err="1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&lt; 100:</a:t>
            </a:r>
            <a:b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print("</a:t>
            </a:r>
            <a:r>
              <a:rPr lang="zh-CN" altLang="en-US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小美，我喜欢你</a:t>
            </a:r>
            <a:r>
              <a:rPr lang="en-US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")</a:t>
            </a:r>
            <a:br>
              <a:rPr lang="en-US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lang="en-US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GB" altLang="zh-CN" sz="1600" dirty="0" err="1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+= 1</a:t>
            </a:r>
            <a:endParaRPr lang="en-US" altLang="zh-CN" sz="1600" dirty="0">
              <a:solidFill>
                <a:srgbClr val="080808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3" name="图片 2" descr="01 (11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8320" y="1607820"/>
            <a:ext cx="3955415" cy="39554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while</a:t>
            </a:r>
            <a:r>
              <a:t>循环注意点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03275" y="3598545"/>
            <a:ext cx="10699115" cy="1855470"/>
          </a:xfrm>
        </p:spPr>
        <p:txBody>
          <a:bodyPr/>
          <a:p>
            <a:r>
              <a:rPr lang="en-US" altLang="zh-CN"/>
              <a:t>1. while</a:t>
            </a:r>
            <a:r>
              <a:rPr lang="zh-CN" altLang="en-US"/>
              <a:t>的条件需得到布尔类型，</a:t>
            </a:r>
            <a:r>
              <a:rPr lang="en-US" altLang="zh-CN"/>
              <a:t>True</a:t>
            </a:r>
            <a:r>
              <a:rPr lang="zh-CN" altLang="en-US"/>
              <a:t>表示继续循环，</a:t>
            </a:r>
            <a:r>
              <a:rPr lang="en-US" altLang="zh-CN"/>
              <a:t>False</a:t>
            </a:r>
            <a:r>
              <a:rPr lang="zh-CN" altLang="en-US"/>
              <a:t>表示结束循环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需要设置循环终止的条件，如</a:t>
            </a:r>
            <a:r>
              <a:rPr lang="en-US" altLang="zh-CN"/>
              <a:t>i += 1</a:t>
            </a:r>
            <a:r>
              <a:rPr lang="zh-CN" altLang="en-US"/>
              <a:t>配合</a:t>
            </a:r>
            <a:r>
              <a:rPr lang="en-US" altLang="zh-CN"/>
              <a:t> i &lt; 100</a:t>
            </a:r>
            <a:r>
              <a:rPr lang="zh-CN" altLang="en-US"/>
              <a:t>，就能确保</a:t>
            </a:r>
            <a:r>
              <a:rPr lang="en-US" altLang="zh-CN"/>
              <a:t>100</a:t>
            </a:r>
            <a:r>
              <a:rPr lang="zh-CN" altLang="en-US"/>
              <a:t>次后停止，否则将无限循环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空格缩进和</a:t>
            </a:r>
            <a:r>
              <a:rPr lang="en-US" altLang="zh-CN"/>
              <a:t>if</a:t>
            </a:r>
            <a:r>
              <a:rPr lang="zh-CN" altLang="en-US"/>
              <a:t>判断一样，都需要设置</a:t>
            </a:r>
            <a:endParaRPr lang="zh-CN" altLang="en-US"/>
          </a:p>
        </p:txBody>
      </p:sp>
      <p:sp>
        <p:nvSpPr>
          <p:cNvPr id="25" name="TextBox 3"/>
          <p:cNvSpPr txBox="1"/>
          <p:nvPr/>
        </p:nvSpPr>
        <p:spPr>
          <a:xfrm>
            <a:off x="803275" y="1543685"/>
            <a:ext cx="3809365" cy="156845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en-GB" altLang="zh-CN" sz="1600" dirty="0" err="1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= 0</a:t>
            </a:r>
            <a:b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while </a:t>
            </a:r>
            <a:r>
              <a:rPr lang="en-GB" altLang="zh-CN" sz="1600" dirty="0" err="1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&lt; 100:</a:t>
            </a:r>
            <a:b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print("</a:t>
            </a:r>
            <a:r>
              <a:rPr lang="zh-CN" altLang="en-US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小美，我喜欢你</a:t>
            </a:r>
            <a:r>
              <a:rPr lang="en-US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")</a:t>
            </a:r>
            <a:br>
              <a:rPr lang="en-US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lang="en-US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GB" altLang="zh-CN" sz="1600" dirty="0" err="1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+= 1</a:t>
            </a:r>
            <a:endParaRPr lang="en-US" altLang="zh-CN" sz="1600" dirty="0">
              <a:solidFill>
                <a:srgbClr val="080808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4" name="图片 3" descr="01 (10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0750" y="5512435"/>
            <a:ext cx="1111250" cy="1111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169660" cy="4511040"/>
          </a:xfrm>
        </p:spPr>
        <p:txBody>
          <a:bodyPr/>
          <a:p>
            <a:r>
              <a:rPr lang="en-US" altLang="zh-CN"/>
              <a:t>while</a:t>
            </a:r>
            <a:r>
              <a:rPr lang="zh-CN" altLang="en-US"/>
              <a:t>循环的语法格式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while</a:t>
            </a:r>
            <a:r>
              <a:rPr lang="zh-CN" altLang="en-US"/>
              <a:t>循环的注意事项</a:t>
            </a:r>
            <a:endParaRPr lang="zh-CN" altLang="en-US"/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条件需提供布尔类型结果，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True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继续，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False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停止</a:t>
            </a:r>
            <a:endParaRPr lang="zh-CN" altLang="en-US">
              <a:solidFill>
                <a:schemeClr val="accent2">
                  <a:lumMod val="75000"/>
                </a:schemeClr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空格缩进不能忘</a:t>
            </a:r>
            <a:endParaRPr lang="zh-CN" altLang="en-US">
              <a:solidFill>
                <a:schemeClr val="accent2">
                  <a:lumMod val="75000"/>
                </a:schemeClr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请规划好循环终止条件，否则将无限循环</a:t>
            </a:r>
            <a:endParaRPr lang="zh-CN" altLang="en-US">
              <a:solidFill>
                <a:schemeClr val="accent2">
                  <a:lumMod val="75000"/>
                </a:schemeClr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4980" y="2364105"/>
            <a:ext cx="2916555" cy="17487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练习案例：求</a:t>
            </a:r>
            <a:r>
              <a:rPr lang="en-US" altLang="zh-CN" dirty="0"/>
              <a:t>1-100</a:t>
            </a:r>
            <a:r>
              <a:rPr dirty="0"/>
              <a:t>的和</a:t>
            </a:r>
            <a:endParaRPr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需求：</a:t>
            </a:r>
            <a:r>
              <a:rPr 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通过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while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循环，计算从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累加到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100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的和</a:t>
            </a:r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endParaRPr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提示：</a:t>
            </a:r>
            <a:endParaRPr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终止条件不要忘记，设置为确保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while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循环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100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次</a:t>
            </a:r>
            <a:endParaRPr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endParaRPr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确保累加的数字，从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开始，到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100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结束</a:t>
            </a:r>
            <a:endParaRPr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2" name="图片 1" descr="01 (11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9275" y="4069080"/>
            <a:ext cx="2052320" cy="2052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dirty="0">
                <a:sym typeface="+mn-ea"/>
              </a:rPr>
              <a:t>while循环的基础语法</a:t>
            </a:r>
            <a:endParaRPr lang="zh-CN" altLang="en-US" dirty="0"/>
          </a:p>
          <a:p>
            <a:pPr algn="l"/>
            <a:r>
              <a:rPr lang="zh-CN" altLang="en-US" dirty="0">
                <a:solidFill>
                  <a:srgbClr val="AD2A26"/>
                </a:solidFill>
                <a:sym typeface="+mn-ea"/>
              </a:rPr>
              <a:t>while循环的基础案例</a:t>
            </a:r>
            <a:endParaRPr lang="zh-CN" altLang="en-US" dirty="0">
              <a:solidFill>
                <a:srgbClr val="AD2A26"/>
              </a:solidFill>
            </a:endParaRPr>
          </a:p>
          <a:p>
            <a:r>
              <a:rPr lang="en-US" altLang="zh-CN" dirty="0">
                <a:sym typeface="+mn-ea"/>
              </a:rPr>
              <a:t>while</a:t>
            </a:r>
            <a:r>
              <a:rPr lang="zh-CN" altLang="en-US" dirty="0">
                <a:sym typeface="+mn-ea"/>
              </a:rPr>
              <a:t>循环的嵌套应用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for</a:t>
            </a:r>
            <a:r>
              <a:rPr lang="zh-CN" altLang="en-US" dirty="0">
                <a:sym typeface="+mn-ea"/>
              </a:rPr>
              <a:t>循环的基础语法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for</a:t>
            </a:r>
            <a:r>
              <a:rPr lang="zh-CN" altLang="en-US" dirty="0">
                <a:sym typeface="+mn-ea"/>
              </a:rPr>
              <a:t>循环的嵌套应用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循环中断 </a:t>
            </a:r>
            <a:r>
              <a:rPr lang="en-US" altLang="zh-CN" dirty="0">
                <a:sym typeface="+mn-ea"/>
              </a:rPr>
              <a:t>: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break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continue</a:t>
            </a:r>
            <a:endParaRPr lang="en-US" altLang="zh-CN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208026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dirty="0">
                <a:solidFill>
                  <a:schemeClr val="tx1"/>
                </a:solidFill>
              </a:rPr>
              <a:t>能够使用</a:t>
            </a:r>
            <a:r>
              <a:rPr lang="en-US" altLang="zh-CN" dirty="0">
                <a:solidFill>
                  <a:schemeClr val="tx1"/>
                </a:solidFill>
              </a:rPr>
              <a:t>while</a:t>
            </a:r>
            <a:r>
              <a:rPr lang="zh-CN" altLang="en-US" dirty="0">
                <a:solidFill>
                  <a:schemeClr val="tx1"/>
                </a:solidFill>
              </a:rPr>
              <a:t>循环，完成猜数字案例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设置一个范围</a:t>
            </a:r>
            <a:r>
              <a:t>1-100</a:t>
            </a:r>
            <a:r>
              <a:rPr lang="zh-CN" altLang="en-US"/>
              <a:t>的随机整数变量，通过</a:t>
            </a:r>
            <a:r>
              <a:t>while</a:t>
            </a:r>
            <a:r>
              <a:rPr lang="zh-CN" altLang="en-US"/>
              <a:t>循环，配合</a:t>
            </a:r>
            <a:r>
              <a:t>input</a:t>
            </a:r>
            <a:r>
              <a:rPr lang="zh-CN" altLang="en-US"/>
              <a:t>语句，判断输入的数字是否等于随机数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无限次机会，直到猜中为止</a:t>
            </a:r>
            <a:endParaRPr lang="zh-CN" altLang="en-US"/>
          </a:p>
          <a:p>
            <a:r>
              <a:rPr lang="zh-CN" altLang="en-US"/>
              <a:t>每一次猜不中，会提示大了或小了</a:t>
            </a:r>
            <a:endParaRPr lang="zh-CN" altLang="en-US"/>
          </a:p>
          <a:p>
            <a:r>
              <a:rPr lang="zh-CN" altLang="en-US"/>
              <a:t>猜完数字后，提示猜了几次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提示：</a:t>
            </a:r>
            <a:endParaRPr lang="zh-CN" altLang="en-US"/>
          </a:p>
          <a:p>
            <a:r>
              <a:rPr lang="zh-CN" altLang="en-US"/>
              <a:t>无限次机会，终止条件不适合用数字累加来判断</a:t>
            </a:r>
            <a:endParaRPr lang="zh-CN" altLang="en-US"/>
          </a:p>
          <a:p>
            <a:pPr lvl="1"/>
            <a:r>
              <a:rPr lang="zh-CN" altLang="en-US" sz="1400"/>
              <a:t>可以考虑布尔类型本身（</a:t>
            </a:r>
            <a:r>
              <a:rPr sz="1400"/>
              <a:t>True or False</a:t>
            </a:r>
            <a:r>
              <a:rPr lang="zh-CN" altLang="en-US" sz="1400"/>
              <a:t>）</a:t>
            </a:r>
            <a:endParaRPr lang="zh-CN" altLang="en-US"/>
          </a:p>
          <a:p>
            <a:r>
              <a:rPr lang="zh-CN" altLang="en-US"/>
              <a:t>需要提示几次猜中，就需要提供数字累加功能</a:t>
            </a:r>
            <a:endParaRPr lang="zh-CN" altLang="en-US"/>
          </a:p>
          <a:p>
            <a:r>
              <a:rPr lang="zh-CN" altLang="en-US"/>
              <a:t>随机数可以使用：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猜数字案例</a:t>
            </a:r>
            <a:endParaRPr lang="zh-CN" altLang="en-US"/>
          </a:p>
        </p:txBody>
      </p:sp>
      <p:sp>
        <p:nvSpPr>
          <p:cNvPr id="8" name="菱形 7"/>
          <p:cNvSpPr/>
          <p:nvPr/>
        </p:nvSpPr>
        <p:spPr>
          <a:xfrm>
            <a:off x="7721600" y="3660775"/>
            <a:ext cx="945515" cy="945515"/>
          </a:xfrm>
          <a:prstGeom prst="diamon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r>
              <a:rPr lang="zh-CN" altLang="en-US"/>
              <a:t>条件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393815" y="3957320"/>
            <a:ext cx="713105" cy="35242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未猜中</a:t>
            </a:r>
            <a:endParaRPr lang="zh-CN" altLang="en-US" sz="1200"/>
          </a:p>
        </p:txBody>
      </p:sp>
      <p:sp>
        <p:nvSpPr>
          <p:cNvPr id="10" name="圆角矩形 9"/>
          <p:cNvSpPr/>
          <p:nvPr/>
        </p:nvSpPr>
        <p:spPr>
          <a:xfrm>
            <a:off x="7837805" y="4884420"/>
            <a:ext cx="713105" cy="5969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猜中数字</a:t>
            </a:r>
            <a:endParaRPr lang="zh-CN" altLang="en-US"/>
          </a:p>
        </p:txBody>
      </p:sp>
      <p:cxnSp>
        <p:nvCxnSpPr>
          <p:cNvPr id="11" name="直接箭头连接符 10"/>
          <p:cNvCxnSpPr>
            <a:stCxn id="8" idx="1"/>
            <a:endCxn id="9" idx="3"/>
          </p:cNvCxnSpPr>
          <p:nvPr/>
        </p:nvCxnSpPr>
        <p:spPr>
          <a:xfrm flipH="1">
            <a:off x="7106920" y="4133850"/>
            <a:ext cx="6146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7837805" y="2931795"/>
            <a:ext cx="713105" cy="35242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继续猜</a:t>
            </a:r>
            <a:endParaRPr lang="zh-CN" altLang="en-US" sz="1200"/>
          </a:p>
        </p:txBody>
      </p:sp>
      <p:cxnSp>
        <p:nvCxnSpPr>
          <p:cNvPr id="13" name="曲线连接符 12"/>
          <p:cNvCxnSpPr>
            <a:stCxn id="9" idx="1"/>
            <a:endCxn id="12" idx="1"/>
          </p:cNvCxnSpPr>
          <p:nvPr/>
        </p:nvCxnSpPr>
        <p:spPr>
          <a:xfrm rot="10800000" flipH="1">
            <a:off x="6393815" y="3108325"/>
            <a:ext cx="1443990" cy="1025525"/>
          </a:xfrm>
          <a:prstGeom prst="curvedConnector3">
            <a:avLst>
              <a:gd name="adj1" fmla="val -1649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曲线连接符 13"/>
          <p:cNvCxnSpPr>
            <a:stCxn id="12" idx="3"/>
            <a:endCxn id="8" idx="3"/>
          </p:cNvCxnSpPr>
          <p:nvPr/>
        </p:nvCxnSpPr>
        <p:spPr>
          <a:xfrm>
            <a:off x="8550910" y="3108325"/>
            <a:ext cx="116205" cy="1025525"/>
          </a:xfrm>
          <a:prstGeom prst="curvedConnector3">
            <a:avLst>
              <a:gd name="adj1" fmla="val 163278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2"/>
            <a:endCxn id="10" idx="0"/>
          </p:cNvCxnSpPr>
          <p:nvPr/>
        </p:nvCxnSpPr>
        <p:spPr>
          <a:xfrm>
            <a:off x="8194675" y="4606290"/>
            <a:ext cx="0" cy="2781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7837805" y="5765800"/>
            <a:ext cx="713105" cy="352425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结束</a:t>
            </a:r>
            <a:endParaRPr lang="zh-CN" altLang="en-US"/>
          </a:p>
        </p:txBody>
      </p:sp>
      <p:cxnSp>
        <p:nvCxnSpPr>
          <p:cNvPr id="17" name="直接箭头连接符 16"/>
          <p:cNvCxnSpPr>
            <a:stCxn id="10" idx="2"/>
            <a:endCxn id="16" idx="0"/>
          </p:cNvCxnSpPr>
          <p:nvPr/>
        </p:nvCxnSpPr>
        <p:spPr>
          <a:xfrm>
            <a:off x="8194675" y="5481320"/>
            <a:ext cx="0" cy="2844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0007600" y="3359150"/>
            <a:ext cx="90932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循环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5" name="图片 4" descr="01 (9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395" y="5337175"/>
            <a:ext cx="1365885" cy="13658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310" y="5865495"/>
            <a:ext cx="3743325" cy="6381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dirty="0">
                <a:sym typeface="+mn-ea"/>
              </a:rPr>
              <a:t>while循环的基础语法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while</a:t>
            </a:r>
            <a:r>
              <a:rPr lang="zh-CN" altLang="en-US" dirty="0">
                <a:sym typeface="+mn-ea"/>
              </a:rPr>
              <a:t>循环的基础案例</a:t>
            </a:r>
            <a:endParaRPr lang="en-US" altLang="zh-CN" dirty="0"/>
          </a:p>
          <a:p>
            <a:pPr algn="l"/>
            <a:r>
              <a:rPr lang="en-US" altLang="zh-CN" dirty="0">
                <a:solidFill>
                  <a:srgbClr val="AD2A26"/>
                </a:solidFill>
                <a:sym typeface="+mn-ea"/>
              </a:rPr>
              <a:t>while循环的嵌套应用</a:t>
            </a:r>
            <a:endParaRPr lang="en-US" altLang="zh-CN" dirty="0">
              <a:solidFill>
                <a:srgbClr val="AD2A26"/>
              </a:solidFill>
            </a:endParaRPr>
          </a:p>
          <a:p>
            <a:r>
              <a:rPr lang="en-US" altLang="zh-CN" dirty="0">
                <a:sym typeface="+mn-ea"/>
              </a:rPr>
              <a:t>for</a:t>
            </a:r>
            <a:r>
              <a:rPr lang="zh-CN" altLang="en-US" dirty="0">
                <a:sym typeface="+mn-ea"/>
              </a:rPr>
              <a:t>循环的基础语法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for</a:t>
            </a:r>
            <a:r>
              <a:rPr lang="zh-CN" altLang="en-US" dirty="0">
                <a:sym typeface="+mn-ea"/>
              </a:rPr>
              <a:t>循环的嵌套应用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循环中断 </a:t>
            </a:r>
            <a:r>
              <a:rPr lang="en-US" altLang="zh-CN" dirty="0">
                <a:sym typeface="+mn-ea"/>
              </a:rPr>
              <a:t>: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break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continue</a:t>
            </a:r>
            <a:endParaRPr lang="en-US" altLang="zh-CN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267462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掌握</a:t>
            </a:r>
            <a:r>
              <a:rPr lang="en-US" altLang="zh-CN" dirty="0">
                <a:solidFill>
                  <a:srgbClr val="C00000"/>
                </a:solidFill>
              </a:rPr>
              <a:t>while</a:t>
            </a:r>
            <a:r>
              <a:rPr lang="zh-CN" altLang="en-US" dirty="0">
                <a:solidFill>
                  <a:srgbClr val="C00000"/>
                </a:solidFill>
              </a:rPr>
              <a:t>嵌套循环基本格式</a:t>
            </a:r>
            <a:endParaRPr lang="en-US" altLang="zh-CN" dirty="0">
              <a:solidFill>
                <a:srgbClr val="C00000"/>
              </a:solidFill>
            </a:endParaRPr>
          </a:p>
          <a:p>
            <a:pPr algn="l"/>
            <a:r>
              <a:rPr lang="zh-CN" altLang="en-US" dirty="0">
                <a:solidFill>
                  <a:srgbClr val="C00000"/>
                </a:solidFill>
              </a:rPr>
              <a:t>完成while嵌套循环的应用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while</a:t>
            </a:r>
            <a:r>
              <a:t>循环的嵌套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生活中的嵌套循环</a:t>
            </a:r>
            <a:r>
              <a:rPr lang="en-US" altLang="zh-CN"/>
              <a:t>                                                                   </a:t>
            </a:r>
            <a:r>
              <a:rPr lang="zh-CN" altLang="en-US"/>
              <a:t>程序中的</a:t>
            </a:r>
            <a:r>
              <a:rPr lang="zh-CN" altLang="en-US"/>
              <a:t>循环</a:t>
            </a:r>
            <a:endParaRPr lang="zh-CN" altLang="en-US"/>
          </a:p>
        </p:txBody>
      </p:sp>
      <p:pic>
        <p:nvPicPr>
          <p:cNvPr id="4" name="图片 3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5795" y="2145665"/>
            <a:ext cx="1414145" cy="1414145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>
          <a:xfrm>
            <a:off x="2557145" y="2677160"/>
            <a:ext cx="2452370" cy="617855"/>
          </a:xfrm>
          <a:prstGeom prst="wedgeRoundRectCallout">
            <a:avLst>
              <a:gd name="adj1" fmla="val -80838"/>
              <a:gd name="adj2" fmla="val -37461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每天</a:t>
            </a: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都去向小美表白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直到</a:t>
            </a: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成功为止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10" name="图片 9" descr="01 (135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34420" y="5332730"/>
            <a:ext cx="1395730" cy="139573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9699308" y="3909060"/>
            <a:ext cx="1099185" cy="82994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循环内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套循环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2527935" y="3456940"/>
            <a:ext cx="2452370" cy="962660"/>
          </a:xfrm>
          <a:prstGeom prst="wedgeRoundRectCallout">
            <a:avLst>
              <a:gd name="adj1" fmla="val -79259"/>
              <a:gd name="adj2" fmla="val -7877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每次</a:t>
            </a: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表白的流程是：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送</a:t>
            </a:r>
            <a:r>
              <a:rPr lang="en-US" altLang="zh-CN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10</a:t>
            </a: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朵玫瑰然后表白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rcRect l="9139" r="42544"/>
          <a:stretch>
            <a:fillRect/>
          </a:stretch>
        </p:blipFill>
        <p:spPr>
          <a:xfrm>
            <a:off x="5932805" y="2145665"/>
            <a:ext cx="3007995" cy="43567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掌握使用</a:t>
            </a:r>
            <a:r>
              <a:rPr lang="en-US" altLang="zh-CN" dirty="0">
                <a:solidFill>
                  <a:srgbClr val="C00000"/>
                </a:solidFill>
              </a:rPr>
              <a:t>while</a:t>
            </a:r>
            <a:r>
              <a:rPr lang="zh-CN" altLang="en-US" dirty="0">
                <a:solidFill>
                  <a:srgbClr val="C00000"/>
                </a:solidFill>
              </a:rPr>
              <a:t>嵌套循环，打印九九乘法表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练习案例</a:t>
            </a:r>
            <a:r>
              <a:rPr lang="en-US" altLang="zh-CN"/>
              <a:t>-</a:t>
            </a:r>
            <a:r>
              <a:t>打印九九乘法表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通过</a:t>
            </a:r>
            <a:r>
              <a:rPr lang="en-US" altLang="zh-CN"/>
              <a:t>while</a:t>
            </a:r>
            <a:r>
              <a:rPr lang="zh-CN" altLang="en-US"/>
              <a:t>循环，输出如下九九乘法表内容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提示：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2</a:t>
            </a:r>
            <a:r>
              <a:rPr lang="zh-CN" altLang="en-US"/>
              <a:t>层循环，外层控制行，内层控制列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外层循环和内存循环的累加数字变量，用以辅助输出乘法表的数值</a:t>
            </a:r>
            <a:endParaRPr lang="zh-CN" altLang="en-US"/>
          </a:p>
        </p:txBody>
      </p:sp>
      <p:pic>
        <p:nvPicPr>
          <p:cNvPr id="5" name="图片 4" descr="01 (10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705" y="5588000"/>
            <a:ext cx="1120775" cy="11207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17420" y="2115185"/>
            <a:ext cx="7757160" cy="2811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dirty="0">
                <a:sym typeface="+mn-ea"/>
              </a:rPr>
              <a:t>while循环的基础语法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while</a:t>
            </a:r>
            <a:r>
              <a:rPr lang="zh-CN" altLang="en-US" dirty="0">
                <a:sym typeface="+mn-ea"/>
              </a:rPr>
              <a:t>循环的基础案例</a:t>
            </a:r>
            <a:endParaRPr lang="en-US" altLang="zh-CN" dirty="0"/>
          </a:p>
          <a:p>
            <a:pPr algn="l"/>
            <a:r>
              <a:rPr lang="zh-CN" altLang="en-US" dirty="0">
                <a:sym typeface="+mn-ea"/>
              </a:rPr>
              <a:t>while循环的嵌套应用</a:t>
            </a:r>
            <a:endParaRPr lang="zh-CN" altLang="en-US" dirty="0"/>
          </a:p>
          <a:p>
            <a:pPr algn="l"/>
            <a:r>
              <a:rPr lang="en-US" altLang="zh-CN" dirty="0">
                <a:solidFill>
                  <a:srgbClr val="AD2A26"/>
                </a:solidFill>
                <a:sym typeface="+mn-ea"/>
              </a:rPr>
              <a:t>for循环的基础语法</a:t>
            </a:r>
            <a:endParaRPr lang="en-US" altLang="zh-CN" dirty="0">
              <a:solidFill>
                <a:srgbClr val="AD2A26"/>
              </a:solidFill>
            </a:endParaRPr>
          </a:p>
          <a:p>
            <a:r>
              <a:rPr lang="en-US" altLang="zh-CN" dirty="0">
                <a:sym typeface="+mn-ea"/>
              </a:rPr>
              <a:t>for</a:t>
            </a:r>
            <a:r>
              <a:rPr lang="zh-CN" altLang="en-US" dirty="0">
                <a:sym typeface="+mn-ea"/>
              </a:rPr>
              <a:t>循环的嵌套应用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循环中断 </a:t>
            </a:r>
            <a:r>
              <a:rPr lang="en-US" altLang="zh-CN" dirty="0">
                <a:sym typeface="+mn-ea"/>
              </a:rPr>
              <a:t>: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break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continue</a:t>
            </a:r>
            <a:endParaRPr lang="en-US" altLang="zh-CN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332486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rgbClr val="AD2A26"/>
                </a:solidFill>
                <a:sym typeface="+mn-ea"/>
              </a:rPr>
              <a:t>for循环的基础语法</a:t>
            </a:r>
            <a:endParaRPr lang="en-US" altLang="zh-CN" dirty="0">
              <a:solidFill>
                <a:srgbClr val="AD2A26"/>
              </a:solidFill>
            </a:endParaRPr>
          </a:p>
          <a:p>
            <a:pPr marL="914400" lvl="2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1865" b="0" dirty="0">
                <a:solidFill>
                  <a:srgbClr val="AD2A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基础语法</a:t>
            </a:r>
            <a:endParaRPr lang="en-US" altLang="zh-CN" sz="1865" b="0" dirty="0">
              <a:solidFill>
                <a:srgbClr val="AD2A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914400" lvl="2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b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range语句</a:t>
            </a:r>
            <a:endParaRPr lang="en-US" altLang="zh-CN" b="0" dirty="0">
              <a:solidFill>
                <a:schemeClr val="tx1">
                  <a:lumMod val="65000"/>
                  <a:lumOff val="3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914400" lvl="2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b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变量作用域</a:t>
            </a:r>
            <a:endParaRPr lang="en-US" altLang="zh-CN" b="0" dirty="0">
              <a:solidFill>
                <a:schemeClr val="tx1">
                  <a:lumMod val="65000"/>
                  <a:lumOff val="3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9675" y="271653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掌握</a:t>
            </a:r>
            <a:r>
              <a:rPr lang="en-US" altLang="zh-CN" dirty="0">
                <a:solidFill>
                  <a:srgbClr val="C00000"/>
                </a:solidFill>
              </a:rPr>
              <a:t>for</a:t>
            </a:r>
            <a:r>
              <a:rPr lang="zh-CN" altLang="en-US" dirty="0">
                <a:solidFill>
                  <a:srgbClr val="C00000"/>
                </a:solidFill>
              </a:rPr>
              <a:t>循环基本语法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for</a:t>
            </a:r>
            <a:r>
              <a:t>循环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除了</a:t>
            </a:r>
            <a:r>
              <a:rPr lang="en-US" altLang="zh-CN"/>
              <a:t>while</a:t>
            </a:r>
            <a:r>
              <a:rPr lang="zh-CN" altLang="en-US"/>
              <a:t>循环语句外，</a:t>
            </a:r>
            <a:r>
              <a:rPr lang="en-US" altLang="zh-CN"/>
              <a:t>Python</a:t>
            </a:r>
            <a:r>
              <a:rPr lang="zh-CN" altLang="en-US"/>
              <a:t>同样提供了</a:t>
            </a:r>
            <a:r>
              <a:rPr lang="en-US" altLang="zh-CN"/>
              <a:t>for</a:t>
            </a:r>
            <a:r>
              <a:rPr lang="zh-CN" altLang="en-US"/>
              <a:t>循环语句。</a:t>
            </a:r>
            <a:endParaRPr lang="zh-CN" altLang="en-US"/>
          </a:p>
          <a:p>
            <a:r>
              <a:rPr lang="zh-CN" altLang="en-US"/>
              <a:t>两者能完成的功能基本差不多，但仍有一些区别：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while</a:t>
            </a:r>
            <a:r>
              <a:rPr lang="zh-CN" altLang="en-US"/>
              <a:t>循环的循环条件是自定义的，</a:t>
            </a:r>
            <a:r>
              <a:rPr lang="zh-CN" altLang="en-US">
                <a:solidFill>
                  <a:srgbClr val="FF0000"/>
                </a:solidFill>
              </a:rPr>
              <a:t>自行控制循环条件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for</a:t>
            </a:r>
            <a:r>
              <a:rPr lang="zh-CN" altLang="en-US"/>
              <a:t>循环是一种</a:t>
            </a:r>
            <a:r>
              <a:rPr lang="en-US" altLang="zh-CN"/>
              <a:t>”</a:t>
            </a:r>
            <a:r>
              <a:rPr lang="zh-CN" altLang="en-US">
                <a:solidFill>
                  <a:srgbClr val="FF0000"/>
                </a:solidFill>
              </a:rPr>
              <a:t>轮询</a:t>
            </a:r>
            <a:r>
              <a:rPr lang="en-US" altLang="zh-CN"/>
              <a:t>”</a:t>
            </a:r>
            <a:r>
              <a:rPr lang="zh-CN" altLang="en-US"/>
              <a:t>机制，是对一批内容进行</a:t>
            </a:r>
            <a:r>
              <a:rPr lang="en-US" altLang="zh-CN"/>
              <a:t>”</a:t>
            </a:r>
            <a:r>
              <a:rPr lang="zh-CN" altLang="en-US">
                <a:solidFill>
                  <a:srgbClr val="FF0000"/>
                </a:solidFill>
              </a:rPr>
              <a:t>逐个处理</a:t>
            </a:r>
            <a:r>
              <a:rPr lang="en-US" altLang="zh-CN"/>
              <a:t>”</a:t>
            </a:r>
            <a:endParaRPr lang="en-US" altLang="zh-CN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330" y="3351530"/>
            <a:ext cx="4430395" cy="2908300"/>
          </a:xfrm>
          <a:prstGeom prst="rect">
            <a:avLst/>
          </a:prstGeom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270" y="3487420"/>
            <a:ext cx="6250940" cy="263652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2670811" y="6259830"/>
            <a:ext cx="1320800" cy="46037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while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循环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87386" y="6259830"/>
            <a:ext cx="1108710" cy="46037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for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循环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677535" y="3496945"/>
            <a:ext cx="0" cy="297180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306945" y="2667000"/>
            <a:ext cx="3844925" cy="8299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字语坊腹黑体" panose="02000503000000000000" charset="-122"/>
                <a:ea typeface="字语坊腹黑体" panose="02000503000000000000" charset="-122"/>
                <a:cs typeface="字语坊腹黑体" panose="02000503000000000000" charset="-122"/>
              </a:rPr>
              <a:t>for</a:t>
            </a:r>
            <a:r>
              <a:rPr lang="zh-CN" altLang="en-US" sz="2400" b="1" dirty="0">
                <a:solidFill>
                  <a:srgbClr val="FF0000"/>
                </a:solidFill>
                <a:latin typeface="字语坊腹黑体" panose="02000503000000000000" charset="-122"/>
                <a:ea typeface="字语坊腹黑体" panose="02000503000000000000" charset="-122"/>
                <a:cs typeface="字语坊腹黑体" panose="02000503000000000000" charset="-122"/>
              </a:rPr>
              <a:t>循环就是将</a:t>
            </a:r>
            <a:r>
              <a:rPr lang="en-US" altLang="zh-CN" sz="2400" b="1" dirty="0">
                <a:solidFill>
                  <a:srgbClr val="FF0000"/>
                </a:solidFill>
                <a:latin typeface="字语坊腹黑体" panose="02000503000000000000" charset="-122"/>
                <a:ea typeface="字语坊腹黑体" panose="02000503000000000000" charset="-122"/>
                <a:cs typeface="字语坊腹黑体" panose="02000503000000000000" charset="-122"/>
              </a:rPr>
              <a:t>”</a:t>
            </a:r>
            <a:r>
              <a:rPr lang="zh-CN" altLang="en-US" sz="2400" b="1" dirty="0">
                <a:solidFill>
                  <a:srgbClr val="FF0000"/>
                </a:solidFill>
                <a:latin typeface="字语坊腹黑体" panose="02000503000000000000" charset="-122"/>
                <a:ea typeface="字语坊腹黑体" panose="02000503000000000000" charset="-122"/>
                <a:cs typeface="字语坊腹黑体" panose="02000503000000000000" charset="-122"/>
              </a:rPr>
              <a:t>待办事项</a:t>
            </a:r>
            <a:r>
              <a:rPr lang="en-US" altLang="zh-CN" sz="2400" b="1" dirty="0">
                <a:solidFill>
                  <a:srgbClr val="FF0000"/>
                </a:solidFill>
                <a:latin typeface="字语坊腹黑体" panose="02000503000000000000" charset="-122"/>
                <a:ea typeface="字语坊腹黑体" panose="02000503000000000000" charset="-122"/>
                <a:cs typeface="字语坊腹黑体" panose="02000503000000000000" charset="-122"/>
              </a:rPr>
              <a:t>”</a:t>
            </a:r>
            <a:r>
              <a:rPr lang="zh-CN" altLang="en-US" sz="2400" b="1" dirty="0">
                <a:solidFill>
                  <a:srgbClr val="FF0000"/>
                </a:solidFill>
                <a:latin typeface="字语坊腹黑体" panose="02000503000000000000" charset="-122"/>
                <a:ea typeface="字语坊腹黑体" panose="02000503000000000000" charset="-122"/>
                <a:cs typeface="字语坊腹黑体" panose="02000503000000000000" charset="-122"/>
              </a:rPr>
              <a:t>逐个完成的循环机制</a:t>
            </a:r>
            <a:endParaRPr lang="zh-CN" altLang="en-US" sz="2400" b="1" dirty="0">
              <a:solidFill>
                <a:srgbClr val="FF0000"/>
              </a:solidFill>
              <a:latin typeface="字语坊腹黑体" panose="02000503000000000000" charset="-122"/>
              <a:ea typeface="字语坊腹黑体" panose="02000503000000000000" charset="-122"/>
              <a:cs typeface="字语坊腹黑体" panose="02000503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2" grpId="1"/>
      <p:bldP spid="5" grpId="0"/>
      <p:bldP spid="5" grpId="1"/>
      <p:bldP spid="7" grpId="0"/>
      <p:bldP spid="7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for</a:t>
            </a:r>
            <a:r>
              <a:t>循环</a:t>
            </a:r>
            <a:r>
              <a:t>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生活中的</a:t>
            </a:r>
            <a:r>
              <a:rPr lang="en-US" altLang="zh-CN"/>
              <a:t>for</a:t>
            </a:r>
            <a:r>
              <a:rPr lang="zh-CN" altLang="en-US"/>
              <a:t>循环</a:t>
            </a:r>
            <a:r>
              <a:rPr lang="en-US" altLang="zh-CN"/>
              <a:t>                                                                      </a:t>
            </a:r>
            <a:r>
              <a:rPr lang="zh-CN" altLang="en-US"/>
              <a:t>程序中的</a:t>
            </a:r>
            <a:r>
              <a:rPr lang="en-US" altLang="zh-CN"/>
              <a:t>for</a:t>
            </a:r>
            <a:r>
              <a:rPr lang="zh-CN" altLang="en-US"/>
              <a:t>循环</a:t>
            </a:r>
            <a:endParaRPr lang="zh-CN" altLang="en-US"/>
          </a:p>
        </p:txBody>
      </p:sp>
      <p:pic>
        <p:nvPicPr>
          <p:cNvPr id="4" name="图片 3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7530" y="2145665"/>
            <a:ext cx="1414145" cy="1414145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>
          <a:xfrm>
            <a:off x="2498090" y="2543810"/>
            <a:ext cx="2629535" cy="1764665"/>
          </a:xfrm>
          <a:prstGeom prst="wedgeRoundRectCallout">
            <a:avLst>
              <a:gd name="adj1" fmla="val -80838"/>
              <a:gd name="adj2" fmla="val -37461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洗碗，一个个洗干净</a:t>
            </a:r>
            <a:endParaRPr lang="zh-CN" altLang="en-US" sz="1600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剥蒜，一个个剥干净</a:t>
            </a:r>
            <a:endParaRPr lang="zh-CN" altLang="en-US" sz="1600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送快递，一个个送达</a:t>
            </a:r>
            <a:endParaRPr lang="zh-CN" altLang="en-US" sz="1600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吃瓜子，一个个吃下</a:t>
            </a:r>
            <a:endParaRPr lang="zh-CN" altLang="en-US" sz="1600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。。。。。。。。。一个个完成</a:t>
            </a:r>
            <a:endParaRPr lang="zh-CN" altLang="en-US" sz="1600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10" name="图片 9" descr="01 (13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4420" y="5332730"/>
            <a:ext cx="1395730" cy="139573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5969001" y="3559810"/>
            <a:ext cx="4697730" cy="82994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从待处理数据集中：逐个取出数据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赋值给临时变量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5969000" y="2433955"/>
            <a:ext cx="3662680" cy="8756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en-GB" altLang="zh-CN" dirty="0">
                <a:solidFill>
                  <a:srgbClr val="C00000"/>
                </a:solidFill>
              </a:rPr>
              <a:t>for</a:t>
            </a:r>
            <a:r>
              <a:rPr lang="en-GB" altLang="zh-CN" sz="1600" dirty="0"/>
              <a:t> </a:t>
            </a:r>
            <a:r>
              <a:rPr lang="zh-CN" altLang="en-US" sz="1600" dirty="0"/>
              <a:t>临时变量 </a:t>
            </a:r>
            <a:r>
              <a:rPr lang="en-GB" altLang="zh-CN" dirty="0">
                <a:solidFill>
                  <a:srgbClr val="C00000"/>
                </a:solidFill>
              </a:rPr>
              <a:t>in</a:t>
            </a:r>
            <a:r>
              <a:rPr lang="en-GB" altLang="zh-CN" sz="1600" dirty="0"/>
              <a:t> </a:t>
            </a:r>
            <a:r>
              <a:rPr lang="zh-CN" altLang="en-US" sz="1600" dirty="0"/>
              <a:t>待处理数据集</a:t>
            </a:r>
            <a:r>
              <a:rPr lang="en-US" altLang="zh-CN" sz="1600" dirty="0">
                <a:solidFill>
                  <a:srgbClr val="C00000"/>
                </a:solidFill>
              </a:rPr>
              <a:t>: 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/>
              <a:t>        </a:t>
            </a:r>
            <a:r>
              <a:rPr lang="zh-CN" altLang="en-US" sz="1600" dirty="0"/>
              <a:t>循环满足条件时执行的代码</a:t>
            </a:r>
            <a:endParaRPr lang="en-US" altLang="zh-CN" sz="1600" dirty="0">
              <a:solidFill>
                <a:srgbClr val="080808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2" grpId="1"/>
      <p:bldP spid="6" grpId="0" animBg="1"/>
      <p:bldP spid="6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457271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b="1" dirty="0"/>
              <a:t>遍历字符串</a:t>
            </a:r>
            <a:endParaRPr kumimoji="1" lang="en-US" altLang="zh-CN" b="1" dirty="0"/>
          </a:p>
          <a:p>
            <a:pPr marL="0" indent="0">
              <a:buNone/>
            </a:pPr>
            <a:r>
              <a:rPr kumimoji="1" lang="en-US" altLang="zh-CN" dirty="0"/>
              <a:t>	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8" name="TextBox 3"/>
          <p:cNvSpPr txBox="1"/>
          <p:nvPr/>
        </p:nvSpPr>
        <p:spPr>
          <a:xfrm>
            <a:off x="801224" y="2165722"/>
            <a:ext cx="5770944" cy="216852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C00000"/>
                </a:solidFill>
              </a:rPr>
              <a:t># </a:t>
            </a:r>
            <a:r>
              <a:rPr lang="zh-CN" altLang="en-US" dirty="0">
                <a:solidFill>
                  <a:srgbClr val="C00000"/>
                </a:solidFill>
              </a:rPr>
              <a:t>定义字符串</a:t>
            </a:r>
            <a:r>
              <a:rPr lang="en-US" altLang="zh-CN" dirty="0">
                <a:solidFill>
                  <a:srgbClr val="C00000"/>
                </a:solidFill>
              </a:rPr>
              <a:t>name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name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”</a:t>
            </a:r>
            <a:r>
              <a:rPr lang="en-GB" altLang="zh-CN" dirty="0" err="1"/>
              <a:t>itheima</a:t>
            </a:r>
            <a:r>
              <a:rPr lang="en-US" altLang="zh-CN" dirty="0"/>
              <a:t>”</a:t>
            </a:r>
            <a:endParaRPr lang="en-GB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C00000"/>
                </a:solidFill>
              </a:rPr>
              <a:t># for</a:t>
            </a:r>
            <a:r>
              <a:rPr lang="zh-CN" altLang="en-US" dirty="0">
                <a:solidFill>
                  <a:srgbClr val="C00000"/>
                </a:solidFill>
              </a:rPr>
              <a:t>循环处理字符串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GB" altLang="zh-CN" dirty="0"/>
              <a:t>for </a:t>
            </a:r>
            <a:r>
              <a:rPr lang="en-US" altLang="en-GB" dirty="0"/>
              <a:t>x</a:t>
            </a:r>
            <a:r>
              <a:rPr lang="en-GB" altLang="zh-CN" dirty="0"/>
              <a:t> in name: </a:t>
            </a:r>
            <a:endParaRPr lang="en-GB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en-US" dirty="0"/>
              <a:t>       </a:t>
            </a:r>
            <a:r>
              <a:rPr lang="en-GB" altLang="zh-CN" dirty="0"/>
              <a:t>print(x)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03716" y="1635973"/>
            <a:ext cx="1479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运行结果如下</a:t>
            </a:r>
            <a:r>
              <a:rPr kumimoji="1"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</a:t>
            </a:r>
            <a:endParaRPr kumimoji="1"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3716" y="2153163"/>
            <a:ext cx="2209800" cy="2527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for</a:t>
            </a:r>
            <a:r>
              <a:t>循环</a:t>
            </a:r>
            <a:r>
              <a:t>语句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801370" y="4680585"/>
            <a:ext cx="6717665" cy="10147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kumimoji="1"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字语坊腹黑体" panose="02000503000000000000" charset="-122"/>
                <a:ea typeface="字语坊腹黑体" panose="02000503000000000000" charset="-122"/>
                <a:cs typeface="字语坊腹黑体" panose="02000503000000000000" charset="-122"/>
              </a:rPr>
              <a:t>可以看出，for循环是将字符串的内容：</a:t>
            </a:r>
            <a:r>
              <a:rPr kumimoji="1" lang="zh-CN" altLang="en-US" sz="2000" dirty="0">
                <a:solidFill>
                  <a:srgbClr val="FF0000"/>
                </a:solidFill>
                <a:latin typeface="字语坊腹黑体" panose="02000503000000000000" charset="-122"/>
                <a:ea typeface="字语坊腹黑体" panose="02000503000000000000" charset="-122"/>
                <a:cs typeface="字语坊腹黑体" panose="02000503000000000000" charset="-122"/>
              </a:rPr>
              <a:t>依次取出</a:t>
            </a:r>
            <a:endParaRPr kumimoji="1"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字语坊腹黑体" panose="02000503000000000000" charset="-122"/>
              <a:ea typeface="字语坊腹黑体" panose="02000503000000000000" charset="-122"/>
              <a:cs typeface="字语坊腹黑体" panose="02000503000000000000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kumimoji="1"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字语坊腹黑体" panose="02000503000000000000" charset="-122"/>
                <a:ea typeface="字语坊腹黑体" panose="02000503000000000000" charset="-122"/>
                <a:cs typeface="字语坊腹黑体" panose="02000503000000000000" charset="-122"/>
              </a:rPr>
              <a:t>所以，for循环也被称之为：</a:t>
            </a:r>
            <a:r>
              <a:rPr kumimoji="1" lang="zh-CN" altLang="en-US" sz="2000" dirty="0">
                <a:solidFill>
                  <a:srgbClr val="FF0000"/>
                </a:solidFill>
                <a:latin typeface="字语坊腹黑体" panose="02000503000000000000" charset="-122"/>
                <a:ea typeface="字语坊腹黑体" panose="02000503000000000000" charset="-122"/>
                <a:cs typeface="字语坊腹黑体" panose="02000503000000000000" charset="-122"/>
              </a:rPr>
              <a:t>遍历循环</a:t>
            </a:r>
            <a:endParaRPr kumimoji="1" lang="zh-CN" altLang="en-US" sz="2000" dirty="0">
              <a:solidFill>
                <a:srgbClr val="FF0000"/>
              </a:solidFill>
              <a:latin typeface="字语坊腹黑体" panose="02000503000000000000" charset="-122"/>
              <a:ea typeface="字语坊腹黑体" panose="02000503000000000000" charset="-122"/>
              <a:cs typeface="字语坊腹黑体" panose="02000503000000000000" charset="-122"/>
            </a:endParaRPr>
          </a:p>
        </p:txBody>
      </p:sp>
      <p:pic>
        <p:nvPicPr>
          <p:cNvPr id="10" name="图片 9" descr="01 (13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420" y="5332730"/>
            <a:ext cx="1395730" cy="1395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2" grpId="0"/>
      <p:bldP spid="42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for</a:t>
            </a:r>
            <a:r>
              <a:t>循环注意点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同</a:t>
            </a:r>
            <a:r>
              <a:rPr lang="en-US" altLang="zh-CN"/>
              <a:t>while</a:t>
            </a:r>
            <a:r>
              <a:rPr lang="zh-CN" altLang="en-US"/>
              <a:t>循环不同，</a:t>
            </a:r>
            <a:r>
              <a:rPr lang="en-US" altLang="zh-CN"/>
              <a:t>for</a:t>
            </a:r>
            <a:r>
              <a:rPr lang="zh-CN" altLang="en-US"/>
              <a:t>循环是无法定义循环条件的。</a:t>
            </a:r>
            <a:endParaRPr lang="zh-CN" altLang="en-US"/>
          </a:p>
          <a:p>
            <a:r>
              <a:rPr lang="zh-CN" altLang="en-US"/>
              <a:t>只能从被处理的数据集中，依次取出内容进行处理。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所以，理论上讲，</a:t>
            </a:r>
            <a:r>
              <a:rPr lang="en-US" altLang="zh-CN"/>
              <a:t>Python</a:t>
            </a:r>
            <a:r>
              <a:rPr lang="zh-CN" altLang="en-US"/>
              <a:t>的</a:t>
            </a:r>
            <a:r>
              <a:rPr lang="en-US" altLang="zh-CN"/>
              <a:t>for</a:t>
            </a:r>
            <a:r>
              <a:rPr lang="zh-CN" altLang="en-US"/>
              <a:t>循环无法构建无限循环（被处理的数据集不可能无限大）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0" name="图片 9" descr="01 (13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4420" y="5332730"/>
            <a:ext cx="1395730" cy="1395730"/>
          </a:xfrm>
          <a:prstGeom prst="rect">
            <a:avLst/>
          </a:prstGeom>
        </p:spPr>
      </p:pic>
      <p:sp>
        <p:nvSpPr>
          <p:cNvPr id="8" name="TextBox 3"/>
          <p:cNvSpPr txBox="1"/>
          <p:nvPr/>
        </p:nvSpPr>
        <p:spPr>
          <a:xfrm>
            <a:off x="710419" y="1655817"/>
            <a:ext cx="5770944" cy="216852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C00000"/>
                </a:solidFill>
              </a:rPr>
              <a:t># </a:t>
            </a:r>
            <a:r>
              <a:rPr lang="zh-CN" altLang="en-US" dirty="0">
                <a:solidFill>
                  <a:srgbClr val="C00000"/>
                </a:solidFill>
              </a:rPr>
              <a:t>定义字符串</a:t>
            </a:r>
            <a:r>
              <a:rPr lang="en-US" altLang="zh-CN" dirty="0">
                <a:solidFill>
                  <a:srgbClr val="C00000"/>
                </a:solidFill>
              </a:rPr>
              <a:t>name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name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”</a:t>
            </a:r>
            <a:r>
              <a:rPr lang="en-GB" altLang="zh-CN" dirty="0" err="1"/>
              <a:t>itheima</a:t>
            </a:r>
            <a:r>
              <a:rPr lang="en-US" altLang="zh-CN" dirty="0"/>
              <a:t>”</a:t>
            </a:r>
            <a:endParaRPr lang="en-GB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C00000"/>
                </a:solidFill>
              </a:rPr>
              <a:t># for</a:t>
            </a:r>
            <a:r>
              <a:rPr lang="zh-CN" altLang="en-US" dirty="0">
                <a:solidFill>
                  <a:srgbClr val="C00000"/>
                </a:solidFill>
              </a:rPr>
              <a:t>循环处理字符串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GB" altLang="zh-CN" dirty="0"/>
              <a:t>for </a:t>
            </a:r>
            <a:r>
              <a:rPr lang="en-US" altLang="en-GB" dirty="0"/>
              <a:t>x</a:t>
            </a:r>
            <a:r>
              <a:rPr lang="en-GB" altLang="zh-CN" dirty="0"/>
              <a:t> in name: </a:t>
            </a:r>
            <a:endParaRPr lang="en-GB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en-US" dirty="0"/>
              <a:t>       </a:t>
            </a:r>
            <a:r>
              <a:rPr lang="en-GB" altLang="zh-CN" dirty="0"/>
              <a:t>print(x)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for</a:t>
            </a:r>
            <a:r>
              <a:rPr lang="zh-CN" altLang="en-US"/>
              <a:t>循环的语法格式是：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2. for</a:t>
            </a:r>
            <a:r>
              <a:rPr lang="zh-CN" altLang="en-US"/>
              <a:t>循环的注意点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无法定义循环条件，只能被动取出数据处理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要注意，循环内的语句，需要有空格缩进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70525" y="2875280"/>
            <a:ext cx="3662680" cy="8756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en-GB" altLang="zh-CN" dirty="0">
                <a:solidFill>
                  <a:srgbClr val="C00000"/>
                </a:solidFill>
              </a:rPr>
              <a:t>for</a:t>
            </a:r>
            <a:r>
              <a:rPr lang="en-GB" altLang="zh-CN" sz="1600" dirty="0"/>
              <a:t> </a:t>
            </a:r>
            <a:r>
              <a:rPr lang="zh-CN" altLang="en-US" sz="1600" dirty="0"/>
              <a:t>临时变量 </a:t>
            </a:r>
            <a:r>
              <a:rPr lang="en-GB" altLang="zh-CN" dirty="0">
                <a:solidFill>
                  <a:srgbClr val="C00000"/>
                </a:solidFill>
              </a:rPr>
              <a:t>in</a:t>
            </a:r>
            <a:r>
              <a:rPr lang="en-GB" altLang="zh-CN" sz="1600" dirty="0"/>
              <a:t> </a:t>
            </a:r>
            <a:r>
              <a:rPr lang="zh-CN" altLang="en-US" sz="1600" dirty="0"/>
              <a:t>待处理数据集</a:t>
            </a:r>
            <a:r>
              <a:rPr lang="en-US" altLang="zh-CN" sz="1600" dirty="0">
                <a:solidFill>
                  <a:srgbClr val="C00000"/>
                </a:solidFill>
              </a:rPr>
              <a:t>: 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/>
              <a:t>        </a:t>
            </a:r>
            <a:r>
              <a:rPr lang="zh-CN" altLang="en-US" sz="1600" dirty="0"/>
              <a:t>循环满足条件时执行的代码</a:t>
            </a:r>
            <a:endParaRPr lang="en-US" altLang="zh-CN" sz="1600" dirty="0">
              <a:solidFill>
                <a:srgbClr val="080808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rgbClr val="AD2A26"/>
                </a:solidFill>
                <a:sym typeface="+mn-ea"/>
              </a:rPr>
              <a:t>for循环的基础语法</a:t>
            </a:r>
            <a:endParaRPr lang="en-US" altLang="zh-CN" dirty="0">
              <a:solidFill>
                <a:srgbClr val="AD2A26"/>
              </a:solidFill>
            </a:endParaRPr>
          </a:p>
          <a:p>
            <a:pPr marL="914400" lvl="2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1865" b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基础语法</a:t>
            </a:r>
            <a:endParaRPr lang="en-US" altLang="zh-CN" sz="1865" b="0" dirty="0">
              <a:solidFill>
                <a:schemeClr val="tx1">
                  <a:lumMod val="65000"/>
                  <a:lumOff val="3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914400" lvl="2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b="0" dirty="0">
                <a:solidFill>
                  <a:srgbClr val="AD2A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range语句</a:t>
            </a:r>
            <a:endParaRPr lang="en-US" altLang="zh-CN" b="0" dirty="0">
              <a:solidFill>
                <a:srgbClr val="AD2A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914400" lvl="2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b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变量作用域</a:t>
            </a:r>
            <a:endParaRPr lang="en-US" altLang="zh-CN" b="0" dirty="0">
              <a:solidFill>
                <a:schemeClr val="tx1">
                  <a:lumMod val="65000"/>
                  <a:lumOff val="3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9675" y="333438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range</a:t>
            </a:r>
            <a:r>
              <a:t>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语法中的：待处理数据集，严格来说，称之为：</a:t>
            </a:r>
            <a:r>
              <a:rPr lang="zh-CN" altLang="en-US">
                <a:solidFill>
                  <a:srgbClr val="FF0000"/>
                </a:solidFill>
              </a:rPr>
              <a:t>可迭代</a:t>
            </a:r>
            <a:r>
              <a:rPr lang="zh-CN" altLang="en-US">
                <a:solidFill>
                  <a:srgbClr val="FF0000"/>
                </a:solidFill>
              </a:rPr>
              <a:t>类型</a:t>
            </a:r>
            <a:endParaRPr lang="zh-CN" altLang="en-US"/>
          </a:p>
          <a:p>
            <a:r>
              <a:rPr lang="zh-CN" altLang="en-US"/>
              <a:t>可迭代类型指，</a:t>
            </a:r>
            <a:r>
              <a:rPr lang="zh-CN" altLang="en-US" b="1">
                <a:solidFill>
                  <a:srgbClr val="FF0000"/>
                </a:solidFill>
              </a:rPr>
              <a:t>其内容可以一个个依次取出的一种类型</a:t>
            </a:r>
            <a:r>
              <a:rPr lang="zh-CN" altLang="en-US"/>
              <a:t>，包括：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字符串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列表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元组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集合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字典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目前我们只学习了字符串类型，其余类型在后续容器章节会详细学习它们</a:t>
            </a:r>
            <a:endParaRPr lang="zh-CN" altLang="en-US"/>
          </a:p>
        </p:txBody>
      </p:sp>
      <p:sp>
        <p:nvSpPr>
          <p:cNvPr id="6" name="TextBox 3"/>
          <p:cNvSpPr txBox="1"/>
          <p:nvPr/>
        </p:nvSpPr>
        <p:spPr>
          <a:xfrm>
            <a:off x="789940" y="1832610"/>
            <a:ext cx="4456430" cy="8756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en-GB" altLang="zh-CN" dirty="0">
                <a:solidFill>
                  <a:srgbClr val="C00000"/>
                </a:solidFill>
              </a:rPr>
              <a:t>for</a:t>
            </a:r>
            <a:r>
              <a:rPr lang="en-GB" altLang="zh-CN" sz="1600" dirty="0"/>
              <a:t> </a:t>
            </a:r>
            <a:r>
              <a:rPr lang="zh-CN" altLang="en-US" sz="1600" dirty="0"/>
              <a:t>临时变量 </a:t>
            </a:r>
            <a:r>
              <a:rPr lang="en-GB" altLang="zh-CN" dirty="0">
                <a:solidFill>
                  <a:srgbClr val="C00000"/>
                </a:solidFill>
              </a:rPr>
              <a:t>in</a:t>
            </a:r>
            <a:r>
              <a:rPr lang="en-GB" altLang="zh-CN" sz="1600" dirty="0"/>
              <a:t> </a:t>
            </a:r>
            <a:r>
              <a:rPr lang="zh-CN" altLang="en-US" sz="1600" dirty="0"/>
              <a:t>待处理数据集</a:t>
            </a:r>
            <a:r>
              <a:rPr lang="en-US" altLang="zh-CN" sz="1600" dirty="0"/>
              <a:t>(</a:t>
            </a:r>
            <a:r>
              <a:rPr lang="zh-CN" altLang="en-US" sz="1600" dirty="0"/>
              <a:t>可迭代对象</a:t>
            </a:r>
            <a:r>
              <a:rPr lang="en-US" altLang="zh-CN" sz="1600" dirty="0"/>
              <a:t>)</a:t>
            </a:r>
            <a:r>
              <a:rPr lang="en-US" altLang="zh-CN" sz="1600" dirty="0">
                <a:solidFill>
                  <a:srgbClr val="C00000"/>
                </a:solidFill>
              </a:rPr>
              <a:t>: 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/>
              <a:t>        </a:t>
            </a:r>
            <a:r>
              <a:rPr lang="zh-CN" altLang="en-US" sz="1600" dirty="0"/>
              <a:t>循环满足条件时执行的代码</a:t>
            </a:r>
            <a:endParaRPr lang="en-US" altLang="zh-CN" sz="1600" dirty="0">
              <a:solidFill>
                <a:srgbClr val="080808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10" name="图片 9" descr="01 (13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4420" y="5332730"/>
            <a:ext cx="1395730" cy="1395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6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range</a:t>
            </a:r>
            <a:r>
              <a:t>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for</a:t>
            </a:r>
            <a:r>
              <a:rPr lang="zh-CN" altLang="en-US"/>
              <a:t>循环语句，本质上是遍历：可迭代对象。</a:t>
            </a:r>
            <a:endParaRPr lang="zh-CN" altLang="en-US"/>
          </a:p>
          <a:p>
            <a:r>
              <a:rPr lang="zh-CN" altLang="en-US"/>
              <a:t>尽管除字符串外，其它可迭代类型目前没学习到，但不妨碍我们通过</a:t>
            </a:r>
            <a:r>
              <a:rPr lang="zh-CN" altLang="en-US">
                <a:solidFill>
                  <a:srgbClr val="FF0000"/>
                </a:solidFill>
              </a:rPr>
              <a:t>学习</a:t>
            </a:r>
            <a:r>
              <a:rPr lang="en-US" altLang="zh-CN">
                <a:solidFill>
                  <a:srgbClr val="FF0000"/>
                </a:solidFill>
              </a:rPr>
              <a:t>range</a:t>
            </a:r>
            <a:r>
              <a:rPr lang="zh-CN" altLang="en-US">
                <a:solidFill>
                  <a:srgbClr val="FF0000"/>
                </a:solidFill>
              </a:rPr>
              <a:t>语句，获得一个简单的数字序列（可迭代类型的一种）。</a:t>
            </a:r>
            <a:endParaRPr lang="zh-CN" altLang="en-US"/>
          </a:p>
          <a:p>
            <a:endParaRPr lang="zh-CN" altLang="en-US"/>
          </a:p>
          <a:p>
            <a:r>
              <a:rPr lang="zh-CN" altLang="en-US" sz="1400"/>
              <a:t>语法1：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获取一个从</a:t>
            </a:r>
            <a:r>
              <a:rPr lang="en-US" altLang="zh-CN" sz="1400"/>
              <a:t>0</a:t>
            </a:r>
            <a:r>
              <a:rPr lang="zh-CN" altLang="en-US" sz="1400"/>
              <a:t>开始，到</a:t>
            </a:r>
            <a:r>
              <a:rPr lang="en-US" altLang="zh-CN" sz="1400"/>
              <a:t>num</a:t>
            </a:r>
            <a:r>
              <a:rPr lang="zh-CN" altLang="en-US" sz="1400"/>
              <a:t>结束的数字序列（不含</a:t>
            </a:r>
            <a:r>
              <a:rPr lang="en-US" altLang="zh-CN" sz="1400"/>
              <a:t>num</a:t>
            </a:r>
            <a:r>
              <a:rPr lang="zh-CN" altLang="en-US" sz="1400"/>
              <a:t>本身）</a:t>
            </a:r>
            <a:endParaRPr lang="zh-CN" altLang="en-US" sz="1400"/>
          </a:p>
          <a:p>
            <a:r>
              <a:rPr lang="zh-CN" altLang="en-US" sz="1400"/>
              <a:t>如</a:t>
            </a:r>
            <a:r>
              <a:rPr lang="en-US" altLang="zh-CN" sz="1400"/>
              <a:t>range(5)</a:t>
            </a:r>
            <a:r>
              <a:rPr lang="zh-CN" altLang="en-US" sz="1400"/>
              <a:t>取得的数据是：</a:t>
            </a:r>
            <a:r>
              <a:rPr lang="en-US" altLang="zh-CN" sz="1400"/>
              <a:t>[0, 1, 2, 3, 4]</a:t>
            </a:r>
            <a:endParaRPr lang="en-US" altLang="zh-CN" sz="1400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104" name="文本框 103"/>
          <p:cNvSpPr txBox="1"/>
          <p:nvPr/>
        </p:nvSpPr>
        <p:spPr>
          <a:xfrm>
            <a:off x="790575" y="3656965"/>
            <a:ext cx="1471930" cy="3683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p>
            <a:pPr indent="0" algn="ctr"/>
            <a:r>
              <a:rPr lang="en-US" b="0">
                <a:solidFill>
                  <a:srgbClr val="000080"/>
                </a:solidFill>
                <a:latin typeface="JetBrains Mono" panose="02000009000000000000" charset="0"/>
              </a:rPr>
              <a:t>range</a:t>
            </a:r>
            <a:r>
              <a:rPr lang="en-US" b="0">
                <a:solidFill>
                  <a:srgbClr val="080808"/>
                </a:solidFill>
                <a:latin typeface="JetBrains Mono" panose="02000009000000000000" charset="0"/>
              </a:rPr>
              <a:t>(num)</a:t>
            </a:r>
            <a:endParaRPr lang="en-US" altLang="en-US" b="0">
              <a:solidFill>
                <a:srgbClr val="080808"/>
              </a:solidFill>
              <a:latin typeface="JetBrains Mono" panose="02000009000000000000" charset="0"/>
            </a:endParaRPr>
          </a:p>
        </p:txBody>
      </p:sp>
      <p:pic>
        <p:nvPicPr>
          <p:cNvPr id="10" name="图片 9" descr="01 (13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4420" y="5332730"/>
            <a:ext cx="1395730" cy="139573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range</a:t>
            </a:r>
            <a:r>
              <a:t>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en-US" altLang="zh-CN"/>
          </a:p>
          <a:p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78205" y="2089785"/>
            <a:ext cx="2825750" cy="3683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p>
            <a:pPr indent="0" algn="ctr"/>
            <a:r>
              <a:rPr lang="en-US" b="0">
                <a:solidFill>
                  <a:srgbClr val="000080"/>
                </a:solidFill>
                <a:latin typeface="JetBrains Mono" panose="02000009000000000000" charset="0"/>
              </a:rPr>
              <a:t>range</a:t>
            </a:r>
            <a:r>
              <a:rPr lang="en-US" b="0">
                <a:solidFill>
                  <a:srgbClr val="080808"/>
                </a:solidFill>
                <a:latin typeface="JetBrains Mono" panose="02000009000000000000" charset="0"/>
              </a:rPr>
              <a:t>(num1, num2)</a:t>
            </a:r>
            <a:endParaRPr lang="en-US" altLang="en-US" b="0">
              <a:solidFill>
                <a:srgbClr val="080808"/>
              </a:solidFill>
              <a:latin typeface="JetBrains Mono" panose="02000009000000000000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6445" y="1695450"/>
            <a:ext cx="8131810" cy="151257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语法2：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获得一个从num1开始，到num2结束的数字序列（不含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num2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本身）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如，range(5, 10)取得的数据是：[5, 6, 7, 8, 9]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</p:txBody>
      </p:sp>
      <p:pic>
        <p:nvPicPr>
          <p:cNvPr id="10" name="图片 9" descr="01 (13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4420" y="5332730"/>
            <a:ext cx="1395730" cy="13957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95655" y="3615690"/>
            <a:ext cx="6129020" cy="1878965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语法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3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获得一个从num1开始，到num2结束的数字序列（不含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num2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本身）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数字之间的步长，以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step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为准（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step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默认为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1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）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如，range(5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, 10, 2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)取得的数据是：[5, 7, 9]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8205" y="4051300"/>
            <a:ext cx="3225165" cy="3683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p>
            <a:pPr indent="0" algn="ctr"/>
            <a:r>
              <a:rPr lang="en-US" b="0">
                <a:solidFill>
                  <a:srgbClr val="000080"/>
                </a:solidFill>
                <a:latin typeface="JetBrains Mono" panose="02000009000000000000" charset="0"/>
              </a:rPr>
              <a:t>range</a:t>
            </a:r>
            <a:r>
              <a:rPr lang="en-US" b="0">
                <a:solidFill>
                  <a:srgbClr val="080808"/>
                </a:solidFill>
                <a:latin typeface="JetBrains Mono" panose="02000009000000000000" charset="0"/>
              </a:rPr>
              <a:t>(num1, num2, step)</a:t>
            </a:r>
            <a:endParaRPr lang="en-US" altLang="en-US" b="0">
              <a:solidFill>
                <a:srgbClr val="080808"/>
              </a:solidFill>
              <a:latin typeface="JetBrains Mono" panose="02000009000000000000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733540" cy="4511040"/>
          </a:xfrm>
        </p:spPr>
        <p:txBody>
          <a:bodyPr/>
          <a:p>
            <a:pPr marL="0" indent="0">
              <a:buNone/>
            </a:pPr>
            <a:r>
              <a:rPr lang="en-US" altLang="zh-CN"/>
              <a:t>1. range</a:t>
            </a:r>
            <a:r>
              <a:rPr lang="zh-CN" altLang="en-US"/>
              <a:t>语句的功能是：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获得一个数字序列（可迭代类型的一种）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2. range</a:t>
            </a:r>
            <a:r>
              <a:rPr lang="zh-CN" altLang="en-US"/>
              <a:t>语句的语法格式：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语法</a:t>
            </a:r>
            <a:r>
              <a:rPr lang="en-US" altLang="zh-CN"/>
              <a:t>1</a:t>
            </a:r>
            <a:r>
              <a:rPr lang="zh-CN" altLang="en-US"/>
              <a:t>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语法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语法</a:t>
            </a:r>
            <a:r>
              <a:rPr lang="en-US" altLang="zh-CN"/>
              <a:t>3</a:t>
            </a:r>
            <a:r>
              <a:rPr lang="zh-CN" altLang="en-US"/>
              <a:t>：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3. range</a:t>
            </a:r>
            <a:r>
              <a:rPr lang="zh-CN" altLang="en-US"/>
              <a:t>语句的注意事项：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语法</a:t>
            </a:r>
            <a:r>
              <a:rPr lang="en-US" altLang="zh-CN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</a:t>
            </a: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从</a:t>
            </a:r>
            <a:r>
              <a:rPr lang="en-US" altLang="zh-CN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0</a:t>
            </a: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开始，到</a:t>
            </a:r>
            <a:r>
              <a:rPr lang="en-US" altLang="zh-CN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num</a:t>
            </a: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结束（不含</a:t>
            </a:r>
            <a:r>
              <a:rPr lang="en-US" altLang="zh-CN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num</a:t>
            </a: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本身）</a:t>
            </a:r>
            <a:endParaRPr lang="zh-CN" altLang="en-US" sz="16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语法</a:t>
            </a:r>
            <a:r>
              <a:rPr lang="en-US" altLang="zh-CN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</a:t>
            </a: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从</a:t>
            </a:r>
            <a:r>
              <a:rPr lang="en-US" altLang="zh-CN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num1</a:t>
            </a: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开始，到</a:t>
            </a:r>
            <a:r>
              <a:rPr lang="en-US" altLang="zh-CN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num2</a:t>
            </a: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结束（不含</a:t>
            </a:r>
            <a:r>
              <a:rPr lang="en-US" altLang="zh-CN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num2</a:t>
            </a: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本身）</a:t>
            </a:r>
            <a:endParaRPr lang="zh-CN" altLang="en-US" sz="16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语法</a:t>
            </a:r>
            <a:r>
              <a:rPr lang="en-US" altLang="zh-CN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3</a:t>
            </a: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从</a:t>
            </a:r>
            <a:r>
              <a:rPr lang="en-US" altLang="zh-CN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num1</a:t>
            </a: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开始，到</a:t>
            </a:r>
            <a:r>
              <a:rPr lang="en-US" altLang="zh-CN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num2</a:t>
            </a: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结束（不含</a:t>
            </a:r>
            <a:r>
              <a:rPr lang="en-US" altLang="zh-CN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num2</a:t>
            </a: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本身），</a:t>
            </a:r>
            <a:endParaRPr lang="zh-CN" altLang="en-US" sz="16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457200" lvl="1">
              <a:buFont typeface="Arial" panose="020B0604020202020204" pitchFamily="34" charset="0"/>
            </a:pP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步长以</a:t>
            </a:r>
            <a:r>
              <a:rPr lang="en-US" altLang="zh-CN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step</a:t>
            </a:r>
            <a:r>
              <a:rPr lang="zh-CN" altLang="en-US" sz="16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值为准</a:t>
            </a:r>
            <a:endParaRPr lang="zh-CN" altLang="en-US" sz="16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range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的用途很多，多数用在</a:t>
            </a:r>
            <a:r>
              <a: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</a:rPr>
              <a:t>for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循环场景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104" name="文本框 103"/>
          <p:cNvSpPr txBox="1"/>
          <p:nvPr/>
        </p:nvSpPr>
        <p:spPr>
          <a:xfrm>
            <a:off x="6017895" y="2599690"/>
            <a:ext cx="1471930" cy="3683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p>
            <a:pPr indent="0" algn="ctr"/>
            <a:r>
              <a:rPr lang="en-US" b="0">
                <a:solidFill>
                  <a:srgbClr val="000080"/>
                </a:solidFill>
                <a:latin typeface="JetBrains Mono" panose="02000009000000000000" charset="0"/>
              </a:rPr>
              <a:t>range</a:t>
            </a:r>
            <a:r>
              <a:rPr lang="en-US" b="0">
                <a:solidFill>
                  <a:srgbClr val="080808"/>
                </a:solidFill>
                <a:latin typeface="JetBrains Mono" panose="02000009000000000000" charset="0"/>
              </a:rPr>
              <a:t>(num)</a:t>
            </a:r>
            <a:endParaRPr lang="en-US" altLang="en-US" b="0">
              <a:solidFill>
                <a:srgbClr val="080808"/>
              </a:solidFill>
              <a:latin typeface="JetBrains Mono" panose="02000009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17895" y="3168650"/>
            <a:ext cx="2614930" cy="3683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p>
            <a:pPr indent="0" algn="ctr"/>
            <a:r>
              <a:rPr lang="en-US" b="0">
                <a:solidFill>
                  <a:srgbClr val="000080"/>
                </a:solidFill>
                <a:latin typeface="JetBrains Mono" panose="02000009000000000000" charset="0"/>
              </a:rPr>
              <a:t>range</a:t>
            </a:r>
            <a:r>
              <a:rPr lang="en-US" b="0">
                <a:solidFill>
                  <a:srgbClr val="080808"/>
                </a:solidFill>
                <a:latin typeface="JetBrains Mono" panose="02000009000000000000" charset="0"/>
              </a:rPr>
              <a:t>(num1, num2)</a:t>
            </a:r>
            <a:endParaRPr lang="en-US" altLang="en-US" b="0">
              <a:solidFill>
                <a:srgbClr val="080808"/>
              </a:solidFill>
              <a:latin typeface="JetBrains Mono" panose="02000009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17895" y="3797300"/>
            <a:ext cx="3225165" cy="3683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p>
            <a:pPr indent="0" algn="ctr"/>
            <a:r>
              <a:rPr lang="en-US" b="0">
                <a:solidFill>
                  <a:srgbClr val="000080"/>
                </a:solidFill>
                <a:latin typeface="JetBrains Mono" panose="02000009000000000000" charset="0"/>
              </a:rPr>
              <a:t>range</a:t>
            </a:r>
            <a:r>
              <a:rPr lang="en-US" b="0">
                <a:solidFill>
                  <a:srgbClr val="080808"/>
                </a:solidFill>
                <a:latin typeface="JetBrains Mono" panose="02000009000000000000" charset="0"/>
              </a:rPr>
              <a:t>(num1, num2, step)</a:t>
            </a:r>
            <a:endParaRPr lang="en-US" altLang="en-US" b="0">
              <a:solidFill>
                <a:srgbClr val="080808"/>
              </a:solidFill>
              <a:latin typeface="JetBrains Mono" panose="02000009000000000000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rgbClr val="AD2A26"/>
                </a:solidFill>
                <a:sym typeface="+mn-ea"/>
              </a:rPr>
              <a:t>for循环的基础语法</a:t>
            </a:r>
            <a:endParaRPr lang="en-US" altLang="zh-CN" dirty="0">
              <a:solidFill>
                <a:srgbClr val="AD2A26"/>
              </a:solidFill>
            </a:endParaRPr>
          </a:p>
          <a:p>
            <a:pPr marL="914400" lvl="2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1865" b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基础语法</a:t>
            </a:r>
            <a:endParaRPr lang="en-US" altLang="zh-CN" sz="1865" b="0" dirty="0">
              <a:solidFill>
                <a:schemeClr val="tx1">
                  <a:lumMod val="65000"/>
                  <a:lumOff val="3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914400" lvl="2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b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range语句</a:t>
            </a:r>
            <a:endParaRPr lang="en-US" altLang="zh-CN" b="0" dirty="0">
              <a:solidFill>
                <a:schemeClr val="tx1">
                  <a:lumMod val="65000"/>
                  <a:lumOff val="3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914400" lvl="2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b="0" dirty="0">
                <a:solidFill>
                  <a:srgbClr val="AD2A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变量作用域</a:t>
            </a:r>
            <a:endParaRPr lang="en-US" altLang="zh-CN" b="0" dirty="0">
              <a:solidFill>
                <a:srgbClr val="AD2A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9675" y="398145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如图代码，思考一下：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红框中的</a:t>
            </a:r>
            <a:r>
              <a:rPr lang="en-US" altLang="zh-CN"/>
              <a:t>print</a:t>
            </a:r>
            <a:r>
              <a:rPr lang="zh-CN" altLang="en-US"/>
              <a:t>语句，能否访问到变量</a:t>
            </a:r>
            <a:r>
              <a:rPr lang="en-US" altLang="zh-CN"/>
              <a:t> i </a:t>
            </a:r>
            <a:r>
              <a:rPr lang="zh-CN" altLang="en-US"/>
              <a:t>？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94630" y="1710055"/>
            <a:ext cx="2524125" cy="1476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2" name="文本框 41"/>
          <p:cNvSpPr txBox="1"/>
          <p:nvPr/>
        </p:nvSpPr>
        <p:spPr>
          <a:xfrm>
            <a:off x="5294631" y="4579620"/>
            <a:ext cx="2254250" cy="82994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规范上：不允许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实际上：可以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2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for</a:t>
            </a:r>
            <a:r>
              <a:t>循环的变量作用域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回看</a:t>
            </a:r>
            <a:r>
              <a:rPr lang="en-US" altLang="zh-CN"/>
              <a:t>for</a:t>
            </a:r>
            <a:r>
              <a:rPr lang="zh-CN" altLang="en-US"/>
              <a:t>循环的语法，我们会发现，将从数据集（序列）中取出的数据赋值给：临时变量</a:t>
            </a:r>
            <a:endParaRPr lang="zh-CN" altLang="en-US"/>
          </a:p>
          <a:p>
            <a:r>
              <a:rPr lang="zh-CN" altLang="en-US"/>
              <a:t>为什么是临时的呢？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临时变量，在</a:t>
            </a:r>
            <a:r>
              <a:rPr lang="zh-CN" altLang="en-US">
                <a:solidFill>
                  <a:srgbClr val="FF0000"/>
                </a:solidFill>
              </a:rPr>
              <a:t>编程规范</a:t>
            </a:r>
            <a:r>
              <a:rPr lang="zh-CN" altLang="en-US"/>
              <a:t>上，作用范围（作用域），只限定在</a:t>
            </a:r>
            <a:r>
              <a:rPr lang="en-US" altLang="zh-CN"/>
              <a:t>for</a:t>
            </a:r>
            <a:r>
              <a:rPr lang="zh-CN" altLang="en-US"/>
              <a:t>循环内部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如果在</a:t>
            </a:r>
            <a:r>
              <a:rPr lang="en-US" altLang="zh-CN"/>
              <a:t>for</a:t>
            </a:r>
            <a:r>
              <a:rPr lang="zh-CN" altLang="en-US"/>
              <a:t>循环外部访问临时变量：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实际上是可以访问到的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在编程规范上，是不允许、不建议这么做的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593215"/>
            <a:ext cx="3676650" cy="885825"/>
          </a:xfrm>
          <a:prstGeom prst="rect">
            <a:avLst/>
          </a:prstGeom>
        </p:spPr>
      </p:pic>
      <p:pic>
        <p:nvPicPr>
          <p:cNvPr id="5" name="图片 4" descr="D:/新版课程资料/AI+数据分析研发/播仔最新素材库 - All update/播仔最新素材库 - All update/播仔素材库【1】0363.png播仔素材库【1】036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for</a:t>
            </a:r>
            <a:r>
              <a:rPr>
                <a:sym typeface="+mn-ea"/>
              </a:rPr>
              <a:t>循环的变量作用域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如果实在需要在循环外访问循环内的临时变量，可以在循环外预先定义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如图，每一次循环的时候，都会将取出的值赋予</a:t>
            </a:r>
            <a:r>
              <a:rPr lang="en-US" altLang="zh-CN"/>
              <a:t>i</a:t>
            </a:r>
            <a:r>
              <a:rPr lang="zh-CN" altLang="en-US"/>
              <a:t>变量。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由于</a:t>
            </a:r>
            <a:r>
              <a:rPr lang="en-US" altLang="zh-CN"/>
              <a:t>i</a:t>
            </a:r>
            <a:r>
              <a:rPr lang="zh-CN" altLang="en-US"/>
              <a:t>变量是在</a:t>
            </a:r>
            <a:r>
              <a:rPr lang="zh-CN" altLang="en-US">
                <a:solidFill>
                  <a:srgbClr val="FF0000"/>
                </a:solidFill>
              </a:rPr>
              <a:t>循环之前（外）定义</a:t>
            </a:r>
            <a:r>
              <a:rPr lang="zh-CN" altLang="en-US"/>
              <a:t>的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在循环外访问</a:t>
            </a:r>
            <a:r>
              <a:rPr lang="en-US" altLang="zh-CN"/>
              <a:t>i</a:t>
            </a:r>
            <a:r>
              <a:rPr lang="zh-CN" altLang="en-US"/>
              <a:t>变量是</a:t>
            </a:r>
            <a:r>
              <a:rPr lang="zh-CN" altLang="en-US">
                <a:solidFill>
                  <a:srgbClr val="FF0000"/>
                </a:solidFill>
              </a:rPr>
              <a:t>合理的、允许的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6300"/>
            <a:ext cx="3752850" cy="1819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D:/新版课程资料/AI+数据分析研发/播仔最新素材库 - All update/播仔最新素材库 - All update/播仔素材库【1】0363.png播仔素材库【1】036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for</a:t>
            </a:r>
            <a:r>
              <a:rPr lang="zh-CN" altLang="en-US"/>
              <a:t>循环中的临时变量，其作用域限定为：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循环内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这种限定：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是编程规范的限定，而非强制限定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不遵守也能正常运行，但是不建议这样做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如需访问临时变量，可以预先在循环外定义它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dirty="0">
                <a:sym typeface="+mn-ea"/>
              </a:rPr>
              <a:t>while循环的基础语法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while</a:t>
            </a:r>
            <a:r>
              <a:rPr lang="zh-CN" altLang="en-US" dirty="0">
                <a:sym typeface="+mn-ea"/>
              </a:rPr>
              <a:t>循环的基础案例</a:t>
            </a:r>
            <a:endParaRPr lang="en-US" altLang="zh-CN" dirty="0"/>
          </a:p>
          <a:p>
            <a:pPr algn="l"/>
            <a:r>
              <a:rPr lang="zh-CN" altLang="en-US" dirty="0">
                <a:sym typeface="+mn-ea"/>
              </a:rPr>
              <a:t>while循环的嵌套应用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while循环的嵌套案例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for循环的基础语法</a:t>
            </a:r>
            <a:endParaRPr lang="zh-CN" altLang="en-US" dirty="0"/>
          </a:p>
          <a:p>
            <a:pPr algn="l"/>
            <a:r>
              <a:rPr lang="en-US" altLang="zh-CN" dirty="0">
                <a:solidFill>
                  <a:srgbClr val="AD2A26"/>
                </a:solidFill>
                <a:sym typeface="+mn-ea"/>
              </a:rPr>
              <a:t>for循环的嵌套应用</a:t>
            </a:r>
            <a:endParaRPr lang="en-US" altLang="zh-CN" dirty="0">
              <a:solidFill>
                <a:srgbClr val="AD2A26"/>
              </a:solidFill>
            </a:endParaRPr>
          </a:p>
          <a:p>
            <a:r>
              <a:rPr lang="zh-CN" altLang="en-US" dirty="0">
                <a:sym typeface="+mn-ea"/>
              </a:rPr>
              <a:t>循环中断 </a:t>
            </a:r>
            <a:r>
              <a:rPr lang="en-US" altLang="zh-CN" dirty="0">
                <a:sym typeface="+mn-ea"/>
              </a:rPr>
              <a:t>: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break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continue</a:t>
            </a:r>
            <a:endParaRPr lang="en-US" altLang="zh-CN" dirty="0">
              <a:solidFill>
                <a:srgbClr val="C00000"/>
              </a:solidFill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426974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掌握</a:t>
            </a:r>
            <a:r>
              <a:rPr lang="en-US" altLang="zh-CN" dirty="0">
                <a:solidFill>
                  <a:srgbClr val="C00000"/>
                </a:solidFill>
              </a:rPr>
              <a:t>for</a:t>
            </a:r>
            <a:r>
              <a:rPr lang="zh-CN" altLang="en-US" dirty="0">
                <a:solidFill>
                  <a:srgbClr val="C00000"/>
                </a:solidFill>
              </a:rPr>
              <a:t>循环的嵌套使用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for</a:t>
            </a:r>
            <a:r>
              <a:t>循环的嵌套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同</a:t>
            </a:r>
            <a:r>
              <a:rPr lang="en-US" altLang="zh-CN"/>
              <a:t>while</a:t>
            </a:r>
            <a:r>
              <a:rPr lang="zh-CN" altLang="en-US"/>
              <a:t>一样，</a:t>
            </a:r>
            <a:r>
              <a:rPr lang="en-US" altLang="zh-CN"/>
              <a:t>for</a:t>
            </a:r>
            <a:r>
              <a:rPr lang="zh-CN" altLang="en-US"/>
              <a:t>循环也支持嵌套使用</a:t>
            </a:r>
            <a:endParaRPr lang="zh-CN" altLang="en-US"/>
          </a:p>
          <a:p>
            <a:r>
              <a:rPr lang="zh-CN" altLang="en-US"/>
              <a:t>生活中的嵌套循环</a:t>
            </a:r>
            <a:r>
              <a:rPr lang="en-US" altLang="zh-CN"/>
              <a:t>                                                                   </a:t>
            </a:r>
            <a:r>
              <a:rPr lang="zh-CN" altLang="en-US"/>
              <a:t>程序中的嵌套</a:t>
            </a:r>
            <a:r>
              <a:rPr lang="en-US" altLang="zh-CN"/>
              <a:t>for</a:t>
            </a:r>
            <a:r>
              <a:rPr lang="zh-CN" altLang="en-US"/>
              <a:t>循环</a:t>
            </a:r>
            <a:endParaRPr lang="zh-CN" altLang="en-US"/>
          </a:p>
        </p:txBody>
      </p:sp>
      <p:pic>
        <p:nvPicPr>
          <p:cNvPr id="4" name="图片 3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6110" y="2440305"/>
            <a:ext cx="1414145" cy="1414145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>
          <a:xfrm>
            <a:off x="2537460" y="2971800"/>
            <a:ext cx="2452370" cy="617855"/>
          </a:xfrm>
          <a:prstGeom prst="wedgeRoundRectCallout">
            <a:avLst>
              <a:gd name="adj1" fmla="val -80838"/>
              <a:gd name="adj2" fmla="val -37461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每天</a:t>
            </a: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都去向小美表白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直到</a:t>
            </a: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成功为止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10" name="图片 9" descr="01 (135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34420" y="5332730"/>
            <a:ext cx="1395730" cy="1395730"/>
          </a:xfrm>
          <a:prstGeom prst="rect">
            <a:avLst/>
          </a:prstGeom>
        </p:spPr>
      </p:pic>
      <p:sp>
        <p:nvSpPr>
          <p:cNvPr id="6" name="圆角矩形标注 5"/>
          <p:cNvSpPr/>
          <p:nvPr/>
        </p:nvSpPr>
        <p:spPr>
          <a:xfrm>
            <a:off x="2508250" y="3751580"/>
            <a:ext cx="2452370" cy="962660"/>
          </a:xfrm>
          <a:prstGeom prst="wedgeRoundRectCallout">
            <a:avLst>
              <a:gd name="adj1" fmla="val -79259"/>
              <a:gd name="adj2" fmla="val -7877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每次</a:t>
            </a: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表白的流程是：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送</a:t>
            </a:r>
            <a:r>
              <a:rPr lang="en-US" altLang="zh-CN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10</a:t>
            </a: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朵玫瑰然后表白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410" y="2611755"/>
            <a:ext cx="4130040" cy="32416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练习案例</a:t>
            </a:r>
            <a:r>
              <a:rPr lang="en-US" altLang="zh-CN"/>
              <a:t>-for</a:t>
            </a:r>
            <a:r>
              <a:t>循环打印九九乘法表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通过</a:t>
            </a:r>
            <a:r>
              <a:rPr lang="en-US" altLang="zh-CN"/>
              <a:t>for</a:t>
            </a:r>
            <a:r>
              <a:rPr lang="zh-CN" altLang="en-US"/>
              <a:t>循环，输出如下九九乘法表内容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提示：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2</a:t>
            </a:r>
            <a:r>
              <a:rPr lang="zh-CN" altLang="en-US"/>
              <a:t>层循环，外层控制行，内层控制列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可使用</a:t>
            </a:r>
            <a:r>
              <a:rPr lang="en-US" altLang="zh-CN"/>
              <a:t>range</a:t>
            </a:r>
            <a:r>
              <a:rPr lang="zh-CN" altLang="en-US"/>
              <a:t>语句来得到数字序列进行</a:t>
            </a:r>
            <a:r>
              <a:rPr lang="en-US" altLang="zh-CN"/>
              <a:t>for</a:t>
            </a:r>
            <a:r>
              <a:rPr lang="zh-CN" altLang="en-US"/>
              <a:t>循环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内层</a:t>
            </a:r>
            <a:r>
              <a:rPr lang="en-US" altLang="zh-CN"/>
              <a:t>for</a:t>
            </a:r>
            <a:r>
              <a:rPr lang="zh-CN" altLang="en-US"/>
              <a:t>循环的</a:t>
            </a:r>
            <a:r>
              <a:rPr lang="en-US" altLang="zh-CN"/>
              <a:t>range</a:t>
            </a:r>
            <a:r>
              <a:rPr lang="zh-CN" altLang="en-US"/>
              <a:t>最大范围，取决于当前外层循环的数字</a:t>
            </a:r>
            <a:endParaRPr lang="zh-CN" altLang="en-US"/>
          </a:p>
        </p:txBody>
      </p:sp>
      <p:pic>
        <p:nvPicPr>
          <p:cNvPr id="5" name="图片 4" descr="01 (10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705" y="5588000"/>
            <a:ext cx="1120775" cy="11207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17420" y="2258060"/>
            <a:ext cx="6783070" cy="2458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dirty="0">
                <a:sym typeface="+mn-ea"/>
              </a:rPr>
              <a:t>while循环的基础语法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while</a:t>
            </a:r>
            <a:r>
              <a:rPr lang="zh-CN" altLang="en-US" dirty="0">
                <a:sym typeface="+mn-ea"/>
              </a:rPr>
              <a:t>循环的基础案例</a:t>
            </a:r>
            <a:endParaRPr lang="en-US" altLang="zh-CN" dirty="0"/>
          </a:p>
          <a:p>
            <a:pPr algn="l"/>
            <a:r>
              <a:rPr lang="zh-CN" altLang="en-US" dirty="0">
                <a:sym typeface="+mn-ea"/>
              </a:rPr>
              <a:t>while循环的嵌套应用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while循环的嵌套案例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for循环的基础语法</a:t>
            </a:r>
            <a:endParaRPr lang="en-US" altLang="zh-CN" dirty="0">
              <a:solidFill>
                <a:srgbClr val="AD2A26"/>
              </a:solidFill>
            </a:endParaRPr>
          </a:p>
          <a:p>
            <a:pPr algn="l"/>
            <a:r>
              <a:rPr lang="zh-CN" altLang="en-US" dirty="0">
                <a:sym typeface="+mn-ea"/>
              </a:rPr>
              <a:t>for循环的嵌套应用</a:t>
            </a:r>
            <a:endParaRPr lang="zh-CN" altLang="en-US" dirty="0"/>
          </a:p>
          <a:p>
            <a:pPr algn="l"/>
            <a:r>
              <a:rPr lang="en-US" altLang="zh-CN" dirty="0">
                <a:solidFill>
                  <a:srgbClr val="AD2A26"/>
                </a:solidFill>
                <a:sym typeface="+mn-ea"/>
              </a:rPr>
              <a:t>循环中断 : break和continue</a:t>
            </a:r>
            <a:endParaRPr lang="en-US" altLang="zh-CN" dirty="0">
              <a:solidFill>
                <a:srgbClr val="C00000"/>
              </a:solidFill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487553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掌握使用</a:t>
            </a:r>
            <a:r>
              <a:rPr lang="en-US" altLang="zh-CN" dirty="0">
                <a:solidFill>
                  <a:srgbClr val="C00000"/>
                </a:solidFill>
              </a:rPr>
              <a:t>continue</a:t>
            </a:r>
            <a:r>
              <a:rPr lang="zh-CN" altLang="en-US" dirty="0">
                <a:solidFill>
                  <a:srgbClr val="C00000"/>
                </a:solidFill>
              </a:rPr>
              <a:t>和</a:t>
            </a:r>
            <a:r>
              <a:rPr lang="en-US" altLang="zh-CN" dirty="0">
                <a:solidFill>
                  <a:srgbClr val="C00000"/>
                </a:solidFill>
              </a:rPr>
              <a:t>break</a:t>
            </a:r>
            <a:r>
              <a:rPr lang="zh-CN" altLang="en-US" dirty="0">
                <a:solidFill>
                  <a:srgbClr val="C00000"/>
                </a:solidFill>
              </a:rPr>
              <a:t>关键字控制循环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36370"/>
            <a:ext cx="6485890" cy="4710430"/>
          </a:xfrm>
        </p:spPr>
        <p:txBody>
          <a:bodyPr/>
          <a:p>
            <a:pPr marL="0" indent="0">
              <a:buNone/>
            </a:pPr>
            <a:r>
              <a:rPr lang="zh-CN" altLang="en-US" sz="1600"/>
              <a:t>思考：无论是</a:t>
            </a:r>
            <a:r>
              <a:rPr lang="en-US" altLang="zh-CN" sz="1600"/>
              <a:t>while</a:t>
            </a:r>
            <a:r>
              <a:rPr lang="zh-CN" altLang="en-US" sz="1600"/>
              <a:t>循环或是</a:t>
            </a:r>
            <a:r>
              <a:rPr lang="en-US" altLang="zh-CN" sz="1600"/>
              <a:t>for</a:t>
            </a:r>
            <a:r>
              <a:rPr lang="zh-CN" altLang="en-US" sz="1600"/>
              <a:t>循环，都是重复性的执行特定操作。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在这个重复的过程中，会出现一些其它情况让我们不得不：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暂时跳过某次循环，直接进行下一次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提前退出循环，不在继续</a:t>
            </a:r>
            <a:endParaRPr lang="zh-CN" altLang="en-US" sz="140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/>
              <a:t>对于这种场景，</a:t>
            </a:r>
            <a:r>
              <a:rPr lang="en-US" altLang="zh-CN" sz="1600"/>
              <a:t>Python</a:t>
            </a:r>
            <a:r>
              <a:rPr lang="zh-CN" altLang="en-US" sz="1600"/>
              <a:t>提供</a:t>
            </a:r>
            <a:r>
              <a:rPr lang="en-US" altLang="zh-CN" sz="1600"/>
              <a:t>continue</a:t>
            </a:r>
            <a:r>
              <a:rPr lang="zh-CN" altLang="en-US" sz="1600"/>
              <a:t>和</a:t>
            </a:r>
            <a:r>
              <a:rPr lang="en-US" altLang="zh-CN" sz="1600"/>
              <a:t>break</a:t>
            </a:r>
            <a:r>
              <a:rPr lang="zh-CN" altLang="en-US" sz="1600"/>
              <a:t>关键字</a:t>
            </a:r>
            <a:endParaRPr lang="zh-CN" altLang="en-US" sz="160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/>
              <a:t>用以对循环进行</a:t>
            </a:r>
            <a:r>
              <a:rPr lang="zh-CN" altLang="en-US" sz="1600">
                <a:solidFill>
                  <a:srgbClr val="FF0000"/>
                </a:solidFill>
              </a:rPr>
              <a:t>临时跳过</a:t>
            </a:r>
            <a:r>
              <a:rPr lang="zh-CN" altLang="en-US" sz="1600"/>
              <a:t>和</a:t>
            </a:r>
            <a:r>
              <a:rPr lang="zh-CN" altLang="en-US" sz="1600">
                <a:solidFill>
                  <a:srgbClr val="FF0000"/>
                </a:solidFill>
              </a:rPr>
              <a:t>直接结束</a:t>
            </a:r>
            <a:endParaRPr lang="zh-CN" altLang="en-US" sz="1600">
              <a:solidFill>
                <a:srgbClr val="FF0000"/>
              </a:solidFill>
            </a:endParaRPr>
          </a:p>
        </p:txBody>
      </p:sp>
      <p:pic>
        <p:nvPicPr>
          <p:cNvPr id="8" name="图片 7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40155" y="2129155"/>
            <a:ext cx="2362835" cy="2362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continue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continue</a:t>
            </a:r>
            <a:r>
              <a:rPr lang="zh-CN" altLang="en-US"/>
              <a:t>关键字用于：</a:t>
            </a:r>
            <a:r>
              <a:rPr lang="zh-CN" altLang="en-US">
                <a:solidFill>
                  <a:srgbClr val="FF0000"/>
                </a:solidFill>
              </a:rPr>
              <a:t>中断本次</a:t>
            </a:r>
            <a:r>
              <a:rPr lang="zh-CN" altLang="en-US"/>
              <a:t>循环，</a:t>
            </a:r>
            <a:r>
              <a:rPr lang="zh-CN" altLang="en-US">
                <a:solidFill>
                  <a:srgbClr val="FF0000"/>
                </a:solidFill>
              </a:rPr>
              <a:t>直接进入下一次</a:t>
            </a:r>
            <a:r>
              <a:rPr lang="zh-CN" altLang="en-US"/>
              <a:t>循环</a:t>
            </a:r>
            <a:endParaRPr lang="zh-CN" altLang="en-US"/>
          </a:p>
          <a:p>
            <a:r>
              <a:rPr lang="en-US" altLang="zh-CN"/>
              <a:t>continue</a:t>
            </a:r>
            <a:r>
              <a:rPr lang="zh-CN" altLang="en-US"/>
              <a:t>可以用于：</a:t>
            </a:r>
            <a:r>
              <a:rPr lang="en-US" altLang="zh-CN"/>
              <a:t>    </a:t>
            </a:r>
            <a:r>
              <a:rPr lang="en-US" altLang="zh-CN">
                <a:solidFill>
                  <a:srgbClr val="FF0000"/>
                </a:solidFill>
              </a:rPr>
              <a:t>for</a:t>
            </a:r>
            <a:r>
              <a:rPr lang="zh-CN" altLang="en-US">
                <a:solidFill>
                  <a:srgbClr val="FF0000"/>
                </a:solidFill>
              </a:rPr>
              <a:t>循环和</a:t>
            </a:r>
            <a:r>
              <a:rPr lang="en-US" altLang="zh-CN">
                <a:solidFill>
                  <a:srgbClr val="FF0000"/>
                </a:solidFill>
              </a:rPr>
              <a:t>while</a:t>
            </a:r>
            <a:r>
              <a:rPr lang="zh-CN" altLang="en-US">
                <a:solidFill>
                  <a:srgbClr val="FF0000"/>
                </a:solidFill>
              </a:rPr>
              <a:t>循环，效果一致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" name="图片 3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7525" y="2479675"/>
            <a:ext cx="1414145" cy="1414145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>
          <a:xfrm>
            <a:off x="2428875" y="3011170"/>
            <a:ext cx="2639060" cy="617855"/>
          </a:xfrm>
          <a:prstGeom prst="wedgeRoundRectCallout">
            <a:avLst>
              <a:gd name="adj1" fmla="val -80838"/>
              <a:gd name="adj2" fmla="val -37461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每天</a:t>
            </a: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都去向小美表白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送一日三餐，直到成功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2399665" y="3790950"/>
            <a:ext cx="2668905" cy="962660"/>
          </a:xfrm>
          <a:prstGeom prst="wedgeRoundRectCallout">
            <a:avLst>
              <a:gd name="adj1" fmla="val -79259"/>
              <a:gd name="adj2" fmla="val -7877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每天送晚餐的时候</a:t>
            </a:r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看小美脸色，今天不高兴就不送了，明天继续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7" name="图片 6" descr="D:/新版课程资料/AI+数据分析研发/播仔最新素材库 - All update/播仔最新素材库 - All update/播仔素材库【1】0363.png播仔素材库【1】036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break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break</a:t>
            </a:r>
            <a:r>
              <a:rPr lang="zh-CN" altLang="en-US"/>
              <a:t>关键字用于：</a:t>
            </a:r>
            <a:r>
              <a:rPr lang="zh-CN" altLang="en-US">
                <a:solidFill>
                  <a:srgbClr val="FF0000"/>
                </a:solidFill>
              </a:rPr>
              <a:t>直接结束所在循环</a:t>
            </a:r>
            <a:endParaRPr lang="zh-CN" altLang="en-US"/>
          </a:p>
          <a:p>
            <a:r>
              <a:rPr lang="en-US" altLang="zh-CN"/>
              <a:t>break</a:t>
            </a:r>
            <a:r>
              <a:rPr lang="zh-CN" altLang="en-US"/>
              <a:t>可以用于：</a:t>
            </a:r>
            <a:r>
              <a:rPr lang="en-US" altLang="zh-CN"/>
              <a:t>    </a:t>
            </a:r>
            <a:r>
              <a:rPr lang="en-US" altLang="zh-CN">
                <a:solidFill>
                  <a:srgbClr val="FF0000"/>
                </a:solidFill>
              </a:rPr>
              <a:t>for</a:t>
            </a:r>
            <a:r>
              <a:rPr lang="zh-CN" altLang="en-US">
                <a:solidFill>
                  <a:srgbClr val="FF0000"/>
                </a:solidFill>
              </a:rPr>
              <a:t>循环和</a:t>
            </a:r>
            <a:r>
              <a:rPr lang="en-US" altLang="zh-CN">
                <a:solidFill>
                  <a:srgbClr val="FF0000"/>
                </a:solidFill>
              </a:rPr>
              <a:t>while</a:t>
            </a:r>
            <a:r>
              <a:rPr lang="zh-CN" altLang="en-US">
                <a:solidFill>
                  <a:srgbClr val="FF0000"/>
                </a:solidFill>
              </a:rPr>
              <a:t>循环，效果一致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" name="图片 3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7525" y="2479675"/>
            <a:ext cx="1414145" cy="1414145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>
          <a:xfrm>
            <a:off x="2428875" y="3011170"/>
            <a:ext cx="2639060" cy="617855"/>
          </a:xfrm>
          <a:prstGeom prst="wedgeRoundRectCallout">
            <a:avLst>
              <a:gd name="adj1" fmla="val -80838"/>
              <a:gd name="adj2" fmla="val -37461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每天</a:t>
            </a: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都去向小美表白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送一日三餐，直到成功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2399665" y="3790950"/>
            <a:ext cx="2668905" cy="962660"/>
          </a:xfrm>
          <a:prstGeom prst="wedgeRoundRectCallout">
            <a:avLst>
              <a:gd name="adj1" fmla="val -79259"/>
              <a:gd name="adj2" fmla="val -7877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某天小美说，不要再打扰我了</a:t>
            </a:r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，以后就不再缠着她了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7" name="图片 6" descr="D:/新版课程资料/AI+数据分析研发/播仔最新素材库 - All update/播仔最新素材库 - All update/播仔素材库【1】0363.png播仔素材库【1】036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continue</a:t>
            </a:r>
            <a:r>
              <a:rPr lang="zh-CN" altLang="en-US"/>
              <a:t>的作用是：</a:t>
            </a:r>
            <a:endParaRPr lang="zh-CN" altLang="en-US"/>
          </a:p>
          <a:p>
            <a:pPr marL="0" indent="0">
              <a:buNone/>
            </a:pPr>
            <a:r>
              <a:rPr lang="zh-CN" altLang="en-US" sz="1600"/>
              <a:t>中断所在循环的当次执行，直接进入下一次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/>
              <a:t>2. break</a:t>
            </a:r>
            <a:r>
              <a:rPr lang="zh-CN" altLang="en-US"/>
              <a:t>的作用是：</a:t>
            </a:r>
            <a:endParaRPr lang="zh-CN" altLang="en-US"/>
          </a:p>
          <a:p>
            <a:pPr marL="0" indent="0">
              <a:buNone/>
            </a:pPr>
            <a:r>
              <a:rPr lang="zh-CN" altLang="en-US" sz="1600"/>
              <a:t>直接结束所在的循环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注意事项：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continue</a:t>
            </a:r>
            <a:r>
              <a:rPr lang="zh-CN" altLang="en-US" sz="1600"/>
              <a:t>和</a:t>
            </a:r>
            <a:r>
              <a:rPr lang="en-US" altLang="zh-CN" sz="1600"/>
              <a:t>break</a:t>
            </a:r>
            <a:r>
              <a:rPr lang="zh-CN" altLang="en-US" sz="1600"/>
              <a:t>，在</a:t>
            </a:r>
            <a:r>
              <a:rPr lang="en-US" altLang="zh-CN" sz="1600"/>
              <a:t>for</a:t>
            </a:r>
            <a:r>
              <a:rPr lang="zh-CN" altLang="en-US" sz="1600"/>
              <a:t>和</a:t>
            </a:r>
            <a:r>
              <a:rPr lang="en-US" altLang="zh-CN" sz="1600"/>
              <a:t>while</a:t>
            </a:r>
            <a:r>
              <a:rPr lang="zh-CN" altLang="en-US" sz="1600"/>
              <a:t>循环中作用一致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在嵌套循环中，只能作用在所在的循环上，无法对上层循环起作用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2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3.xml><?xml version="1.0" encoding="utf-8"?>
<p:tagLst xmlns:p="http://schemas.openxmlformats.org/presentationml/2006/main">
  <p:tag name="KSO_WM_UNIT_PLACING_PICTURE_USER_VIEWPORT" val="{&quot;height&quot;:2198,&quot;width&quot;:2198}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6.xml><?xml version="1.0" encoding="utf-8"?>
<p:tagLst xmlns:p="http://schemas.openxmlformats.org/presentationml/2006/main">
  <p:tag name="KSO_WM_UNIT_PLACING_PICTURE_USER_VIEWPORT" val="{&quot;height&quot;:2325,&quot;width&quot;:3975}"/>
</p:tagLst>
</file>

<file path=ppt/tags/tag7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8.xml><?xml version="1.0" encoding="utf-8"?>
<p:tagLst xmlns:p="http://schemas.openxmlformats.org/presentationml/2006/main">
  <p:tag name="KSO_WM_UNIT_PLACING_PICTURE_USER_VIEWPORT" val="{&quot;height&quot;:2198,&quot;width&quot;:2198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11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12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13.xml><?xml version="1.0" encoding="utf-8"?>
<p:tagLst xmlns:p="http://schemas.openxmlformats.org/presentationml/2006/main">
  <p:tag name="COMMONDATA" val="eyJoZGlkIjoiNDhiY2VkMGUwZjljMDllYTk3ZWVhNzg1MGY3MjdkNGMifQ=="/>
  <p:tag name="KSO_WPP_MARK_KEY" val="cd76b4f1-428a-44a8-b603-3a5f3af38283"/>
  <p:tag name="commondata" val="eyJoZGlkIjoiZjFlMjg2MmYxODM4Yjk5ZDc5MGVmYjg0M2JjYjM0MTg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4559</Words>
  <Application>WPS 演示</Application>
  <PresentationFormat>宽屏</PresentationFormat>
  <Paragraphs>470</Paragraphs>
  <Slides>48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48</vt:i4>
      </vt:variant>
    </vt:vector>
  </HeadingPairs>
  <TitlesOfParts>
    <vt:vector size="81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阿里巴巴普惠体</vt:lpstr>
      <vt:lpstr>Segoe UI</vt:lpstr>
      <vt:lpstr>微软雅黑</vt:lpstr>
      <vt:lpstr>Verdana</vt:lpstr>
      <vt:lpstr>华文楷体</vt:lpstr>
      <vt:lpstr>Alibaba PuHuiTi M</vt:lpstr>
      <vt:lpstr>Segoe UI Light</vt:lpstr>
      <vt:lpstr>微软雅黑 Light</vt:lpstr>
      <vt:lpstr>纤黑体</vt:lpstr>
      <vt:lpstr>Arial Unicode MS</vt:lpstr>
      <vt:lpstr>等线</vt:lpstr>
      <vt:lpstr>字语坊腹黑体</vt:lpstr>
      <vt:lpstr>JetBrains Mono</vt:lpstr>
      <vt:lpstr>Segoe Print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1_正文设计方案</vt:lpstr>
      <vt:lpstr>2_正文设计方案</vt:lpstr>
      <vt:lpstr>2_学习目标</vt:lpstr>
      <vt:lpstr>3_学习目标</vt:lpstr>
      <vt:lpstr>Python循环语句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596</cp:revision>
  <dcterms:created xsi:type="dcterms:W3CDTF">2022-06-17T05:26:00Z</dcterms:created>
  <dcterms:modified xsi:type="dcterms:W3CDTF">2025-04-16T12:08:03Z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D0FCA65862654234B94ED10715D862F7</vt:lpwstr>
  </property>
  <property fmtid="{D5CDD505-2E9C-101B-9397-08002B2CF9AE}" pid="3" name="KSOProductBuildVer">
    <vt:lpwstr>2052-12.1.0.20305</vt:lpwstr>
  </property>
</Properties>
</file>