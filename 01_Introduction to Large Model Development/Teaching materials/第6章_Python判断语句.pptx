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4" r:id="rId4"/>
    <p:sldMasterId id="2147483656" r:id="rId5"/>
    <p:sldMasterId id="2147483658" r:id="rId6"/>
    <p:sldMasterId id="2147483661" r:id="rId7"/>
    <p:sldMasterId id="2147483678" r:id="rId8"/>
    <p:sldMasterId id="2147483680" r:id="rId9"/>
    <p:sldMasterId id="2147483682" r:id="rId10"/>
  </p:sldMasterIdLst>
  <p:notesMasterIdLst>
    <p:notesMasterId r:id="rId12"/>
  </p:notesMasterIdLst>
  <p:handoutMasterIdLst>
    <p:handoutMasterId r:id="rId50"/>
  </p:handoutMasterIdLst>
  <p:sldIdLst>
    <p:sldId id="1019" r:id="rId11"/>
    <p:sldId id="1065" r:id="rId13"/>
    <p:sldId id="1111" r:id="rId14"/>
    <p:sldId id="463" r:id="rId15"/>
    <p:sldId id="464" r:id="rId16"/>
    <p:sldId id="467" r:id="rId17"/>
    <p:sldId id="1112" r:id="rId18"/>
    <p:sldId id="1113" r:id="rId19"/>
    <p:sldId id="1114" r:id="rId20"/>
    <p:sldId id="1115" r:id="rId21"/>
    <p:sldId id="1117" r:id="rId22"/>
    <p:sldId id="1118" r:id="rId23"/>
    <p:sldId id="1120" r:id="rId24"/>
    <p:sldId id="1119" r:id="rId25"/>
    <p:sldId id="1121" r:id="rId26"/>
    <p:sldId id="955" r:id="rId27"/>
    <p:sldId id="1122" r:id="rId28"/>
    <p:sldId id="954" r:id="rId29"/>
    <p:sldId id="956" r:id="rId30"/>
    <p:sldId id="1124" r:id="rId31"/>
    <p:sldId id="1127" r:id="rId32"/>
    <p:sldId id="1125" r:id="rId33"/>
    <p:sldId id="1130" r:id="rId34"/>
    <p:sldId id="970" r:id="rId35"/>
    <p:sldId id="972" r:id="rId36"/>
    <p:sldId id="1131" r:id="rId37"/>
    <p:sldId id="1132" r:id="rId38"/>
    <p:sldId id="1139" r:id="rId39"/>
    <p:sldId id="975" r:id="rId40"/>
    <p:sldId id="977" r:id="rId41"/>
    <p:sldId id="1140" r:id="rId42"/>
    <p:sldId id="1141" r:id="rId43"/>
    <p:sldId id="1142" r:id="rId44"/>
    <p:sldId id="1145" r:id="rId45"/>
    <p:sldId id="980" r:id="rId46"/>
    <p:sldId id="982" r:id="rId47"/>
    <p:sldId id="983" r:id="rId48"/>
    <p:sldId id="264" r:id="rId49"/>
  </p:sldIdLst>
  <p:sldSz cx="12192000" cy="6858000"/>
  <p:notesSz cx="6858000" cy="9144000"/>
  <p:custDataLst>
    <p:tags r:id="rId5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4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2A26"/>
    <a:srgbClr val="D9D9D9"/>
    <a:srgbClr val="49504F"/>
    <a:srgbClr val="AD2B26"/>
    <a:srgbClr val="B60206"/>
    <a:srgbClr val="B70006"/>
    <a:srgbClr val="FFFFE4"/>
    <a:srgbClr val="919191"/>
    <a:srgbClr val="333333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 showGuides="1">
      <p:cViewPr varScale="1">
        <p:scale>
          <a:sx n="93" d="100"/>
          <a:sy n="93" d="100"/>
        </p:scale>
        <p:origin x="216" y="520"/>
      </p:cViewPr>
      <p:guideLst>
        <p:guide orient="horz" pos="6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4" Type="http://schemas.openxmlformats.org/officeDocument/2006/relationships/tags" Target="tags/tag14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handoutMaster" Target="handoutMasters/handoutMaster1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8.xml"/><Relationship Id="rId48" Type="http://schemas.openxmlformats.org/officeDocument/2006/relationships/slide" Target="slides/slide37.xml"/><Relationship Id="rId47" Type="http://schemas.openxmlformats.org/officeDocument/2006/relationships/slide" Target="slides/slide36.xml"/><Relationship Id="rId46" Type="http://schemas.openxmlformats.org/officeDocument/2006/relationships/slide" Target="slides/slide35.xml"/><Relationship Id="rId45" Type="http://schemas.openxmlformats.org/officeDocument/2006/relationships/slide" Target="slides/slide34.xml"/><Relationship Id="rId44" Type="http://schemas.openxmlformats.org/officeDocument/2006/relationships/slide" Target="slides/slide33.xml"/><Relationship Id="rId43" Type="http://schemas.openxmlformats.org/officeDocument/2006/relationships/slide" Target="slides/slide32.xml"/><Relationship Id="rId42" Type="http://schemas.openxmlformats.org/officeDocument/2006/relationships/slide" Target="slides/slide31.xml"/><Relationship Id="rId41" Type="http://schemas.openxmlformats.org/officeDocument/2006/relationships/slide" Target="slides/slide30.xml"/><Relationship Id="rId40" Type="http://schemas.openxmlformats.org/officeDocument/2006/relationships/slide" Target="slides/slide29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8.xml"/><Relationship Id="rId38" Type="http://schemas.openxmlformats.org/officeDocument/2006/relationships/slide" Target="slides/slide27.xml"/><Relationship Id="rId37" Type="http://schemas.openxmlformats.org/officeDocument/2006/relationships/slide" Target="slides/slide26.xml"/><Relationship Id="rId36" Type="http://schemas.openxmlformats.org/officeDocument/2006/relationships/slide" Target="slides/slide25.xml"/><Relationship Id="rId35" Type="http://schemas.openxmlformats.org/officeDocument/2006/relationships/slide" Target="slides/slide24.xml"/><Relationship Id="rId34" Type="http://schemas.openxmlformats.org/officeDocument/2006/relationships/slide" Target="slides/slide23.xml"/><Relationship Id="rId33" Type="http://schemas.openxmlformats.org/officeDocument/2006/relationships/slide" Target="slides/slide22.xml"/><Relationship Id="rId32" Type="http://schemas.openxmlformats.org/officeDocument/2006/relationships/slide" Target="slides/slide21.xml"/><Relationship Id="rId31" Type="http://schemas.openxmlformats.org/officeDocument/2006/relationships/slide" Target="slides/slide20.xml"/><Relationship Id="rId30" Type="http://schemas.openxmlformats.org/officeDocument/2006/relationships/slide" Target="slides/slide19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8" Type="http://schemas.openxmlformats.org/officeDocument/2006/relationships/slide" Target="slides/slide17.xml"/><Relationship Id="rId27" Type="http://schemas.openxmlformats.org/officeDocument/2006/relationships/slide" Target="slides/slide16.xml"/><Relationship Id="rId26" Type="http://schemas.openxmlformats.org/officeDocument/2006/relationships/slide" Target="slides/slide15.xml"/><Relationship Id="rId25" Type="http://schemas.openxmlformats.org/officeDocument/2006/relationships/slide" Target="slides/slide14.xml"/><Relationship Id="rId24" Type="http://schemas.openxmlformats.org/officeDocument/2006/relationships/slide" Target="slides/slide13.xml"/><Relationship Id="rId23" Type="http://schemas.openxmlformats.org/officeDocument/2006/relationships/slide" Target="slides/slide12.xml"/><Relationship Id="rId22" Type="http://schemas.openxmlformats.org/officeDocument/2006/relationships/slide" Target="slides/slide11.xml"/><Relationship Id="rId21" Type="http://schemas.openxmlformats.org/officeDocument/2006/relationships/slide" Target="slides/slide10.xml"/><Relationship Id="rId20" Type="http://schemas.openxmlformats.org/officeDocument/2006/relationships/slide" Target="slides/slide9.xml"/><Relationship Id="rId2" Type="http://schemas.openxmlformats.org/officeDocument/2006/relationships/theme" Target="theme/theme1.xml"/><Relationship Id="rId19" Type="http://schemas.openxmlformats.org/officeDocument/2006/relationships/slide" Target="slides/slide8.xml"/><Relationship Id="rId18" Type="http://schemas.openxmlformats.org/officeDocument/2006/relationships/slide" Target="slides/slide7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字面量</a:t>
            </a:r>
            <a:endParaRPr lang="zh-CN" altLang="en-US"/>
          </a:p>
          <a:p>
            <a:r>
              <a:rPr lang="zh-CN" altLang="en-US"/>
              <a:t>变量</a:t>
            </a:r>
            <a:endParaRPr lang="zh-CN" altLang="en-US"/>
          </a:p>
          <a:p>
            <a:r>
              <a:rPr lang="zh-CN" altLang="en-US"/>
              <a:t>数据类型</a:t>
            </a:r>
            <a:endParaRPr lang="zh-CN" altLang="en-US"/>
          </a:p>
          <a:p>
            <a:r>
              <a:rPr lang="zh-CN" altLang="en-US"/>
              <a:t>标识符</a:t>
            </a:r>
            <a:endParaRPr lang="zh-CN" altLang="en-US"/>
          </a:p>
          <a:p>
            <a:r>
              <a:rPr lang="zh-CN" altLang="en-US"/>
              <a:t>运算符等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思路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8" Type="http://schemas.openxmlformats.org/officeDocument/2006/relationships/theme" Target="../theme/theme6.xml"/><Relationship Id="rId17" Type="http://schemas.openxmlformats.org/officeDocument/2006/relationships/image" Target="../media/image6.png"/><Relationship Id="rId16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6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3.svg"/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短时间，教会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  <a:sym typeface="华文楷体" panose="02010600040101010101" pitchFamily="2" charset="-122"/>
              </a:rPr>
              <a:t>更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pitchFamily="18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856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856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7" Type="http://schemas.openxmlformats.org/officeDocument/2006/relationships/slideLayout" Target="../slideLayouts/slideLayout9.xml"/><Relationship Id="rId26" Type="http://schemas.openxmlformats.org/officeDocument/2006/relationships/image" Target="../media/image34.svg"/><Relationship Id="rId25" Type="http://schemas.openxmlformats.org/officeDocument/2006/relationships/image" Target="../media/image33.png"/><Relationship Id="rId24" Type="http://schemas.openxmlformats.org/officeDocument/2006/relationships/image" Target="../media/image32.svg"/><Relationship Id="rId23" Type="http://schemas.openxmlformats.org/officeDocument/2006/relationships/image" Target="../media/image31.png"/><Relationship Id="rId22" Type="http://schemas.openxmlformats.org/officeDocument/2006/relationships/image" Target="../media/image30.svg"/><Relationship Id="rId21" Type="http://schemas.openxmlformats.org/officeDocument/2006/relationships/image" Target="../media/image29.png"/><Relationship Id="rId20" Type="http://schemas.openxmlformats.org/officeDocument/2006/relationships/image" Target="../media/image28.svg"/><Relationship Id="rId2" Type="http://schemas.openxmlformats.org/officeDocument/2006/relationships/image" Target="../media/image10.svg"/><Relationship Id="rId19" Type="http://schemas.openxmlformats.org/officeDocument/2006/relationships/image" Target="../media/image27.png"/><Relationship Id="rId18" Type="http://schemas.openxmlformats.org/officeDocument/2006/relationships/image" Target="../media/image26.svg"/><Relationship Id="rId17" Type="http://schemas.openxmlformats.org/officeDocument/2006/relationships/image" Target="../media/image25.png"/><Relationship Id="rId16" Type="http://schemas.openxmlformats.org/officeDocument/2006/relationships/image" Target="../media/image24.svg"/><Relationship Id="rId15" Type="http://schemas.openxmlformats.org/officeDocument/2006/relationships/image" Target="../media/image23.png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image" Target="../media/image20.svg"/><Relationship Id="rId11" Type="http://schemas.openxmlformats.org/officeDocument/2006/relationships/image" Target="../media/image19.png"/><Relationship Id="rId10" Type="http://schemas.openxmlformats.org/officeDocument/2006/relationships/image" Target="../media/image18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6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37.png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37.png"/><Relationship Id="rId3" Type="http://schemas.openxmlformats.org/officeDocument/2006/relationships/tags" Target="../tags/tag3.xml"/><Relationship Id="rId2" Type="http://schemas.openxmlformats.org/officeDocument/2006/relationships/image" Target="../media/image40.png"/><Relationship Id="rId1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9.xml"/><Relationship Id="rId1" Type="http://schemas.openxmlformats.org/officeDocument/2006/relationships/tags" Target="../tags/tag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42.png"/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tags" Target="../tags/tag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48.png"/><Relationship Id="rId3" Type="http://schemas.openxmlformats.org/officeDocument/2006/relationships/tags" Target="../tags/tag7.xml"/><Relationship Id="rId2" Type="http://schemas.openxmlformats.org/officeDocument/2006/relationships/image" Target="../media/image47.png"/><Relationship Id="rId1" Type="http://schemas.openxmlformats.org/officeDocument/2006/relationships/tags" Target="../tags/tag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0.png"/><Relationship Id="rId1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37.png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37.png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37.png"/><Relationship Id="rId1" Type="http://schemas.openxmlformats.org/officeDocument/2006/relationships/tags" Target="../tags/tag10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53.png"/><Relationship Id="rId2" Type="http://schemas.openxmlformats.org/officeDocument/2006/relationships/image" Target="../media/image37.png"/><Relationship Id="rId1" Type="http://schemas.openxmlformats.org/officeDocument/2006/relationships/tags" Target="../tags/tag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37.png"/><Relationship Id="rId1" Type="http://schemas.openxmlformats.org/officeDocument/2006/relationships/tags" Target="../tags/tag1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54.png"/><Relationship Id="rId2" Type="http://schemas.openxmlformats.org/officeDocument/2006/relationships/image" Target="../media/image37.png"/><Relationship Id="rId1" Type="http://schemas.openxmlformats.org/officeDocument/2006/relationships/tags" Target="../tags/tag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en-US" altLang="zh-CN" sz="4400" dirty="0">
                <a:solidFill>
                  <a:schemeClr val="accent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P</a:t>
            </a:r>
            <a:r>
              <a:rPr lang="en-US" altLang="zh-CN" sz="4400" dirty="0">
                <a:solidFill>
                  <a:schemeClr val="accent3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y</a:t>
            </a:r>
            <a:r>
              <a:rPr lang="en-US" altLang="zh-CN" sz="4400" dirty="0">
                <a:solidFill>
                  <a:schemeClr val="accent4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t</a:t>
            </a:r>
            <a:r>
              <a:rPr lang="en-US" altLang="zh-CN" sz="4400" dirty="0">
                <a:solidFill>
                  <a:schemeClr val="accent5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h</a:t>
            </a:r>
            <a:r>
              <a:rPr lang="en-US" altLang="zh-CN" sz="4400" dirty="0">
                <a:solidFill>
                  <a:schemeClr val="accent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o</a:t>
            </a:r>
            <a:r>
              <a:rPr lang="en-US" altLang="zh-CN" sz="4400" dirty="0">
                <a:solidFill>
                  <a:srgbClr val="92D05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n</a:t>
            </a:r>
            <a:r>
              <a:rPr lang="zh-CN" altLang="en-US" sz="4400" dirty="0">
                <a:solidFill>
                  <a:srgbClr val="262626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</a:rPr>
              <a:t>判断语句</a:t>
            </a:r>
            <a:endParaRPr lang="zh-CN" altLang="en-US" sz="4400" dirty="0">
              <a:solidFill>
                <a:srgbClr val="262626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2600" y="4360545"/>
            <a:ext cx="1179195" cy="11791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1465560" y="5950585"/>
            <a:ext cx="3098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kumimoji="1" lang="zh-CN" altLang="en-US" dirty="0"/>
              <a:t>人生苦短，我学</a:t>
            </a:r>
            <a:r>
              <a:rPr kumimoji="1" lang="en-US" altLang="zh-CN" dirty="0"/>
              <a:t>Python!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前言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0" indent="0">
              <a:buNone/>
            </a:pPr>
            <a:r>
              <a:rPr lang="zh-CN" altLang="en-US"/>
              <a:t>进行逻辑判断，是生活中常见的行为。同样，在程序中，进行逻辑判断也是最为基础的功能。</a:t>
            </a:r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5154930" y="2532380"/>
            <a:ext cx="928370" cy="44704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endParaRPr lang="zh-CN" altLang="en-US"/>
          </a:p>
        </p:txBody>
      </p:sp>
      <p:sp>
        <p:nvSpPr>
          <p:cNvPr id="20" name="菱形 19"/>
          <p:cNvSpPr/>
          <p:nvPr/>
        </p:nvSpPr>
        <p:spPr>
          <a:xfrm>
            <a:off x="5210810" y="3411855"/>
            <a:ext cx="815975" cy="815975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判断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4316730" y="4525010"/>
            <a:ext cx="894080" cy="4730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是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080125" y="4525010"/>
            <a:ext cx="89408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否</a:t>
            </a:r>
            <a:endParaRPr lang="zh-CN" altLang="en-US"/>
          </a:p>
        </p:txBody>
      </p:sp>
      <p:cxnSp>
        <p:nvCxnSpPr>
          <p:cNvPr id="26" name="直接箭头连接符 25"/>
          <p:cNvCxnSpPr>
            <a:stCxn id="2" idx="2"/>
            <a:endCxn id="20" idx="0"/>
          </p:cNvCxnSpPr>
          <p:nvPr/>
        </p:nvCxnSpPr>
        <p:spPr>
          <a:xfrm>
            <a:off x="5619115" y="2979420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20" idx="1"/>
            <a:endCxn id="21" idx="0"/>
          </p:cNvCxnSpPr>
          <p:nvPr/>
        </p:nvCxnSpPr>
        <p:spPr>
          <a:xfrm rot="10800000" flipV="1">
            <a:off x="4763770" y="3820160"/>
            <a:ext cx="447040" cy="7048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0" idx="3"/>
            <a:endCxn id="22" idx="0"/>
          </p:cNvCxnSpPr>
          <p:nvPr/>
        </p:nvCxnSpPr>
        <p:spPr>
          <a:xfrm>
            <a:off x="6026785" y="3820160"/>
            <a:ext cx="500380" cy="7048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/>
        </p:nvSpPr>
        <p:spPr>
          <a:xfrm>
            <a:off x="4317365" y="5397500"/>
            <a:ext cx="892810" cy="4121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33" name="直接箭头连接符 32"/>
          <p:cNvCxnSpPr>
            <a:stCxn id="21" idx="2"/>
            <a:endCxn id="32" idx="0"/>
          </p:cNvCxnSpPr>
          <p:nvPr/>
        </p:nvCxnSpPr>
        <p:spPr>
          <a:xfrm>
            <a:off x="4763770" y="4998085"/>
            <a:ext cx="0" cy="399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6081395" y="5397500"/>
            <a:ext cx="892810" cy="412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35" name="直接箭头连接符 34"/>
          <p:cNvCxnSpPr>
            <a:stCxn id="22" idx="2"/>
            <a:endCxn id="34" idx="0"/>
          </p:cNvCxnSpPr>
          <p:nvPr/>
        </p:nvCxnSpPr>
        <p:spPr>
          <a:xfrm>
            <a:off x="6527165" y="4998085"/>
            <a:ext cx="635" cy="399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为什么学习判断语句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45"/>
            <a:ext cx="10698800" cy="4219575"/>
          </a:xfrm>
        </p:spPr>
        <p:txBody>
          <a:bodyPr/>
          <a:p>
            <a:r>
              <a:rPr lang="zh-CN" altLang="en-US"/>
              <a:t>判断在程序中广泛应用，如果没有它，这些功能都难以实现。</a:t>
            </a:r>
            <a:endParaRPr lang="zh-CN" altLang="en-US"/>
          </a:p>
        </p:txBody>
      </p:sp>
      <p:pic>
        <p:nvPicPr>
          <p:cNvPr id="5" name="图片 4" descr="32313535383031353b32313535383030383b41544dd7d4d6fac8a1bfeebbfa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75510" y="2145030"/>
            <a:ext cx="914400" cy="914400"/>
          </a:xfrm>
          <a:prstGeom prst="rect">
            <a:avLst/>
          </a:prstGeom>
        </p:spPr>
      </p:pic>
      <p:pic>
        <p:nvPicPr>
          <p:cNvPr id="6" name="图片 5" descr="32313534373335333b32313534373335313bbcfcc5cc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5510" y="2953385"/>
            <a:ext cx="914400" cy="914400"/>
          </a:xfrm>
          <a:prstGeom prst="rect">
            <a:avLst/>
          </a:prstGeom>
        </p:spPr>
      </p:pic>
      <p:pic>
        <p:nvPicPr>
          <p:cNvPr id="7" name="图片 6" descr="32313538343431323b32313538343430323bb4f2b9b4d5fdc8b7b1eacab6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9260" y="5106670"/>
            <a:ext cx="476250" cy="476250"/>
          </a:xfrm>
          <a:prstGeom prst="rect">
            <a:avLst/>
          </a:prstGeom>
        </p:spPr>
      </p:pic>
      <p:pic>
        <p:nvPicPr>
          <p:cNvPr id="8" name="图片 7" descr="32313533373239393b32313533373437323bb4edcef3b4edb2e6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89910" y="5106035"/>
            <a:ext cx="476885" cy="476885"/>
          </a:xfrm>
          <a:prstGeom prst="rect">
            <a:avLst/>
          </a:prstGeom>
        </p:spPr>
      </p:pic>
      <p:pic>
        <p:nvPicPr>
          <p:cNvPr id="9" name="图片 8" descr="343637373336393b343637373437383bc7a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0040" y="5887085"/>
            <a:ext cx="694690" cy="694690"/>
          </a:xfrm>
          <a:prstGeom prst="rect">
            <a:avLst/>
          </a:prstGeom>
        </p:spPr>
      </p:pic>
      <p:pic>
        <p:nvPicPr>
          <p:cNvPr id="10" name="图片 9" descr="303b32313536363936383bbfd5b0d7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064510" y="5970270"/>
            <a:ext cx="527685" cy="527685"/>
          </a:xfrm>
          <a:prstGeom prst="rect">
            <a:avLst/>
          </a:prstGeom>
        </p:spPr>
      </p:pic>
      <p:pic>
        <p:nvPicPr>
          <p:cNvPr id="11" name="图片 10" descr="32313538393032333b32313538383533323bc5d0b6cfcce2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75510" y="3961765"/>
            <a:ext cx="914400" cy="914400"/>
          </a:xfrm>
          <a:prstGeom prst="rect">
            <a:avLst/>
          </a:prstGeom>
        </p:spPr>
      </p:pic>
      <p:cxnSp>
        <p:nvCxnSpPr>
          <p:cNvPr id="12" name="直接箭头连接符 11"/>
          <p:cNvCxnSpPr/>
          <p:nvPr/>
        </p:nvCxnSpPr>
        <p:spPr>
          <a:xfrm flipH="1">
            <a:off x="1937385" y="4876165"/>
            <a:ext cx="695325" cy="23050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1" idx="2"/>
          </p:cNvCxnSpPr>
          <p:nvPr/>
        </p:nvCxnSpPr>
        <p:spPr>
          <a:xfrm>
            <a:off x="2632710" y="4876165"/>
            <a:ext cx="695960" cy="229870"/>
          </a:xfrm>
          <a:prstGeom prst="straightConnector1">
            <a:avLst/>
          </a:prstGeom>
          <a:ln w="12700" cmpd="sng">
            <a:solidFill>
              <a:srgbClr val="B7000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7" idx="2"/>
            <a:endCxn id="9" idx="0"/>
          </p:cNvCxnSpPr>
          <p:nvPr/>
        </p:nvCxnSpPr>
        <p:spPr>
          <a:xfrm>
            <a:off x="1937385" y="5582920"/>
            <a:ext cx="0" cy="30416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8" idx="2"/>
            <a:endCxn id="10" idx="0"/>
          </p:cNvCxnSpPr>
          <p:nvPr/>
        </p:nvCxnSpPr>
        <p:spPr>
          <a:xfrm>
            <a:off x="3328670" y="5582920"/>
            <a:ext cx="0" cy="387350"/>
          </a:xfrm>
          <a:prstGeom prst="straightConnector1">
            <a:avLst/>
          </a:prstGeom>
          <a:ln w="12700" cmpd="sng">
            <a:solidFill>
              <a:srgbClr val="B7000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3089910" y="4188460"/>
            <a:ext cx="1404620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密码判断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7" name="图片 16" descr="32313539343238383b32313539343233383bc4d0b1a3b0b2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459730" y="2145030"/>
            <a:ext cx="914400" cy="914400"/>
          </a:xfrm>
          <a:prstGeom prst="rect">
            <a:avLst/>
          </a:prstGeom>
        </p:spPr>
      </p:pic>
      <p:pic>
        <p:nvPicPr>
          <p:cNvPr id="18" name="图片 17" descr="343538343130363b343538383237363bb6feceacc2eb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52035" y="5041265"/>
            <a:ext cx="607695" cy="607695"/>
          </a:xfrm>
          <a:prstGeom prst="rect">
            <a:avLst/>
          </a:prstGeom>
        </p:spPr>
      </p:pic>
      <p:pic>
        <p:nvPicPr>
          <p:cNvPr id="19" name="图片 18" descr="32313538393032333b32313538383533323bc5d0b6cfcce2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59730" y="3961130"/>
            <a:ext cx="914400" cy="914400"/>
          </a:xfrm>
          <a:prstGeom prst="rect">
            <a:avLst/>
          </a:prstGeom>
        </p:spPr>
      </p:pic>
      <p:pic>
        <p:nvPicPr>
          <p:cNvPr id="20" name="图片 19" descr="343538343130363b343538383237363bb6feceacc2eb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374130" y="5040630"/>
            <a:ext cx="607695" cy="607695"/>
          </a:xfrm>
          <a:prstGeom prst="rect">
            <a:avLst/>
          </a:prstGeom>
        </p:spPr>
      </p:pic>
      <p:pic>
        <p:nvPicPr>
          <p:cNvPr id="21" name="图片 20" descr="343435383130383b343532303735343bc9a8c2ebd6a7b8b6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579110" y="3173095"/>
            <a:ext cx="675005" cy="675005"/>
          </a:xfrm>
          <a:prstGeom prst="rect">
            <a:avLst/>
          </a:prstGeom>
        </p:spPr>
      </p:pic>
      <p:pic>
        <p:nvPicPr>
          <p:cNvPr id="22" name="图片 21" descr="32313538393031383b32313538383434333bb4f0b1e7cda8b9fd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4852035" y="5935345"/>
            <a:ext cx="597535" cy="597535"/>
          </a:xfrm>
          <a:prstGeom prst="rect">
            <a:avLst/>
          </a:prstGeom>
        </p:spPr>
      </p:pic>
      <p:pic>
        <p:nvPicPr>
          <p:cNvPr id="24" name="图片 23" descr="303b32303938323636363bb7c0bba4b7fe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363970" y="5870575"/>
            <a:ext cx="627380" cy="627380"/>
          </a:xfrm>
          <a:prstGeom prst="rect">
            <a:avLst/>
          </a:prstGeom>
        </p:spPr>
      </p:pic>
      <p:cxnSp>
        <p:nvCxnSpPr>
          <p:cNvPr id="25" name="直接箭头连接符 24"/>
          <p:cNvCxnSpPr>
            <a:stCxn id="19" idx="2"/>
            <a:endCxn id="18" idx="0"/>
          </p:cNvCxnSpPr>
          <p:nvPr/>
        </p:nvCxnSpPr>
        <p:spPr>
          <a:xfrm flipH="1">
            <a:off x="5156200" y="4875530"/>
            <a:ext cx="760730" cy="16573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9" idx="2"/>
            <a:endCxn id="20" idx="0"/>
          </p:cNvCxnSpPr>
          <p:nvPr/>
        </p:nvCxnSpPr>
        <p:spPr>
          <a:xfrm>
            <a:off x="5916930" y="4875530"/>
            <a:ext cx="761365" cy="165100"/>
          </a:xfrm>
          <a:prstGeom prst="straightConnector1">
            <a:avLst/>
          </a:prstGeom>
          <a:ln w="12700" cmpd="sng">
            <a:solidFill>
              <a:srgbClr val="B7000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8" idx="2"/>
            <a:endCxn id="22" idx="0"/>
          </p:cNvCxnSpPr>
          <p:nvPr/>
        </p:nvCxnSpPr>
        <p:spPr>
          <a:xfrm flipH="1">
            <a:off x="5151120" y="5648960"/>
            <a:ext cx="5080" cy="286385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20" idx="2"/>
            <a:endCxn id="24" idx="0"/>
          </p:cNvCxnSpPr>
          <p:nvPr/>
        </p:nvCxnSpPr>
        <p:spPr>
          <a:xfrm flipH="1">
            <a:off x="6677660" y="5648325"/>
            <a:ext cx="635" cy="222250"/>
          </a:xfrm>
          <a:prstGeom prst="straightConnector1">
            <a:avLst/>
          </a:prstGeom>
          <a:ln w="12700" cmpd="sng">
            <a:solidFill>
              <a:srgbClr val="B70006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374130" y="4187825"/>
            <a:ext cx="1404620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查健康码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136255" y="2222500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网站登陆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8136255" y="289496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指纹识别</a:t>
            </a:r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9879330" y="289496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人脸解锁</a:t>
            </a:r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9879330" y="222186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APP</a:t>
            </a:r>
            <a:r>
              <a:rPr lang="zh-CN" altLang="en-US"/>
              <a:t>登陆</a:t>
            </a:r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8136255" y="358330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景区验票</a:t>
            </a:r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9879330" y="358203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影院验票</a:t>
            </a:r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8136255" y="427164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门禁刷卡</a:t>
            </a:r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9879330" y="4269105"/>
            <a:ext cx="147637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车牌识别</a:t>
            </a:r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8136255" y="4876165"/>
            <a:ext cx="3220085" cy="43116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。。。。。。</a:t>
            </a:r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8441690" y="5410200"/>
            <a:ext cx="2626360" cy="82994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判断是程序最基础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最核心的逻辑功能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C00000"/>
                </a:solidFill>
                <a:sym typeface="+mn-ea"/>
              </a:rPr>
              <a:t>布尔类型和比较运算符</a:t>
            </a:r>
            <a:endParaRPr lang="zh-CN" altLang="en-US" dirty="0">
              <a:solidFill>
                <a:srgbClr val="C00000"/>
              </a:solidFill>
            </a:endParaRPr>
          </a:p>
          <a:p>
            <a:pPr algn="l"/>
            <a:r>
              <a:rPr lang="en-US" altLang="zh-CN" dirty="0"/>
              <a:t>if</a:t>
            </a:r>
            <a:r>
              <a:rPr lang="en-US" altLang="zh-CN" dirty="0"/>
              <a:t>语句的基本格式</a:t>
            </a:r>
            <a:endParaRPr lang="en-US" altLang="zh-CN" dirty="0"/>
          </a:p>
          <a:p>
            <a:r>
              <a:rPr lang="en-US" altLang="zh-CN" dirty="0"/>
              <a:t>if else 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en-US" altLang="zh-CN" dirty="0"/>
              <a:t>if </a:t>
            </a:r>
            <a:r>
              <a:rPr lang="en-US" altLang="zh-CN" dirty="0" err="1"/>
              <a:t>elif </a:t>
            </a:r>
            <a:r>
              <a:rPr lang="en-US" altLang="zh-CN" dirty="0"/>
              <a:t>else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zh-CN" dirty="0"/>
              <a:t>判断语句的嵌套</a:t>
            </a:r>
            <a:endParaRPr lang="zh-CN" dirty="0"/>
          </a:p>
          <a:p>
            <a:r>
              <a:rPr lang="zh-CN" dirty="0"/>
              <a:t>实战案例</a:t>
            </a:r>
            <a:endParaRPr kumimoji="1" 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154940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</a:rPr>
              <a:t>掌握布尔类型用于表示：真和假</a:t>
            </a:r>
            <a:endParaRPr 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</a:rPr>
              <a:t>掌握比较运算符用于计算：真和假</a:t>
            </a:r>
            <a:endParaRPr 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dirty="0"/>
              <a:t>布尔类型</a:t>
            </a:r>
            <a:endParaRPr dirty="0"/>
          </a:p>
        </p:txBody>
      </p:sp>
      <p:sp>
        <p:nvSpPr>
          <p:cNvPr id="12" name="圆角矩形 11"/>
          <p:cNvSpPr/>
          <p:nvPr/>
        </p:nvSpPr>
        <p:spPr>
          <a:xfrm>
            <a:off x="1685290" y="3011170"/>
            <a:ext cx="928370" cy="447040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endParaRPr lang="zh-CN" altLang="en-US"/>
          </a:p>
        </p:txBody>
      </p:sp>
      <p:sp>
        <p:nvSpPr>
          <p:cNvPr id="20" name="菱形 19"/>
          <p:cNvSpPr/>
          <p:nvPr/>
        </p:nvSpPr>
        <p:spPr>
          <a:xfrm>
            <a:off x="1741170" y="3890645"/>
            <a:ext cx="815975" cy="815975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判断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847090" y="5003800"/>
            <a:ext cx="894080" cy="473075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是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2610485" y="5003800"/>
            <a:ext cx="894080" cy="47307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否</a:t>
            </a:r>
            <a:endParaRPr lang="zh-CN" altLang="en-US"/>
          </a:p>
        </p:txBody>
      </p:sp>
      <p:cxnSp>
        <p:nvCxnSpPr>
          <p:cNvPr id="26" name="直接箭头连接符 25"/>
          <p:cNvCxnSpPr>
            <a:stCxn id="12" idx="2"/>
            <a:endCxn id="20" idx="0"/>
          </p:cNvCxnSpPr>
          <p:nvPr/>
        </p:nvCxnSpPr>
        <p:spPr>
          <a:xfrm>
            <a:off x="2149475" y="3458210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20" idx="1"/>
            <a:endCxn id="21" idx="0"/>
          </p:cNvCxnSpPr>
          <p:nvPr/>
        </p:nvCxnSpPr>
        <p:spPr>
          <a:xfrm rot="10800000" flipV="1">
            <a:off x="1294130" y="4298950"/>
            <a:ext cx="447040" cy="7048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20" idx="3"/>
            <a:endCxn id="22" idx="0"/>
          </p:cNvCxnSpPr>
          <p:nvPr/>
        </p:nvCxnSpPr>
        <p:spPr>
          <a:xfrm>
            <a:off x="2557145" y="4298950"/>
            <a:ext cx="500380" cy="70485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圆角矩形 31"/>
          <p:cNvSpPr/>
          <p:nvPr/>
        </p:nvSpPr>
        <p:spPr>
          <a:xfrm>
            <a:off x="847725" y="5876290"/>
            <a:ext cx="892810" cy="41211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33" name="直接箭头连接符 32"/>
          <p:cNvCxnSpPr>
            <a:stCxn id="21" idx="2"/>
            <a:endCxn id="32" idx="0"/>
          </p:cNvCxnSpPr>
          <p:nvPr/>
        </p:nvCxnSpPr>
        <p:spPr>
          <a:xfrm>
            <a:off x="1294130" y="5476875"/>
            <a:ext cx="0" cy="399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/>
          <p:nvPr/>
        </p:nvSpPr>
        <p:spPr>
          <a:xfrm>
            <a:off x="2611755" y="5876290"/>
            <a:ext cx="892810" cy="41211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...</a:t>
            </a:r>
            <a:endParaRPr lang="en-US" altLang="zh-CN"/>
          </a:p>
        </p:txBody>
      </p:sp>
      <p:cxnSp>
        <p:nvCxnSpPr>
          <p:cNvPr id="35" name="直接箭头连接符 34"/>
          <p:cNvCxnSpPr>
            <a:stCxn id="22" idx="2"/>
            <a:endCxn id="34" idx="0"/>
          </p:cNvCxnSpPr>
          <p:nvPr/>
        </p:nvCxnSpPr>
        <p:spPr>
          <a:xfrm>
            <a:off x="3057525" y="5476875"/>
            <a:ext cx="635" cy="3994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占位符 3"/>
          <p:cNvSpPr>
            <a:spLocks noGrp="1"/>
          </p:cNvSpPr>
          <p:nvPr/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/>
              <a:t>进行判断，只有</a:t>
            </a:r>
            <a:r>
              <a:rPr lang="en-US" altLang="zh-CN"/>
              <a:t>2</a:t>
            </a:r>
            <a:r>
              <a:t>个结果：</a:t>
            </a:r>
          </a:p>
          <a:p>
            <a:r>
              <a:t>是</a:t>
            </a:r>
          </a:p>
          <a:p>
            <a:r>
              <a:t>否</a:t>
            </a:r>
          </a:p>
        </p:txBody>
      </p:sp>
      <p:pic>
        <p:nvPicPr>
          <p:cNvPr id="15" name="图片 14" descr="01 (10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0" y="2755900"/>
            <a:ext cx="2247900" cy="2247900"/>
          </a:xfrm>
          <a:prstGeom prst="rect">
            <a:avLst/>
          </a:prstGeom>
        </p:spPr>
      </p:pic>
      <p:sp>
        <p:nvSpPr>
          <p:cNvPr id="16" name="文本占位符 3"/>
          <p:cNvSpPr>
            <a:spLocks noGrp="1"/>
          </p:cNvSpPr>
          <p:nvPr/>
        </p:nvSpPr>
        <p:spPr>
          <a:xfrm>
            <a:off x="7106285" y="3159760"/>
            <a:ext cx="5169535" cy="144018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程序中，如何描述：</a:t>
            </a:r>
            <a:r>
              <a:rPr sz="28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是</a:t>
            </a: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或</a:t>
            </a:r>
            <a:r>
              <a:rPr sz="28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否</a:t>
            </a: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呢？</a:t>
            </a: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None/>
            </a:pP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使用：布尔类型</a:t>
            </a: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布尔类型</a:t>
            </a:r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/>
        </p:nvSpPr>
        <p:spPr>
          <a:xfrm>
            <a:off x="710880" y="1410890"/>
            <a:ext cx="10698800" cy="4219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Python</a:t>
            </a:r>
            <a:r>
              <a:rPr lang="zh-CN" altLang="en-US"/>
              <a:t>中常用的有</a:t>
            </a:r>
            <a:r>
              <a:rPr lang="en-US" altLang="zh-CN" sz="2400" b="1">
                <a:solidFill>
                  <a:srgbClr val="FF0000"/>
                </a:solidFill>
              </a:rPr>
              <a:t>6</a:t>
            </a:r>
            <a:r>
              <a:rPr lang="zh-CN" altLang="en-US"/>
              <a:t>种值（数据）的类型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812800" y="1990090"/>
          <a:ext cx="10166985" cy="3853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9455"/>
                <a:gridCol w="3029585"/>
                <a:gridCol w="5147945"/>
              </a:tblGrid>
              <a:tr h="3632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类型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描述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20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说明</a:t>
                      </a:r>
                      <a:endParaRPr lang="zh-CN" altLang="en-US" sz="20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71780">
                <a:tc rowSpan="4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数字（Number）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支持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整数（int）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浮点数（float）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复数（complex）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布尔（bool）</a:t>
                      </a:r>
                      <a:endParaRPr lang="en-US" altLang="zh-CN" sz="1400" b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indent="0" algn="l">
                        <a:buNone/>
                      </a:pP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整数（int），如：10、-10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浮点数（float），如：13.14、-13.14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17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复数（complex），如：4+3j，以j结尾表示复数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9568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布尔（bool）表达现实生活中的逻辑，即真和假</a:t>
                      </a:r>
                      <a:endParaRPr lang="en-US" altLang="zh-CN" sz="1400" b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True表示真</a:t>
                      </a:r>
                      <a:endParaRPr lang="en-US" altLang="zh-CN" sz="1400" b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marL="285750" indent="-285750" algn="l"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False表示假。</a:t>
                      </a:r>
                      <a:endParaRPr lang="en-US" altLang="zh-CN" sz="1400" b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>
                          <a:solidFill>
                            <a:srgbClr val="FF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True本质上是一个数字记作1，False记作0</a:t>
                      </a:r>
                      <a:endParaRPr lang="en-US" altLang="zh-CN" sz="1400" b="0">
                        <a:solidFill>
                          <a:srgbClr val="FF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字符串（String）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描述文本的一种数据类型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字符串（string）由任意数量的字符组成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列表（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List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</a:rPr>
                        <a:t>有序的可变序列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中使用最频繁的数据类型，可有序记录一堆数据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元组（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Tuple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有序的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不可变序列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可有序记录一堆不可变的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数据集合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480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集合（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Set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无序不重复集合</a:t>
                      </a:r>
                      <a:endParaRPr 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可无序记录一堆不重复的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数据集合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290"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字典（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Dictionary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）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无序</a:t>
                      </a:r>
                      <a:r>
                        <a:rPr lang="en-US" altLang="zh-CN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Key-Value</a:t>
                      </a:r>
                      <a:r>
                        <a:rPr lang="zh-CN" altLang="en-US" sz="140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sym typeface="+mn-ea"/>
                        </a:rPr>
                        <a:t>集合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sym typeface="+mn-ea"/>
                      </a:endParaRPr>
                    </a:p>
                  </a:txBody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可无序记录一堆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Key-Value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型的</a:t>
                      </a:r>
                      <a:r>
                        <a:rPr lang="en-US" altLang="zh-CN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Python</a:t>
                      </a: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阿里巴巴普惠体" panose="00020600040101010101" pitchFamily="18" charset="-122"/>
                          <a:ea typeface="阿里巴巴普惠体" panose="00020600040101010101" pitchFamily="18" charset="-122"/>
                          <a:cs typeface="阿里巴巴普惠体" panose="00020600040101010101" pitchFamily="18" charset="-122"/>
                        </a:rPr>
                        <a:t>数据集合</a:t>
                      </a:r>
                      <a:endParaRPr lang="en-US" altLang="zh-CN" sz="1400" b="0">
                        <a:solidFill>
                          <a:srgbClr val="000000"/>
                        </a:solidFill>
                        <a:latin typeface="阿里巴巴普惠体" panose="00020600040101010101" pitchFamily="18" charset="-122"/>
                        <a:ea typeface="阿里巴巴普惠体" panose="00020600040101010101" pitchFamily="18" charset="-122"/>
                        <a:cs typeface="阿里巴巴普惠体" panose="00020600040101010101" pitchFamily="18" charset="-122"/>
                      </a:endParaRPr>
                    </a:p>
                  </a:txBody>
                  <a:tcPr marL="12700" marR="12700" marT="12700" vert="horz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8" name="图片 7" descr="01 (122)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0994390" y="5397500"/>
            <a:ext cx="1414145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布尔类型的定义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布尔类型的字面量：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True  </a:t>
            </a:r>
            <a:r>
              <a:rPr lang="zh-CN" altLang="en-US"/>
              <a:t>表示真（是、肯定）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False </a:t>
            </a:r>
            <a:r>
              <a:rPr lang="zh-CN" altLang="en-US"/>
              <a:t>表示假</a:t>
            </a:r>
            <a:r>
              <a:rPr lang="en-US" altLang="zh-CN"/>
              <a:t> </a:t>
            </a:r>
            <a:r>
              <a:rPr lang="zh-CN" altLang="en-US"/>
              <a:t>（否、否定）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定义变量存储布尔类型数据：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779145" y="3822700"/>
            <a:ext cx="2741295" cy="306705"/>
          </a:xfrm>
          <a:prstGeom prst="rect">
            <a:avLst/>
          </a:prstGeom>
          <a:solidFill>
            <a:srgbClr val="FFFFE4"/>
          </a:solidFill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变量名称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 =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Consolas" panose="020B0609020204030204" pitchFamily="49" charset="0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布尔类型字面量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pic>
        <p:nvPicPr>
          <p:cNvPr id="5" name="图片 4" descr="01 (138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4275" y="5701030"/>
            <a:ext cx="1056640" cy="1056640"/>
          </a:xfrm>
          <a:prstGeom prst="rect">
            <a:avLst/>
          </a:prstGeom>
        </p:spPr>
      </p:pic>
      <p:sp>
        <p:nvSpPr>
          <p:cNvPr id="16" name="文本占位符 3"/>
          <p:cNvSpPr>
            <a:spLocks noGrp="1"/>
          </p:cNvSpPr>
          <p:nvPr/>
        </p:nvSpPr>
        <p:spPr>
          <a:xfrm>
            <a:off x="5419725" y="2566035"/>
            <a:ext cx="5169535" cy="144018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布尔类型不仅可以自行定义</a:t>
            </a: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同时也可以通过计算的来。</a:t>
            </a: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None/>
            </a:pP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</a:rPr>
              <a:t>也就是使用比较运算符进行比较运算得到布尔类型的结果。</a:t>
            </a:r>
            <a:endParaRPr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比较运算符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布尔类型的数据，不仅可以通过定义得到，也可以通过比较运算符进行内容比较得到。</a:t>
            </a:r>
            <a:endParaRPr lang="zh-CN" altLang="en-US"/>
          </a:p>
          <a:p>
            <a:r>
              <a:rPr lang="zh-CN" altLang="en-US"/>
              <a:t>如下代码：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" y="2620010"/>
            <a:ext cx="6229985" cy="161734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75" y="4421505"/>
            <a:ext cx="8128635" cy="156972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 descr="01 (122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994390" y="5397500"/>
            <a:ext cx="1414145" cy="1414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比较运算符</a:t>
            </a:r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06464" y="1886314"/>
          <a:ext cx="9507951" cy="43662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324279"/>
                <a:gridCol w="4881904"/>
                <a:gridCol w="3301768"/>
              </a:tblGrid>
              <a:tr h="388620">
                <a:tc>
                  <a:txBody>
                    <a:bodyPr/>
                    <a:p>
                      <a:pPr algn="ctr"/>
                      <a:r>
                        <a:rPr lang="zh-CN" altLang="en-US" sz="1800" kern="1200" dirty="0"/>
                        <a:t>运算符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kern="1200" dirty="0"/>
                        <a:t>描述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A26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800" kern="1200" dirty="0"/>
                        <a:t>示例</a:t>
                      </a:r>
                      <a:endParaRPr lang="zh-CN" altLang="en-US" sz="1800" b="0" i="0" kern="1200" dirty="0">
                        <a:solidFill>
                          <a:schemeClr val="bg1"/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rgbClr val="AD2A26"/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altLang="zh-CN" sz="1800" kern="1200" dirty="0"/>
                        <a:t>==</a:t>
                      </a:r>
                      <a:endParaRPr lang="en-US" altLang="zh-CN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kern="1200" dirty="0"/>
                        <a:t>判断内容</a:t>
                      </a: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</a:rPr>
                        <a:t>是否相等</a:t>
                      </a:r>
                      <a:r>
                        <a:rPr lang="zh-CN" altLang="en-US" sz="1600" kern="1200" dirty="0"/>
                        <a:t>，满足为</a:t>
                      </a:r>
                      <a:r>
                        <a:rPr lang="en-US" altLang="zh-CN" sz="1600" kern="1200" dirty="0"/>
                        <a:t>True</a:t>
                      </a:r>
                      <a:r>
                        <a:rPr lang="zh-CN" altLang="en-US" sz="1600" kern="1200" dirty="0"/>
                        <a:t>，不满足为</a:t>
                      </a:r>
                      <a:r>
                        <a:rPr lang="en-US" altLang="zh-CN" sz="1600" kern="1200" dirty="0"/>
                        <a:t>False</a:t>
                      </a:r>
                      <a:endParaRPr lang="en-US" altLang="zh-CN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kern="1200" dirty="0"/>
                        <a:t>如</a:t>
                      </a:r>
                      <a:r>
                        <a:rPr lang="en-GB" altLang="zh-CN" sz="1600" kern="1200" dirty="0"/>
                        <a:t>a=3,b=3，</a:t>
                      </a:r>
                      <a:r>
                        <a:rPr lang="zh-CN" altLang="en-US" sz="1600" kern="1200" dirty="0"/>
                        <a:t>则</a:t>
                      </a:r>
                      <a:r>
                        <a:rPr lang="en-US" altLang="zh-CN" sz="1600" kern="1200" dirty="0"/>
                        <a:t>(</a:t>
                      </a:r>
                      <a:r>
                        <a:rPr lang="en-GB" altLang="zh-CN" sz="1600" kern="1200" dirty="0"/>
                        <a:t>a == b</a:t>
                      </a:r>
                      <a:r>
                        <a:rPr lang="en-US" altLang="en-GB" sz="1600" kern="1200" dirty="0"/>
                        <a:t>) </a:t>
                      </a:r>
                      <a:r>
                        <a:rPr lang="zh-CN" altLang="en-US" sz="1600" kern="1200" dirty="0"/>
                        <a:t>为 </a:t>
                      </a:r>
                      <a:r>
                        <a:rPr lang="en-GB" altLang="zh-CN" sz="1600" kern="1200" dirty="0"/>
                        <a:t>True</a:t>
                      </a:r>
                      <a:endParaRPr lang="en-GB" altLang="zh-CN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altLang="zh-CN" sz="1800" kern="1200" dirty="0"/>
                        <a:t>!=</a:t>
                      </a:r>
                      <a:endParaRPr lang="en-US" altLang="zh-CN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sym typeface="+mn-ea"/>
                        </a:rPr>
                        <a:t>判断内容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sym typeface="+mn-ea"/>
                        </a:rPr>
                        <a:t>是否不相等</a:t>
                      </a:r>
                      <a:r>
                        <a:rPr lang="zh-CN" altLang="en-US" sz="1600" dirty="0">
                          <a:sym typeface="+mn-ea"/>
                        </a:rPr>
                        <a:t>，满足为</a:t>
                      </a:r>
                      <a:r>
                        <a:rPr lang="en-US" altLang="zh-CN" sz="1600" dirty="0">
                          <a:sym typeface="+mn-ea"/>
                        </a:rPr>
                        <a:t>True</a:t>
                      </a:r>
                      <a:r>
                        <a:rPr lang="zh-CN" altLang="en-US" sz="1600" dirty="0">
                          <a:sym typeface="+mn-ea"/>
                        </a:rPr>
                        <a:t>，不满足为</a:t>
                      </a:r>
                      <a:r>
                        <a:rPr lang="en-US" altLang="zh-CN" sz="1600" dirty="0">
                          <a:sym typeface="+mn-ea"/>
                        </a:rPr>
                        <a:t>False</a:t>
                      </a:r>
                      <a:endParaRPr lang="en-US" altLang="zh-CN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  <a:sym typeface="+mn-ea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kern="1200" dirty="0"/>
                        <a:t>如</a:t>
                      </a:r>
                      <a:r>
                        <a:rPr lang="en-GB" altLang="zh-CN" sz="1600" kern="1200" dirty="0"/>
                        <a:t>a=1,b=3，</a:t>
                      </a:r>
                      <a:r>
                        <a:rPr lang="zh-CN" altLang="en-US" sz="1600" kern="1200" dirty="0"/>
                        <a:t>则</a:t>
                      </a:r>
                      <a:r>
                        <a:rPr lang="en-US" altLang="zh-CN" sz="1600" kern="1200" dirty="0"/>
                        <a:t>(</a:t>
                      </a:r>
                      <a:r>
                        <a:rPr lang="en-GB" altLang="zh-CN" sz="1600" kern="1200" dirty="0"/>
                        <a:t>a != b) </a:t>
                      </a:r>
                      <a:r>
                        <a:rPr lang="zh-CN" altLang="en-US" sz="1600" kern="1200" dirty="0"/>
                        <a:t>为 </a:t>
                      </a:r>
                      <a:r>
                        <a:rPr lang="en-GB" altLang="zh-CN" sz="1600" kern="1200" dirty="0"/>
                        <a:t>True</a:t>
                      </a:r>
                      <a:endParaRPr lang="en-GB" altLang="zh-CN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altLang="zh-CN" sz="1800" kern="1200" dirty="0"/>
                        <a:t>&gt;</a:t>
                      </a:r>
                      <a:endParaRPr lang="en-US" altLang="zh-CN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kern="1200" dirty="0"/>
                        <a:t>判断运算符左侧内容</a:t>
                      </a:r>
                      <a:r>
                        <a:rPr lang="zh-CN" altLang="en-US" sz="1600" kern="1200" dirty="0">
                          <a:solidFill>
                            <a:srgbClr val="FF0000"/>
                          </a:solidFill>
                        </a:rPr>
                        <a:t>是否大于</a:t>
                      </a:r>
                      <a:r>
                        <a:rPr lang="zh-CN" altLang="en-US" sz="1600" kern="1200" dirty="0"/>
                        <a:t>右侧</a:t>
                      </a:r>
                      <a:endParaRPr lang="zh-CN" altLang="en-US" sz="1600" kern="1200" dirty="0"/>
                    </a:p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b="0" i="0" kern="1200" dirty="0"/>
                        <a:t>满足为True，不满足为False</a:t>
                      </a:r>
                      <a:endParaRPr lang="zh-CN" altLang="en-US" sz="1600" b="0" i="0" kern="1200" dirty="0"/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kern="1200" dirty="0"/>
                        <a:t>如</a:t>
                      </a:r>
                      <a:r>
                        <a:rPr lang="en-GB" altLang="zh-CN" sz="1600" kern="1200" dirty="0"/>
                        <a:t>a=7,b=3，</a:t>
                      </a:r>
                      <a:r>
                        <a:rPr lang="zh-CN" altLang="en-US" sz="1600" kern="1200" dirty="0"/>
                        <a:t>则</a:t>
                      </a:r>
                      <a:r>
                        <a:rPr lang="en-US" altLang="zh-CN" sz="1600" kern="1200" dirty="0"/>
                        <a:t>(</a:t>
                      </a:r>
                      <a:r>
                        <a:rPr lang="en-GB" altLang="zh-CN" sz="1600" kern="1200" dirty="0"/>
                        <a:t>a &gt; b) </a:t>
                      </a:r>
                      <a:r>
                        <a:rPr lang="en-US" altLang="en-GB" sz="1600" kern="1200" dirty="0"/>
                        <a:t> </a:t>
                      </a:r>
                      <a:r>
                        <a:rPr lang="zh-CN" altLang="en-US" sz="1600" kern="1200" dirty="0"/>
                        <a:t>为 </a:t>
                      </a:r>
                      <a:r>
                        <a:rPr lang="en-GB" altLang="zh-CN" sz="1600" kern="1200" dirty="0"/>
                        <a:t>True</a:t>
                      </a:r>
                      <a:endParaRPr lang="en-GB" altLang="zh-CN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altLang="zh-CN" sz="1800" kern="1200" dirty="0"/>
                        <a:t>&lt;</a:t>
                      </a:r>
                      <a:endParaRPr lang="en-US" altLang="zh-CN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sym typeface="+mn-ea"/>
                        </a:rPr>
                        <a:t>判断运算符左侧内容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sym typeface="+mn-ea"/>
                        </a:rPr>
                        <a:t>是否小于</a:t>
                      </a:r>
                      <a:r>
                        <a:rPr lang="zh-CN" altLang="en-US" sz="1600" dirty="0">
                          <a:sym typeface="+mn-ea"/>
                        </a:rPr>
                        <a:t>右侧</a:t>
                      </a:r>
                      <a:endParaRPr lang="zh-CN" altLang="en-US" sz="1600" kern="1200" dirty="0"/>
                    </a:p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ym typeface="+mn-ea"/>
                        </a:rPr>
                        <a:t>满足为True，不满足为False</a:t>
                      </a:r>
                      <a:endParaRPr lang="zh-CN" altLang="en-US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  <a:sym typeface="+mn-ea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kern="1200" dirty="0"/>
                        <a:t>如</a:t>
                      </a:r>
                      <a:r>
                        <a:rPr lang="en-GB" altLang="zh-CN" sz="1600" kern="1200" dirty="0"/>
                        <a:t>a=</a:t>
                      </a:r>
                      <a:r>
                        <a:rPr lang="en-US" altLang="en-GB" sz="1600" kern="1200" dirty="0"/>
                        <a:t>3</a:t>
                      </a:r>
                      <a:r>
                        <a:rPr lang="en-GB" altLang="zh-CN" sz="1600" kern="1200" dirty="0"/>
                        <a:t>,b=</a:t>
                      </a:r>
                      <a:r>
                        <a:rPr lang="en-US" altLang="en-GB" sz="1600" kern="1200" dirty="0"/>
                        <a:t>7</a:t>
                      </a:r>
                      <a:r>
                        <a:rPr lang="en-GB" altLang="zh-CN" sz="1600" kern="1200" dirty="0"/>
                        <a:t>，</a:t>
                      </a:r>
                      <a:r>
                        <a:rPr lang="zh-CN" altLang="en-US" sz="1600" kern="1200" dirty="0"/>
                        <a:t>则</a:t>
                      </a:r>
                      <a:r>
                        <a:rPr lang="en-US" altLang="zh-CN" sz="1600" kern="1200" dirty="0"/>
                        <a:t>(</a:t>
                      </a:r>
                      <a:r>
                        <a:rPr lang="en-GB" altLang="zh-CN" sz="1600" kern="1200" dirty="0"/>
                        <a:t>a &lt; b) </a:t>
                      </a:r>
                      <a:r>
                        <a:rPr lang="en-US" altLang="en-GB" sz="1600" kern="1200" dirty="0"/>
                        <a:t> </a:t>
                      </a:r>
                      <a:r>
                        <a:rPr lang="zh-CN" altLang="en-US" sz="1600" kern="1200" dirty="0"/>
                        <a:t>为 </a:t>
                      </a:r>
                      <a:r>
                        <a:rPr lang="en-US" altLang="en-GB" sz="1600" kern="1200" dirty="0"/>
                        <a:t>True</a:t>
                      </a:r>
                      <a:endParaRPr lang="en-US" altLang="en-GB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marL="0" algn="ctr" defTabSz="1218565" rtl="0" eaLnBrk="1" latinLnBrk="0" hangingPunct="1"/>
                      <a:r>
                        <a:rPr lang="en-US" altLang="zh-CN" sz="1800" kern="1200" dirty="0"/>
                        <a:t>&gt;=</a:t>
                      </a:r>
                      <a:endParaRPr lang="en-US" altLang="zh-CN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sym typeface="+mn-ea"/>
                        </a:rPr>
                        <a:t>判断运算符左侧内容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sym typeface="+mn-ea"/>
                        </a:rPr>
                        <a:t>是否大于等于</a:t>
                      </a:r>
                      <a:r>
                        <a:rPr lang="zh-CN" altLang="en-US" sz="1600" dirty="0">
                          <a:sym typeface="+mn-ea"/>
                        </a:rPr>
                        <a:t>右侧</a:t>
                      </a:r>
                      <a:endParaRPr lang="zh-CN" altLang="en-US" sz="1600" kern="1200" dirty="0"/>
                    </a:p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ym typeface="+mn-ea"/>
                        </a:rPr>
                        <a:t>满足为True，不满足为False</a:t>
                      </a:r>
                      <a:endParaRPr lang="zh-CN" altLang="en-US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  <a:sym typeface="+mn-ea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algn="l" defTabSz="1218565" rtl="0" eaLnBrk="1" latinLnBrk="0" hangingPunct="1"/>
                      <a:r>
                        <a:rPr lang="zh-CN" altLang="en-US" sz="1600" kern="1200" dirty="0"/>
                        <a:t>如</a:t>
                      </a:r>
                      <a:r>
                        <a:rPr lang="en-GB" sz="1600" kern="1200" dirty="0"/>
                        <a:t>a=3,b=3，</a:t>
                      </a:r>
                      <a:r>
                        <a:rPr lang="zh-CN" altLang="en-US" sz="1600" kern="1200" dirty="0"/>
                        <a:t>则</a:t>
                      </a:r>
                      <a:r>
                        <a:rPr lang="en-US" altLang="zh-CN" sz="1600" kern="1200" dirty="0"/>
                        <a:t>(</a:t>
                      </a:r>
                      <a:r>
                        <a:rPr lang="en-GB" sz="1600" kern="1200" dirty="0"/>
                        <a:t>a &gt;= b) </a:t>
                      </a:r>
                      <a:r>
                        <a:rPr lang="zh-CN" altLang="en-US" sz="1600" kern="1200" dirty="0"/>
                        <a:t>为 </a:t>
                      </a:r>
                      <a:r>
                        <a:rPr lang="en-GB" sz="1600" kern="1200" dirty="0"/>
                        <a:t>True</a:t>
                      </a:r>
                      <a:endParaRPr lang="en-GB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p>
                      <a:pPr marL="0" algn="ctr" defTabSz="1218565" rtl="0" eaLnBrk="1" latinLnBrk="0" hangingPunct="1"/>
                      <a:r>
                        <a:rPr lang="en-US" altLang="zh-CN" sz="1800" kern="1200" dirty="0"/>
                        <a:t>&lt;=</a:t>
                      </a:r>
                      <a:endParaRPr lang="en-US" altLang="zh-CN" sz="18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600" dirty="0">
                          <a:sym typeface="+mn-ea"/>
                        </a:rPr>
                        <a:t>判断运算符左侧内容</a:t>
                      </a:r>
                      <a:r>
                        <a:rPr lang="zh-CN" altLang="en-US" sz="1600" dirty="0">
                          <a:solidFill>
                            <a:srgbClr val="FF0000"/>
                          </a:solidFill>
                          <a:sym typeface="+mn-ea"/>
                        </a:rPr>
                        <a:t>是否小于等于</a:t>
                      </a:r>
                      <a:r>
                        <a:rPr lang="zh-CN" altLang="en-US" sz="1600" dirty="0">
                          <a:sym typeface="+mn-ea"/>
                        </a:rPr>
                        <a:t>右侧</a:t>
                      </a:r>
                      <a:endParaRPr lang="zh-CN" altLang="en-US" sz="1600" kern="1200" dirty="0"/>
                    </a:p>
                    <a:p>
                      <a:pPr algn="l">
                        <a:buClrTx/>
                        <a:buSzTx/>
                        <a:buFontTx/>
                      </a:pPr>
                      <a:r>
                        <a:rPr lang="zh-CN" altLang="en-US" sz="1600" dirty="0">
                          <a:sym typeface="+mn-ea"/>
                        </a:rPr>
                        <a:t>满足为True，不满足为False</a:t>
                      </a:r>
                      <a:endParaRPr lang="zh-CN" altLang="en-US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  <a:sym typeface="+mn-ea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p>
                      <a:pPr marL="0" algn="l" defTabSz="1218565" rtl="0" eaLnBrk="1" latinLnBrk="0" hangingPunct="1"/>
                      <a:r>
                        <a:rPr lang="zh-CN" altLang="en-US" sz="1600" kern="1200" dirty="0"/>
                        <a:t>如</a:t>
                      </a:r>
                      <a:r>
                        <a:rPr lang="en-GB" sz="1600" kern="1200" dirty="0"/>
                        <a:t>a=3,b=3，</a:t>
                      </a:r>
                      <a:r>
                        <a:rPr lang="zh-CN" altLang="en-US" sz="1600" kern="1200" dirty="0"/>
                        <a:t>则</a:t>
                      </a:r>
                      <a:r>
                        <a:rPr lang="en-US" altLang="zh-CN" sz="1600" kern="1200" dirty="0"/>
                        <a:t>(</a:t>
                      </a:r>
                      <a:r>
                        <a:rPr lang="en-GB" sz="1600" kern="1200" dirty="0"/>
                        <a:t>a &lt;= b) </a:t>
                      </a:r>
                      <a:r>
                        <a:rPr lang="zh-CN" altLang="en-US" sz="1600" kern="1200" dirty="0"/>
                        <a:t>为 </a:t>
                      </a:r>
                      <a:r>
                        <a:rPr lang="en-GB" sz="1600" kern="1200" dirty="0"/>
                        <a:t>True</a:t>
                      </a:r>
                      <a:endParaRPr lang="en-GB" sz="1600" b="0" i="0" kern="12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libaba PuHuiTi R" pitchFamily="18" charset="-122"/>
                        <a:ea typeface="Alibaba PuHuiTi R" pitchFamily="18" charset="-122"/>
                        <a:cs typeface="Alibaba PuHuiTi R" pitchFamily="18" charset="-122"/>
                      </a:endParaRPr>
                    </a:p>
                  </a:txBody>
                  <a:tcPr marL="123825" marR="123825" marT="57150" marB="5715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Python</a:t>
            </a:r>
            <a:r>
              <a:rPr lang="zh-CN" altLang="en-US"/>
              <a:t>中，可以表示真假的数据类型是：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布尔类型，字面量</a:t>
            </a:r>
            <a:r>
              <a:rPr lang="en-US" altLang="zh-CN" sz="1400"/>
              <a:t>True</a:t>
            </a:r>
            <a:r>
              <a:rPr lang="zh-CN" altLang="en-US" sz="1400"/>
              <a:t>表示真，字面量</a:t>
            </a:r>
            <a:r>
              <a:rPr lang="en-US" altLang="zh-CN" sz="1400"/>
              <a:t>False</a:t>
            </a:r>
            <a:r>
              <a:rPr lang="zh-CN" altLang="en-US" sz="1400"/>
              <a:t>表示假</a:t>
            </a:r>
            <a:endParaRPr lang="zh-CN" altLang="en-US" sz="1400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除了可以定义布尔类型外，还可以通过</a:t>
            </a:r>
            <a:r>
              <a:rPr lang="en-US" altLang="zh-CN"/>
              <a:t>____</a:t>
            </a:r>
            <a:r>
              <a:rPr lang="zh-CN" altLang="en-US"/>
              <a:t>计算得到布尔类型？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通过</a:t>
            </a:r>
            <a:r>
              <a:rPr lang="en-US" altLang="zh-CN" sz="1400"/>
              <a:t>&lt;</a:t>
            </a:r>
            <a:r>
              <a:rPr lang="zh-CN" altLang="en-US" sz="1400"/>
              <a:t>比较运算符</a:t>
            </a:r>
            <a:r>
              <a:rPr lang="en-US" altLang="zh-CN" sz="1400"/>
              <a:t>&gt;</a:t>
            </a:r>
            <a:r>
              <a:rPr lang="zh-CN" altLang="en-US" sz="1400"/>
              <a:t>计算得到布尔类型的结果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== </a:t>
            </a:r>
            <a:r>
              <a:rPr lang="zh-CN" altLang="en-US" sz="1400"/>
              <a:t>判断是否相等，</a:t>
            </a:r>
            <a:r>
              <a:rPr lang="en-US" altLang="zh-CN" sz="1400"/>
              <a:t>!= </a:t>
            </a:r>
            <a:r>
              <a:rPr lang="zh-CN" altLang="en-US" sz="1400"/>
              <a:t>判断是否不相等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&gt;</a:t>
            </a:r>
            <a:r>
              <a:rPr lang="zh-CN" altLang="en-US" sz="1400"/>
              <a:t>判断是否大于，</a:t>
            </a:r>
            <a:r>
              <a:rPr lang="en-US" altLang="zh-CN" sz="1400"/>
              <a:t>&lt;</a:t>
            </a:r>
            <a:r>
              <a:rPr lang="zh-CN" altLang="en-US" sz="1400"/>
              <a:t>判断是否小于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&gt;=</a:t>
            </a:r>
            <a:r>
              <a:rPr lang="zh-CN" altLang="en-US" sz="1400"/>
              <a:t>判断是否大于等于，</a:t>
            </a:r>
            <a:r>
              <a:rPr lang="en-US" altLang="zh-CN" sz="1400"/>
              <a:t>&lt;=</a:t>
            </a:r>
            <a:r>
              <a:rPr lang="zh-CN" altLang="en-US" sz="1400"/>
              <a:t>判断是否小于等于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ym typeface="+mn-ea"/>
              </a:rPr>
              <a:t>布尔类型和比较运算符</a:t>
            </a:r>
            <a:endParaRPr lang="en-US" altLang="zh-CN" dirty="0"/>
          </a:p>
          <a:p>
            <a:pPr algn="l"/>
            <a:r>
              <a:rPr lang="zh-CN" altLang="en-US" dirty="0">
                <a:solidFill>
                  <a:srgbClr val="C00000"/>
                </a:solidFill>
                <a:sym typeface="+mn-ea"/>
              </a:rPr>
              <a:t>if语句的基本格式</a:t>
            </a:r>
            <a:endParaRPr lang="zh-CN" altLang="en-US" dirty="0">
              <a:solidFill>
                <a:srgbClr val="C00000"/>
              </a:solidFill>
            </a:endParaRPr>
          </a:p>
          <a:p>
            <a:pPr algn="l"/>
            <a:r>
              <a:rPr lang="en-US" altLang="zh-CN" dirty="0">
                <a:sym typeface="+mn-ea"/>
              </a:rPr>
              <a:t>if else </a:t>
            </a:r>
            <a:r>
              <a:rPr lang="zh-CN" altLang="en-US" dirty="0">
                <a:sym typeface="+mn-ea"/>
              </a:rPr>
              <a:t>语句</a:t>
            </a:r>
            <a:endParaRPr lang="en-US" altLang="zh-CN" dirty="0"/>
          </a:p>
          <a:p>
            <a:pPr algn="l"/>
            <a:r>
              <a:rPr lang="en-US" altLang="zh-CN" dirty="0">
                <a:sym typeface="+mn-ea"/>
              </a:rPr>
              <a:t>if </a:t>
            </a:r>
            <a:r>
              <a:rPr lang="en-US" altLang="zh-CN" dirty="0" err="1">
                <a:sym typeface="+mn-ea"/>
              </a:rPr>
              <a:t>elif </a:t>
            </a:r>
            <a:r>
              <a:rPr lang="en-US" altLang="zh-CN" dirty="0">
                <a:sym typeface="+mn-ea"/>
              </a:rPr>
              <a:t>else</a:t>
            </a:r>
            <a:r>
              <a:rPr lang="zh-CN" altLang="en-US" dirty="0">
                <a:sym typeface="+mn-ea"/>
              </a:rPr>
              <a:t>语句</a:t>
            </a:r>
            <a:endParaRPr lang="en-US" altLang="zh-CN" dirty="0"/>
          </a:p>
          <a:p>
            <a:pPr algn="l"/>
            <a:r>
              <a:rPr lang="zh-CN" dirty="0">
                <a:sym typeface="+mn-ea"/>
              </a:rPr>
              <a:t>判断语句的嵌套</a:t>
            </a:r>
            <a:endParaRPr lang="zh-CN" dirty="0"/>
          </a:p>
          <a:p>
            <a:pPr algn="l"/>
            <a:r>
              <a:rPr lang="zh-CN" dirty="0">
                <a:sym typeface="+mn-ea"/>
              </a:rPr>
              <a:t>实战案例</a:t>
            </a:r>
            <a:endParaRPr kumimoji="1" lang="zh-CN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10820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</a:rPr>
              <a:t>掌握逻辑判断语句（</a:t>
            </a:r>
            <a:r>
              <a:rPr lang="en-US" altLang="zh-CN" dirty="0">
                <a:solidFill>
                  <a:schemeClr val="tx1"/>
                </a:solidFill>
              </a:rPr>
              <a:t>if</a:t>
            </a:r>
            <a:r>
              <a:rPr lang="zh-CN" altLang="en-US" dirty="0">
                <a:solidFill>
                  <a:schemeClr val="tx1"/>
                </a:solidFill>
              </a:rPr>
              <a:t>）的基本语法格式</a:t>
            </a:r>
            <a:endParaRPr lang="zh-CN" altLang="en-US" dirty="0">
              <a:solidFill>
                <a:schemeClr val="tx1"/>
              </a:solidFill>
            </a:endParaRPr>
          </a:p>
          <a:p>
            <a:pPr marL="0" algn="l">
              <a:buNone/>
            </a:pPr>
            <a:r>
              <a:rPr lang="zh-CN" dirty="0">
                <a:solidFill>
                  <a:schemeClr val="tx1"/>
                </a:solidFill>
              </a:rPr>
              <a:t>掌握布尔类型数据，在判断语句中的作用</a:t>
            </a:r>
            <a:endParaRPr 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if</a:t>
            </a:r>
            <a:r>
              <a:t>判断语句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生活中的判断</a:t>
            </a:r>
            <a:r>
              <a:rPr lang="en-US" altLang="zh-CN"/>
              <a:t>                                                                           </a:t>
            </a:r>
            <a:r>
              <a:rPr lang="zh-CN" altLang="en-US"/>
              <a:t>程序中的判断</a:t>
            </a:r>
            <a:endParaRPr lang="zh-CN" altLang="en-US"/>
          </a:p>
        </p:txBody>
      </p:sp>
      <p:pic>
        <p:nvPicPr>
          <p:cNvPr id="4" name="图片 3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6585" y="3504565"/>
            <a:ext cx="1414145" cy="1414145"/>
          </a:xfrm>
          <a:prstGeom prst="rect">
            <a:avLst/>
          </a:prstGeom>
        </p:spPr>
      </p:pic>
      <p:sp>
        <p:nvSpPr>
          <p:cNvPr id="5" name="圆角矩形标注 4"/>
          <p:cNvSpPr/>
          <p:nvPr/>
        </p:nvSpPr>
        <p:spPr>
          <a:xfrm>
            <a:off x="2527935" y="4036060"/>
            <a:ext cx="2452370" cy="61785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如果小美喜欢我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明天我就去表白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812165" y="2407920"/>
            <a:ext cx="1500505" cy="52959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3479800" y="2407920"/>
            <a:ext cx="1500505" cy="5295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动作</a:t>
            </a:r>
            <a:endParaRPr lang="zh-CN" altLang="en-US"/>
          </a:p>
        </p:txBody>
      </p:sp>
      <p:cxnSp>
        <p:nvCxnSpPr>
          <p:cNvPr id="8" name="直接箭头连接符 7"/>
          <p:cNvCxnSpPr>
            <a:stCxn id="6" idx="3"/>
            <a:endCxn id="7" idx="1"/>
          </p:cNvCxnSpPr>
          <p:nvPr/>
        </p:nvCxnSpPr>
        <p:spPr>
          <a:xfrm>
            <a:off x="2312670" y="2672715"/>
            <a:ext cx="11671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8798" y="2145531"/>
            <a:ext cx="3962400" cy="1054100"/>
          </a:xfrm>
          <a:prstGeom prst="rect">
            <a:avLst/>
          </a:prstGeom>
          <a:ln>
            <a:solidFill>
              <a:srgbClr val="49504F"/>
            </a:solidFill>
          </a:ln>
        </p:spPr>
      </p:pic>
      <p:sp>
        <p:nvSpPr>
          <p:cNvPr id="12" name="TextBox 3"/>
          <p:cNvSpPr txBox="1"/>
          <p:nvPr/>
        </p:nvSpPr>
        <p:spPr>
          <a:xfrm>
            <a:off x="5938798" y="3888051"/>
            <a:ext cx="4435819" cy="2643096"/>
          </a:xfrm>
          <a:prstGeom prst="rect">
            <a:avLst/>
          </a:prstGeom>
          <a:solidFill>
            <a:srgbClr val="FFFFE4"/>
          </a:solidFill>
          <a:ln w="3175">
            <a:solidFill>
              <a:srgbClr val="919191"/>
            </a:solidFill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定义变量</a:t>
            </a:r>
            <a:endParaRPr lang="en-GB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age = 30</a:t>
            </a:r>
            <a:br>
              <a:rPr lang="en-GB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endParaRPr lang="en-GB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#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进行判断</a:t>
            </a:r>
            <a:br>
              <a:rPr lang="en-GB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if age &gt;= 18:</a:t>
            </a:r>
            <a:b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</a:br>
            <a:r>
              <a:rPr lang="en-GB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 print("</a:t>
            </a:r>
            <a:r>
              <a:rPr lang="zh-CN" altLang="en-US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我已经成年了</a:t>
            </a:r>
            <a:r>
              <a:rPr lang="en-US" altLang="zh-CN" sz="1600" dirty="0">
                <a:solidFill>
                  <a:srgbClr val="0033B3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")</a:t>
            </a:r>
            <a:br>
              <a:rPr lang="en-US" altLang="zh-CN" sz="1600" dirty="0"/>
            </a:br>
            <a:endParaRPr lang="en-US" altLang="zh-CN" sz="1600" dirty="0">
              <a:solidFill>
                <a:srgbClr val="080808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</p:txBody>
      </p:sp>
      <p:pic>
        <p:nvPicPr>
          <p:cNvPr id="10" name="图片 9" descr="01 (135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4420" y="5332730"/>
            <a:ext cx="1395730" cy="13957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if</a:t>
            </a:r>
            <a:r>
              <a:t>判断语句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4002405"/>
            <a:ext cx="3340100" cy="1873250"/>
          </a:xfrm>
        </p:spPr>
        <p:txBody>
          <a:bodyPr/>
          <a:p>
            <a:r>
              <a:rPr lang="zh-CN" altLang="en-US"/>
              <a:t>当</a:t>
            </a:r>
            <a:r>
              <a:rPr lang="en-US" altLang="zh-CN"/>
              <a:t>age</a:t>
            </a:r>
            <a:r>
              <a:rPr lang="zh-CN" altLang="en-US"/>
              <a:t>为</a:t>
            </a:r>
            <a:r>
              <a:rPr lang="en-US" altLang="zh-CN"/>
              <a:t>18</a:t>
            </a:r>
            <a:r>
              <a:rPr lang="zh-CN" altLang="en-US"/>
              <a:t>时，执行结果：</a:t>
            </a:r>
            <a:endParaRPr lang="zh-CN" altLang="en-US"/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5164455" y="4002405"/>
            <a:ext cx="3340100" cy="18732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当</a:t>
            </a:r>
            <a:r>
              <a:rPr lang="en-US" altLang="zh-CN"/>
              <a:t>age</a:t>
            </a:r>
            <a:r>
              <a:rPr lang="zh-CN" altLang="en-US"/>
              <a:t>为</a:t>
            </a:r>
            <a:r>
              <a:rPr lang="en-US" altLang="zh-CN"/>
              <a:t>1</a:t>
            </a:r>
            <a:r>
              <a:rPr lang="en-US" altLang="zh-CN"/>
              <a:t>0</a:t>
            </a:r>
            <a:r>
              <a:rPr lang="zh-CN" altLang="en-US"/>
              <a:t>时，执行结果：</a:t>
            </a: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4455" y="4513580"/>
            <a:ext cx="3371850" cy="13620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630" y="4513580"/>
            <a:ext cx="3062605" cy="210629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30" y="1677670"/>
            <a:ext cx="4095750" cy="19907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图片 9" descr="01 (144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3735" y="5043170"/>
            <a:ext cx="1576705" cy="15767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语句的注意点</a:t>
            </a:r>
            <a:endParaRPr lang="zh-CN" altLang="en-US" dirty="0"/>
          </a:p>
        </p:txBody>
      </p:sp>
      <p:sp>
        <p:nvSpPr>
          <p:cNvPr id="14" name="文本占位符 2"/>
          <p:cNvSpPr>
            <a:spLocks noGrp="1"/>
          </p:cNvSpPr>
          <p:nvPr/>
        </p:nvSpPr>
        <p:spPr>
          <a:xfrm>
            <a:off x="791845" y="4455795"/>
            <a:ext cx="8811260" cy="1933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判断语句的结果，必须是布尔类型</a:t>
            </a:r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True</a:t>
            </a:r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或</a:t>
            </a:r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False</a:t>
            </a:r>
            <a:endParaRPr lang="en-US" altLang="zh-CN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True</a:t>
            </a:r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会执行</a:t>
            </a:r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if</a:t>
            </a:r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内的代码语句</a:t>
            </a:r>
            <a:endParaRPr lang="zh-CN" altLang="en-US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False</a:t>
            </a:r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则不会执行</a:t>
            </a:r>
            <a:endParaRPr lang="zh-CN" altLang="en-US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1845" y="1457325"/>
            <a:ext cx="4846955" cy="28460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" name="图片 1" descr="01 (15)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077575" y="5426710"/>
            <a:ext cx="1183640" cy="1183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if</a:t>
            </a:r>
            <a:r>
              <a:rPr lang="zh-CN" altLang="en-US" dirty="0"/>
              <a:t>语句的注意点</a:t>
            </a:r>
            <a:endParaRPr lang="zh-CN" altLang="en-US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45" y="1457325"/>
            <a:ext cx="6534150" cy="27336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4" name="文本占位符 2"/>
          <p:cNvSpPr>
            <a:spLocks noGrp="1"/>
          </p:cNvSpPr>
          <p:nvPr/>
        </p:nvSpPr>
        <p:spPr>
          <a:xfrm>
            <a:off x="791845" y="4455795"/>
            <a:ext cx="8811260" cy="193357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归属于</a:t>
            </a:r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if</a:t>
            </a:r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判断的代码语句块，需在前方填充</a:t>
            </a:r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4</a:t>
            </a:r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个空格缩进</a:t>
            </a:r>
            <a:endParaRPr lang="zh-CN" altLang="en-US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  <a:p>
            <a:r>
              <a:rPr lang="en-US" alt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Python</a:t>
            </a:r>
            <a:r>
              <a:rPr lang="zh-CN" altLang="en-US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通过缩进判断代码块的归属关系。</a:t>
            </a:r>
            <a:endParaRPr lang="zh-CN" altLang="en-US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04160" y="2016760"/>
            <a:ext cx="209550" cy="289560"/>
          </a:xfrm>
          <a:prstGeom prst="rect">
            <a:avLst/>
          </a:prstGeom>
          <a:noFill/>
          <a:ln w="28575" cmpd="sng">
            <a:solidFill>
              <a:srgbClr val="B70006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占位符 2"/>
          <p:cNvSpPr>
            <a:spLocks noGrp="1"/>
          </p:cNvSpPr>
          <p:nvPr/>
        </p:nvSpPr>
        <p:spPr>
          <a:xfrm>
            <a:off x="3503930" y="1873250"/>
            <a:ext cx="2631440" cy="57721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20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这个冒号不要忘记</a:t>
            </a:r>
            <a:endParaRPr lang="zh-CN" sz="20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1096645" y="3244850"/>
            <a:ext cx="10160" cy="1348105"/>
          </a:xfrm>
          <a:prstGeom prst="straightConnector1">
            <a:avLst/>
          </a:prstGeom>
          <a:ln>
            <a:solidFill>
              <a:srgbClr val="B7000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16" idx="3"/>
            <a:endCxn id="17" idx="1"/>
          </p:cNvCxnSpPr>
          <p:nvPr/>
        </p:nvCxnSpPr>
        <p:spPr>
          <a:xfrm>
            <a:off x="3013710" y="2161540"/>
            <a:ext cx="490220" cy="635"/>
          </a:xfrm>
          <a:prstGeom prst="straightConnector1">
            <a:avLst/>
          </a:prstGeom>
          <a:ln>
            <a:solidFill>
              <a:srgbClr val="B70006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图片 1" descr="01 (1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6015" y="559435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占位符 2"/>
          <p:cNvSpPr>
            <a:spLocks noGrp="1"/>
          </p:cNvSpPr>
          <p:nvPr/>
        </p:nvSpPr>
        <p:spPr>
          <a:xfrm>
            <a:off x="5096510" y="1630045"/>
            <a:ext cx="8811260" cy="359791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</a:rPr>
              <a:t>1. if</a:t>
            </a:r>
            <a:r>
              <a:rPr lang="zh-CN" altLang="en-US" sz="1800">
                <a:solidFill>
                  <a:schemeClr val="tx1"/>
                </a:solidFill>
              </a:rPr>
              <a:t>语句的基本格式</a:t>
            </a:r>
            <a:endParaRPr lang="zh-CN" altLang="en-US" sz="180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 sz="180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</a:pPr>
            <a:endParaRPr lang="zh-CN" altLang="en-US" sz="180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</a:pPr>
            <a:r>
              <a:rPr lang="en-US" altLang="zh-CN" sz="1800">
                <a:solidFill>
                  <a:schemeClr val="tx1"/>
                </a:solidFill>
              </a:rPr>
              <a:t>2. if</a:t>
            </a:r>
            <a:r>
              <a:rPr lang="zh-CN" altLang="en-US" sz="1800">
                <a:solidFill>
                  <a:schemeClr val="tx1"/>
                </a:solidFill>
              </a:rPr>
              <a:t>语句的注意事项：</a:t>
            </a:r>
            <a:endParaRPr lang="zh-CN" altLang="en-US" sz="18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tx1"/>
                </a:solidFill>
              </a:rPr>
              <a:t>判断条件的结果一定要是布尔类型</a:t>
            </a:r>
            <a:endParaRPr lang="zh-CN" altLang="en-US" sz="18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tx1"/>
                </a:solidFill>
              </a:rPr>
              <a:t>不要忘记判断条件后的：</a:t>
            </a:r>
            <a:r>
              <a:rPr lang="en-US" altLang="zh-CN" sz="1800">
                <a:solidFill>
                  <a:schemeClr val="tx1"/>
                </a:solidFill>
              </a:rPr>
              <a:t> </a:t>
            </a:r>
            <a:r>
              <a:rPr lang="zh-CN" altLang="en-US" sz="1800">
                <a:solidFill>
                  <a:schemeClr val="tx1"/>
                </a:solidFill>
              </a:rPr>
              <a:t>冒号</a:t>
            </a:r>
            <a:endParaRPr lang="zh-CN" altLang="en-US" sz="180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1800">
                <a:solidFill>
                  <a:schemeClr val="tx1"/>
                </a:solidFill>
              </a:rPr>
              <a:t>归属于</a:t>
            </a:r>
            <a:r>
              <a:rPr lang="en-US" altLang="zh-CN" sz="1800">
                <a:solidFill>
                  <a:schemeClr val="tx1"/>
                </a:solidFill>
              </a:rPr>
              <a:t>if</a:t>
            </a:r>
            <a:r>
              <a:rPr lang="zh-CN" altLang="en-US" sz="1800">
                <a:solidFill>
                  <a:schemeClr val="tx1"/>
                </a:solidFill>
              </a:rPr>
              <a:t>语句的代码块，需在前方填充</a:t>
            </a:r>
            <a:r>
              <a:rPr lang="en-US" altLang="zh-CN" sz="1800">
                <a:solidFill>
                  <a:schemeClr val="tx1"/>
                </a:solidFill>
              </a:rPr>
              <a:t>4</a:t>
            </a:r>
            <a:r>
              <a:rPr lang="zh-CN" altLang="en-US" sz="1800">
                <a:solidFill>
                  <a:schemeClr val="tx1"/>
                </a:solidFill>
              </a:rPr>
              <a:t>个空格缩进</a:t>
            </a:r>
            <a:endParaRPr lang="zh-CN" altLang="en-US" sz="1800">
              <a:solidFill>
                <a:schemeClr val="tx1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7030" y="2134870"/>
            <a:ext cx="3263265" cy="868045"/>
          </a:xfrm>
          <a:prstGeom prst="rect">
            <a:avLst/>
          </a:prstGeom>
          <a:ln>
            <a:solidFill>
              <a:srgbClr val="49504F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ym typeface="+mn-ea"/>
              </a:rPr>
              <a:t>布尔类型和比较运算符</a:t>
            </a:r>
            <a:endParaRPr lang="en-US" altLang="zh-CN" dirty="0"/>
          </a:p>
          <a:p>
            <a:pPr algn="l"/>
            <a:r>
              <a:rPr lang="en-US" altLang="zh-CN" dirty="0" err="1">
                <a:sym typeface="+mn-ea"/>
              </a:rPr>
              <a:t>if语句的基本格式</a:t>
            </a:r>
            <a:endParaRPr lang="en-US" altLang="zh-CN" dirty="0" err="1"/>
          </a:p>
          <a:p>
            <a:pPr algn="l"/>
            <a:r>
              <a:rPr lang="zh-CN" altLang="en-US" dirty="0">
                <a:solidFill>
                  <a:srgbClr val="C00000"/>
                </a:solidFill>
                <a:sym typeface="+mn-ea"/>
              </a:rPr>
              <a:t>if else 语句</a:t>
            </a:r>
            <a:endParaRPr lang="zh-CN" altLang="en-US" dirty="0">
              <a:solidFill>
                <a:srgbClr val="C00000"/>
              </a:solidFill>
            </a:endParaRPr>
          </a:p>
          <a:p>
            <a:pPr algn="l"/>
            <a:r>
              <a:rPr lang="en-US" altLang="zh-CN" dirty="0">
                <a:sym typeface="+mn-ea"/>
              </a:rPr>
              <a:t>if </a:t>
            </a:r>
            <a:r>
              <a:rPr lang="en-US" altLang="zh-CN" dirty="0" err="1">
                <a:sym typeface="+mn-ea"/>
              </a:rPr>
              <a:t>elif </a:t>
            </a:r>
            <a:r>
              <a:rPr lang="en-US" altLang="zh-CN" dirty="0">
                <a:sym typeface="+mn-ea"/>
              </a:rPr>
              <a:t>else</a:t>
            </a:r>
            <a:r>
              <a:rPr lang="zh-CN" altLang="en-US" dirty="0">
                <a:sym typeface="+mn-ea"/>
              </a:rPr>
              <a:t>语句</a:t>
            </a:r>
            <a:endParaRPr lang="en-US" altLang="zh-CN" dirty="0"/>
          </a:p>
          <a:p>
            <a:pPr algn="l"/>
            <a:r>
              <a:rPr lang="zh-CN" dirty="0">
                <a:sym typeface="+mn-ea"/>
              </a:rPr>
              <a:t>判断语句的嵌套</a:t>
            </a:r>
            <a:endParaRPr lang="zh-CN" dirty="0"/>
          </a:p>
          <a:p>
            <a:pPr algn="l"/>
            <a:r>
              <a:rPr lang="zh-CN" dirty="0">
                <a:sym typeface="+mn-ea"/>
              </a:rPr>
              <a:t>实战案例</a:t>
            </a:r>
            <a:endParaRPr kumimoji="1"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735580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掌握</a:t>
            </a:r>
            <a:r>
              <a:rPr lang="en-US" altLang="zh-CN" dirty="0">
                <a:solidFill>
                  <a:schemeClr val="tx1"/>
                </a:solidFill>
              </a:rPr>
              <a:t>if else </a:t>
            </a:r>
            <a:r>
              <a:rPr lang="zh-CN" altLang="en-US" dirty="0">
                <a:solidFill>
                  <a:schemeClr val="tx1"/>
                </a:solidFill>
              </a:rPr>
              <a:t>语句的组合用法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54930" y="2219960"/>
            <a:ext cx="5760720" cy="3494405"/>
          </a:xfrm>
        </p:spPr>
        <p:txBody>
          <a:bodyPr/>
          <a:p>
            <a:pPr marL="0" indent="0">
              <a:buNone/>
            </a:pPr>
            <a:r>
              <a:rPr lang="en-US" altLang="zh-CN"/>
              <a:t>if</a:t>
            </a:r>
            <a:r>
              <a:rPr lang="zh-CN" altLang="en-US"/>
              <a:t>满足条件会执行相应的代码语句，如果不满足呢？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有没有不满足的情况下，可供执行的代码呢？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if else 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语句可以实现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40155" y="2129155"/>
            <a:ext cx="2362835" cy="2362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if else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>
                <a:sym typeface="+mn-ea"/>
              </a:rPr>
              <a:t>生活中的判断</a:t>
            </a:r>
            <a:r>
              <a:rPr lang="en-US" altLang="zh-CN">
                <a:sym typeface="+mn-ea"/>
              </a:rPr>
              <a:t>                                                                           </a:t>
            </a:r>
            <a:r>
              <a:rPr lang="zh-CN" altLang="en-US">
                <a:sym typeface="+mn-ea"/>
              </a:rPr>
              <a:t>程序中的判断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6585" y="3504565"/>
            <a:ext cx="1414145" cy="1414145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2527935" y="4036060"/>
            <a:ext cx="2452370" cy="617855"/>
          </a:xfrm>
          <a:prstGeom prst="wedgeRoundRectCallout">
            <a:avLst>
              <a:gd name="adj1" fmla="val -80838"/>
              <a:gd name="adj2" fmla="val -37461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如果小美喜欢我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明天我就去表白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12165" y="2407920"/>
            <a:ext cx="1500505" cy="52959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3479800" y="2407920"/>
            <a:ext cx="1500505" cy="5295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动作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7" idx="3"/>
            <a:endCxn id="8" idx="1"/>
          </p:cNvCxnSpPr>
          <p:nvPr/>
        </p:nvCxnSpPr>
        <p:spPr>
          <a:xfrm>
            <a:off x="2312670" y="2672715"/>
            <a:ext cx="11671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812165" y="2974975"/>
            <a:ext cx="1500505" cy="52959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否则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479800" y="2974975"/>
            <a:ext cx="1500505" cy="52959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动作</a:t>
            </a:r>
            <a:endParaRPr lang="zh-CN" altLang="en-US"/>
          </a:p>
        </p:txBody>
      </p:sp>
      <p:cxnSp>
        <p:nvCxnSpPr>
          <p:cNvPr id="12" name="直接箭头连接符 11"/>
          <p:cNvCxnSpPr>
            <a:stCxn id="10" idx="3"/>
            <a:endCxn id="11" idx="1"/>
          </p:cNvCxnSpPr>
          <p:nvPr/>
        </p:nvCxnSpPr>
        <p:spPr>
          <a:xfrm>
            <a:off x="2312670" y="3239770"/>
            <a:ext cx="116713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标注 12"/>
          <p:cNvSpPr/>
          <p:nvPr/>
        </p:nvSpPr>
        <p:spPr>
          <a:xfrm>
            <a:off x="2527935" y="4754880"/>
            <a:ext cx="2452370" cy="617855"/>
          </a:xfrm>
          <a:prstGeom prst="wedgeRoundRectCallout">
            <a:avLst>
              <a:gd name="adj1" fmla="val -78508"/>
              <a:gd name="adj2" fmla="val -73124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否则我就去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追求小新，哼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645" y="2407920"/>
            <a:ext cx="3562985" cy="3852545"/>
          </a:xfrm>
          <a:prstGeom prst="rect">
            <a:avLst/>
          </a:prstGeom>
        </p:spPr>
      </p:pic>
      <p:pic>
        <p:nvPicPr>
          <p:cNvPr id="15" name="图片 14" descr="01 (137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8855" y="5501640"/>
            <a:ext cx="1222375" cy="122237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if else </a:t>
            </a:r>
            <a:r>
              <a:rPr lang="zh-CN" altLang="en-US"/>
              <a:t>语句，其中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if</a:t>
            </a:r>
            <a:r>
              <a:rPr lang="zh-CN" altLang="en-US" sz="1400"/>
              <a:t>和其代码块，条件满足时执行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else</a:t>
            </a:r>
            <a:r>
              <a:rPr lang="zh-CN" altLang="en-US" sz="1400"/>
              <a:t>搭配</a:t>
            </a:r>
            <a:r>
              <a:rPr lang="en-US" altLang="zh-CN" sz="1400"/>
              <a:t>if</a:t>
            </a:r>
            <a:r>
              <a:rPr lang="zh-CN" altLang="en-US" sz="1400"/>
              <a:t>的判断条件，当不满足的时候执行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if else</a:t>
            </a:r>
            <a:r>
              <a:rPr lang="zh-CN" altLang="en-US"/>
              <a:t>语句的注意事项：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else</a:t>
            </a:r>
            <a:r>
              <a:rPr lang="zh-CN" altLang="en-US" sz="1400"/>
              <a:t>不需要判断条件，当</a:t>
            </a:r>
            <a:r>
              <a:rPr lang="en-US" altLang="zh-CN" sz="1400"/>
              <a:t>if</a:t>
            </a:r>
            <a:r>
              <a:rPr lang="zh-CN" altLang="en-US" sz="1400"/>
              <a:t>的条件不满足时，</a:t>
            </a:r>
            <a:r>
              <a:rPr lang="en-US" altLang="zh-CN" sz="1400"/>
              <a:t>else</a:t>
            </a:r>
            <a:r>
              <a:rPr lang="zh-CN" altLang="en-US" sz="1400"/>
              <a:t>执行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else</a:t>
            </a:r>
            <a:r>
              <a:rPr lang="zh-CN" altLang="en-US" sz="1400"/>
              <a:t>的代码块，同样要</a:t>
            </a:r>
            <a:r>
              <a:rPr lang="en-US" altLang="zh-CN" sz="1400"/>
              <a:t>4</a:t>
            </a:r>
            <a:r>
              <a:rPr lang="zh-CN" altLang="en-US" sz="1400"/>
              <a:t>个空格作为缩进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ym typeface="+mn-ea"/>
              </a:rPr>
              <a:t>布尔类型和比较运算符</a:t>
            </a:r>
            <a:endParaRPr lang="en-US" altLang="zh-CN" dirty="0"/>
          </a:p>
          <a:p>
            <a:pPr algn="l"/>
            <a:r>
              <a:rPr lang="en-US" altLang="zh-CN" dirty="0" err="1">
                <a:sym typeface="+mn-ea"/>
              </a:rPr>
              <a:t>if语句的基本格式</a:t>
            </a:r>
            <a:endParaRPr lang="en-US" altLang="zh-CN" dirty="0" err="1"/>
          </a:p>
          <a:p>
            <a:pPr algn="l"/>
            <a:r>
              <a:rPr lang="zh-CN" dirty="0">
                <a:sym typeface="+mn-ea"/>
              </a:rPr>
              <a:t>if else 语句</a:t>
            </a:r>
            <a:endParaRPr lang="zh-CN" dirty="0"/>
          </a:p>
          <a:p>
            <a:pPr algn="l"/>
            <a:r>
              <a:rPr lang="zh-CN" altLang="en-US" dirty="0">
                <a:solidFill>
                  <a:srgbClr val="C00000"/>
                </a:solidFill>
                <a:sym typeface="+mn-ea"/>
              </a:rPr>
              <a:t>if elif else语句</a:t>
            </a:r>
            <a:endParaRPr lang="zh-CN" altLang="en-US" dirty="0">
              <a:solidFill>
                <a:srgbClr val="C00000"/>
              </a:solidFill>
            </a:endParaRPr>
          </a:p>
          <a:p>
            <a:pPr algn="l"/>
            <a:r>
              <a:rPr lang="zh-CN" dirty="0">
                <a:sym typeface="+mn-ea"/>
              </a:rPr>
              <a:t>判断语句的嵌套</a:t>
            </a:r>
            <a:endParaRPr lang="zh-CN" dirty="0"/>
          </a:p>
          <a:p>
            <a:pPr algn="l"/>
            <a:r>
              <a:rPr lang="zh-CN" dirty="0">
                <a:sym typeface="+mn-ea"/>
              </a:rPr>
              <a:t>实战案例</a:t>
            </a:r>
            <a:endParaRPr kumimoji="1" lang="zh-CN" altLang="en-US" dirty="0"/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3458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A26"/>
                </a:solidFill>
              </a:rPr>
              <a:t>掌握</a:t>
            </a:r>
            <a:r>
              <a:rPr lang="en-US" altLang="zh-CN" dirty="0">
                <a:solidFill>
                  <a:srgbClr val="AD2A26"/>
                </a:solidFill>
              </a:rPr>
              <a:t>i</a:t>
            </a:r>
            <a:r>
              <a:rPr lang="en-US" altLang="zh-CN" dirty="0">
                <a:solidFill>
                  <a:srgbClr val="AD2A26"/>
                </a:solidFill>
              </a:rPr>
              <a:t>f </a:t>
            </a:r>
            <a:r>
              <a:rPr lang="en-US" altLang="zh-CN" dirty="0" err="1">
                <a:solidFill>
                  <a:srgbClr val="AD2A26"/>
                </a:solidFill>
              </a:rPr>
              <a:t>elif else</a:t>
            </a:r>
            <a:r>
              <a:rPr lang="zh-CN" altLang="en-US" dirty="0">
                <a:solidFill>
                  <a:srgbClr val="AD2A26"/>
                </a:solidFill>
              </a:rPr>
              <a:t>语句进行多条件判断的语法</a:t>
            </a:r>
            <a:endParaRPr lang="en-US" altLang="zh-CN" dirty="0">
              <a:solidFill>
                <a:srgbClr val="AD2A26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54930" y="2219960"/>
            <a:ext cx="5760720" cy="3494405"/>
          </a:xfrm>
        </p:spPr>
        <p:txBody>
          <a:bodyPr/>
          <a:p>
            <a:pPr marL="0" indent="0">
              <a:buNone/>
            </a:pPr>
            <a:r>
              <a:rPr lang="zh-CN" altLang="en-US"/>
              <a:t>某些场景下，判断条件不止一个，可能有多个。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这种需求能用</a:t>
            </a:r>
            <a:r>
              <a:rPr lang="en-US" altLang="zh-CN"/>
              <a:t>Python</a:t>
            </a:r>
            <a:r>
              <a:rPr lang="zh-CN" altLang="en-US"/>
              <a:t>实现吗？</a:t>
            </a:r>
            <a:endParaRPr lang="zh-CN" altLang="en-US"/>
          </a:p>
          <a:p>
            <a:pPr marL="0" indent="0">
              <a:buNone/>
            </a:pPr>
            <a:r>
              <a:rPr lang="en-US" altLang="zh-CN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if elif else </a:t>
            </a: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语句可以实现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40155" y="2129155"/>
            <a:ext cx="2362835" cy="2362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if else</a:t>
            </a:r>
            <a:r>
              <a:t>语句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>
                <a:sym typeface="+mn-ea"/>
              </a:rPr>
              <a:t>生活中的判断</a:t>
            </a:r>
            <a:r>
              <a:rPr lang="en-US" altLang="zh-CN">
                <a:sym typeface="+mn-ea"/>
              </a:rPr>
              <a:t>                                                                           </a:t>
            </a:r>
            <a:r>
              <a:rPr lang="zh-CN" altLang="en-US">
                <a:sym typeface="+mn-ea"/>
              </a:rPr>
              <a:t>程序中的判断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10565" y="4356735"/>
            <a:ext cx="1414145" cy="1414145"/>
          </a:xfrm>
          <a:prstGeom prst="rect">
            <a:avLst/>
          </a:prstGeom>
        </p:spPr>
      </p:pic>
      <p:sp>
        <p:nvSpPr>
          <p:cNvPr id="6" name="圆角矩形标注 5"/>
          <p:cNvSpPr/>
          <p:nvPr/>
        </p:nvSpPr>
        <p:spPr>
          <a:xfrm>
            <a:off x="2527935" y="4036060"/>
            <a:ext cx="2452370" cy="617855"/>
          </a:xfrm>
          <a:prstGeom prst="wedgeRoundRectCallout">
            <a:avLst>
              <a:gd name="adj1" fmla="val -78508"/>
              <a:gd name="adj2" fmla="val 63463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如果小美喜欢我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明天我就去表白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840740" y="2157730"/>
            <a:ext cx="963930" cy="3403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8" name="圆角矩形 7"/>
          <p:cNvSpPr/>
          <p:nvPr/>
        </p:nvSpPr>
        <p:spPr>
          <a:xfrm>
            <a:off x="3272155" y="2157730"/>
            <a:ext cx="963930" cy="3403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动作</a:t>
            </a:r>
            <a:endParaRPr lang="zh-CN" altLang="en-US"/>
          </a:p>
        </p:txBody>
      </p:sp>
      <p:cxnSp>
        <p:nvCxnSpPr>
          <p:cNvPr id="9" name="直接箭头连接符 8"/>
          <p:cNvCxnSpPr>
            <a:stCxn id="7" idx="3"/>
            <a:endCxn id="8" idx="1"/>
          </p:cNvCxnSpPr>
          <p:nvPr/>
        </p:nvCxnSpPr>
        <p:spPr>
          <a:xfrm>
            <a:off x="1804670" y="2327910"/>
            <a:ext cx="14674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圆角矩形 9"/>
          <p:cNvSpPr/>
          <p:nvPr/>
        </p:nvSpPr>
        <p:spPr>
          <a:xfrm>
            <a:off x="840740" y="3299460"/>
            <a:ext cx="963930" cy="3403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否则</a:t>
            </a: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3272155" y="3296920"/>
            <a:ext cx="963930" cy="3403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动作</a:t>
            </a:r>
            <a:endParaRPr lang="zh-CN" altLang="en-US"/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804670" y="3103880"/>
            <a:ext cx="1467485" cy="25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圆角矩形标注 12"/>
          <p:cNvSpPr/>
          <p:nvPr/>
        </p:nvSpPr>
        <p:spPr>
          <a:xfrm>
            <a:off x="2527935" y="4754880"/>
            <a:ext cx="2452370" cy="617855"/>
          </a:xfrm>
          <a:prstGeom prst="wedgeRoundRectCallout">
            <a:avLst>
              <a:gd name="adj1" fmla="val -76178"/>
              <a:gd name="adj2" fmla="val 436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或者小甜喜欢我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明天我就去表白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sp>
        <p:nvSpPr>
          <p:cNvPr id="4" name="圆角矩形标注 3"/>
          <p:cNvSpPr/>
          <p:nvPr/>
        </p:nvSpPr>
        <p:spPr>
          <a:xfrm>
            <a:off x="2527935" y="5803900"/>
            <a:ext cx="2452370" cy="617855"/>
          </a:xfrm>
          <a:prstGeom prst="wedgeRoundRectCallout">
            <a:avLst>
              <a:gd name="adj1" fmla="val -75297"/>
              <a:gd name="adj2" fmla="val -102415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否则我就去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latin typeface="纤黑体" panose="02000000000000000000" charset="-122"/>
                <a:ea typeface="纤黑体" panose="02000000000000000000" charset="-122"/>
              </a:rPr>
              <a:t>追求小新，哼</a:t>
            </a:r>
            <a:endParaRPr lang="zh-CN" altLang="en-US">
              <a:solidFill>
                <a:schemeClr val="tx1"/>
              </a:solidFill>
              <a:latin typeface="纤黑体" panose="02000000000000000000" charset="-122"/>
              <a:ea typeface="纤黑体" panose="02000000000000000000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355" y="2265680"/>
            <a:ext cx="3457575" cy="360997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7" name="圆角矩形 16"/>
          <p:cNvSpPr/>
          <p:nvPr/>
        </p:nvSpPr>
        <p:spPr>
          <a:xfrm>
            <a:off x="840740" y="2545715"/>
            <a:ext cx="963930" cy="3403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8" name="圆角矩形 17"/>
          <p:cNvSpPr/>
          <p:nvPr/>
        </p:nvSpPr>
        <p:spPr>
          <a:xfrm>
            <a:off x="3272155" y="2545715"/>
            <a:ext cx="963930" cy="3403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动作</a:t>
            </a:r>
            <a:endParaRPr lang="zh-CN" altLang="en-US"/>
          </a:p>
        </p:txBody>
      </p:sp>
      <p:cxnSp>
        <p:nvCxnSpPr>
          <p:cNvPr id="19" name="直接箭头连接符 18"/>
          <p:cNvCxnSpPr>
            <a:stCxn id="17" idx="3"/>
            <a:endCxn id="18" idx="1"/>
          </p:cNvCxnSpPr>
          <p:nvPr/>
        </p:nvCxnSpPr>
        <p:spPr>
          <a:xfrm>
            <a:off x="1804670" y="2715895"/>
            <a:ext cx="14674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圆角矩形 19"/>
          <p:cNvSpPr/>
          <p:nvPr/>
        </p:nvSpPr>
        <p:spPr>
          <a:xfrm>
            <a:off x="840740" y="2918460"/>
            <a:ext cx="963930" cy="34036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如果</a:t>
            </a:r>
            <a:r>
              <a:rPr lang="en-US" altLang="zh-CN"/>
              <a:t>N</a:t>
            </a:r>
            <a:endParaRPr lang="en-US" altLang="zh-CN"/>
          </a:p>
        </p:txBody>
      </p:sp>
      <p:sp>
        <p:nvSpPr>
          <p:cNvPr id="21" name="圆角矩形 20"/>
          <p:cNvSpPr/>
          <p:nvPr/>
        </p:nvSpPr>
        <p:spPr>
          <a:xfrm>
            <a:off x="3272155" y="2918460"/>
            <a:ext cx="963930" cy="34036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动作</a:t>
            </a:r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1804670" y="3499485"/>
            <a:ext cx="146748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if elif else</a:t>
            </a:r>
            <a:r>
              <a:rPr lang="zh-CN" altLang="en-US"/>
              <a:t>语句的作用是？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可以完成多个条件的判断</a:t>
            </a:r>
            <a:endParaRPr lang="zh-CN" altLang="en-US" sz="1400"/>
          </a:p>
          <a:p>
            <a:pPr marL="0" indent="0">
              <a:buNone/>
            </a:pPr>
            <a:endParaRPr lang="en-US" altLang="zh-CN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使用</a:t>
            </a:r>
            <a:r>
              <a:rPr lang="en-US" altLang="zh-CN"/>
              <a:t>if elif else</a:t>
            </a:r>
            <a:r>
              <a:rPr lang="zh-CN" altLang="en-US"/>
              <a:t>的注意点有：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elif</a:t>
            </a:r>
            <a:r>
              <a:rPr lang="zh-CN" altLang="en-US" sz="1400"/>
              <a:t>可以写多个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判断是互斥且有序的，上一个满足后面的就不会判断了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ym typeface="+mn-ea"/>
              </a:rPr>
              <a:t>布尔类型和比较运算符</a:t>
            </a:r>
            <a:endParaRPr lang="en-US" altLang="zh-CN" dirty="0"/>
          </a:p>
          <a:p>
            <a:pPr algn="l"/>
            <a:r>
              <a:rPr lang="en-US" altLang="zh-CN" dirty="0" err="1">
                <a:sym typeface="+mn-ea"/>
              </a:rPr>
              <a:t>if语句的基本格式</a:t>
            </a:r>
            <a:endParaRPr lang="en-US" altLang="zh-CN" dirty="0" err="1"/>
          </a:p>
          <a:p>
            <a:pPr algn="l"/>
            <a:r>
              <a:rPr lang="zh-CN" dirty="0">
                <a:sym typeface="+mn-ea"/>
              </a:rPr>
              <a:t>if else 语句</a:t>
            </a:r>
            <a:endParaRPr lang="zh-CN" dirty="0"/>
          </a:p>
          <a:p>
            <a:pPr algn="l"/>
            <a:r>
              <a:rPr lang="zh-CN" dirty="0">
                <a:sym typeface="+mn-ea"/>
              </a:rPr>
              <a:t>if elif else语句</a:t>
            </a:r>
            <a:endParaRPr lang="zh-CN" dirty="0"/>
          </a:p>
          <a:p>
            <a:pPr algn="l"/>
            <a:r>
              <a:rPr lang="zh-CN" altLang="en-US" dirty="0">
                <a:solidFill>
                  <a:srgbClr val="C00000"/>
                </a:solidFill>
                <a:sym typeface="+mn-ea"/>
              </a:rPr>
              <a:t>判断语句的嵌套</a:t>
            </a:r>
            <a:endParaRPr lang="zh-CN" altLang="en-US" dirty="0">
              <a:solidFill>
                <a:srgbClr val="C00000"/>
              </a:solidFill>
            </a:endParaRPr>
          </a:p>
          <a:p>
            <a:pPr algn="l"/>
            <a:r>
              <a:rPr lang="zh-CN" dirty="0">
                <a:sym typeface="+mn-ea"/>
              </a:rPr>
              <a:t>实战案例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A26"/>
                </a:solidFill>
              </a:rPr>
              <a:t>掌握</a:t>
            </a:r>
            <a:r>
              <a:rPr lang="en-US" dirty="0">
                <a:solidFill>
                  <a:srgbClr val="AD2A26"/>
                </a:solidFill>
              </a:rPr>
              <a:t>P</a:t>
            </a:r>
            <a:r>
              <a:rPr lang="en-US" dirty="0">
                <a:solidFill>
                  <a:srgbClr val="AD2A26"/>
                </a:solidFill>
              </a:rPr>
              <a:t>ython</a:t>
            </a:r>
            <a:r>
              <a:rPr lang="zh-CN" altLang="en-US" dirty="0">
                <a:solidFill>
                  <a:srgbClr val="AD2A26"/>
                </a:solidFill>
              </a:rPr>
              <a:t>判断语句的终极用法：嵌套使用</a:t>
            </a:r>
            <a:endParaRPr lang="zh-CN" altLang="en-US" dirty="0">
              <a:solidFill>
                <a:srgbClr val="AD2A26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54930" y="2219960"/>
            <a:ext cx="5760720" cy="3494405"/>
          </a:xfrm>
        </p:spPr>
        <p:txBody>
          <a:bodyPr/>
          <a:p>
            <a:pPr marL="0" indent="0">
              <a:buNone/>
            </a:pPr>
            <a:r>
              <a:rPr lang="zh-CN" altLang="en-US"/>
              <a:t>有很多场景，不仅仅是多个并列条件，还会有</a:t>
            </a:r>
            <a:r>
              <a:rPr lang="zh-CN" altLang="en-US">
                <a:solidFill>
                  <a:srgbClr val="FF0000"/>
                </a:solidFill>
              </a:rPr>
              <a:t>满足前置条件才会二次判断</a:t>
            </a:r>
            <a:r>
              <a:rPr lang="zh-CN" altLang="en-US"/>
              <a:t>的多层判断需求。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 sz="2400" b="1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</a:rPr>
              <a:t>对这种需求，嵌套判断语句可以实现</a:t>
            </a:r>
            <a:endParaRPr lang="zh-CN" altLang="en-US" sz="2400" b="1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</a:endParaRPr>
          </a:p>
        </p:txBody>
      </p:sp>
      <p:pic>
        <p:nvPicPr>
          <p:cNvPr id="8" name="图片 7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40155" y="2129155"/>
            <a:ext cx="2362835" cy="23628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判断语句的嵌套</a:t>
            </a:r>
          </a:p>
        </p:txBody>
      </p:sp>
      <p:pic>
        <p:nvPicPr>
          <p:cNvPr id="5" name="图片 4" descr="01 (122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974705" y="5397500"/>
            <a:ext cx="1414145" cy="14141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450" y="1457325"/>
            <a:ext cx="7439025" cy="34004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8" name="文本占位符 2"/>
          <p:cNvSpPr>
            <a:spLocks noGrp="1"/>
          </p:cNvSpPr>
          <p:nvPr/>
        </p:nvSpPr>
        <p:spPr>
          <a:xfrm>
            <a:off x="807085" y="4914900"/>
            <a:ext cx="10602595" cy="96075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856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许多逻辑的判断，是嵌套的，多层次的。</a:t>
            </a:r>
            <a:endParaRPr lang="zh-CN" altLang="en-US"/>
          </a:p>
          <a:p>
            <a:r>
              <a:rPr lang="zh-CN" altLang="en-US"/>
              <a:t>对于这种需求，我们可以：</a:t>
            </a:r>
            <a:r>
              <a:rPr lang="zh-CN" altLang="en-US">
                <a:solidFill>
                  <a:srgbClr val="FF0000"/>
                </a:solidFill>
              </a:rPr>
              <a:t>自由组合</a:t>
            </a:r>
            <a:r>
              <a:rPr lang="en-US" altLang="zh-CN">
                <a:solidFill>
                  <a:srgbClr val="FF0000"/>
                </a:solidFill>
              </a:rPr>
              <a:t> if elif else</a:t>
            </a:r>
            <a:r>
              <a:rPr lang="zh-CN" altLang="en-US"/>
              <a:t>，完成特定需求的要求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判断语句的嵌套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基础语法格式如下：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如上图，第二个</a:t>
            </a:r>
            <a:r>
              <a:rPr lang="en-US" altLang="zh-CN"/>
              <a:t>if</a:t>
            </a:r>
            <a:r>
              <a:rPr lang="zh-CN" altLang="en-US"/>
              <a:t>，属于第一个</a:t>
            </a:r>
            <a:r>
              <a:rPr lang="en-US" altLang="zh-CN"/>
              <a:t>if</a:t>
            </a:r>
            <a:r>
              <a:rPr lang="zh-CN" altLang="en-US"/>
              <a:t>内，只有第一个</a:t>
            </a:r>
            <a:r>
              <a:rPr lang="en-US" altLang="zh-CN"/>
              <a:t>if</a:t>
            </a:r>
            <a:r>
              <a:rPr lang="zh-CN" altLang="en-US"/>
              <a:t>满足条件，才会执行第二个</a:t>
            </a:r>
            <a:r>
              <a:rPr lang="en-US" altLang="zh-CN"/>
              <a:t>if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嵌套的关键点，在于：</a:t>
            </a:r>
            <a:r>
              <a:rPr lang="zh-CN" altLang="en-US">
                <a:solidFill>
                  <a:srgbClr val="FF0000"/>
                </a:solidFill>
              </a:rPr>
              <a:t>空格缩进</a:t>
            </a:r>
            <a:endParaRPr lang="zh-CN" altLang="en-US"/>
          </a:p>
          <a:p>
            <a:r>
              <a:rPr lang="zh-CN" altLang="en-US"/>
              <a:t>通过空格缩进，来决定语句之间的：</a:t>
            </a:r>
            <a:r>
              <a:rPr lang="zh-CN" altLang="en-US">
                <a:solidFill>
                  <a:srgbClr val="FF0000"/>
                </a:solidFill>
              </a:rPr>
              <a:t>层次关系</a:t>
            </a:r>
            <a:endParaRPr lang="zh-CN" altLang="en-US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997" y="2107504"/>
            <a:ext cx="3390900" cy="2933700"/>
          </a:xfrm>
          <a:prstGeom prst="rect">
            <a:avLst/>
          </a:prstGeom>
        </p:spPr>
      </p:pic>
      <p:pic>
        <p:nvPicPr>
          <p:cNvPr id="5" name="图片 4" descr="01 (9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6005" y="5523865"/>
            <a:ext cx="1153795" cy="115379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嵌套判断语句可以用于多条件、多层次的逻辑判断</a:t>
            </a:r>
            <a:endParaRPr lang="zh-CN" altLang="en-US"/>
          </a:p>
          <a:p>
            <a:r>
              <a:rPr lang="zh-CN" altLang="en-US"/>
              <a:t>嵌套判断语句可以根据需求，自由组合</a:t>
            </a:r>
            <a:r>
              <a:rPr lang="en-US" altLang="zh-CN"/>
              <a:t>if elif else</a:t>
            </a:r>
            <a:r>
              <a:rPr lang="zh-CN" altLang="en-US"/>
              <a:t>来构建多层次判断</a:t>
            </a:r>
            <a:endParaRPr lang="zh-CN" altLang="en-US"/>
          </a:p>
          <a:p>
            <a:r>
              <a:rPr lang="zh-CN" altLang="en-US"/>
              <a:t>嵌套判断语句，一定要注意空格缩进，</a:t>
            </a:r>
            <a:r>
              <a:rPr lang="en-US" altLang="zh-CN"/>
              <a:t>Python</a:t>
            </a:r>
            <a:r>
              <a:rPr lang="zh-CN" altLang="en-US"/>
              <a:t>通过空格缩进来决定层次关系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358" y="1029625"/>
            <a:ext cx="5973761" cy="4256405"/>
          </a:xfrm>
        </p:spPr>
        <p:txBody>
          <a:bodyPr/>
          <a:lstStyle/>
          <a:p>
            <a:pPr algn="l"/>
            <a:r>
              <a:rPr lang="en-US" altLang="zh-CN" dirty="0">
                <a:sym typeface="+mn-ea"/>
              </a:rPr>
              <a:t>布尔类型和比较运算符</a:t>
            </a:r>
            <a:endParaRPr lang="en-US" altLang="zh-CN" dirty="0"/>
          </a:p>
          <a:p>
            <a:pPr algn="l"/>
            <a:r>
              <a:rPr lang="en-US" altLang="zh-CN" dirty="0" err="1">
                <a:sym typeface="+mn-ea"/>
              </a:rPr>
              <a:t>if语句的基本格式</a:t>
            </a:r>
            <a:endParaRPr lang="en-US" altLang="zh-CN" dirty="0" err="1"/>
          </a:p>
          <a:p>
            <a:pPr algn="l"/>
            <a:r>
              <a:rPr lang="zh-CN" dirty="0">
                <a:sym typeface="+mn-ea"/>
              </a:rPr>
              <a:t>if else 语句</a:t>
            </a:r>
            <a:endParaRPr lang="zh-CN" dirty="0"/>
          </a:p>
          <a:p>
            <a:pPr algn="l"/>
            <a:r>
              <a:rPr lang="zh-CN" dirty="0">
                <a:sym typeface="+mn-ea"/>
              </a:rPr>
              <a:t>if elif else语句</a:t>
            </a:r>
            <a:endParaRPr lang="zh-CN" dirty="0"/>
          </a:p>
          <a:p>
            <a:pPr algn="l"/>
            <a:r>
              <a:rPr lang="zh-CN" dirty="0">
                <a:sym typeface="+mn-ea"/>
              </a:rPr>
              <a:t>判断语句的嵌套</a:t>
            </a:r>
            <a:endParaRPr lang="zh-CN" dirty="0"/>
          </a:p>
          <a:p>
            <a:pPr algn="l"/>
            <a:r>
              <a:rPr lang="zh-CN" altLang="en-US" dirty="0">
                <a:solidFill>
                  <a:srgbClr val="C00000"/>
                </a:solidFill>
                <a:sym typeface="+mn-ea"/>
              </a:rPr>
              <a:t>实战案例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4866958" y="335400"/>
            <a:ext cx="6298881" cy="4855845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>
                <a:solidFill>
                  <a:srgbClr val="AD2A26"/>
                </a:solidFill>
              </a:rPr>
              <a:t>通过逻辑判断语句，完成猜数字的案例代码编写</a:t>
            </a:r>
            <a:endParaRPr lang="en-US" altLang="zh-CN" dirty="0">
              <a:solidFill>
                <a:srgbClr val="AD2A26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/>
          </p:nvPr>
        </p:nvSpPr>
        <p:spPr>
          <a:xfrm>
            <a:off x="721201" y="914232"/>
            <a:ext cx="10749598" cy="42195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1800" b="1" dirty="0"/>
              <a:t>案例需求</a:t>
            </a:r>
            <a:r>
              <a:rPr lang="en-US" altLang="zh-CN" sz="1800" b="1" dirty="0"/>
              <a:t>:</a:t>
            </a:r>
            <a:endParaRPr lang="en-US" altLang="zh-CN" sz="1800" b="1" dirty="0"/>
          </a:p>
          <a:p>
            <a:pPr marL="0" indent="0">
              <a:buNone/>
            </a:pPr>
            <a:r>
              <a:rPr lang="zh-CN" altLang="en-US" sz="1800" b="1" dirty="0"/>
              <a:t>         </a:t>
            </a:r>
            <a:r>
              <a:rPr lang="zh-CN" altLang="en-US" dirty="0"/>
              <a:t>定义一个数字（</a:t>
            </a:r>
            <a:r>
              <a:rPr dirty="0"/>
              <a:t>1~10</a:t>
            </a:r>
            <a:r>
              <a:rPr lang="zh-CN" altLang="en-US" dirty="0"/>
              <a:t>，随机产生），通过</a:t>
            </a:r>
            <a:r>
              <a:rPr dirty="0"/>
              <a:t>3</a:t>
            </a:r>
            <a:r>
              <a:rPr lang="zh-CN" altLang="en-US" dirty="0"/>
              <a:t>次判断来猜出来数字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1800" b="1" dirty="0"/>
              <a:t>案例要求</a:t>
            </a:r>
            <a:r>
              <a:rPr lang="en-US" altLang="zh-CN" sz="1800" b="1" dirty="0"/>
              <a:t>:	</a:t>
            </a:r>
            <a:endParaRPr lang="zh-CN" altLang="en-US" sz="18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224912" y="2898758"/>
            <a:ext cx="46532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数字随机产生，范围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1-10</a:t>
            </a:r>
            <a:endParaRPr lang="en-US" altLang="zh-CN" sz="1600" dirty="0">
              <a:solidFill>
                <a:srgbClr val="AD2A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2.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有</a:t>
            </a:r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次机会猜测数字，通过多层嵌套判断实现</a:t>
            </a:r>
            <a:endParaRPr lang="zh-CN" altLang="en-US" sz="1600" dirty="0">
              <a:solidFill>
                <a:srgbClr val="AD2A26"/>
              </a:solidFill>
              <a:latin typeface="Alibaba PuHuiTi R" pitchFamily="18" charset="-122"/>
              <a:ea typeface="Alibaba PuHuiTi R" pitchFamily="18" charset="-122"/>
              <a:cs typeface="Alibaba PuHuiTi R" pitchFamily="18" charset="-122"/>
            </a:endParaRPr>
          </a:p>
          <a:p>
            <a:r>
              <a:rPr lang="en-US" altLang="zh-CN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3.</a:t>
            </a:r>
            <a:r>
              <a:rPr lang="zh-CN" altLang="en-US" sz="160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   </a:t>
            </a:r>
            <a:r>
              <a:rPr lang="zh-CN" sz="1600" dirty="0">
                <a:solidFill>
                  <a:srgbClr val="AD2A26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每次猜不中，会提示大了或小了</a:t>
            </a:r>
            <a:endParaRPr kumimoji="1"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6657" y="4574523"/>
            <a:ext cx="6380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提示，通过如下代码，可以定义一个变量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num</a:t>
            </a:r>
            <a:r>
              <a:rPr 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rPr>
              <a:t>，变量内存储随机数字。</a:t>
            </a:r>
            <a:endParaRPr kumimoji="1" lang="zh-CN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955" y="4911725"/>
            <a:ext cx="4419600" cy="77152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图片 5" descr="01 (1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8820" y="5124450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3bd1a816-7d7d-4db1-9efc-e25909f2b4e4}"/>
  <p:tag name="TABLE_ENDDRAG_ORIGIN_RECT" val="800*298"/>
  <p:tag name="TABLE_ENDDRAG_RECT" val="64*156*800*298"/>
</p:tagLst>
</file>

<file path=ppt/tags/tag2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3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4.xml><?xml version="1.0" encoding="utf-8"?>
<p:tagLst xmlns:p="http://schemas.openxmlformats.org/presentationml/2006/main">
  <p:tag name="KSO_WM_UNIT_TABLE_BEAUTIFY" val="smartTable{da3b23ff-ccc0-4662-a47a-b489be18a043}"/>
</p:tagLst>
</file>

<file path=ppt/tags/tag5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6.xml><?xml version="1.0" encoding="utf-8"?>
<p:tagLst xmlns:p="http://schemas.openxmlformats.org/presentationml/2006/main">
  <p:tag name="KSO_WM_UNIT_PLACING_PICTURE_USER_VIEWPORT" val="{&quot;height&quot;:4482,&quot;width&quot;:7633}"/>
</p:tagLst>
</file>

<file path=ppt/tags/tag7.xml><?xml version="1.0" encoding="utf-8"?>
<p:tagLst xmlns:p="http://schemas.openxmlformats.org/presentationml/2006/main">
  <p:tag name="KSO_WM_UNIT_PLACING_PICTURE_USER_VIEWPORT" val="{&quot;height&quot;:4800,&quot;width&quot;:4800}"/>
</p:tagLst>
</file>

<file path=ppt/tags/tag8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9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0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1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2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3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14.xml><?xml version="1.0" encoding="utf-8"?>
<p:tagLst xmlns:p="http://schemas.openxmlformats.org/presentationml/2006/main">
  <p:tag name="COMMONDATA" val="eyJoZGlkIjoiNDhiY2VkMGUwZjljMDllYTk3ZWVhNzg1MGY3MjdkNGMifQ=="/>
  <p:tag name="KSO_WPP_MARK_KEY" val="e7f74fde-3f7d-4452-b68c-79f7c8c91af7"/>
  <p:tag name="commondata" val="eyJoZGlkIjoiZjFlMjg2MmYxODM4Yjk5ZDc5MGVmYjg0M2JjYjM0MTgifQ==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3409</Words>
  <Application>WPS 演示</Application>
  <PresentationFormat>宽屏</PresentationFormat>
  <Paragraphs>447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9</vt:i4>
      </vt:variant>
      <vt:variant>
        <vt:lpstr>幻灯片标题</vt:lpstr>
      </vt:variant>
      <vt:variant>
        <vt:i4>38</vt:i4>
      </vt:variant>
    </vt:vector>
  </HeadingPairs>
  <TitlesOfParts>
    <vt:vector size="66" baseType="lpstr">
      <vt:lpstr>Arial</vt:lpstr>
      <vt:lpstr>宋体</vt:lpstr>
      <vt:lpstr>Wingdings</vt:lpstr>
      <vt:lpstr>Calibri</vt:lpstr>
      <vt:lpstr>黑体</vt:lpstr>
      <vt:lpstr>Alibaba PuHuiTi B</vt:lpstr>
      <vt:lpstr>Alibaba PuHuiTi R</vt:lpstr>
      <vt:lpstr>Segoe UI</vt:lpstr>
      <vt:lpstr>微软雅黑</vt:lpstr>
      <vt:lpstr>Verdana</vt:lpstr>
      <vt:lpstr>阿里巴巴普惠体</vt:lpstr>
      <vt:lpstr>华文楷体</vt:lpstr>
      <vt:lpstr>Alibaba PuHuiTi M</vt:lpstr>
      <vt:lpstr>Segoe UI Light</vt:lpstr>
      <vt:lpstr>微软雅黑 Light</vt:lpstr>
      <vt:lpstr>纤黑体</vt:lpstr>
      <vt:lpstr>Consolas</vt:lpstr>
      <vt:lpstr>Arial Unicode MS</vt:lpstr>
      <vt:lpstr>等线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Python判断语句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武常斌</cp:lastModifiedBy>
  <cp:revision>532</cp:revision>
  <dcterms:created xsi:type="dcterms:W3CDTF">2022-03-30T12:53:00Z</dcterms:created>
  <dcterms:modified xsi:type="dcterms:W3CDTF">2026-03-19T03:26:33Z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B946F884C6A7414BB3B583E69A241EF1</vt:lpwstr>
  </property>
</Properties>
</file>