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60" r:id="rId4"/>
    <p:sldMasterId id="2147483663" r:id="rId5"/>
    <p:sldMasterId id="2147483665" r:id="rId6"/>
    <p:sldMasterId id="2147483668" r:id="rId7"/>
    <p:sldMasterId id="2147483687" r:id="rId8"/>
    <p:sldMasterId id="2147483689" r:id="rId9"/>
    <p:sldMasterId id="2147483692" r:id="rId10"/>
    <p:sldMasterId id="2147483695" r:id="rId11"/>
    <p:sldMasterId id="2147483698" r:id="rId12"/>
    <p:sldMasterId id="2147483701" r:id="rId13"/>
    <p:sldMasterId id="2147483704" r:id="rId14"/>
    <p:sldMasterId id="2147483707" r:id="rId15"/>
    <p:sldMasterId id="2147483710" r:id="rId16"/>
    <p:sldMasterId id="2147483729" r:id="rId17"/>
    <p:sldMasterId id="2147483732" r:id="rId18"/>
    <p:sldMasterId id="2147483735" r:id="rId19"/>
    <p:sldMasterId id="2147483738" r:id="rId20"/>
    <p:sldMasterId id="2147483757" r:id="rId21"/>
    <p:sldMasterId id="2147483760" r:id="rId22"/>
    <p:sldMasterId id="2147483763" r:id="rId23"/>
    <p:sldMasterId id="2147483766" r:id="rId24"/>
    <p:sldMasterId id="2147483769" r:id="rId25"/>
    <p:sldMasterId id="2147483772" r:id="rId26"/>
    <p:sldMasterId id="2147483791" r:id="rId27"/>
    <p:sldMasterId id="2147483794" r:id="rId28"/>
    <p:sldMasterId id="2147483797" r:id="rId29"/>
    <p:sldMasterId id="2147483800" r:id="rId30"/>
  </p:sldMasterIdLst>
  <p:notesMasterIdLst>
    <p:notesMasterId r:id="rId32"/>
  </p:notesMasterIdLst>
  <p:handoutMasterIdLst>
    <p:handoutMasterId r:id="rId107"/>
  </p:handoutMasterIdLst>
  <p:sldIdLst>
    <p:sldId id="462" r:id="rId31"/>
    <p:sldId id="479" r:id="rId33"/>
    <p:sldId id="681" r:id="rId34"/>
    <p:sldId id="1174" r:id="rId35"/>
    <p:sldId id="1171" r:id="rId36"/>
    <p:sldId id="1177" r:id="rId37"/>
    <p:sldId id="1175" r:id="rId38"/>
    <p:sldId id="1173" r:id="rId39"/>
    <p:sldId id="810" r:id="rId40"/>
    <p:sldId id="480" r:id="rId41"/>
    <p:sldId id="481" r:id="rId42"/>
    <p:sldId id="483" r:id="rId43"/>
    <p:sldId id="813" r:id="rId44"/>
    <p:sldId id="485" r:id="rId45"/>
    <p:sldId id="814" r:id="rId46"/>
    <p:sldId id="486" r:id="rId47"/>
    <p:sldId id="815" r:id="rId48"/>
    <p:sldId id="816" r:id="rId49"/>
    <p:sldId id="817" r:id="rId50"/>
    <p:sldId id="818" r:id="rId51"/>
    <p:sldId id="819" r:id="rId52"/>
    <p:sldId id="820" r:id="rId53"/>
    <p:sldId id="867" r:id="rId54"/>
    <p:sldId id="868" r:id="rId55"/>
    <p:sldId id="869" r:id="rId56"/>
    <p:sldId id="1371" r:id="rId57"/>
    <p:sldId id="1372" r:id="rId58"/>
    <p:sldId id="1373" r:id="rId59"/>
    <p:sldId id="1374" r:id="rId60"/>
    <p:sldId id="493" r:id="rId61"/>
    <p:sldId id="1314" r:id="rId62"/>
    <p:sldId id="1315" r:id="rId63"/>
    <p:sldId id="1375" r:id="rId64"/>
    <p:sldId id="1317" r:id="rId65"/>
    <p:sldId id="1319" r:id="rId66"/>
    <p:sldId id="1320" r:id="rId67"/>
    <p:sldId id="494" r:id="rId68"/>
    <p:sldId id="496" r:id="rId69"/>
    <p:sldId id="1180" r:id="rId70"/>
    <p:sldId id="873" r:id="rId71"/>
    <p:sldId id="1181" r:id="rId72"/>
    <p:sldId id="874" r:id="rId73"/>
    <p:sldId id="499" r:id="rId74"/>
    <p:sldId id="875" r:id="rId75"/>
    <p:sldId id="1183" r:id="rId76"/>
    <p:sldId id="987" r:id="rId77"/>
    <p:sldId id="1184" r:id="rId78"/>
    <p:sldId id="501" r:id="rId79"/>
    <p:sldId id="1330" r:id="rId80"/>
    <p:sldId id="1331" r:id="rId81"/>
    <p:sldId id="1337" r:id="rId82"/>
    <p:sldId id="1338" r:id="rId83"/>
    <p:sldId id="1339" r:id="rId84"/>
    <p:sldId id="1441" r:id="rId85"/>
    <p:sldId id="1482" r:id="rId86"/>
    <p:sldId id="1513" r:id="rId87"/>
    <p:sldId id="1514" r:id="rId88"/>
    <p:sldId id="1515" r:id="rId89"/>
    <p:sldId id="1556" r:id="rId90"/>
    <p:sldId id="1572" r:id="rId91"/>
    <p:sldId id="1485" r:id="rId92"/>
    <p:sldId id="1494" r:id="rId93"/>
    <p:sldId id="1499" r:id="rId94"/>
    <p:sldId id="1500" r:id="rId95"/>
    <p:sldId id="1505" r:id="rId96"/>
    <p:sldId id="1511" r:id="rId97"/>
    <p:sldId id="1322" r:id="rId98"/>
    <p:sldId id="1323" r:id="rId99"/>
    <p:sldId id="1324" r:id="rId100"/>
    <p:sldId id="1325" r:id="rId101"/>
    <p:sldId id="1326" r:id="rId102"/>
    <p:sldId id="1327" r:id="rId103"/>
    <p:sldId id="1328" r:id="rId104"/>
    <p:sldId id="1329" r:id="rId105"/>
    <p:sldId id="264" r:id="rId106"/>
  </p:sldIdLst>
  <p:sldSz cx="12192000" cy="6858000"/>
  <p:notesSz cx="6858000" cy="9144000"/>
  <p:embeddedFontLst>
    <p:embeddedFont>
      <p:font typeface="Calibri" panose="020F0502020204030204" pitchFamily="34" charset="0"/>
      <p:regular r:id="rId111"/>
      <p:bold r:id="rId112"/>
      <p:italic r:id="rId113"/>
      <p:boldItalic r:id="rId114"/>
    </p:embeddedFont>
    <p:embeddedFont>
      <p:font typeface="黑体" panose="02010609060101010101" pitchFamily="49" charset="-122"/>
      <p:regular r:id="rId115"/>
    </p:embeddedFont>
    <p:embeddedFont>
      <p:font typeface="Verdana" panose="020B0604030504040204" pitchFamily="34" charset="0"/>
      <p:regular r:id="rId116"/>
      <p:bold r:id="rId117"/>
      <p:italic r:id="rId118"/>
      <p:boldItalic r:id="rId119"/>
    </p:embeddedFont>
    <p:embeddedFont>
      <p:font typeface="华文楷体" panose="02010600040101010101" pitchFamily="2" charset="-122"/>
      <p:regular r:id="rId120"/>
    </p:embeddedFont>
    <p:embeddedFont>
      <p:font typeface="纤黑体" panose="02000000000000000000" charset="-122"/>
      <p:regular r:id="rId121"/>
    </p:embeddedFont>
    <p:embeddedFont>
      <p:font typeface="等线" panose="02010600030101010101" charset="-122"/>
      <p:regular r:id="rId122"/>
    </p:embeddedFont>
    <p:embeddedFont>
      <p:font typeface="Consolas" panose="020B0609020204030204" pitchFamily="49" charset="0"/>
      <p:regular r:id="rId123"/>
      <p:bold r:id="rId124"/>
      <p:italic r:id="rId125"/>
      <p:boldItalic r:id="rId126"/>
    </p:embeddedFont>
  </p:embeddedFontLst>
  <p:custDataLst>
    <p:tags r:id="rId1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64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68.xml"/><Relationship Id="rId98" Type="http://schemas.openxmlformats.org/officeDocument/2006/relationships/slide" Target="slides/slide67.xml"/><Relationship Id="rId97" Type="http://schemas.openxmlformats.org/officeDocument/2006/relationships/slide" Target="slides/slide66.xml"/><Relationship Id="rId96" Type="http://schemas.openxmlformats.org/officeDocument/2006/relationships/slide" Target="slides/slide65.xml"/><Relationship Id="rId95" Type="http://schemas.openxmlformats.org/officeDocument/2006/relationships/slide" Target="slides/slide64.xml"/><Relationship Id="rId94" Type="http://schemas.openxmlformats.org/officeDocument/2006/relationships/slide" Target="slides/slide63.xml"/><Relationship Id="rId93" Type="http://schemas.openxmlformats.org/officeDocument/2006/relationships/slide" Target="slides/slide62.xml"/><Relationship Id="rId92" Type="http://schemas.openxmlformats.org/officeDocument/2006/relationships/slide" Target="slides/slide61.xml"/><Relationship Id="rId91" Type="http://schemas.openxmlformats.org/officeDocument/2006/relationships/slide" Target="slides/slide60.xml"/><Relationship Id="rId90" Type="http://schemas.openxmlformats.org/officeDocument/2006/relationships/slide" Target="slides/slide59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8.xml"/><Relationship Id="rId88" Type="http://schemas.openxmlformats.org/officeDocument/2006/relationships/slide" Target="slides/slide57.xml"/><Relationship Id="rId87" Type="http://schemas.openxmlformats.org/officeDocument/2006/relationships/slide" Target="slides/slide56.xml"/><Relationship Id="rId86" Type="http://schemas.openxmlformats.org/officeDocument/2006/relationships/slide" Target="slides/slide55.xml"/><Relationship Id="rId85" Type="http://schemas.openxmlformats.org/officeDocument/2006/relationships/slide" Target="slides/slide54.xml"/><Relationship Id="rId84" Type="http://schemas.openxmlformats.org/officeDocument/2006/relationships/slide" Target="slides/slide53.xml"/><Relationship Id="rId83" Type="http://schemas.openxmlformats.org/officeDocument/2006/relationships/slide" Target="slides/slide52.xml"/><Relationship Id="rId82" Type="http://schemas.openxmlformats.org/officeDocument/2006/relationships/slide" Target="slides/slide51.xml"/><Relationship Id="rId81" Type="http://schemas.openxmlformats.org/officeDocument/2006/relationships/slide" Target="slides/slide50.xml"/><Relationship Id="rId80" Type="http://schemas.openxmlformats.org/officeDocument/2006/relationships/slide" Target="slides/slide49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8.xml"/><Relationship Id="rId78" Type="http://schemas.openxmlformats.org/officeDocument/2006/relationships/slide" Target="slides/slide47.xml"/><Relationship Id="rId77" Type="http://schemas.openxmlformats.org/officeDocument/2006/relationships/slide" Target="slides/slide46.xml"/><Relationship Id="rId76" Type="http://schemas.openxmlformats.org/officeDocument/2006/relationships/slide" Target="slides/slide45.xml"/><Relationship Id="rId75" Type="http://schemas.openxmlformats.org/officeDocument/2006/relationships/slide" Target="slides/slide44.xml"/><Relationship Id="rId74" Type="http://schemas.openxmlformats.org/officeDocument/2006/relationships/slide" Target="slides/slide43.xml"/><Relationship Id="rId73" Type="http://schemas.openxmlformats.org/officeDocument/2006/relationships/slide" Target="slides/slide42.xml"/><Relationship Id="rId72" Type="http://schemas.openxmlformats.org/officeDocument/2006/relationships/slide" Target="slides/slide41.xml"/><Relationship Id="rId71" Type="http://schemas.openxmlformats.org/officeDocument/2006/relationships/slide" Target="slides/slide40.xml"/><Relationship Id="rId70" Type="http://schemas.openxmlformats.org/officeDocument/2006/relationships/slide" Target="slides/slide3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8.xml"/><Relationship Id="rId68" Type="http://schemas.openxmlformats.org/officeDocument/2006/relationships/slide" Target="slides/slide37.xml"/><Relationship Id="rId67" Type="http://schemas.openxmlformats.org/officeDocument/2006/relationships/slide" Target="slides/slide36.xml"/><Relationship Id="rId66" Type="http://schemas.openxmlformats.org/officeDocument/2006/relationships/slide" Target="slides/slide35.xml"/><Relationship Id="rId65" Type="http://schemas.openxmlformats.org/officeDocument/2006/relationships/slide" Target="slides/slide34.xml"/><Relationship Id="rId64" Type="http://schemas.openxmlformats.org/officeDocument/2006/relationships/slide" Target="slides/slide33.xml"/><Relationship Id="rId63" Type="http://schemas.openxmlformats.org/officeDocument/2006/relationships/slide" Target="slides/slide32.xml"/><Relationship Id="rId62" Type="http://schemas.openxmlformats.org/officeDocument/2006/relationships/slide" Target="slides/slide31.xml"/><Relationship Id="rId61" Type="http://schemas.openxmlformats.org/officeDocument/2006/relationships/slide" Target="slides/slide30.xml"/><Relationship Id="rId60" Type="http://schemas.openxmlformats.org/officeDocument/2006/relationships/slide" Target="slides/slide2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8.xml"/><Relationship Id="rId58" Type="http://schemas.openxmlformats.org/officeDocument/2006/relationships/slide" Target="slides/slide27.xml"/><Relationship Id="rId57" Type="http://schemas.openxmlformats.org/officeDocument/2006/relationships/slide" Target="slides/slide26.xml"/><Relationship Id="rId56" Type="http://schemas.openxmlformats.org/officeDocument/2006/relationships/slide" Target="slides/slide25.xml"/><Relationship Id="rId55" Type="http://schemas.openxmlformats.org/officeDocument/2006/relationships/slide" Target="slides/slide24.xml"/><Relationship Id="rId54" Type="http://schemas.openxmlformats.org/officeDocument/2006/relationships/slide" Target="slides/slide23.xml"/><Relationship Id="rId53" Type="http://schemas.openxmlformats.org/officeDocument/2006/relationships/slide" Target="slides/slide22.xml"/><Relationship Id="rId52" Type="http://schemas.openxmlformats.org/officeDocument/2006/relationships/slide" Target="slides/slide21.xml"/><Relationship Id="rId51" Type="http://schemas.openxmlformats.org/officeDocument/2006/relationships/slide" Target="slides/slide20.xml"/><Relationship Id="rId50" Type="http://schemas.openxmlformats.org/officeDocument/2006/relationships/slide" Target="slides/slide1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8.xml"/><Relationship Id="rId48" Type="http://schemas.openxmlformats.org/officeDocument/2006/relationships/slide" Target="slides/slide17.xml"/><Relationship Id="rId47" Type="http://schemas.openxmlformats.org/officeDocument/2006/relationships/slide" Target="slides/slide16.xml"/><Relationship Id="rId46" Type="http://schemas.openxmlformats.org/officeDocument/2006/relationships/slide" Target="slides/slide15.xml"/><Relationship Id="rId45" Type="http://schemas.openxmlformats.org/officeDocument/2006/relationships/slide" Target="slides/slide14.xml"/><Relationship Id="rId44" Type="http://schemas.openxmlformats.org/officeDocument/2006/relationships/slide" Target="slides/slide13.xml"/><Relationship Id="rId43" Type="http://schemas.openxmlformats.org/officeDocument/2006/relationships/slide" Target="slides/slide12.xml"/><Relationship Id="rId42" Type="http://schemas.openxmlformats.org/officeDocument/2006/relationships/slide" Target="slides/slide11.xml"/><Relationship Id="rId41" Type="http://schemas.openxmlformats.org/officeDocument/2006/relationships/slide" Target="slides/slide10.xml"/><Relationship Id="rId40" Type="http://schemas.openxmlformats.org/officeDocument/2006/relationships/slide" Target="slides/slide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8.xml"/><Relationship Id="rId38" Type="http://schemas.openxmlformats.org/officeDocument/2006/relationships/slide" Target="slides/slide7.xml"/><Relationship Id="rId37" Type="http://schemas.openxmlformats.org/officeDocument/2006/relationships/slide" Target="slides/slide6.xml"/><Relationship Id="rId36" Type="http://schemas.openxmlformats.org/officeDocument/2006/relationships/slide" Target="slides/slide5.xml"/><Relationship Id="rId35" Type="http://schemas.openxmlformats.org/officeDocument/2006/relationships/slide" Target="slides/slide4.xml"/><Relationship Id="rId34" Type="http://schemas.openxmlformats.org/officeDocument/2006/relationships/slide" Target="slides/slide3.xml"/><Relationship Id="rId33" Type="http://schemas.openxmlformats.org/officeDocument/2006/relationships/slide" Target="slides/slide2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7" Type="http://schemas.openxmlformats.org/officeDocument/2006/relationships/tags" Target="tags/tag12.xml"/><Relationship Id="rId126" Type="http://schemas.openxmlformats.org/officeDocument/2006/relationships/font" Target="fonts/font16.fntdata"/><Relationship Id="rId125" Type="http://schemas.openxmlformats.org/officeDocument/2006/relationships/font" Target="fonts/font15.fntdata"/><Relationship Id="rId124" Type="http://schemas.openxmlformats.org/officeDocument/2006/relationships/font" Target="fonts/font14.fntdata"/><Relationship Id="rId123" Type="http://schemas.openxmlformats.org/officeDocument/2006/relationships/font" Target="fonts/font13.fntdata"/><Relationship Id="rId122" Type="http://schemas.openxmlformats.org/officeDocument/2006/relationships/font" Target="fonts/font12.fntdata"/><Relationship Id="rId121" Type="http://schemas.openxmlformats.org/officeDocument/2006/relationships/font" Target="fonts/font11.fntdata"/><Relationship Id="rId120" Type="http://schemas.openxmlformats.org/officeDocument/2006/relationships/font" Target="fonts/font10.fntdata"/><Relationship Id="rId12" Type="http://schemas.openxmlformats.org/officeDocument/2006/relationships/slideMaster" Target="slideMasters/slideMaster11.xml"/><Relationship Id="rId119" Type="http://schemas.openxmlformats.org/officeDocument/2006/relationships/font" Target="fonts/font9.fntdata"/><Relationship Id="rId118" Type="http://schemas.openxmlformats.org/officeDocument/2006/relationships/font" Target="fonts/font8.fntdata"/><Relationship Id="rId117" Type="http://schemas.openxmlformats.org/officeDocument/2006/relationships/font" Target="fonts/font7.fntdata"/><Relationship Id="rId116" Type="http://schemas.openxmlformats.org/officeDocument/2006/relationships/font" Target="fonts/font6.fntdata"/><Relationship Id="rId115" Type="http://schemas.openxmlformats.org/officeDocument/2006/relationships/font" Target="fonts/font5.fntdata"/><Relationship Id="rId114" Type="http://schemas.openxmlformats.org/officeDocument/2006/relationships/font" Target="fonts/font4.fntdata"/><Relationship Id="rId113" Type="http://schemas.openxmlformats.org/officeDocument/2006/relationships/font" Target="fonts/font3.fntdata"/><Relationship Id="rId112" Type="http://schemas.openxmlformats.org/officeDocument/2006/relationships/font" Target="fonts/font2.fntdata"/><Relationship Id="rId111" Type="http://schemas.openxmlformats.org/officeDocument/2006/relationships/font" Target="fonts/font1.fntdata"/><Relationship Id="rId110" Type="http://schemas.openxmlformats.org/officeDocument/2006/relationships/tableStyles" Target="tableStyles.xml"/><Relationship Id="rId11" Type="http://schemas.openxmlformats.org/officeDocument/2006/relationships/slideMaster" Target="slideMasters/slideMaster10.xml"/><Relationship Id="rId109" Type="http://schemas.openxmlformats.org/officeDocument/2006/relationships/viewProps" Target="viewProps.xml"/><Relationship Id="rId108" Type="http://schemas.openxmlformats.org/officeDocument/2006/relationships/presProps" Target="presProps.xml"/><Relationship Id="rId107" Type="http://schemas.openxmlformats.org/officeDocument/2006/relationships/handoutMaster" Target="handoutMasters/handoutMaster1.xml"/><Relationship Id="rId106" Type="http://schemas.openxmlformats.org/officeDocument/2006/relationships/slide" Target="slides/slide75.xml"/><Relationship Id="rId105" Type="http://schemas.openxmlformats.org/officeDocument/2006/relationships/slide" Target="slides/slide74.xml"/><Relationship Id="rId104" Type="http://schemas.openxmlformats.org/officeDocument/2006/relationships/slide" Target="slides/slide73.xml"/><Relationship Id="rId103" Type="http://schemas.openxmlformats.org/officeDocument/2006/relationships/slide" Target="slides/slide72.xml"/><Relationship Id="rId102" Type="http://schemas.openxmlformats.org/officeDocument/2006/relationships/slide" Target="slides/slide71.xml"/><Relationship Id="rId101" Type="http://schemas.openxmlformats.org/officeDocument/2006/relationships/slide" Target="slides/slide70.xml"/><Relationship Id="rId100" Type="http://schemas.openxmlformats.org/officeDocument/2006/relationships/slide" Target="slides/slide6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400-618-9090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400-618-9090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4.xml"/><Relationship Id="rId6" Type="http://schemas.openxmlformats.org/officeDocument/2006/relationships/image" Target="../media/image23.GIF"/><Relationship Id="rId5" Type="http://schemas.openxmlformats.org/officeDocument/2006/relationships/tags" Target="../tags/tag5.xml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8.png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8.png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0.png"/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50.png"/><Relationship Id="rId3" Type="http://schemas.openxmlformats.org/officeDocument/2006/relationships/image" Target="../media/image57.png"/><Relationship Id="rId2" Type="http://schemas.openxmlformats.org/officeDocument/2006/relationships/image" Target="../media/image49.png"/><Relationship Id="rId1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8.png"/><Relationship Id="rId1" Type="http://schemas.openxmlformats.org/officeDocument/2006/relationships/tags" Target="../tags/tag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8.png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8.png"/><Relationship Id="rId1" Type="http://schemas.openxmlformats.org/officeDocument/2006/relationships/tags" Target="../tags/tag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58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01.xml"/><Relationship Id="rId4" Type="http://schemas.openxmlformats.org/officeDocument/2006/relationships/image" Target="../media/image64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64.png"/><Relationship Id="rId1" Type="http://schemas.openxmlformats.org/officeDocument/2006/relationships/tags" Target="../tags/tag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1.xml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70.png"/><Relationship Id="rId1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7" Type="http://schemas.openxmlformats.org/officeDocument/2006/relationships/image" Target="../media/image77.svg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33.png"/><Relationship Id="rId1" Type="http://schemas.openxmlformats.org/officeDocument/2006/relationships/image" Target="../media/image78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9.xml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9.xml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8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83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基础语法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434205"/>
            <a:ext cx="1179195" cy="117919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r>
              <a:rPr lang="zh-CN" sz="1600" dirty="0">
                <a:solidFill>
                  <a:srgbClr val="C00000"/>
                </a:solidFill>
              </a:rPr>
              <a:t>字面量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注释</a:t>
            </a:r>
            <a:endParaRPr lang="zh-CN" altLang="en-US" sz="1600" dirty="0"/>
          </a:p>
          <a:p>
            <a:r>
              <a:rPr lang="zh-CN" altLang="en-US" sz="1600" dirty="0"/>
              <a:t>变量</a:t>
            </a:r>
            <a:endParaRPr lang="zh-CN" altLang="en-US" sz="1600" dirty="0"/>
          </a:p>
          <a:p>
            <a:r>
              <a:rPr lang="zh-CN" altLang="en-US" sz="1600" dirty="0"/>
              <a:t>数据类型</a:t>
            </a:r>
            <a:endParaRPr lang="zh-CN" altLang="en-US" sz="1600" dirty="0"/>
          </a:p>
          <a:p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r>
              <a:rPr lang="zh-CN" altLang="en-US" sz="1600" dirty="0"/>
              <a:t>标识符</a:t>
            </a:r>
            <a:endParaRPr lang="zh-CN" altLang="en-US" sz="1600" dirty="0"/>
          </a:p>
          <a:p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r>
              <a:rPr lang="zh-CN" altLang="en-US" sz="1600" dirty="0"/>
              <a:t>数据输入</a:t>
            </a:r>
            <a:endParaRPr kumimoji="1" lang="zh-CN" altLang="en-US" sz="1600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9017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dirty="0">
                <a:solidFill>
                  <a:schemeClr val="tx1"/>
                </a:solidFill>
              </a:rPr>
              <a:t>掌握字面量的含义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了解常见的字面量类型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基于</a:t>
            </a:r>
            <a:r>
              <a:rPr lang="en-US" altLang="zh-CN" dirty="0">
                <a:solidFill>
                  <a:schemeClr val="tx1"/>
                </a:solidFill>
              </a:rPr>
              <a:t>print</a:t>
            </a:r>
            <a:r>
              <a:rPr lang="zh-CN" altLang="en-US" dirty="0">
                <a:solidFill>
                  <a:schemeClr val="tx1"/>
                </a:solidFill>
              </a:rPr>
              <a:t>语句完成各类字面量的输出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什么是字面量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字面量：</a:t>
            </a:r>
            <a:r>
              <a:rPr lang="zh-CN"/>
              <a:t>在代码中，</a:t>
            </a:r>
            <a:r>
              <a:rPr lang="zh-CN">
                <a:solidFill>
                  <a:srgbClr val="FF0000"/>
                </a:solidFill>
              </a:rPr>
              <a:t>被</a:t>
            </a:r>
            <a:r>
              <a:rPr lang="zh-CN" sz="2000" b="1">
                <a:solidFill>
                  <a:srgbClr val="FF0000"/>
                </a:solidFill>
              </a:rPr>
              <a:t>写下来</a:t>
            </a:r>
            <a:r>
              <a:rPr lang="zh-CN">
                <a:solidFill>
                  <a:srgbClr val="FF0000"/>
                </a:solidFill>
              </a:rPr>
              <a:t>的</a:t>
            </a:r>
            <a:r>
              <a:rPr lang="zh-CN"/>
              <a:t>的</a:t>
            </a:r>
            <a:r>
              <a:rPr lang="zh-CN">
                <a:solidFill>
                  <a:srgbClr val="FF0000"/>
                </a:solidFill>
              </a:rPr>
              <a:t>固定的</a:t>
            </a:r>
            <a:r>
              <a:rPr lang="zh-CN" sz="2000" b="1">
                <a:solidFill>
                  <a:srgbClr val="FF0000"/>
                </a:solidFill>
              </a:rPr>
              <a:t>值</a:t>
            </a:r>
            <a:r>
              <a:rPr lang="zh-CN"/>
              <a:t>，称之为字面量</a:t>
            </a:r>
            <a:endParaRPr lang="zh-CN"/>
          </a:p>
        </p:txBody>
      </p:sp>
      <p:pic>
        <p:nvPicPr>
          <p:cNvPr id="8" name="图片 7" descr="01 (10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565" y="3744595"/>
            <a:ext cx="1638300" cy="1638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0955" y="3744595"/>
            <a:ext cx="506476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Python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中有哪些值可以被写下来？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0955" y="4907280"/>
            <a:ext cx="412305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如何在代码中写它们呢？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30830" y="1805940"/>
            <a:ext cx="746760" cy="343535"/>
          </a:xfrm>
          <a:prstGeom prst="rect">
            <a:avLst/>
          </a:prstGeom>
          <a:noFill/>
          <a:ln w="38100">
            <a:solidFill>
              <a:srgbClr val="B700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71365" y="1805940"/>
            <a:ext cx="323215" cy="343535"/>
          </a:xfrm>
          <a:prstGeom prst="rect">
            <a:avLst/>
          </a:prstGeom>
          <a:noFill/>
          <a:ln w="38100">
            <a:solidFill>
              <a:srgbClr val="B700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5" grpId="0"/>
      <p:bldP spid="22" grpId="1" animBg="1"/>
      <p:bldP spid="21" grpId="1" animBg="1"/>
      <p:bldP spid="5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常用的值类型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10890"/>
            <a:ext cx="10698800" cy="4219575"/>
          </a:xfrm>
        </p:spPr>
        <p:txBody>
          <a:bodyPr/>
          <a:p>
            <a:r>
              <a:rPr lang="en-US" altLang="zh-CN"/>
              <a:t>Python</a:t>
            </a:r>
            <a:r>
              <a:rPr lang="zh-CN" altLang="en-US"/>
              <a:t>中常用的有</a:t>
            </a:r>
            <a:r>
              <a:rPr lang="en-US" altLang="zh-CN" sz="2400" b="1">
                <a:solidFill>
                  <a:srgbClr val="FF0000"/>
                </a:solidFill>
              </a:rPr>
              <a:t>6</a:t>
            </a:r>
            <a:r>
              <a:rPr lang="zh-CN" altLang="en-US"/>
              <a:t>种值（数据）的类型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812800" y="1990090"/>
          <a:ext cx="10166985" cy="3550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455"/>
                <a:gridCol w="3029585"/>
                <a:gridCol w="5147945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类型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描述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说明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26060">
                <a:tc rowSpan="4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数字（Number）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支持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整数（int）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浮点数（float）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复数（complex）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布尔（bool）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indent="0" algn="l">
                        <a:buNone/>
                      </a:pP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整数（int）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，如：10、-10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浮点数（float）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，如：13.14、-13.14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复数（complex），如：4+3j，以j结尾表示复数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6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布尔（bool）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表达现实生活中的逻辑，即真和假，True表示真，False表示假。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True本质上是一个数字记作1，False记作0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字符串（String）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描述文本的一种数据类型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字符串（</a:t>
                      </a: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</a:t>
                      </a:r>
                      <a:r>
                        <a:rPr lang="zh-CN" altLang="en-US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）由任意数量的字符组成</a:t>
                      </a:r>
                      <a:endParaRPr lang="zh-CN" altLang="en-US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6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列表（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List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有序的可变序列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中使用最频繁的数据类型，可有序记录一堆数据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元组（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Tuple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有序的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不可变序列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可有序记录一堆不可变的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6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集合（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Set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无序不重复集合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可无序记录一堆不重复的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字典（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Dictionary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无序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Key-Value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集合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可无序记录一堆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Key-Value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型的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字符串（</a:t>
            </a:r>
            <a:r>
              <a:rPr lang="en-US" altLang="zh-CN"/>
              <a:t>string</a:t>
            </a:r>
            <a:r>
              <a:rPr lang="zh-CN" altLang="en-US"/>
              <a:t>），又称文本，是由任意数量的字符如中文、英文、各类符号、数字等组成。所以叫做字符的串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"黑马程序员</a:t>
            </a:r>
            <a:r>
              <a:rPr lang="zh-CN" altLang="en-US">
                <a:sym typeface="+mn-ea"/>
              </a:rPr>
              <a:t>"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"学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来黑马"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"</a:t>
            </a:r>
            <a:r>
              <a:rPr lang="en-US" altLang="zh-CN">
                <a:sym typeface="+mn-ea"/>
              </a:rPr>
              <a:t>!@#$%^&amp;</a:t>
            </a:r>
            <a:r>
              <a:rPr lang="zh-CN" altLang="en-US">
                <a:sym typeface="+mn-ea"/>
              </a:rPr>
              <a:t>"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"传智教育的股票代码是：</a:t>
            </a:r>
            <a:r>
              <a:rPr lang="en-US" altLang="zh-CN">
                <a:sym typeface="+mn-ea"/>
              </a:rPr>
              <a:t>003032"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>
              <a:buFont typeface="Arial" panose="020B0604020202020204" pitchFamily="34" charset="0"/>
            </a:pP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Python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中，字符串需要用双引号（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"）包围起来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被引号包围起来的，都是字符串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0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86425" y="2782570"/>
            <a:ext cx="1638300" cy="1638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24725" y="3340735"/>
            <a:ext cx="412305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好像有哪里不对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6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如何在代码中写它们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我们目前要学习的这些类型，如何在代码中表达呢？</a:t>
            </a:r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127829" y="2647892"/>
          <a:ext cx="1798759" cy="3439681"/>
        </p:xfrm>
        <a:graphic>
          <a:graphicData uri="http://schemas.openxmlformats.org/drawingml/2006/table">
            <a:tbl>
              <a:tblPr/>
              <a:tblGrid>
                <a:gridCol w="1798759"/>
              </a:tblGrid>
              <a:tr h="39941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类型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浮点数（小数）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89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字符串（文本）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872870" y="2649846"/>
          <a:ext cx="4204511" cy="3439681"/>
        </p:xfrm>
        <a:graphic>
          <a:graphicData uri="http://schemas.openxmlformats.org/drawingml/2006/table">
            <a:tbl>
              <a:tblPr/>
              <a:tblGrid>
                <a:gridCol w="4204511"/>
              </a:tblGrid>
              <a:tr h="39941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和现实中的写法一致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  <a:sym typeface="+mn-ea"/>
                        </a:rPr>
                        <a:t>和现实中的写法一致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89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程序中需要加上双引号来表示字符串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927027" y="2647949"/>
          <a:ext cx="2952819" cy="3439681"/>
        </p:xfrm>
        <a:graphic>
          <a:graphicData uri="http://schemas.openxmlformats.org/drawingml/2006/table">
            <a:tbl>
              <a:tblPr/>
              <a:tblGrid>
                <a:gridCol w="2952819"/>
              </a:tblGrid>
              <a:tr h="39941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程序中的写法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666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-88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581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13.14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-5.21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89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"黑马程序员"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4" name="图片 3" descr="D:/新版课程资料/AI+数据分析研发/播仔最新素材库 - All update/播仔最新素材库 - All update/01 (20).png01 (20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37595" y="5588000"/>
            <a:ext cx="954405" cy="954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 dirty="0">
                <a:sym typeface="+mn-ea"/>
              </a:rPr>
              <a:t>1. </a:t>
            </a:r>
            <a:r>
              <a:rPr lang="zh-CN" dirty="0">
                <a:sym typeface="+mn-ea"/>
              </a:rPr>
              <a:t>掌握字面量的含义</a:t>
            </a:r>
            <a:endParaRPr lang="zh-CN" dirty="0">
              <a:sym typeface="+mn-ea"/>
            </a:endParaRPr>
          </a:p>
          <a:p>
            <a:pPr marL="0" indent="0">
              <a:buNone/>
            </a:pPr>
            <a:r>
              <a:rPr lang="zh-CN" sz="1400" dirty="0">
                <a:sym typeface="+mn-ea"/>
              </a:rPr>
              <a:t>代码中，被写在代码中的固定的值，称之为字面量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常见的字面量类型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我们目前了解：整数、浮点数、字符串这三类即可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如何基于</a:t>
            </a:r>
            <a:r>
              <a:rPr lang="en-US" altLang="zh-CN" dirty="0">
                <a:sym typeface="+mn-ea"/>
              </a:rPr>
              <a:t>print</a:t>
            </a:r>
            <a:r>
              <a:rPr lang="zh-CN" altLang="en-US" dirty="0">
                <a:sym typeface="+mn-ea"/>
              </a:rPr>
              <a:t>语句完成各类字面量的输出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sym typeface="+mn-ea"/>
              </a:rPr>
              <a:t>print(</a:t>
            </a:r>
            <a:r>
              <a:rPr lang="zh-CN" altLang="en-US" sz="1400" dirty="0">
                <a:sym typeface="+mn-ea"/>
              </a:rPr>
              <a:t>字面量</a:t>
            </a:r>
            <a:r>
              <a:rPr lang="en-US" altLang="zh-CN" sz="1400" dirty="0">
                <a:sym typeface="+mn-ea"/>
              </a:rPr>
              <a:t>)</a:t>
            </a:r>
            <a:r>
              <a:rPr lang="zh-CN" altLang="en-US" sz="1400" dirty="0">
                <a:sym typeface="+mn-ea"/>
              </a:rPr>
              <a:t>，如：</a:t>
            </a:r>
            <a:endParaRPr lang="zh-CN" altLang="en-US" sz="14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ym typeface="+mn-ea"/>
              </a:rPr>
              <a:t>print(10)</a:t>
            </a:r>
            <a:r>
              <a:rPr lang="zh-CN" altLang="en-US" sz="1400" dirty="0">
                <a:sym typeface="+mn-ea"/>
              </a:rPr>
              <a:t>，输出整数</a:t>
            </a:r>
            <a:r>
              <a:rPr lang="en-US" altLang="zh-CN" sz="1400" dirty="0">
                <a:sym typeface="+mn-ea"/>
              </a:rPr>
              <a:t>10</a:t>
            </a:r>
            <a:endParaRPr lang="en-US" altLang="zh-CN" sz="14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ym typeface="+mn-ea"/>
              </a:rPr>
              <a:t>print(13.14)</a:t>
            </a:r>
            <a:r>
              <a:rPr lang="zh-CN" altLang="en-US" sz="1400" dirty="0">
                <a:sym typeface="+mn-ea"/>
              </a:rPr>
              <a:t>，输出浮点数</a:t>
            </a:r>
            <a:r>
              <a:rPr lang="en-US" altLang="zh-CN" sz="1400" dirty="0">
                <a:sym typeface="+mn-ea"/>
              </a:rPr>
              <a:t>13.14</a:t>
            </a:r>
            <a:endParaRPr lang="en-US" altLang="zh-CN" sz="14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ym typeface="+mn-ea"/>
              </a:rPr>
              <a:t>print("黑马程序员")</a:t>
            </a:r>
            <a:r>
              <a:rPr lang="zh-CN" altLang="en-US" sz="1400" dirty="0">
                <a:sym typeface="+mn-ea"/>
              </a:rPr>
              <a:t>，输出字符串：黑马程序员</a:t>
            </a:r>
            <a:endParaRPr lang="zh-CN" alt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注释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14312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了解注释的作用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能够使用单行注释和多行注释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2630" y="928651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注释的作用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444109" y="424144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未使用注释代码</a:t>
            </a:r>
            <a:endParaRPr lang="zh-CN" altLang="en-US" sz="1600" dirty="0">
              <a:solidFill>
                <a:srgbClr val="C00000"/>
              </a:solidFill>
              <a:ea typeface="Alibaba PuHuiTi R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4929" y="4766427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使用注释的代码</a:t>
            </a:r>
            <a:endParaRPr lang="zh-CN" altLang="en-US" sz="1600" dirty="0">
              <a:solidFill>
                <a:srgbClr val="C00000"/>
              </a:solidFill>
              <a:ea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6729" y="5484394"/>
            <a:ext cx="9736455" cy="1360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注释：</a:t>
            </a:r>
            <a:r>
              <a:rPr lang="zh-CN" altLang="en-US" sz="1600" dirty="0">
                <a:ea typeface="Alibaba PuHuiTi R" pitchFamily="18" charset="-122"/>
              </a:rPr>
              <a:t>在程序代码中对程序代码进行解释说明的文字。</a:t>
            </a:r>
            <a:endParaRPr lang="zh-CN" altLang="en-US" sz="1600" dirty="0">
              <a:ea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作用：</a:t>
            </a:r>
            <a:r>
              <a:rPr lang="zh-CN" altLang="en-US" sz="1600" dirty="0">
                <a:ea typeface="Alibaba PuHuiTi R" pitchFamily="18" charset="-122"/>
              </a:rPr>
              <a:t>注释不是程序，</a:t>
            </a:r>
            <a:r>
              <a:rPr lang="zh-CN" altLang="en-US" sz="1600" b="1" dirty="0">
                <a:solidFill>
                  <a:srgbClr val="FF0000"/>
                </a:solidFill>
                <a:ea typeface="Alibaba PuHuiTi R" pitchFamily="18" charset="-122"/>
              </a:rPr>
              <a:t>不能被执行</a:t>
            </a:r>
            <a:r>
              <a:rPr lang="zh-CN" altLang="en-US" sz="1600" dirty="0">
                <a:ea typeface="Alibaba PuHuiTi R" pitchFamily="18" charset="-122"/>
              </a:rPr>
              <a:t>，只是对程序代码进行解释说明，让别人可以看懂程序代码的作用，能够</a:t>
            </a:r>
            <a:endParaRPr lang="en-US" altLang="zh-CN" sz="1600" dirty="0">
              <a:ea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ea typeface="Alibaba PuHuiTi R" pitchFamily="18" charset="-122"/>
              </a:rPr>
              <a:t>大大增强程序的可读性。</a:t>
            </a:r>
            <a:endParaRPr lang="zh-CN" altLang="en-US" sz="1600" dirty="0">
              <a:ea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53185" y="2182495"/>
            <a:ext cx="1803400" cy="1936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050" y="1026795"/>
            <a:ext cx="2149475" cy="36556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D:/新版课程资料/AI+数据分析研发/播仔最新素材库 - All update/播仔最新素材库 - All update/01 (20).png01 (20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7595" y="5588000"/>
            <a:ext cx="954405" cy="954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注释的分类</a:t>
            </a:r>
            <a:endParaRPr kumimoji="1" lang="zh-CN" altLang="en-US" dirty="0"/>
          </a:p>
        </p:txBody>
      </p:sp>
      <p:sp>
        <p:nvSpPr>
          <p:cNvPr id="6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31522" y="1457271"/>
            <a:ext cx="10749598" cy="4219575"/>
          </a:xfrm>
        </p:spPr>
        <p:txBody>
          <a:bodyPr/>
          <a:lstStyle/>
          <a:p>
            <a:pPr marL="276225" indent="-276225"/>
            <a:r>
              <a:rPr lang="zh-CN" altLang="en-US" dirty="0">
                <a:solidFill>
                  <a:srgbClr val="262626"/>
                </a:solidFill>
              </a:rPr>
              <a:t>单行注释：</a:t>
            </a:r>
            <a:r>
              <a:rPr lang="zh-CN" altLang="en-US" dirty="0"/>
              <a:t>以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开头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右边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的所有文字当作说明，而不是真正要执行的程序，起</a:t>
            </a:r>
            <a:r>
              <a:rPr lang="zh-CN" altLang="en-US" dirty="0">
                <a:solidFill>
                  <a:srgbClr val="C00000"/>
                </a:solidFill>
              </a:rPr>
              <a:t>辅助说明作用</a:t>
            </a:r>
            <a:endParaRPr lang="en-US" altLang="zh-CN" sz="2665" dirty="0">
              <a:solidFill>
                <a:srgbClr val="C00000"/>
              </a:solidFill>
            </a:endParaRPr>
          </a:p>
          <a:p>
            <a:pPr marL="276225" indent="-276225"/>
            <a:endParaRPr lang="en-US" altLang="zh-CN" dirty="0">
              <a:solidFill>
                <a:srgbClr val="2626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262626"/>
              </a:solidFill>
            </a:endParaRPr>
          </a:p>
          <a:p>
            <a:pPr marL="276225" indent="-276225"/>
            <a:r>
              <a:rPr lang="zh-CN" altLang="en-US" dirty="0">
                <a:solidFill>
                  <a:srgbClr val="262626"/>
                </a:solidFill>
              </a:rPr>
              <a:t>多行注释： 以 </a:t>
            </a:r>
            <a:r>
              <a:rPr lang="zh-CN" altLang="en-US" dirty="0">
                <a:solidFill>
                  <a:srgbClr val="FF0000"/>
                </a:solidFill>
              </a:rPr>
              <a:t>一对三个双引号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262626"/>
                </a:solidFill>
              </a:rPr>
              <a:t>引起来 </a:t>
            </a:r>
            <a:r>
              <a:rPr lang="en-US" altLang="zh-CN" dirty="0">
                <a:solidFill>
                  <a:srgbClr val="262626"/>
                </a:solidFill>
              </a:rPr>
              <a:t>(             )</a:t>
            </a:r>
            <a:r>
              <a:rPr kumimoji="1" lang="zh-CN" altLang="en-US" dirty="0"/>
              <a:t>来解释说明一段代码的作用使用方法</a:t>
            </a:r>
            <a:endParaRPr kumimoji="1" lang="zh-CN" altLang="en-US" dirty="0"/>
          </a:p>
          <a:p>
            <a:pPr marL="0" indent="0">
              <a:buNone/>
            </a:pPr>
            <a:endParaRPr lang="en-US" altLang="zh-CN" dirty="0">
              <a:solidFill>
                <a:srgbClr val="262626"/>
              </a:solidFill>
            </a:endParaRPr>
          </a:p>
          <a:p>
            <a:pPr marL="0" indent="0">
              <a:buNone/>
            </a:pPr>
            <a:r>
              <a:rPr kumimoji="1" lang="zh-CN" altLang="en-US" dirty="0"/>
              <a:t> </a:t>
            </a:r>
            <a:r>
              <a:rPr kumimoji="1" lang="en-US" altLang="zh-CN" dirty="0"/>
              <a:t>		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222" y="1917573"/>
            <a:ext cx="3769488" cy="594592"/>
          </a:xfrm>
          <a:prstGeom prst="rect">
            <a:avLst/>
          </a:prstGeom>
          <a:ln>
            <a:solidFill>
              <a:srgbClr val="49504F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22" y="3201298"/>
            <a:ext cx="3189789" cy="2799203"/>
          </a:xfrm>
          <a:prstGeom prst="rect">
            <a:avLst/>
          </a:prstGeom>
          <a:ln>
            <a:solidFill>
              <a:srgbClr val="49504F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5139055" y="2205355"/>
            <a:ext cx="385508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+mn-lt"/>
                <a:ea typeface="+mn-ea"/>
              </a:rPr>
              <a:t>注意，</a:t>
            </a:r>
            <a:r>
              <a:rPr lang="en-US" altLang="zh-CN" sz="1400" b="1" dirty="0">
                <a:solidFill>
                  <a:srgbClr val="FF0000"/>
                </a:solidFill>
                <a:latin typeface="+mn-lt"/>
                <a:ea typeface="+mn-ea"/>
              </a:rPr>
              <a:t>#</a:t>
            </a:r>
            <a:r>
              <a:rPr lang="zh-CN" altLang="en-US" sz="1400" b="1" dirty="0">
                <a:solidFill>
                  <a:srgbClr val="FF0000"/>
                </a:solidFill>
                <a:latin typeface="+mn-lt"/>
                <a:ea typeface="+mn-ea"/>
              </a:rPr>
              <a:t>号和注释内容一般建议以一个空格隔开</a:t>
            </a:r>
            <a:endParaRPr lang="zh-CN" altLang="en-US" sz="14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780280" y="2786380"/>
            <a:ext cx="233870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600" b="0">
                <a:solidFill>
                  <a:srgbClr val="067D17"/>
                </a:solidFill>
                <a:latin typeface="阿里巴巴普惠体" panose="00020600040101010101" pitchFamily="18" charset="-122"/>
              </a:rPr>
              <a:t>"""</a:t>
            </a:r>
            <a:r>
              <a:rPr lang="zh-CN" sz="1600" b="0">
                <a:solidFill>
                  <a:srgbClr val="067D17"/>
                </a:solidFill>
                <a:ea typeface="阿里巴巴普惠体" panose="00020600040101010101" pitchFamily="18" charset="-122"/>
              </a:rPr>
              <a:t>注释内容</a:t>
            </a:r>
            <a:r>
              <a:rPr lang="en-US" sz="1600" b="0">
                <a:solidFill>
                  <a:srgbClr val="067D17"/>
                </a:solidFill>
                <a:latin typeface="阿里巴巴普惠体" panose="00020600040101010101" pitchFamily="18" charset="-122"/>
              </a:rPr>
              <a:t>"""</a:t>
            </a:r>
            <a:endParaRPr lang="en-US" altLang="en-US" sz="1600" b="0">
              <a:solidFill>
                <a:srgbClr val="067D17"/>
              </a:solidFill>
              <a:latin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20).png01 (20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237595" y="5588000"/>
            <a:ext cx="954405" cy="954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0" grpId="0"/>
      <p:bldP spid="10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注释实战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按照如图所示，对代码添加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单行注释以及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多行注释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添加完成注释后，执行程序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验证注释是否对程序产生影响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7580" y="1569085"/>
            <a:ext cx="2584450" cy="4394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 descr="D:/新版课程资料/AI+数据分析研发/播仔最新素材库 - All update/播仔最新素材库 - All update/01 (20).png01 (20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37595" y="5588000"/>
            <a:ext cx="954405" cy="954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注释的作用是？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sz="1400" dirty="0"/>
              <a:t>注释是代码中的解释型语句，用来对代码内容进行注解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注释不是代码，不会被程序执行</a:t>
            </a:r>
            <a:endParaRPr lang="zh-CN" altLang="en-US" sz="1400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单行注释如何定义？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sz="1400" dirty="0"/>
              <a:t>通过</a:t>
            </a:r>
            <a:r>
              <a:rPr lang="en-US" altLang="zh-CN" sz="1400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r>
              <a:rPr lang="zh-CN" altLang="en-US" sz="1400" dirty="0">
                <a:solidFill>
                  <a:srgbClr val="FF0000"/>
                </a:solidFill>
              </a:rPr>
              <a:t>号定义</a:t>
            </a:r>
            <a:r>
              <a:rPr lang="zh-CN" altLang="en-US" sz="1400" dirty="0"/>
              <a:t>，在</a:t>
            </a:r>
            <a:r>
              <a:rPr lang="en-US" altLang="zh-CN" sz="1400" dirty="0"/>
              <a:t>#</a:t>
            </a:r>
            <a:r>
              <a:rPr lang="zh-CN" altLang="en-US" sz="1400" dirty="0"/>
              <a:t>号右侧的所有内容均作为注释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建议在</a:t>
            </a:r>
            <a:r>
              <a:rPr lang="en-US" altLang="zh-CN" sz="1400" dirty="0"/>
              <a:t>#</a:t>
            </a:r>
            <a:r>
              <a:rPr lang="zh-CN" altLang="en-US" sz="1400" dirty="0"/>
              <a:t>号和注释内容之间，间隔一个空格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单行注释一般用于对一行或一小部分代码进行解释</a:t>
            </a:r>
            <a:r>
              <a:rPr lang="en-US" altLang="zh-CN" sz="1400" dirty="0"/>
              <a:t> </a:t>
            </a:r>
            <a:endParaRPr lang="zh-CN" altLang="en-US" sz="1400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多行注释如何定义？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sz="1400" dirty="0"/>
              <a:t>通过一对三个引号来定义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FF0000"/>
                </a:solidFill>
              </a:rPr>
              <a:t>"""</a:t>
            </a:r>
            <a:r>
              <a:rPr lang="zh-CN" altLang="en-US" sz="1400" dirty="0">
                <a:solidFill>
                  <a:srgbClr val="FF0000"/>
                </a:solidFill>
              </a:rPr>
              <a:t>注释内容</a:t>
            </a:r>
            <a:r>
              <a:rPr lang="en-US" altLang="zh-CN" sz="1400" dirty="0">
                <a:solidFill>
                  <a:srgbClr val="FF0000"/>
                </a:solidFill>
              </a:rPr>
              <a:t>"""</a:t>
            </a:r>
            <a:r>
              <a:rPr lang="en-US" altLang="zh-CN" sz="1400" dirty="0"/>
              <a:t>)</a:t>
            </a:r>
            <a:r>
              <a:rPr lang="zh-CN" altLang="en-US" sz="1400" dirty="0"/>
              <a:t>，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引号内部均是注释，可以换行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多行注释一般对：</a:t>
            </a:r>
            <a:r>
              <a:rPr lang="en-US" altLang="zh-CN" sz="1400" dirty="0"/>
              <a:t>Python</a:t>
            </a:r>
            <a:r>
              <a:rPr lang="zh-CN" altLang="en-US" sz="1400" dirty="0"/>
              <a:t>文件、类或方法进行解释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3465" y="3633470"/>
            <a:ext cx="4795520" cy="44958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63465" y="1972310"/>
            <a:ext cx="5760720" cy="1861185"/>
          </a:xfrm>
        </p:spPr>
        <p:txBody>
          <a:bodyPr/>
          <a:p>
            <a:pPr marL="0" indent="0">
              <a:buNone/>
            </a:pPr>
            <a:r>
              <a:rPr lang="zh-CN" altLang="en-US"/>
              <a:t>思考以下代码第二个</a:t>
            </a:r>
            <a:r>
              <a:rPr lang="en-US" altLang="zh-CN"/>
              <a:t>print</a:t>
            </a:r>
            <a:r>
              <a:rPr lang="zh-CN" altLang="en-US"/>
              <a:t>语句会执行吗？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6838950" y="3689985"/>
            <a:ext cx="2956560" cy="337185"/>
          </a:xfrm>
          <a:prstGeom prst="rect">
            <a:avLst/>
          </a:prstGeom>
          <a:noFill/>
          <a:ln>
            <a:solidFill>
              <a:srgbClr val="B700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94270" y="4027170"/>
            <a:ext cx="1024890" cy="58356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这是注释不会执行</a:t>
            </a:r>
            <a:endParaRPr lang="zh-CN" altLang="en-US" sz="16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bldLvl="0" animBg="1"/>
      <p:bldP spid="7" grpId="1"/>
      <p:bldP spid="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变量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9615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01235" y="1170940"/>
            <a:ext cx="6298565" cy="3216910"/>
          </a:xfrm>
        </p:spPr>
        <p:txBody>
          <a:bodyPr/>
          <a:lstStyle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理解变量的作用及特征</a:t>
            </a:r>
            <a:endParaRPr 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掌握变量的定义方式</a:t>
            </a:r>
            <a:endParaRPr 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97" y="3392338"/>
            <a:ext cx="3286934" cy="1852866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什么是变量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变量：</a:t>
            </a:r>
            <a:r>
              <a:rPr lang="zh-CN" altLang="en-US" b="1">
                <a:solidFill>
                  <a:srgbClr val="FF0000"/>
                </a:solidFill>
              </a:rPr>
              <a:t>在程序运行时</a:t>
            </a:r>
            <a:r>
              <a:rPr lang="zh-CN" altLang="en-US"/>
              <a:t>，能</a:t>
            </a:r>
            <a:r>
              <a:rPr lang="zh-CN" altLang="en-US">
                <a:solidFill>
                  <a:srgbClr val="FF0000"/>
                </a:solidFill>
              </a:rPr>
              <a:t>储存</a:t>
            </a:r>
            <a:r>
              <a:rPr lang="zh-CN" altLang="en-US"/>
              <a:t>计算结果或能</a:t>
            </a:r>
            <a:r>
              <a:rPr lang="zh-CN" altLang="en-US">
                <a:solidFill>
                  <a:srgbClr val="FF0000"/>
                </a:solidFill>
              </a:rPr>
              <a:t>表示值</a:t>
            </a:r>
            <a:r>
              <a:rPr lang="zh-CN" altLang="en-US"/>
              <a:t>的抽象概念。</a:t>
            </a:r>
            <a:endParaRPr lang="zh-CN" altLang="en-US"/>
          </a:p>
          <a:p>
            <a:r>
              <a:rPr lang="zh-CN" altLang="en-US"/>
              <a:t>简单的说，变量就是在程序运行时，记录数据用的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10371" y="3256410"/>
            <a:ext cx="3025278" cy="306705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变量名称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变量的值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1152525" y="3547110"/>
            <a:ext cx="0" cy="180086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31375" y="5380376"/>
            <a:ext cx="5283200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>
              <a:defRPr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每一个变量都有自己的名称，称之为：</a:t>
            </a:r>
            <a:r>
              <a:rPr 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变量名，也就是变量本身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2130425" y="3555365"/>
            <a:ext cx="5080" cy="62865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37715" y="4164965"/>
            <a:ext cx="539242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每一个变量都有自己存储的值（内容），称之为：</a:t>
            </a:r>
            <a:r>
              <a:rPr 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变量值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0700" y="2949596"/>
            <a:ext cx="5283200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变量的定义格式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183360" y="4048948"/>
            <a:ext cx="586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83360" y="4048948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你好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675130" y="3554730"/>
            <a:ext cx="0" cy="12515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604780" y="4806336"/>
            <a:ext cx="5283200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>
              <a:defRPr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赋值，表示将等号</a:t>
            </a:r>
            <a:r>
              <a:rPr 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右侧的值，赋予左侧的变量</a:t>
            </a:r>
            <a:endParaRPr lang="zh-CN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04810" y="5292090"/>
            <a:ext cx="2114550" cy="58356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变量就像盒子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可以存放内容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1"/>
      <p:bldP spid="39" grpId="2"/>
      <p:bldP spid="39" grpId="3"/>
      <p:bldP spid="4" grpId="0"/>
      <p:bldP spid="4" grpId="1"/>
      <p:bldP spid="8" grpId="0"/>
      <p:bldP spid="30" grpId="0" bldLvl="0" animBg="1"/>
      <p:bldP spid="33" grpId="0"/>
      <p:bldP spid="7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模拟钱包</a:t>
            </a:r>
            <a:endParaRPr lang="zh-CN" altLang="en-US"/>
          </a:p>
        </p:txBody>
      </p:sp>
      <p:pic>
        <p:nvPicPr>
          <p:cNvPr id="5" name="图片 4" descr="303b333633323334303bc8cb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1495" y="2971800"/>
            <a:ext cx="1734185" cy="1734185"/>
          </a:xfrm>
          <a:prstGeom prst="rect">
            <a:avLst/>
          </a:prstGeom>
        </p:spPr>
      </p:pic>
      <p:pic>
        <p:nvPicPr>
          <p:cNvPr id="6" name="图片 5" descr="32313539313939333b32313539323139373bb2cdccf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070" y="2548255"/>
            <a:ext cx="2435860" cy="2435860"/>
          </a:xfrm>
          <a:prstGeom prst="rect">
            <a:avLst/>
          </a:prstGeom>
        </p:spPr>
      </p:pic>
      <p:pic>
        <p:nvPicPr>
          <p:cNvPr id="100" name="图片 99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56320" y="2870835"/>
            <a:ext cx="1905000" cy="1790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变量的特征</a:t>
            </a: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921065" y="1674415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变量，从名字中可以看出，表示</a:t>
            </a:r>
            <a:r>
              <a:rPr lang="en-US" altLang="zh-CN"/>
              <a:t>“</a:t>
            </a:r>
            <a:r>
              <a:rPr lang="zh-CN" altLang="en-US"/>
              <a:t>量</a:t>
            </a:r>
            <a:r>
              <a:rPr lang="en-US" altLang="zh-CN"/>
              <a:t>”</a:t>
            </a:r>
            <a:r>
              <a:rPr lang="zh-CN" altLang="en-US"/>
              <a:t>是可变的。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所以，变量的特征就是，</a:t>
            </a:r>
            <a:r>
              <a:rPr lang="zh-CN" altLang="en-US" b="1">
                <a:solidFill>
                  <a:srgbClr val="FF0000"/>
                </a:solidFill>
              </a:rPr>
              <a:t>变量存储的数据，是可以发生改变的。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2" y="3611413"/>
            <a:ext cx="3286934" cy="1852866"/>
          </a:xfrm>
          <a:prstGeom prst="rect">
            <a:avLst/>
          </a:prstGeom>
        </p:spPr>
      </p:pic>
      <p:pic>
        <p:nvPicPr>
          <p:cNvPr id="4" name="图片 3" descr="303b32313537373830303bc0bac7f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5100" y="4127500"/>
            <a:ext cx="914400" cy="914400"/>
          </a:xfrm>
          <a:prstGeom prst="rect">
            <a:avLst/>
          </a:prstGeom>
        </p:spPr>
      </p:pic>
      <p:pic>
        <p:nvPicPr>
          <p:cNvPr id="7" name="图片 6" descr="32313534363531373b32313534363531353bd7e3c7f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6930" y="395795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34375 -0.0249074 -0.0101042 -0.0932407 0.0281771 -0.130185 C 0.0664583 -0.16713 0.159375 -0.176389 0.191458 -0.18463 " pathEditMode="relative" ptsTypes="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38542 -0.0507407 -0.0692708 -0.225741 -0.141042 -0.234722 C -0.212812 -0.243704 -0.318177 -0.0875 -0.358958 -0.0448148 " pathEditMode="relative" ptsTypes="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为什么必须要使用变量？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都是输出内容，直接输出不行吗？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变量的目的是存储运行过程的数据</a:t>
            </a:r>
            <a:endParaRPr lang="zh-CN" altLang="en-US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存储的目的是为了：重复使用</a:t>
            </a:r>
            <a:endParaRPr lang="zh-CN" altLang="en-US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变量是什么，有什么作用？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变量就是在程序运行时，记录数据用的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变量的定义格式是？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变量名</a:t>
            </a:r>
            <a:r>
              <a:rPr lang="en-US" altLang="zh-CN" sz="1400"/>
              <a:t> = </a:t>
            </a:r>
            <a:r>
              <a:rPr lang="zh-CN" altLang="en-US" sz="1400"/>
              <a:t>变量值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变量的特征是？</a:t>
            </a:r>
            <a:endParaRPr lang="zh-CN" altLang="en-US"/>
          </a:p>
          <a:p>
            <a:pPr marL="0" indent="0">
              <a:buNone/>
            </a:pPr>
            <a:r>
              <a:rPr lang="en-US" altLang="zh-CN" sz="1400"/>
              <a:t> </a:t>
            </a:r>
            <a:r>
              <a:rPr lang="zh-CN" altLang="en-US" sz="1400"/>
              <a:t>变量的值可以改变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注释</a:t>
            </a:r>
            <a:endParaRPr kumimoji="1"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数据类型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49682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34890" y="1525905"/>
            <a:ext cx="6298565" cy="2513965"/>
          </a:xfrm>
        </p:spPr>
        <p:txBody>
          <a:bodyPr/>
          <a:p>
            <a:pPr marL="0" indent="0">
              <a:buNone/>
            </a:pPr>
            <a:r>
              <a:rPr lang="zh-CN">
                <a:sym typeface="+mn-ea"/>
              </a:rPr>
              <a:t>掌握使用</a:t>
            </a:r>
            <a:r>
              <a:rPr lang="en-US" altLang="zh-CN">
                <a:sym typeface="+mn-ea"/>
              </a:rPr>
              <a:t>type()</a:t>
            </a:r>
            <a:r>
              <a:rPr lang="zh-CN" altLang="en-US">
                <a:sym typeface="+mn-ea"/>
              </a:rPr>
              <a:t>语句查看数据的类型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理解变量无类型而数据有类型的概念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数据类型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04645"/>
            <a:ext cx="11156315" cy="4748530"/>
          </a:xfrm>
        </p:spPr>
        <p:txBody>
          <a:bodyPr/>
          <a:p>
            <a:pPr>
              <a:buFont typeface="Arial" panose="020B0604020202020204" pitchFamily="34" charset="0"/>
            </a:pPr>
            <a:r>
              <a:rPr lang="zh-CN"/>
              <a:t>在学习字面量的时候，我们了解到：数据是有类型的。</a:t>
            </a:r>
            <a:endParaRPr lang="zh-CN"/>
          </a:p>
          <a:p>
            <a:pPr>
              <a:buFont typeface="Arial" panose="020B0604020202020204" pitchFamily="34" charset="0"/>
            </a:pPr>
            <a:r>
              <a:rPr lang="zh-CN"/>
              <a:t>目前在入门阶段，我们主要接触如下三类数据类型：</a:t>
            </a: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endParaRPr 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string</a:t>
            </a:r>
            <a:r>
              <a:rPr lang="zh-CN" altLang="en-US"/>
              <a:t>、</a:t>
            </a:r>
            <a:r>
              <a:rPr lang="en-US" altLang="zh-CN"/>
              <a:t>int</a:t>
            </a:r>
            <a:r>
              <a:rPr lang="zh-CN" altLang="en-US"/>
              <a:t>、</a:t>
            </a:r>
            <a:r>
              <a:rPr lang="en-US" altLang="zh-CN"/>
              <a:t>float</a:t>
            </a:r>
            <a:r>
              <a:rPr lang="zh-CN" altLang="en-US"/>
              <a:t>这三个英文单词，就是类型的标准名称。</a:t>
            </a:r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14734" y="2591848"/>
          <a:ext cx="10413365" cy="2628900"/>
        </p:xfrm>
        <a:graphic>
          <a:graphicData uri="http://schemas.openxmlformats.org/drawingml/2006/table">
            <a:tbl>
              <a:tblPr/>
              <a:tblGrid>
                <a:gridCol w="2024873"/>
                <a:gridCol w="2200275"/>
                <a:gridCol w="6187900"/>
              </a:tblGrid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类型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描述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A26"/>
                    </a:solidFill>
                  </a:tcPr>
                </a:tc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string</a:t>
                      </a:r>
                      <a:endParaRPr kumimoji="0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字符串类型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用引号引起来的数据都是字符串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int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整型（有符号）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数字类型，存放整数 如 </a:t>
                      </a:r>
                      <a:r>
                        <a:rPr lang="en-US" altLang="zh-CN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-1,10,</a:t>
                      </a: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0</a:t>
                      </a: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 等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float</a:t>
                      </a:r>
                      <a:endParaRPr kumimoji="0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浮点型（有符号）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数字类型，存放小数 如 </a:t>
                      </a:r>
                      <a:r>
                        <a:rPr lang="en-US" altLang="zh-CN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-3.14,</a:t>
                      </a:r>
                      <a:r>
                        <a:rPr lang="zh-CN" altLang="en-US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  <a:sym typeface="+mn-ea"/>
                        </a:rPr>
                        <a:t>6.66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4" name="图片 3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2"/>
          <a:srcRect t="33" b="33"/>
          <a:stretch>
            <a:fillRect/>
          </a:stretch>
        </p:blipFill>
        <p:spPr>
          <a:xfrm>
            <a:off x="11176000" y="5526405"/>
            <a:ext cx="1016000" cy="1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type()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那么，问题来了，如何验证数据的类型呢？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我们可以通过</a:t>
            </a:r>
            <a:r>
              <a:rPr lang="en-US" altLang="zh-CN"/>
              <a:t>type()</a:t>
            </a:r>
            <a:r>
              <a:rPr lang="zh-CN" altLang="en-US"/>
              <a:t>语句来得到数据的类型：</a:t>
            </a:r>
            <a:endParaRPr lang="zh-CN" altLang="en-US"/>
          </a:p>
          <a:p>
            <a:r>
              <a:rPr lang="zh-CN"/>
              <a:t>语法：</a:t>
            </a:r>
            <a:endParaRPr lang="zh-CN"/>
          </a:p>
          <a:p>
            <a:r>
              <a:rPr lang="en-US" altLang="zh-CN">
                <a:solidFill>
                  <a:srgbClr val="FF0000"/>
                </a:solidFill>
              </a:rPr>
              <a:t>type(</a:t>
            </a:r>
            <a:r>
              <a:rPr lang="zh-CN" altLang="en-US">
                <a:solidFill>
                  <a:srgbClr val="FF0000"/>
                </a:solidFill>
              </a:rPr>
              <a:t>被查看类型的数据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2520" y="1809115"/>
            <a:ext cx="2274570" cy="22745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type()</a:t>
            </a:r>
            <a:r>
              <a:t>语句的使用方式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3936365" cy="3282950"/>
          </a:xfrm>
        </p:spPr>
        <p:txBody>
          <a:bodyPr/>
          <a:p>
            <a:r>
              <a:rPr lang="en-US" altLang="zh-CN"/>
              <a:t>1. </a:t>
            </a:r>
            <a:r>
              <a:rPr lang="zh-CN" altLang="en-US"/>
              <a:t>在</a:t>
            </a:r>
            <a:r>
              <a:rPr lang="en-US" altLang="zh-CN"/>
              <a:t>print</a:t>
            </a:r>
            <a:r>
              <a:rPr lang="zh-CN" altLang="en-US"/>
              <a:t>语句中，直接输出类型信息：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2160270"/>
            <a:ext cx="2470150" cy="2317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文本占位符 2"/>
          <p:cNvSpPr>
            <a:spLocks noGrp="1"/>
          </p:cNvSpPr>
          <p:nvPr/>
        </p:nvSpPr>
        <p:spPr>
          <a:xfrm>
            <a:off x="6151880" y="1656080"/>
            <a:ext cx="3936365" cy="32829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2. </a:t>
            </a:r>
            <a:r>
              <a:rPr lang="zh-CN"/>
              <a:t>用变量存储</a:t>
            </a:r>
            <a:r>
              <a:rPr lang="en-US" altLang="zh-CN"/>
              <a:t>type()</a:t>
            </a:r>
            <a:r>
              <a:rPr lang="zh-CN" altLang="en-US"/>
              <a:t>的结果（返回值）：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95" y="2160270"/>
            <a:ext cx="3841750" cy="3124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93775" y="4540250"/>
            <a:ext cx="202755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str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是</a:t>
            </a:r>
            <a:r>
              <a:rPr lang="en-US" altLang="zh-CN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string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的缩写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5" name="图片 4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3"/>
          <a:srcRect t="33" b="33"/>
          <a:stretch>
            <a:fillRect/>
          </a:stretch>
        </p:blipFill>
        <p:spPr>
          <a:xfrm>
            <a:off x="11176000" y="5526405"/>
            <a:ext cx="1016000" cy="1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type()</a:t>
            </a:r>
            <a:r>
              <a:t>语句的使用方式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03895" y="1656000"/>
            <a:ext cx="10698800" cy="4219575"/>
          </a:xfrm>
        </p:spPr>
        <p:txBody>
          <a:bodyPr/>
          <a:p>
            <a:r>
              <a:rPr lang="zh-CN" altLang="en-US"/>
              <a:t>查看的都是</a:t>
            </a:r>
            <a:r>
              <a:rPr lang="en-US" altLang="zh-CN"/>
              <a:t>&lt;</a:t>
            </a:r>
            <a:r>
              <a:rPr lang="zh-CN" altLang="en-US"/>
              <a:t>字面量</a:t>
            </a:r>
            <a:r>
              <a:rPr lang="en-US" altLang="zh-CN"/>
              <a:t>&gt;</a:t>
            </a:r>
            <a:r>
              <a:rPr lang="zh-CN" altLang="en-US"/>
              <a:t>的类型，能查看</a:t>
            </a:r>
            <a:r>
              <a:rPr lang="zh-CN" altLang="en-US">
                <a:solidFill>
                  <a:srgbClr val="FF0000"/>
                </a:solidFill>
              </a:rPr>
              <a:t>变量中存储的数据类型</a:t>
            </a:r>
            <a:r>
              <a:rPr lang="zh-CN" altLang="en-US"/>
              <a:t>吗？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那当然：可以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3295015"/>
            <a:ext cx="2546350" cy="1746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2"/>
          <a:srcRect t="33" b="33"/>
          <a:stretch>
            <a:fillRect/>
          </a:stretch>
        </p:blipFill>
        <p:spPr>
          <a:xfrm>
            <a:off x="11176000" y="5526405"/>
            <a:ext cx="1016000" cy="1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变量有类型吗？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我们通过</a:t>
            </a:r>
            <a:r>
              <a:rPr lang="en-US" altLang="zh-CN"/>
              <a:t>type(</a:t>
            </a:r>
            <a:r>
              <a:rPr lang="zh-CN" altLang="en-US"/>
              <a:t>变量</a:t>
            </a:r>
            <a:r>
              <a:rPr lang="en-US" altLang="zh-CN"/>
              <a:t>)</a:t>
            </a:r>
            <a:r>
              <a:rPr lang="zh-CN" altLang="en-US"/>
              <a:t>可以输出类型，这是查看变量的类型还是数据的类型？</a:t>
            </a:r>
            <a:endParaRPr lang="zh-CN" altLang="en-US"/>
          </a:p>
          <a:p>
            <a:r>
              <a:rPr lang="zh-CN" altLang="en-US"/>
              <a:t>查看的是：变量存储的数据的类型。因为，变量无类型，但是它存储的数据有。</a:t>
            </a:r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545" y="2769235"/>
            <a:ext cx="2138680" cy="12058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665" y="2740660"/>
            <a:ext cx="2138680" cy="1205865"/>
          </a:xfrm>
          <a:prstGeom prst="rect">
            <a:avLst/>
          </a:prstGeom>
        </p:spPr>
      </p:pic>
      <p:pic>
        <p:nvPicPr>
          <p:cNvPr id="6" name="图片 5" descr="32313534363531373b32313534363531353bd7e3c7f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4550" y="3017520"/>
            <a:ext cx="534035" cy="5340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82775" y="4161790"/>
            <a:ext cx="99822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足球盒子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66895" y="4067175"/>
            <a:ext cx="99822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篮球盒子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0" name="图片 9" descr="303b32313537373830303bc0bac7f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5975" y="2988945"/>
            <a:ext cx="562610" cy="562610"/>
          </a:xfrm>
          <a:prstGeom prst="rect">
            <a:avLst/>
          </a:prstGeom>
        </p:spPr>
      </p:pic>
      <p:pic>
        <p:nvPicPr>
          <p:cNvPr id="5" name="图片 4" descr="01 (138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810" y="2543810"/>
            <a:ext cx="1656715" cy="1656715"/>
          </a:xfrm>
          <a:prstGeom prst="rect">
            <a:avLst/>
          </a:prstGeom>
        </p:spPr>
      </p:pic>
      <p:sp>
        <p:nvSpPr>
          <p:cNvPr id="13" name="文本占位符 2"/>
          <p:cNvSpPr>
            <a:spLocks noGrp="1"/>
          </p:cNvSpPr>
          <p:nvPr/>
        </p:nvSpPr>
        <p:spPr>
          <a:xfrm>
            <a:off x="7913370" y="3074035"/>
            <a:ext cx="4423410" cy="5391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</a:rPr>
              <a:t>盒子是足球、篮球吗？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4" name="图片 13" descr="01 (108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9220" y="4685665"/>
            <a:ext cx="2005330" cy="2005330"/>
          </a:xfrm>
          <a:prstGeom prst="rect">
            <a:avLst/>
          </a:prstGeom>
        </p:spPr>
      </p:pic>
      <p:sp>
        <p:nvSpPr>
          <p:cNvPr id="15" name="文本占位符 2"/>
          <p:cNvSpPr>
            <a:spLocks noGrp="1"/>
          </p:cNvSpPr>
          <p:nvPr/>
        </p:nvSpPr>
        <p:spPr>
          <a:xfrm>
            <a:off x="3451225" y="5418455"/>
            <a:ext cx="6563360" cy="5391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>
                <a:solidFill>
                  <a:srgbClr val="FF0000"/>
                </a:solidFill>
              </a:rPr>
              <a:t>我们可能会说：字符串变量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rgbClr val="FF0000"/>
                </a:solidFill>
              </a:rPr>
              <a:t>但要知道，不是变量是字符串，而是它存储了：字符串</a:t>
            </a:r>
            <a:endParaRPr 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1"/>
      <p:bldP spid="13" grpId="1"/>
      <p:bldP spid="15" grpId="1"/>
      <p:bldP spid="7" grpId="2"/>
      <p:bldP spid="8" grpId="2"/>
      <p:bldP spid="13" grpId="2"/>
      <p:bldP spid="15" grpId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使用什么语句可以查看数据的类型？</a:t>
            </a: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200" dirty="0"/>
              <a:t>type()</a:t>
            </a:r>
            <a:endParaRPr lang="en-US" altLang="zh-CN" sz="12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如下代码，</a:t>
            </a:r>
            <a:r>
              <a:rPr lang="en-US" altLang="zh-CN" sz="1600" dirty="0"/>
              <a:t>name_type</a:t>
            </a:r>
            <a:r>
              <a:rPr lang="zh-CN" altLang="en-US" sz="1600" dirty="0"/>
              <a:t>变量可以存储变量</a:t>
            </a:r>
            <a:r>
              <a:rPr lang="en-US" altLang="zh-CN" sz="1600" dirty="0"/>
              <a:t>name</a:t>
            </a:r>
            <a:r>
              <a:rPr lang="zh-CN" altLang="en-US" sz="1600" dirty="0"/>
              <a:t>的类型信息，是因为？</a:t>
            </a: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/>
              <a:t>因为</a:t>
            </a:r>
            <a:r>
              <a:rPr lang="en-US" altLang="zh-CN" sz="1200" dirty="0"/>
              <a:t>type()</a:t>
            </a:r>
            <a:r>
              <a:rPr lang="zh-CN" altLang="en-US" sz="1200" dirty="0"/>
              <a:t>语句会给出结果（返回值）</a:t>
            </a:r>
            <a:endParaRPr lang="zh-CN" altLang="en-US" sz="12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/>
              <a:t>3. </a:t>
            </a:r>
            <a:r>
              <a:rPr lang="zh-CN" altLang="en-US" sz="1600" dirty="0"/>
              <a:t>变量有没有类型？</a:t>
            </a: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/>
              <a:t>没有，字符串变量表示变量存储了字符串而不是表示变量就是字符串</a:t>
            </a:r>
            <a:endParaRPr lang="zh-CN" altLang="en-US" sz="12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305" y="3544570"/>
            <a:ext cx="2292350" cy="4889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数据类型转换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925" y="3038475"/>
            <a:ext cx="412750" cy="4127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掌握如何在字符串、整数、浮点数之间进行相互转换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了解转换的注意事项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为什么要转换类型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数据类型之间，在特定的场景下，是可以相互转换的，如字符串转数字、数字转字符串等</a:t>
            </a:r>
            <a:endParaRPr lang="zh-CN" altLang="en-US"/>
          </a:p>
          <a:p>
            <a:r>
              <a:rPr lang="zh-CN" altLang="en-US"/>
              <a:t>那么，我们为什么要转换它们呢？</a:t>
            </a:r>
            <a:endParaRPr lang="zh-CN" altLang="en-US"/>
          </a:p>
        </p:txBody>
      </p:sp>
      <p:pic>
        <p:nvPicPr>
          <p:cNvPr id="5" name="图片 4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2736850"/>
            <a:ext cx="1776095" cy="1776095"/>
          </a:xfrm>
          <a:prstGeom prst="rect">
            <a:avLst/>
          </a:prstGeom>
        </p:spPr>
      </p:pic>
      <p:sp>
        <p:nvSpPr>
          <p:cNvPr id="4" name="文本占位符 2"/>
          <p:cNvSpPr>
            <a:spLocks noGrp="1"/>
          </p:cNvSpPr>
          <p:nvPr/>
        </p:nvSpPr>
        <p:spPr>
          <a:xfrm>
            <a:off x="3999230" y="2797175"/>
            <a:ext cx="7559675" cy="18497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数据类型转换，将会是我们以后经常使用的功能。</a:t>
            </a:r>
            <a:endParaRPr lang="zh-CN" altLang="en-US"/>
          </a:p>
          <a:p>
            <a:r>
              <a:rPr lang="zh-CN" altLang="en-US"/>
              <a:t>如：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从文件中读取的数字，默认是字符串，我们需要转换成数字类型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后续学习的</a:t>
            </a:r>
            <a:r>
              <a:rPr lang="en-US" altLang="zh-CN"/>
              <a:t>input()</a:t>
            </a:r>
            <a:r>
              <a:rPr lang="zh-CN" altLang="en-US"/>
              <a:t>语句，默认结果是字符串，若需要数字也需要转换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将数字转换成字符串用以写出到外部系统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等等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用途很多，那么让我们来学习一下如何转换吧。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21474" y="130962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333333"/>
              </a:solidFill>
              <a:latin typeface="Helvetica Neue" panose="02000503000000020004" charset="0"/>
            </a:endParaRPr>
          </a:p>
          <a:p>
            <a:br>
              <a:rPr lang="en-GB" altLang="zh-CN" dirty="0"/>
            </a:b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49172" y="1857879"/>
          <a:ext cx="8128000" cy="31836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/>
                <a:gridCol w="4064000"/>
              </a:tblGrid>
              <a:tr h="7959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语句</a:t>
                      </a:r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lang="en-US" altLang="zh-CN" sz="1800" kern="120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/>
                        <a:t>说明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</a:tr>
              <a:tr h="795907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(x)</a:t>
                      </a:r>
                      <a:endParaRPr lang="en-GB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转换为一个整数</a:t>
                      </a:r>
                      <a:endParaRPr lang="zh-CN" altLang="en-US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5907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float(x)</a:t>
                      </a:r>
                      <a:endParaRPr lang="en-GB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转换为一个浮点数</a:t>
                      </a:r>
                      <a:endParaRPr lang="zh-CN" altLang="en-US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95907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(x)</a:t>
                      </a:r>
                      <a:endParaRPr lang="en-GB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将对象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转换为字符串</a:t>
                      </a:r>
                      <a:endParaRPr lang="zh-CN" altLang="en-US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常见的转换语句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41500" y="5208270"/>
            <a:ext cx="8488045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同前面学习的</a:t>
            </a:r>
            <a:r>
              <a:rPr lang="en-US" altLang="zh-CN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type()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语句一样，这三个语句，都是带有结果的（返回值）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我们可以用</a:t>
            </a:r>
            <a:r>
              <a:rPr lang="en-US" altLang="zh-CN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print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直接输出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或用变量存储结果值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类型转换注意事项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p>
            <a:r>
              <a:rPr lang="zh-CN" altLang="en-US"/>
              <a:t>类型转换不是万能的，毕竟强扭的瓜不会甜，我们需要注意：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1. </a:t>
            </a:r>
            <a:r>
              <a:rPr lang="zh-CN" altLang="en-US">
                <a:solidFill>
                  <a:srgbClr val="FF0000"/>
                </a:solidFill>
              </a:rPr>
              <a:t>任何类型，都可以通过</a:t>
            </a:r>
            <a:r>
              <a:rPr lang="en-US" altLang="zh-CN">
                <a:solidFill>
                  <a:srgbClr val="FF0000"/>
                </a:solidFill>
              </a:rPr>
              <a:t>str()</a:t>
            </a:r>
            <a:r>
              <a:rPr lang="zh-CN" altLang="en-US">
                <a:solidFill>
                  <a:srgbClr val="FF0000"/>
                </a:solidFill>
              </a:rPr>
              <a:t>，转换成字符串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2. </a:t>
            </a:r>
            <a:r>
              <a:rPr lang="zh-CN" altLang="en-US">
                <a:solidFill>
                  <a:srgbClr val="FF0000"/>
                </a:solidFill>
              </a:rPr>
              <a:t>字符串内必须真的是数字，才可以将字符串转换为数字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3378200"/>
            <a:ext cx="8877300" cy="28384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字符串、整数、浮点数类型转换的语句是？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任何类型都可以转换成字符串，对不对？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正确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字符串可以随意转换成数字，对不对？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错误，字符串内必须只有数字才可以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800"/>
              <a:t>4. 浮点数转整数会丢失什么？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400"/>
              <a:t>丢失精度，也就是小数部分</a:t>
            </a:r>
            <a:endParaRPr lang="zh-CN" altLang="en-US" sz="140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42915" y="1770380"/>
          <a:ext cx="3789680" cy="13481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94840"/>
                <a:gridCol w="1894840"/>
              </a:tblGrid>
              <a:tr h="251460">
                <a:tc>
                  <a:txBody>
                    <a:bodyPr/>
                    <a:p>
                      <a:pPr algn="ctr"/>
                      <a:r>
                        <a:rPr lang="zh-CN" altLang="en-US" sz="9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语句</a:t>
                      </a:r>
                      <a:r>
                        <a:rPr lang="en-US" altLang="zh-CN" sz="9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9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  <a:r>
                        <a:rPr lang="en-US" altLang="zh-CN" sz="900" kern="120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lang="en-US" altLang="zh-CN" sz="900" kern="120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kern="1200" dirty="0"/>
                        <a:t>说明</a:t>
                      </a:r>
                      <a:endParaRPr lang="zh-CN" altLang="en-US" sz="900" kern="120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/>
                      <a:r>
                        <a:rPr lang="en-GB" sz="9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(x)</a:t>
                      </a:r>
                      <a:endParaRPr lang="en-GB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</a:t>
                      </a:r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</a:t>
                      </a:r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转换为一个整数</a:t>
                      </a:r>
                      <a:endParaRPr lang="zh-CN" altLang="en-US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5125">
                <a:tc>
                  <a:txBody>
                    <a:bodyPr/>
                    <a:p>
                      <a:pPr algn="ctr"/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float(x)</a:t>
                      </a:r>
                      <a:endParaRPr lang="en-GB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</a:t>
                      </a:r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</a:t>
                      </a:r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转换为一个浮点数</a:t>
                      </a:r>
                      <a:endParaRPr lang="zh-CN" altLang="en-US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/>
                      <a:r>
                        <a:rPr lang="en-GB" sz="9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</a:t>
                      </a:r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(x)</a:t>
                      </a:r>
                      <a:endParaRPr lang="en-GB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将对象 </a:t>
                      </a:r>
                      <a:r>
                        <a:rPr lang="en-GB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x </a:t>
                      </a:r>
                      <a:r>
                        <a:rPr lang="zh-CN" altLang="en-US" sz="9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转换为字符串</a:t>
                      </a:r>
                      <a:endParaRPr lang="zh-CN" altLang="en-US" sz="9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标识符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58013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74260" y="1454785"/>
            <a:ext cx="6298565" cy="31146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理解什么是标识符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掌握标识符的命名规则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掌握变量的命名规范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什么是标识符</a:t>
            </a:r>
            <a:endParaRPr lang="en-US" altLang="zh-CN" dirty="0"/>
          </a:p>
        </p:txBody>
      </p:sp>
      <p:sp>
        <p:nvSpPr>
          <p:cNvPr id="6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31522" y="1457271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dirty="0"/>
              <a:t>Python</a:t>
            </a:r>
            <a:r>
              <a:rPr lang="zh-CN" altLang="en-US" dirty="0"/>
              <a:t>程序中，我们可以给很多东西起名字，比如：</a:t>
            </a:r>
            <a:endParaRPr lang="zh-CN" altLang="en-US" dirty="0"/>
          </a:p>
          <a:p>
            <a:r>
              <a:rPr lang="zh-CN" altLang="en-US" dirty="0"/>
              <a:t>变量的名字</a:t>
            </a:r>
            <a:endParaRPr lang="zh-CN" altLang="en-US" dirty="0"/>
          </a:p>
          <a:p>
            <a:r>
              <a:rPr lang="zh-CN" altLang="en-US" dirty="0"/>
              <a:t>方法的名字</a:t>
            </a:r>
            <a:endParaRPr lang="zh-CN" altLang="en-US" dirty="0"/>
          </a:p>
          <a:p>
            <a:r>
              <a:rPr lang="zh-CN" altLang="en-US" dirty="0"/>
              <a:t>类的名字</a:t>
            </a:r>
            <a:r>
              <a:rPr dirty="0"/>
              <a:t>,</a:t>
            </a:r>
            <a:r>
              <a:rPr lang="zh-CN" altLang="en-US" dirty="0"/>
              <a:t>等等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这些名字，我们把它统一的称之为标识符，用来做内容的标识。</a:t>
            </a:r>
            <a:endParaRPr kumimoji="1" lang="zh-CN" altLang="en-US" dirty="0"/>
          </a:p>
          <a:p>
            <a:pPr marL="0" indent="0">
              <a:buNone/>
            </a:pPr>
            <a:r>
              <a:rPr kumimoji="1" lang="zh-CN" altLang="en-US" dirty="0"/>
              <a:t>所以，标识符：</a:t>
            </a:r>
            <a:endParaRPr kumimoji="1" lang="zh-CN" altLang="en-US" dirty="0"/>
          </a:p>
          <a:p>
            <a:pPr marL="0" indent="0">
              <a:buNone/>
            </a:pPr>
            <a:r>
              <a:rPr kumimoji="1" lang="zh-CN" altLang="en-US" dirty="0"/>
              <a:t>是用户在编程的时候所使用的一系列名字，用于给变量、类、方法等命名。</a:t>
            </a:r>
            <a:endParaRPr kumimoji="1" dirty="0"/>
          </a:p>
        </p:txBody>
      </p:sp>
      <p:pic>
        <p:nvPicPr>
          <p:cNvPr id="2" name="图片 1" descr="01 (11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05" y="4215130"/>
            <a:ext cx="2445385" cy="2445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26690" y="5238115"/>
            <a:ext cx="3947160" cy="3987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既然要起名字，就会有对应的限制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标识符命名规则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/>
              <a:t>Python</a:t>
            </a:r>
            <a:r>
              <a:rPr lang="zh-CN" altLang="en-US"/>
              <a:t>中，标识符命名的规则主要有</a:t>
            </a:r>
            <a:r>
              <a:rPr lang="en-US" altLang="zh-CN"/>
              <a:t>3</a:t>
            </a:r>
            <a:r>
              <a:rPr lang="zh-CN" altLang="en-US"/>
              <a:t>类：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内容限定</a:t>
            </a:r>
            <a:endParaRPr lang="zh-CN" altLang="en-US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区分大小写</a:t>
            </a:r>
            <a:endParaRPr lang="zh-CN" altLang="en-US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不可使用关键字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标识符命名规则</a:t>
            </a:r>
            <a:r>
              <a:rPr lang="en-US" altLang="zh-CN"/>
              <a:t> - </a:t>
            </a:r>
            <a:r>
              <a:t>内容限定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标识符命名中，只允许出现：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字母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数字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下划线（</a:t>
            </a:r>
            <a:r>
              <a:rPr lang="en-US" altLang="zh-CN">
                <a:solidFill>
                  <a:schemeClr val="tx1"/>
                </a:solidFill>
              </a:rPr>
              <a:t>_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中文</a:t>
            </a:r>
            <a:endParaRPr lang="zh-CN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1"/>
                </a:solidFill>
              </a:rPr>
              <a:t>这四类元素。</a:t>
            </a:r>
            <a:endParaRPr lang="zh-CN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tx1"/>
                </a:solidFill>
              </a:rPr>
              <a:t>其余任何内容都不被允许。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 descr="31393938393834313b31393939353234343bd7a2d2e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810" y="2971800"/>
            <a:ext cx="914400" cy="914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432935" y="3886200"/>
            <a:ext cx="692150" cy="3987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注意</a:t>
            </a:r>
            <a:endParaRPr lang="zh-CN" altLang="en-US" sz="2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0" y="2971800"/>
            <a:ext cx="2147570" cy="3987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不推荐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使用中文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0" y="3487420"/>
            <a:ext cx="2193290" cy="39878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2.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数字</a:t>
            </a:r>
            <a:r>
              <a:rPr lang="zh-CN" altLang="en-US" sz="2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不可以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开头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21810" y="4660265"/>
            <a:ext cx="1303655" cy="1753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a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a_b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_a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_a_b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a1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3"/>
                </a:solidFill>
                <a:latin typeface="+mn-lt"/>
                <a:ea typeface="+mn-ea"/>
              </a:rPr>
              <a:t>a_b_1</a:t>
            </a:r>
            <a:endParaRPr lang="en-US" altLang="zh-CN" b="1" dirty="0">
              <a:solidFill>
                <a:schemeClr val="accent3"/>
              </a:solidFill>
              <a:latin typeface="+mn-lt"/>
              <a:ea typeface="+mn-ea"/>
            </a:endParaRPr>
          </a:p>
        </p:txBody>
      </p:sp>
      <p:pic>
        <p:nvPicPr>
          <p:cNvPr id="11" name="图片 10" descr="32313534313037363b32313534313037343bd5fdc8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5085" y="5499100"/>
            <a:ext cx="914400" cy="9144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19240" y="5076190"/>
            <a:ext cx="1303655" cy="9220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1</a:t>
            </a: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1_</a:t>
            </a: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1_a</a:t>
            </a: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pic>
        <p:nvPicPr>
          <p:cNvPr id="13" name="图片 12" descr="32313534313037363b32313534313035373bb4edcef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2985" y="54991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7" grpId="1"/>
      <p:bldP spid="8" grpId="1"/>
      <p:bldP spid="7" grpId="2"/>
      <p:bldP spid="8" grpId="2"/>
      <p:bldP spid="10" grpId="0"/>
      <p:bldP spid="10" grpId="1"/>
      <p:bldP spid="12" grpId="0"/>
      <p:bldP spid="6" grpId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标识符命名规则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区分大小写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以定义变量为例：</a:t>
            </a:r>
            <a:endParaRPr lang="en-US" altLang="zh-CN"/>
          </a:p>
          <a:p>
            <a:r>
              <a:rPr lang="en-US" altLang="zh-CN"/>
              <a:t>Andy = “</a:t>
            </a:r>
            <a:r>
              <a:rPr lang="zh-CN" altLang="en-US"/>
              <a:t>安迪</a:t>
            </a:r>
            <a:r>
              <a:rPr lang="en-US" altLang="zh-CN"/>
              <a:t>1”</a:t>
            </a:r>
            <a:endParaRPr lang="en-US" altLang="zh-CN"/>
          </a:p>
          <a:p>
            <a:r>
              <a:rPr lang="en-US" altLang="zh-CN"/>
              <a:t>andy = “</a:t>
            </a:r>
            <a:r>
              <a:rPr lang="zh-CN" altLang="en-US"/>
              <a:t>安迪</a:t>
            </a:r>
            <a:r>
              <a:rPr lang="en-US" altLang="zh-CN"/>
              <a:t>2”</a:t>
            </a:r>
            <a:endParaRPr lang="en-US" altLang="zh-CN"/>
          </a:p>
          <a:p>
            <a:r>
              <a:rPr lang="zh-CN" altLang="en-US"/>
              <a:t>字母</a:t>
            </a:r>
            <a:r>
              <a:rPr lang="en-US" altLang="zh-CN"/>
              <a:t>a</a:t>
            </a:r>
            <a:r>
              <a:rPr lang="zh-CN" altLang="en-US"/>
              <a:t>的大写和小写，是完全能够区分的。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158"/>
          <a:stretch>
            <a:fillRect/>
          </a:stretch>
        </p:blipFill>
        <p:spPr>
          <a:xfrm>
            <a:off x="5036820" y="1911350"/>
            <a:ext cx="3251200" cy="3035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>
                <a:sym typeface="+mn-ea"/>
              </a:rPr>
              <a:t>标识符命名规则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不可使用关键字</a:t>
            </a:r>
            <a:endParaRPr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648" y="1974461"/>
            <a:ext cx="2389690" cy="22280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05" y="4658995"/>
            <a:ext cx="10210800" cy="1346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4284980" y="2488565"/>
            <a:ext cx="5970905" cy="11988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Python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中有一系列单词，称之为关键字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关键字在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Python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中都有特定用途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我们不可以使用它们作为标识符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变量命名规范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学完了标识符（变量、类、方法）的命名</a:t>
            </a:r>
            <a:r>
              <a:rPr kumimoji="1" lang="zh-CN" altLang="en-US" sz="2000" b="1" dirty="0">
                <a:solidFill>
                  <a:srgbClr val="FF0000"/>
                </a:solidFill>
                <a:sym typeface="+mn-ea"/>
              </a:rPr>
              <a:t>规则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后，我们在来学习标识符的命名</a:t>
            </a:r>
            <a:r>
              <a:rPr kumimoji="1" lang="zh-CN" altLang="en-US" sz="2000" b="1" dirty="0">
                <a:solidFill>
                  <a:srgbClr val="FF0000"/>
                </a:solidFill>
                <a:sym typeface="+mn-ea"/>
              </a:rPr>
              <a:t>规范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变量名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类名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方法名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不同的标识符，有不同的规范。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我们目前只接触到了：变量。所以，目前学习：变量的命名规范。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见名知意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下划线命名法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英文字母全小写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变量命名规范</a:t>
            </a:r>
            <a:r>
              <a:rPr lang="en-US" altLang="zh-CN"/>
              <a:t> - </a:t>
            </a:r>
            <a:r>
              <a:t>见名知意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变量的命名要做到：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明了：尽量做到，看到名字，就知道是什么意思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简洁：尽量在确保</a:t>
            </a:r>
            <a:r>
              <a:rPr kumimoji="1"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明了</a:t>
            </a:r>
            <a:r>
              <a:rPr kumimoji="1"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的前提下，减少名字的长度</a:t>
            </a:r>
            <a:endParaRPr kumimoji="1"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70" y="2712720"/>
            <a:ext cx="977900" cy="495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719070"/>
            <a:ext cx="1295400" cy="482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 descr="01 (10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80" y="2458720"/>
            <a:ext cx="1282065" cy="12820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b="56184"/>
          <a:stretch>
            <a:fillRect/>
          </a:stretch>
        </p:blipFill>
        <p:spPr>
          <a:xfrm>
            <a:off x="5137150" y="4889500"/>
            <a:ext cx="1295400" cy="2114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 descr="01 (13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275" y="2505710"/>
            <a:ext cx="1188085" cy="1188085"/>
          </a:xfrm>
          <a:prstGeom prst="rect">
            <a:avLst/>
          </a:prstGeom>
        </p:spPr>
      </p:pic>
      <p:pic>
        <p:nvPicPr>
          <p:cNvPr id="16" name="图片 15" descr="01 (13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4401820"/>
            <a:ext cx="1188085" cy="11880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15" y="4883785"/>
            <a:ext cx="2197100" cy="222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图片 17" descr="01 (10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685" y="4354195"/>
            <a:ext cx="1282065" cy="1282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变量命名规范</a:t>
            </a:r>
            <a:r>
              <a:rPr lang="en-US" altLang="zh-CN"/>
              <a:t> - </a:t>
            </a:r>
            <a:r>
              <a:t>下划线命名法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p>
            <a:r>
              <a:rPr lang="zh-CN"/>
              <a:t>多个单词组合变量名，要使用下划线做分隔。</a:t>
            </a:r>
            <a:endParaRPr lang="zh-CN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2846070"/>
            <a:ext cx="1720850" cy="228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 descr="01 (10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30" y="2319020"/>
            <a:ext cx="1282065" cy="1282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4463415"/>
            <a:ext cx="1714500" cy="260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 descr="01 (13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999865"/>
            <a:ext cx="1188085" cy="1188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" y="3178810"/>
            <a:ext cx="2425700" cy="266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" y="4833620"/>
            <a:ext cx="2527300" cy="279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变量命名规范</a:t>
            </a:r>
            <a:r>
              <a:rPr lang="en-US" altLang="zh-CN"/>
              <a:t> - </a:t>
            </a:r>
            <a:r>
              <a:t>英文字母全小写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命名变量中的英文字母，应全部小写：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90" y="2496185"/>
            <a:ext cx="1327150" cy="53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10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885" y="2121535"/>
            <a:ext cx="1282065" cy="12820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4577715"/>
            <a:ext cx="1327150" cy="571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 descr="01 (13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875" y="4269740"/>
            <a:ext cx="1188085" cy="1188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96390" y="1863090"/>
            <a:ext cx="5760538" cy="45110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什么是标识符？</a:t>
            </a:r>
            <a:endParaRPr lang="zh-CN" alt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1400" dirty="0"/>
              <a:t>用户编写代码时，对变量、类、方法等编写的名字，叫做标识符。</a:t>
            </a:r>
            <a:endParaRPr lang="zh-CN" altLang="en-US" sz="14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标识符的命名规则？</a:t>
            </a:r>
            <a:endParaRPr lang="zh-CN" alt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内容限定</a:t>
            </a:r>
            <a:endParaRPr lang="zh-CN" altLang="en-US" sz="1400" dirty="0"/>
          </a:p>
          <a:p>
            <a:pPr marL="742950" lvl="2" indent="-285750" algn="l" defTabSz="9144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5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（字母、数字、下划线</a:t>
            </a:r>
            <a:r>
              <a:rPr lang="zh-CN" altLang="en-US" sz="145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、中文</a:t>
            </a:r>
            <a:r>
              <a:rPr lang="zh-CN" altLang="en-US" sz="145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</a:t>
            </a:r>
            <a:endParaRPr lang="zh-CN" altLang="en-US" sz="145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区分大小写</a:t>
            </a:r>
            <a:endParaRPr lang="zh-CN" altLang="en-US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不可使用关键字</a:t>
            </a:r>
            <a:endParaRPr lang="zh-CN" altLang="en-US" sz="14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/>
              <a:t>3. </a:t>
            </a:r>
            <a:r>
              <a:rPr lang="zh-CN" altLang="en-US" dirty="0"/>
              <a:t>变量的命名规范？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见名知意</a:t>
            </a:r>
            <a:endParaRPr lang="zh-CN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下划线命名法</a:t>
            </a:r>
            <a:endParaRPr lang="zh-CN" alt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英文字母全小写</a:t>
            </a:r>
            <a:endParaRPr lang="zh-CN" altLang="en-US" sz="1400" dirty="0"/>
          </a:p>
        </p:txBody>
      </p:sp>
      <p:sp>
        <p:nvSpPr>
          <p:cNvPr id="7" name="文本框 6"/>
          <p:cNvSpPr txBox="1"/>
          <p:nvPr/>
        </p:nvSpPr>
        <p:spPr>
          <a:xfrm>
            <a:off x="918845" y="5233035"/>
            <a:ext cx="4030980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不遵守规则：</a:t>
            </a:r>
            <a:r>
              <a:rPr lang="zh-CN" sz="28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会出现问题</a:t>
            </a:r>
            <a:endParaRPr lang="zh-CN" sz="28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8845" y="5928360"/>
            <a:ext cx="3674110" cy="5219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纤黑体" panose="02000000000000000000" charset="-122"/>
                <a:ea typeface="纤黑体" panose="02000000000000000000" charset="-122"/>
              </a:rPr>
              <a:t>不遵守规范：</a:t>
            </a:r>
            <a:r>
              <a:rPr lang="zh-CN" sz="28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不太高级</a:t>
            </a:r>
            <a:endParaRPr lang="zh-CN" sz="28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265" y="4110990"/>
            <a:ext cx="4682490" cy="6172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2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运算符</a:t>
            </a:r>
            <a:endParaRPr 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925" y="4102100"/>
            <a:ext cx="412750" cy="4127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了解</a:t>
            </a:r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中常见</a:t>
            </a:r>
            <a:endParaRPr lang="zh-CN" alt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算术（数学）运算符</a:t>
            </a:r>
            <a:endParaRPr lang="zh-CN" alt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赋值运算符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21474" y="130962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333333"/>
              </a:solidFill>
              <a:latin typeface="Helvetica Neue" panose="02000503000000020004" charset="0"/>
            </a:endParaRPr>
          </a:p>
          <a:p>
            <a:br>
              <a:rPr lang="en-GB" altLang="zh-CN" dirty="0"/>
            </a:b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0880" y="940297"/>
            <a:ext cx="22517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算术（数学）运算符</a:t>
            </a:r>
            <a:endParaRPr lang="zh-CN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21474" y="1488547"/>
          <a:ext cx="10252501" cy="44291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0210"/>
                <a:gridCol w="1657350"/>
                <a:gridCol w="6914941"/>
              </a:tblGrid>
              <a:tr h="5361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bg1"/>
                          </a:solidFill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运算符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bg1"/>
                          </a:solidFill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描述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bg1"/>
                          </a:solidFill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实例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+</a:t>
                      </a:r>
                      <a:endParaRPr lang="en-US" altLang="zh-CN" sz="1800" b="0" i="0" kern="1200" dirty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加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两个对象相加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+ b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</a:t>
                      </a:r>
                      <a:endParaRPr lang="en-US" altLang="zh-CN" sz="1800" b="0" i="0" kern="1200" dirty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减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得到负数或是一个数减去另一个数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- b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61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</a:t>
                      </a:r>
                      <a:endParaRPr lang="zh-CN" altLang="en-US" sz="1800" b="0" i="0" kern="1200" dirty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乘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两个数相乘或是返回一个被重复若干次的字符串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* b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200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</a:t>
                      </a:r>
                      <a:endParaRPr lang="en-US" altLang="zh-CN" sz="1800" b="0" i="0" kern="1200" dirty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除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 / a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//</a:t>
                      </a:r>
                      <a:endParaRPr lang="en-US" altLang="zh-CN" sz="1800" b="0" i="0" kern="120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取整除</a:t>
                      </a:r>
                      <a:endParaRPr lang="zh-CN" altLang="en-US" sz="1800" b="0" i="0" kern="120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返回商的整数部分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9//2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 , 9.0//2.0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4.0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%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取余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返回除法的余数 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 % a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5197"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**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指数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a**b 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20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次方， 输出结果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100000000000000000000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算术运算符的演示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479230" y="1362630"/>
            <a:ext cx="10698800" cy="4219575"/>
          </a:xfrm>
        </p:spPr>
        <p:txBody>
          <a:bodyPr/>
          <a:p>
            <a:r>
              <a:rPr lang="zh-CN" altLang="en-US"/>
              <a:t>加减乘除和求平方，我们在前面已经使用过啦。</a:t>
            </a:r>
            <a:endParaRPr lang="zh-CN" altLang="en-US"/>
          </a:p>
          <a:p>
            <a:r>
              <a:rPr lang="zh-CN" altLang="en-US"/>
              <a:t>现在在带上：整除以及求余数，一起试一试吧。</a:t>
            </a: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2289810"/>
            <a:ext cx="4082415" cy="3822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21474" y="130962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333333"/>
              </a:solidFill>
              <a:latin typeface="Helvetica Neue" panose="02000503000000020004" charset="0"/>
            </a:endParaRPr>
          </a:p>
          <a:p>
            <a:br>
              <a:rPr lang="en-GB" altLang="zh-CN" dirty="0"/>
            </a:b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0880" y="898136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赋值运算符</a:t>
            </a:r>
            <a:endParaRPr lang="zh-CN" altLang="en-US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21474" y="1393952"/>
          <a:ext cx="10228701" cy="13949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06890"/>
                <a:gridCol w="2060913"/>
                <a:gridCol w="6460898"/>
              </a:tblGrid>
              <a:tr h="476193"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kern="1200" dirty="0"/>
                        <a:t>运算符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kern="1200" dirty="0"/>
                        <a:t>描述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kern="1200" dirty="0"/>
                        <a:t>实例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</a:tr>
              <a:tr h="918775"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=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赋值运算符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把 </a:t>
                      </a:r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=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号右边的结果 赋给 左边的变量，如 </a:t>
                      </a:r>
                      <a:r>
                        <a:rPr lang="en-GB" sz="18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num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= 1 + 2 * 3，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结果</a:t>
                      </a:r>
                      <a:r>
                        <a:rPr lang="en-GB" sz="1800" b="0" i="0" kern="12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num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的值为</a:t>
                      </a:r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7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10880" y="305216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复合赋值运算符</a:t>
            </a:r>
            <a:endParaRPr lang="zh-CN" altLang="en-US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21474" y="3504851"/>
          <a:ext cx="10228701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2667"/>
                <a:gridCol w="3818379"/>
                <a:gridCol w="46876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/>
                        <a:t>运算符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/>
                        <a:t>描述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/>
                        <a:t>实例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solidFill>
                      <a:srgbClr val="AD2B2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+=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加法赋值运算符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+=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+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-=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减法赋值运算符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-=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-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</a:t>
                      </a:r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=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乘法赋值运算符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*=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*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/=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除法赋值运算符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/=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/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%=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取模赋值运算符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%=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%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**</a:t>
                      </a:r>
                      <a:r>
                        <a:rPr lang="en-US" altLang="zh-CN" sz="1800" b="0" i="0" kern="12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=</a:t>
                      </a:r>
                      <a:endParaRPr lang="en-US" altLang="zh-CN" sz="1800" b="0" i="0" kern="120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幂赋值运算符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**=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**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en-US" altLang="zh-CN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//=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/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取整除赋值运算符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/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//= a </a:t>
                      </a:r>
                      <a:r>
                        <a:rPr lang="zh-CN" altLang="en-US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等效于 </a:t>
                      </a:r>
                      <a:r>
                        <a:rPr lang="en-GB" sz="1800" b="0" i="0" kern="12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 = c // 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常见的算术（数学）运算符有：</a:t>
            </a:r>
            <a:endParaRPr lang="zh-CN" altLang="en-US"/>
          </a:p>
          <a:p>
            <a:pPr lvl="1"/>
            <a:r>
              <a:rPr lang="zh-CN" altLang="en-US"/>
              <a:t>加（</a:t>
            </a:r>
            <a:r>
              <a:rPr lang="en-US" altLang="zh-CN"/>
              <a:t>+</a:t>
            </a:r>
            <a:r>
              <a:rPr lang="zh-CN" altLang="en-US"/>
              <a:t>）、减（</a:t>
            </a:r>
            <a:r>
              <a:rPr lang="en-US" altLang="zh-CN"/>
              <a:t>-</a:t>
            </a:r>
            <a:r>
              <a:rPr lang="zh-CN" altLang="en-US"/>
              <a:t>）、乘（</a:t>
            </a:r>
            <a:r>
              <a:rPr lang="en-US" altLang="zh-CN"/>
              <a:t>*</a:t>
            </a:r>
            <a:r>
              <a:rPr lang="zh-CN" altLang="en-US"/>
              <a:t>）、除（</a:t>
            </a:r>
            <a:r>
              <a:rPr lang="en-US" altLang="zh-CN"/>
              <a:t>/</a:t>
            </a:r>
            <a:r>
              <a:rPr lang="zh-CN" altLang="en-US"/>
              <a:t>）、</a:t>
            </a:r>
            <a:endParaRPr lang="zh-CN" altLang="en-US"/>
          </a:p>
          <a:p>
            <a:pPr lvl="1"/>
            <a:r>
              <a:rPr lang="zh-CN" altLang="en-US"/>
              <a:t>整除（</a:t>
            </a:r>
            <a:r>
              <a:rPr lang="en-US" altLang="zh-CN"/>
              <a:t>//</a:t>
            </a:r>
            <a:r>
              <a:rPr lang="zh-CN" altLang="en-US"/>
              <a:t>）、取余（</a:t>
            </a:r>
            <a:r>
              <a:rPr lang="en-US" altLang="zh-CN"/>
              <a:t>%</a:t>
            </a:r>
            <a:r>
              <a:rPr lang="zh-CN" altLang="en-US"/>
              <a:t>）、求平方（</a:t>
            </a:r>
            <a:r>
              <a:rPr lang="en-US" altLang="zh-CN"/>
              <a:t>**</a:t>
            </a:r>
            <a:r>
              <a:rPr lang="zh-CN" altLang="en-US"/>
              <a:t>）</a:t>
            </a:r>
            <a:endParaRPr lang="zh-CN" altLang="en-US"/>
          </a:p>
          <a:p>
            <a:pPr marL="342900" lvl="0" indent="-342900"/>
            <a:r>
              <a:rPr lang="zh-CN" altLang="en-US">
                <a:solidFill>
                  <a:schemeClr val="tx1"/>
                </a:solidFill>
              </a:rPr>
              <a:t>赋值运算符有：</a:t>
            </a:r>
            <a:endParaRPr lang="zh-CN" altLang="en-US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标准赋值：</a:t>
            </a:r>
            <a:r>
              <a:rPr lang="en-US" altLang="zh-CN">
                <a:solidFill>
                  <a:schemeClr val="tx1"/>
                </a:solidFill>
              </a:rPr>
              <a:t> =</a:t>
            </a:r>
            <a:endParaRPr lang="en-US" altLang="zh-CN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复合赋值：</a:t>
            </a:r>
            <a:r>
              <a:rPr lang="en-US" altLang="zh-CN">
                <a:solidFill>
                  <a:schemeClr val="tx1"/>
                </a:solidFill>
              </a:rPr>
              <a:t>+=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-=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*=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/=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//=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%=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**=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字符串扩展</a:t>
            </a:r>
            <a:endParaRPr lang="zh-CN" sz="1600" dirty="0">
              <a:solidFill>
                <a:srgbClr val="C00000"/>
              </a:solidFill>
            </a:endParaRPr>
          </a:p>
          <a:p>
            <a:pPr algn="l"/>
            <a:r>
              <a:rPr lang="zh-CN" altLang="en-US" sz="1600" dirty="0">
                <a:sym typeface="+mn-ea"/>
              </a:rPr>
              <a:t>数据输入</a:t>
            </a:r>
            <a:endParaRPr kumimoji="1"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65201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algn="l"/>
            <a:r>
              <a:rPr lang="zh-CN" altLang="en-US" dirty="0">
                <a:solidFill>
                  <a:schemeClr val="tx1"/>
                </a:solidFill>
                <a:sym typeface="+mn-ea"/>
              </a:rPr>
              <a:t>字符串扩展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字符串的多种定义方式</a:t>
            </a:r>
            <a:endParaRPr lang="zh-CN" altLang="en-US" sz="140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400" dirty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字符串格式化输出</a:t>
            </a:r>
            <a:endParaRPr lang="zh-CN" altLang="en-US" sz="1400" b="0" dirty="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965" y="30187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字符串在</a:t>
            </a:r>
            <a:r>
              <a:t>Python</a:t>
            </a:r>
            <a:r>
              <a:rPr lang="zh-CN" altLang="en-US"/>
              <a:t>中有多种定义形式：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单引号定义法：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双引号定义法：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三引号定义法：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三引号定义法，和多行注释的写法一样，同样支持换行操作。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使用变量接收它，它就是字符串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不使用变量接收它，就可以作为多行注释使用。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字符串的多种定义方式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0" y="2171700"/>
            <a:ext cx="2324100" cy="266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585720"/>
            <a:ext cx="2324100" cy="2762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2933700"/>
            <a:ext cx="2924175" cy="4000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字符串常见的三种定义方式：</a:t>
            </a:r>
            <a:endParaRPr lang="zh-CN" alt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/>
              <a:t>单引号方式</a:t>
            </a:r>
            <a:endParaRPr lang="zh-CN" alt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/>
              <a:t>双引号方式</a:t>
            </a:r>
            <a:endParaRPr lang="zh-CN" alt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/>
              <a:t>三引号方式</a:t>
            </a:r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algn="l"/>
            <a:r>
              <a:rPr lang="zh-CN" altLang="en-US" dirty="0">
                <a:solidFill>
                  <a:schemeClr val="tx1"/>
                </a:solidFill>
                <a:sym typeface="+mn-ea"/>
              </a:rPr>
              <a:t>字符串扩展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字符串的多种定义方式</a:t>
            </a:r>
            <a:endParaRPr lang="zh-CN" altLang="en-US" sz="1400" dirty="0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 marL="914400" lvl="2" indent="-457200" algn="l" defTabSz="914400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字符串格式化输出</a:t>
            </a:r>
            <a:endParaRPr lang="zh-CN" altLang="en-US" sz="1400" b="0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3965" y="348805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print</a:t>
            </a:r>
            <a:r>
              <a:t>输出多个内容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格式</a:t>
            </a:r>
            <a:r>
              <a:rPr lang="en-US" altLang="zh-CN"/>
              <a:t>:</a:t>
            </a:r>
            <a:r>
              <a:rPr lang="en-US" altLang="zh-CN" b="1"/>
              <a:t> print(</a:t>
            </a:r>
            <a:r>
              <a:rPr lang="zh-CN" altLang="en-US" b="1"/>
              <a:t>内容</a:t>
            </a:r>
            <a:r>
              <a:rPr lang="en-US" altLang="zh-CN" b="1"/>
              <a:t>1 ,</a:t>
            </a:r>
            <a:r>
              <a:rPr lang="zh-CN" altLang="en-US" b="1"/>
              <a:t>内容</a:t>
            </a:r>
            <a:r>
              <a:rPr lang="en-US" altLang="zh-CN" b="1"/>
              <a:t>2 ,</a:t>
            </a:r>
            <a:r>
              <a:rPr lang="zh-CN" altLang="en-US" b="1"/>
              <a:t>内容</a:t>
            </a:r>
            <a:r>
              <a:rPr lang="en-US" altLang="zh-CN" b="1"/>
              <a:t>3 ...)</a:t>
            </a:r>
            <a:endParaRPr lang="zh-CN" altLang="en-US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输出结果：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00" name="文本框 99"/>
          <p:cNvSpPr txBox="1"/>
          <p:nvPr/>
        </p:nvSpPr>
        <p:spPr>
          <a:xfrm>
            <a:off x="896620" y="2851785"/>
            <a:ext cx="4697095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/>
            <a:r>
              <a:rPr lang="en-US" b="0">
                <a:solidFill>
                  <a:srgbClr val="000080"/>
                </a:solidFill>
                <a:latin typeface="阿里巴巴普惠体" panose="00020600040101010101" pitchFamily="18" charset="-122"/>
              </a:rPr>
              <a:t>print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(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学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IT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来黑马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 ,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 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月薪过万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)</a:t>
            </a:r>
            <a:endParaRPr lang="en-US" altLang="en-US" b="0">
              <a:solidFill>
                <a:srgbClr val="080808"/>
              </a:solidFill>
              <a:latin typeface="阿里巴巴普惠体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770" y="3807460"/>
            <a:ext cx="2423160" cy="403860"/>
          </a:xfrm>
          <a:prstGeom prst="rect">
            <a:avLst/>
          </a:prstGeom>
        </p:spPr>
      </p:pic>
      <p:pic>
        <p:nvPicPr>
          <p:cNvPr id="4" name="图片 3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字符串拼接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如果我们有两个字符串（文本）字面量，可以将其拼接成一个字符串，通过</a:t>
            </a:r>
            <a:r>
              <a:rPr lang="en-US" altLang="zh-CN"/>
              <a:t>+</a:t>
            </a:r>
            <a:r>
              <a:rPr lang="zh-CN" altLang="en-US"/>
              <a:t>号即可完成，如：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输出结果：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不过一般，单纯的</a:t>
            </a:r>
            <a:r>
              <a:rPr lang="en-US" altLang="zh-CN"/>
              <a:t>2</a:t>
            </a:r>
            <a:r>
              <a:rPr lang="zh-CN" altLang="en-US"/>
              <a:t>个字符串字面量进行拼接显得很呆，一般，字面量和变量或变量和变量之间会使用拼接，如：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sp>
        <p:nvSpPr>
          <p:cNvPr id="100" name="文本框 99"/>
          <p:cNvSpPr txBox="1"/>
          <p:nvPr/>
        </p:nvSpPr>
        <p:spPr>
          <a:xfrm>
            <a:off x="770890" y="2155825"/>
            <a:ext cx="4697095" cy="3683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p>
            <a:pPr indent="0"/>
            <a:r>
              <a:rPr lang="en-US" b="0">
                <a:solidFill>
                  <a:srgbClr val="000080"/>
                </a:solidFill>
                <a:latin typeface="阿里巴巴普惠体" panose="00020600040101010101" pitchFamily="18" charset="-122"/>
              </a:rPr>
              <a:t>print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(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学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IT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来黑马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 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+ 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zh-CN" b="0">
                <a:solidFill>
                  <a:srgbClr val="067D17"/>
                </a:solidFill>
                <a:ea typeface="阿里巴巴普惠体" panose="00020600040101010101" pitchFamily="18" charset="-122"/>
              </a:rPr>
              <a:t>月薪过万</a:t>
            </a:r>
            <a:r>
              <a:rPr lang="en-US" b="0">
                <a:solidFill>
                  <a:srgbClr val="067D17"/>
                </a:solidFill>
                <a:latin typeface="阿里巴巴普惠体" panose="00020600040101010101" pitchFamily="18" charset="-122"/>
              </a:rPr>
              <a:t>"</a:t>
            </a:r>
            <a:r>
              <a:rPr lang="en-US" b="0">
                <a:solidFill>
                  <a:srgbClr val="080808"/>
                </a:solidFill>
                <a:latin typeface="阿里巴巴普惠体" panose="00020600040101010101" pitchFamily="18" charset="-122"/>
              </a:rPr>
              <a:t>)</a:t>
            </a:r>
            <a:endParaRPr lang="en-US" altLang="en-US" b="0">
              <a:solidFill>
                <a:srgbClr val="080808"/>
              </a:solidFill>
              <a:latin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870" y="2608580"/>
            <a:ext cx="2006600" cy="30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90" y="3966845"/>
            <a:ext cx="5340985" cy="5022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4556125"/>
            <a:ext cx="5341620" cy="6242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字符串格式化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Python</a:t>
            </a:r>
            <a:r>
              <a:rPr lang="zh-CN" altLang="en-US"/>
              <a:t>中，其实支持非常多的数据类型占位</a:t>
            </a:r>
            <a:endParaRPr lang="zh-CN" altLang="en-US"/>
          </a:p>
          <a:p>
            <a:r>
              <a:rPr lang="zh-CN" altLang="en-US"/>
              <a:t>最常用的是如下三类</a:t>
            </a: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3538" y="2780650"/>
          <a:ext cx="8084820" cy="16033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84717"/>
                <a:gridCol w="5099817"/>
              </a:tblGrid>
              <a:tr h="42799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格式符号</a:t>
                      </a:r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转化</a:t>
                      </a:r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rgbClr val="AD2B26"/>
                    </a:solidFill>
                  </a:tcPr>
                </a:tc>
              </a:tr>
              <a:tr h="391772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%s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将内容转换成字符串，放入占位位置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1772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%d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将内容转换成整数，放入占位位置</a:t>
                      </a:r>
                      <a:endParaRPr kumimoji="0" 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1772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%f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将内容转换成浮点型，放入占位位置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字符串格式化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如下代码，完成字符串、整数、浮点数，三种不同类型变量的占位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120900"/>
            <a:ext cx="8715375" cy="24269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10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4547870"/>
            <a:ext cx="2086610" cy="2086610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/>
        </p:nvSpPr>
        <p:spPr>
          <a:xfrm>
            <a:off x="2696845" y="4999990"/>
            <a:ext cx="7559675" cy="14605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细心的同学可能会发现：</a:t>
            </a:r>
            <a:endParaRPr lang="zh-CN" altLang="en-US"/>
          </a:p>
          <a:p>
            <a:r>
              <a:rPr lang="zh-CN" altLang="en-US"/>
              <a:t>浮点数</a:t>
            </a:r>
            <a:r>
              <a:rPr lang="en-US" altLang="zh-CN"/>
              <a:t>19.99</a:t>
            </a:r>
            <a:r>
              <a:rPr lang="zh-CN" altLang="en-US"/>
              <a:t>，变成了</a:t>
            </a:r>
            <a:r>
              <a:rPr lang="en-US" altLang="zh-CN"/>
              <a:t>19.990000</a:t>
            </a:r>
            <a:r>
              <a:rPr lang="zh-CN" altLang="en-US"/>
              <a:t>输出</a:t>
            </a:r>
            <a:endParaRPr lang="zh-CN" altLang="en-US"/>
          </a:p>
          <a:p>
            <a:r>
              <a:rPr lang="zh-CN" altLang="en-US"/>
              <a:t>这里我们就要讲解一下，字符串格式化之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数字精度控制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字符串格式化</a:t>
            </a:r>
            <a:r>
              <a:rPr lang="en-US" altLang="zh-CN"/>
              <a:t> - </a:t>
            </a:r>
            <a:r>
              <a:t>数字精度控制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我们可以使用辅助符号"</a:t>
            </a:r>
            <a:r>
              <a:rPr lang="en-US" altLang="zh-CN"/>
              <a:t>x</a:t>
            </a:r>
            <a:r>
              <a:rPr lang="zh-CN" altLang="en-US"/>
              <a:t>.</a:t>
            </a:r>
            <a:r>
              <a:rPr lang="en-US" altLang="zh-CN"/>
              <a:t>y</a:t>
            </a:r>
            <a:r>
              <a:rPr lang="zh-CN" altLang="en-US"/>
              <a:t>"来控制数据的宽度和精度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x</a:t>
            </a:r>
            <a:r>
              <a:rPr lang="zh-CN" altLang="en-US"/>
              <a:t>，控制宽度，要求是数字（</a:t>
            </a:r>
            <a:r>
              <a:rPr lang="zh-CN" altLang="en-US">
                <a:solidFill>
                  <a:srgbClr val="FF0000"/>
                </a:solidFill>
              </a:rPr>
              <a:t>很少使用</a:t>
            </a:r>
            <a:r>
              <a:rPr lang="zh-CN" altLang="en-US"/>
              <a:t>）</a:t>
            </a:r>
            <a:r>
              <a:rPr lang="en-US" altLang="zh-CN"/>
              <a:t>,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设置的宽度小于数字自身，不生效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.y</a:t>
            </a:r>
            <a:r>
              <a:rPr lang="zh-CN" altLang="en-US"/>
              <a:t>，控制小数点精度，要求是数字，</a:t>
            </a:r>
            <a:r>
              <a:rPr lang="zh-CN" altLang="en-US">
                <a:solidFill>
                  <a:srgbClr val="FF0000"/>
                </a:solidFill>
              </a:rPr>
              <a:t>会进行小数的四舍五入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%5d</a:t>
            </a:r>
            <a:r>
              <a:rPr lang="zh-CN" altLang="en-US"/>
              <a:t>：表示将整数的宽度控制在</a:t>
            </a:r>
            <a:r>
              <a:rPr lang="en-US" altLang="zh-CN"/>
              <a:t>5</a:t>
            </a:r>
            <a:r>
              <a:rPr lang="zh-CN" altLang="en-US"/>
              <a:t>位，如数字</a:t>
            </a:r>
            <a:r>
              <a:rPr lang="en-US" altLang="zh-CN"/>
              <a:t>11</a:t>
            </a:r>
            <a:r>
              <a:rPr lang="zh-CN" altLang="en-US"/>
              <a:t>，被设置为</a:t>
            </a:r>
            <a:r>
              <a:rPr lang="en-US" altLang="zh-CN"/>
              <a:t>5d</a:t>
            </a:r>
            <a:r>
              <a:rPr lang="zh-CN" altLang="en-US"/>
              <a:t>，就会变成：</a:t>
            </a:r>
            <a:r>
              <a:rPr lang="en-US" altLang="zh-CN"/>
              <a:t>[</a:t>
            </a:r>
            <a:r>
              <a:rPr lang="zh-CN" altLang="en-US"/>
              <a:t>空格</a:t>
            </a:r>
            <a:r>
              <a:rPr lang="en-US" altLang="zh-CN"/>
              <a:t>][</a:t>
            </a:r>
            <a:r>
              <a:rPr lang="zh-CN" altLang="en-US"/>
              <a:t>空格</a:t>
            </a:r>
            <a:r>
              <a:rPr lang="en-US" altLang="zh-CN"/>
              <a:t>][</a:t>
            </a:r>
            <a:r>
              <a:rPr lang="zh-CN" altLang="en-US"/>
              <a:t>空格</a:t>
            </a:r>
            <a:r>
              <a:rPr lang="en-US" altLang="zh-CN"/>
              <a:t>]11</a:t>
            </a:r>
            <a:r>
              <a:rPr lang="zh-CN" altLang="en-US"/>
              <a:t>，用三个空格补足宽度。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%5.2f</a:t>
            </a:r>
            <a:r>
              <a:rPr lang="zh-CN" altLang="en-US"/>
              <a:t>：表示将宽度控制为</a:t>
            </a:r>
            <a:r>
              <a:rPr lang="en-US" altLang="zh-CN"/>
              <a:t>5</a:t>
            </a:r>
            <a:r>
              <a:rPr lang="zh-CN" altLang="en-US"/>
              <a:t>，将小数点精度设置为</a:t>
            </a:r>
            <a:r>
              <a:rPr lang="en-US" altLang="zh-CN"/>
              <a:t>2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 </a:t>
            </a:r>
            <a:r>
              <a:rPr lang="zh-CN" altLang="en-US"/>
              <a:t>小数点和小数部分也算入宽度计算。如，对</a:t>
            </a:r>
            <a:r>
              <a:rPr lang="en-US" altLang="zh-CN"/>
              <a:t>11.345</a:t>
            </a:r>
            <a:r>
              <a:rPr lang="zh-CN" altLang="en-US"/>
              <a:t>设置了</a:t>
            </a:r>
            <a:r>
              <a:rPr lang="en-US" altLang="zh-CN"/>
              <a:t>%7.2f </a:t>
            </a:r>
            <a:r>
              <a:rPr lang="zh-CN" altLang="en-US"/>
              <a:t>后，结果是：</a:t>
            </a:r>
            <a:r>
              <a:rPr lang="en-US" altLang="zh-CN"/>
              <a:t>[</a:t>
            </a:r>
            <a:r>
              <a:rPr lang="zh-CN" altLang="en-US"/>
              <a:t>空格</a:t>
            </a:r>
            <a:r>
              <a:rPr lang="en-US" altLang="zh-CN"/>
              <a:t>][</a:t>
            </a:r>
            <a:r>
              <a:rPr lang="zh-CN" altLang="en-US"/>
              <a:t>空格</a:t>
            </a:r>
            <a:r>
              <a:rPr lang="en-US" altLang="zh-CN"/>
              <a:t>]11.35</a:t>
            </a:r>
            <a:r>
              <a:rPr lang="zh-CN" altLang="en-US"/>
              <a:t>。</a:t>
            </a:r>
            <a:r>
              <a:rPr lang="en-US" altLang="zh-CN"/>
              <a:t>2</a:t>
            </a:r>
            <a:r>
              <a:rPr lang="zh-CN" altLang="en-US"/>
              <a:t>个空格补足宽度，小数部分限制</a:t>
            </a:r>
            <a:r>
              <a:rPr lang="en-US" altLang="zh-CN"/>
              <a:t>2</a:t>
            </a:r>
            <a:r>
              <a:rPr lang="zh-CN" altLang="en-US"/>
              <a:t>位精度后，四舍五入为</a:t>
            </a:r>
            <a:r>
              <a:rPr lang="en-US" altLang="zh-CN"/>
              <a:t> .35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%.2f</a:t>
            </a:r>
            <a:r>
              <a:rPr lang="zh-CN" altLang="en-US"/>
              <a:t>：表示不限制宽度，只设置小数点精度为</a:t>
            </a:r>
            <a:r>
              <a:rPr lang="en-US" altLang="zh-CN"/>
              <a:t>2</a:t>
            </a:r>
            <a:r>
              <a:rPr lang="zh-CN" altLang="en-US"/>
              <a:t>，如</a:t>
            </a:r>
            <a:r>
              <a:rPr lang="en-US" altLang="zh-CN"/>
              <a:t>11.345</a:t>
            </a:r>
            <a:r>
              <a:rPr lang="zh-CN" altLang="en-US"/>
              <a:t>设置</a:t>
            </a:r>
            <a:r>
              <a:rPr lang="en-US" altLang="zh-CN"/>
              <a:t>%.2f</a:t>
            </a:r>
            <a:r>
              <a:rPr lang="zh-CN" altLang="en-US"/>
              <a:t>后，结果是</a:t>
            </a:r>
            <a:r>
              <a:rPr lang="en-US" altLang="zh-CN"/>
              <a:t>11.35</a:t>
            </a:r>
            <a:endParaRPr lang="en-US" altLang="zh-CN"/>
          </a:p>
        </p:txBody>
      </p:sp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字符串格式化</a:t>
            </a:r>
            <a:r>
              <a:rPr lang="en-US" altLang="zh-CN"/>
              <a:t> - </a:t>
            </a:r>
            <a:r>
              <a:t>快速写法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目前通过</a:t>
            </a:r>
            <a:r>
              <a:rPr lang="en-US" altLang="zh-CN"/>
              <a:t>%</a:t>
            </a:r>
            <a:r>
              <a:rPr lang="zh-CN" altLang="en-US"/>
              <a:t>符号占位已经很方便了，还能进行精度控制。</a:t>
            </a:r>
            <a:endParaRPr lang="zh-CN" altLang="en-US"/>
          </a:p>
          <a:p>
            <a:r>
              <a:rPr lang="zh-CN" altLang="en-US"/>
              <a:t>可是追求效率和优雅的</a:t>
            </a:r>
            <a:r>
              <a:rPr lang="en-US" altLang="zh-CN"/>
              <a:t>Python</a:t>
            </a:r>
            <a:r>
              <a:rPr lang="zh-CN" altLang="en-US"/>
              <a:t>，是否有更加优雅的方式解决问题呢？</a:t>
            </a:r>
            <a:endParaRPr lang="zh-CN" altLang="en-US"/>
          </a:p>
        </p:txBody>
      </p:sp>
      <p:pic>
        <p:nvPicPr>
          <p:cNvPr id="4" name="图片 3" descr="01 (11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2334260"/>
            <a:ext cx="3221355" cy="3221355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/>
        </p:nvSpPr>
        <p:spPr>
          <a:xfrm>
            <a:off x="3088005" y="2951480"/>
            <a:ext cx="5335905" cy="21043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>
                <a:solidFill>
                  <a:schemeClr val="tx1"/>
                </a:solidFill>
              </a:rPr>
              <a:t>那当然：</a:t>
            </a:r>
            <a:r>
              <a:rPr lang="zh-CN">
                <a:solidFill>
                  <a:srgbClr val="FF0000"/>
                </a:solidFill>
              </a:rPr>
              <a:t>有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chemeClr val="tx1"/>
                </a:solidFill>
              </a:rPr>
              <a:t>通过语法：</a:t>
            </a:r>
            <a:r>
              <a:rPr>
                <a:solidFill>
                  <a:schemeClr val="tx1"/>
                </a:solidFill>
              </a:rPr>
              <a:t>f"内容{变量}"</a:t>
            </a:r>
            <a:r>
              <a:rPr lang="zh-CN">
                <a:solidFill>
                  <a:schemeClr val="tx1"/>
                </a:solidFill>
              </a:rPr>
              <a:t>的格式来快速格式化</a:t>
            </a:r>
            <a:endParaRPr>
              <a:solidFill>
                <a:schemeClr val="tx1"/>
              </a:solidFill>
            </a:endParaRPr>
          </a:p>
          <a:p>
            <a:r>
              <a:rPr lang="zh-CN">
                <a:solidFill>
                  <a:schemeClr val="tx1"/>
                </a:solidFill>
              </a:rPr>
              <a:t>看如下代码</a:t>
            </a:r>
            <a:endParaRPr lang="zh-CN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005" y="4222115"/>
            <a:ext cx="5833745" cy="1654175"/>
          </a:xfrm>
          <a:prstGeom prst="rect">
            <a:avLst/>
          </a:prstGeom>
        </p:spPr>
      </p:pic>
      <p:pic>
        <p:nvPicPr>
          <p:cNvPr id="9" name="图片 8" descr="31393938393834313b31393939353234343bd7a2d2e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2130" y="2527300"/>
            <a:ext cx="914400" cy="914400"/>
          </a:xfrm>
          <a:prstGeom prst="rect">
            <a:avLst/>
          </a:prstGeom>
        </p:spPr>
      </p:pic>
      <p:sp>
        <p:nvSpPr>
          <p:cNvPr id="10" name="文本占位符 2"/>
          <p:cNvSpPr>
            <a:spLocks noGrp="1"/>
          </p:cNvSpPr>
          <p:nvPr/>
        </p:nvSpPr>
        <p:spPr>
          <a:xfrm>
            <a:off x="8921750" y="3472180"/>
            <a:ext cx="4127500" cy="106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>
                <a:solidFill>
                  <a:srgbClr val="FF0000"/>
                </a:solidFill>
              </a:rPr>
              <a:t>这种写法不做精度控制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rgbClr val="FF0000"/>
                </a:solidFill>
              </a:rPr>
              <a:t>也不理会类型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rgbClr val="FF0000"/>
                </a:solidFill>
              </a:rPr>
              <a:t>适用于快速格式化字符串</a:t>
            </a:r>
            <a:endParaRPr 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7364" y="1173480"/>
            <a:ext cx="5760538" cy="4511040"/>
          </a:xfrm>
        </p:spPr>
        <p:txBody>
          <a:bodyPr/>
          <a:p>
            <a:pPr marL="0" algn="l">
              <a:buNone/>
            </a:pPr>
            <a:r>
              <a:rPr lang="zh-CN" altLang="en-US" sz="1600">
                <a:sym typeface="+mn-ea"/>
              </a:rPr>
              <a:t>如何快速格式化输出？</a:t>
            </a:r>
            <a:endParaRPr lang="zh-CN" altLang="en-US" sz="1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>
                <a:solidFill>
                  <a:srgbClr val="FF0000"/>
                </a:solidFill>
              </a:rPr>
              <a:t>f"{</a:t>
            </a:r>
            <a:r>
              <a:rPr lang="zh-CN" sz="1200">
                <a:solidFill>
                  <a:srgbClr val="FF0000"/>
                </a:solidFill>
              </a:rPr>
              <a:t>变量</a:t>
            </a:r>
            <a:r>
              <a:rPr sz="1200">
                <a:solidFill>
                  <a:srgbClr val="FF0000"/>
                </a:solidFill>
              </a:rPr>
              <a:t>}"</a:t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sz="1600" dirty="0">
                <a:sym typeface="+mn-ea"/>
              </a:rPr>
              <a:t>字面量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注释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变量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数据类型</a:t>
            </a:r>
            <a:endParaRPr lang="zh-CN" altLang="en-US" sz="1600" dirty="0"/>
          </a:p>
          <a:p>
            <a:pPr algn="l"/>
            <a:r>
              <a:rPr kumimoji="1" lang="zh-CN" altLang="en-US" sz="1600" dirty="0">
                <a:sym typeface="+mn-ea"/>
              </a:rPr>
              <a:t>数据类型转换</a:t>
            </a:r>
            <a:endParaRPr lang="en-US" altLang="zh-CN" sz="1600" dirty="0"/>
          </a:p>
          <a:p>
            <a:pPr algn="l"/>
            <a:r>
              <a:rPr lang="zh-CN" altLang="en-US" sz="1600" dirty="0">
                <a:sym typeface="+mn-ea"/>
              </a:rPr>
              <a:t>标识符</a:t>
            </a:r>
            <a:endParaRPr lang="zh-CN" altLang="en-US" sz="1600" dirty="0"/>
          </a:p>
          <a:p>
            <a:pPr algn="l"/>
            <a:r>
              <a:rPr lang="zh-CN" altLang="en-US" sz="1600" dirty="0">
                <a:sym typeface="+mn-ea"/>
              </a:rPr>
              <a:t>运算符</a:t>
            </a:r>
            <a:endParaRPr lang="zh-CN" altLang="en-US" sz="1600" dirty="0">
              <a:sym typeface="+mn-ea"/>
            </a:endParaRPr>
          </a:p>
          <a:p>
            <a:pPr algn="l"/>
            <a:r>
              <a:rPr lang="zh-CN" altLang="en-US" sz="1600" dirty="0">
                <a:sym typeface="+mn-ea"/>
              </a:rPr>
              <a:t>字符串扩展</a:t>
            </a:r>
            <a:endParaRPr lang="en-US" altLang="zh-CN" sz="1600" dirty="0"/>
          </a:p>
          <a:p>
            <a:pPr algn="l"/>
            <a:r>
              <a:rPr lang="zh-CN" sz="1600" dirty="0">
                <a:solidFill>
                  <a:srgbClr val="C00000"/>
                </a:solidFill>
                <a:sym typeface="+mn-ea"/>
              </a:rPr>
              <a:t>数据输入</a:t>
            </a:r>
            <a:endParaRPr 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925" y="5185410"/>
            <a:ext cx="412750" cy="4127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input</a:t>
            </a:r>
            <a:r>
              <a:rPr lang="zh-CN" altLang="en-US" dirty="0">
                <a:solidFill>
                  <a:schemeClr val="tx1"/>
                </a:solidFill>
              </a:rPr>
              <a:t>语句（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函数</a:t>
            </a:r>
            <a:r>
              <a:rPr lang="zh-CN" altLang="en-US" dirty="0">
                <a:solidFill>
                  <a:schemeClr val="tx1"/>
                </a:solidFill>
              </a:rPr>
              <a:t>）的使用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获取键盘输入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68730" y="1656080"/>
            <a:ext cx="10140950" cy="4219575"/>
          </a:xfrm>
        </p:spPr>
        <p:txBody>
          <a:bodyPr/>
          <a:p>
            <a:r>
              <a:rPr lang="zh-CN" altLang="en-US"/>
              <a:t>试想一下，我们经常遇到过程序需要我们输入信息的场景。</a:t>
            </a:r>
            <a:endParaRPr lang="zh-CN" altLang="en-US"/>
          </a:p>
          <a:p>
            <a:r>
              <a:rPr lang="zh-CN" altLang="en-US"/>
              <a:t>比如：银行取钱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3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06755" y="1194435"/>
            <a:ext cx="2401570" cy="2401570"/>
          </a:xfrm>
          <a:prstGeom prst="rect">
            <a:avLst/>
          </a:prstGeom>
        </p:spPr>
      </p:pic>
      <p:pic>
        <p:nvPicPr>
          <p:cNvPr id="6" name="图片 5" descr="32313538373531373b32313538393438333bd2f8d0d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7155" y="3064510"/>
            <a:ext cx="1402715" cy="1402715"/>
          </a:xfrm>
          <a:prstGeom prst="rect">
            <a:avLst/>
          </a:prstGeom>
        </p:spPr>
      </p:pic>
      <p:pic>
        <p:nvPicPr>
          <p:cNvPr id="8" name="图片 7" descr="32313534373335333b32313534373335313bbcfcc5c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9495" y="3040380"/>
            <a:ext cx="1450340" cy="1450340"/>
          </a:xfrm>
          <a:prstGeom prst="rect">
            <a:avLst/>
          </a:prstGeom>
        </p:spPr>
      </p:pic>
      <p:pic>
        <p:nvPicPr>
          <p:cNvPr id="10" name="图片 9" descr="343637373336393b343637373437383bc7a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9460" y="3011170"/>
            <a:ext cx="1508760" cy="1508760"/>
          </a:xfrm>
          <a:prstGeom prst="rect">
            <a:avLst/>
          </a:prstGeom>
        </p:spPr>
      </p:pic>
      <p:sp>
        <p:nvSpPr>
          <p:cNvPr id="11" name="燕尾形箭头 10"/>
          <p:cNvSpPr/>
          <p:nvPr/>
        </p:nvSpPr>
        <p:spPr>
          <a:xfrm>
            <a:off x="7039610" y="3666490"/>
            <a:ext cx="600710" cy="351155"/>
          </a:xfrm>
          <a:prstGeom prst="notched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燕尾形箭头 11"/>
          <p:cNvSpPr/>
          <p:nvPr/>
        </p:nvSpPr>
        <p:spPr>
          <a:xfrm>
            <a:off x="3509010" y="3655060"/>
            <a:ext cx="600710" cy="351155"/>
          </a:xfrm>
          <a:prstGeom prst="notched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/>
        </p:nvSpPr>
        <p:spPr>
          <a:xfrm>
            <a:off x="2677795" y="4863465"/>
            <a:ext cx="5793105" cy="6254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/>
              <a:t>如何在</a:t>
            </a:r>
            <a:r>
              <a:rPr lang="en-US" altLang="zh-CN" sz="2000"/>
              <a:t>Python</a:t>
            </a:r>
            <a:r>
              <a:rPr lang="zh-CN" altLang="en-US" sz="2000"/>
              <a:t>中做到读取键盘输入的内容呢？</a:t>
            </a:r>
            <a:endParaRPr lang="zh-CN" altLang="en-US" sz="2000"/>
          </a:p>
          <a:p>
            <a:pPr algn="ctr"/>
            <a:r>
              <a:rPr lang="zh-CN" altLang="en-US" sz="2000"/>
              <a:t>这里就要请出</a:t>
            </a:r>
            <a:r>
              <a:rPr lang="en-US" altLang="zh-CN" sz="2000"/>
              <a:t>input</a:t>
            </a:r>
            <a:r>
              <a:rPr lang="zh-CN" altLang="en-US" sz="2000"/>
              <a:t>语句了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" grpId="1" animBg="1"/>
      <p:bldP spid="11" grpId="0" bldLvl="0" animBg="1"/>
      <p:bldP spid="11" grpId="1" animBg="1"/>
      <p:bldP spid="13" grpId="0"/>
      <p:bldP spid="13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input</a:t>
            </a:r>
            <a:r>
              <a:t>语句（函数）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我们前面学习过</a:t>
            </a:r>
            <a:r>
              <a:rPr lang="en-US" altLang="zh-CN"/>
              <a:t>print</a:t>
            </a:r>
            <a:r>
              <a:rPr lang="zh-CN" altLang="en-US"/>
              <a:t>语句（函数），可以完成将内容（字面量、变量等）输出到屏幕上。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Python</a:t>
            </a:r>
            <a:r>
              <a:rPr lang="zh-CN" altLang="en-US"/>
              <a:t>中，与之对应的还有一个</a:t>
            </a:r>
            <a:r>
              <a:rPr lang="en-US" altLang="zh-CN"/>
              <a:t>input</a:t>
            </a:r>
            <a:r>
              <a:rPr lang="zh-CN" altLang="en-US"/>
              <a:t>语句，用来获取键盘输入。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数据输出：</a:t>
            </a:r>
            <a:r>
              <a:rPr lang="en-US" altLang="zh-CN"/>
              <a:t>print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数据输入：</a:t>
            </a:r>
            <a:r>
              <a:rPr lang="en-US" altLang="zh-CN"/>
              <a:t>input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使用上也非常简单：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input()</a:t>
            </a:r>
            <a:r>
              <a:rPr lang="zh-CN" altLang="en-US"/>
              <a:t>语句可以从键盘获取输入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使用一个变量接收（存储）</a:t>
            </a:r>
            <a:r>
              <a:rPr lang="en-US" altLang="zh-CN"/>
              <a:t>input</a:t>
            </a:r>
            <a:r>
              <a:rPr lang="zh-CN" altLang="en-US"/>
              <a:t>语句获取的键盘输入数据即可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4572635"/>
            <a:ext cx="3686810" cy="2054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10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345" y="5377180"/>
            <a:ext cx="1176655" cy="1176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input</a:t>
            </a:r>
            <a:r>
              <a:t>语句（函数）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在前面的代码中，输出</a:t>
            </a:r>
            <a:r>
              <a:rPr lang="en-US" altLang="zh-CN"/>
              <a:t>”</a:t>
            </a:r>
            <a:r>
              <a:rPr lang="zh-CN" altLang="en-US"/>
              <a:t>请告诉我你是谁？</a:t>
            </a:r>
            <a:r>
              <a:rPr lang="en-US" altLang="zh-CN"/>
              <a:t>“</a:t>
            </a:r>
            <a:r>
              <a:rPr lang="zh-CN" altLang="en-US"/>
              <a:t>的</a:t>
            </a:r>
            <a:r>
              <a:rPr lang="en-US" altLang="zh-CN"/>
              <a:t>print</a:t>
            </a:r>
            <a:r>
              <a:rPr lang="zh-CN" altLang="en-US"/>
              <a:t>语句其实是多余的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input()</a:t>
            </a:r>
            <a:r>
              <a:rPr lang="zh-CN" altLang="en-US"/>
              <a:t>语句其实是可以在要求使用者输入内容前，输出提示内容的哦，方式如下：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如图，在</a:t>
            </a:r>
            <a:r>
              <a:rPr lang="en-US" altLang="zh-CN"/>
              <a:t>input</a:t>
            </a:r>
            <a:r>
              <a:rPr lang="zh-CN" altLang="en-US"/>
              <a:t>的括号内直接填入提示内容即可。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157730"/>
            <a:ext cx="3848100" cy="946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55" y="3761105"/>
            <a:ext cx="2947035" cy="17151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965" y="5476240"/>
            <a:ext cx="1042035" cy="104203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input</a:t>
            </a:r>
            <a:r>
              <a:t>语句获取的数据类型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我们刚刚试验的都是输入了字符串类型的数据。</a:t>
            </a:r>
            <a:endParaRPr lang="zh-CN" altLang="en-US"/>
          </a:p>
          <a:p>
            <a:r>
              <a:rPr lang="zh-CN" altLang="en-US"/>
              <a:t>那么如果我们输入数字类型或其它类型，结果会如何？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那么，让我们通过前面学习过的？？？</a:t>
            </a:r>
            <a:endParaRPr lang="zh-CN" altLang="en-US"/>
          </a:p>
          <a:p>
            <a:r>
              <a:rPr lang="en-US" altLang="zh-CN" b="1">
                <a:solidFill>
                  <a:srgbClr val="FF0000"/>
                </a:solidFill>
              </a:rPr>
              <a:t>type()</a:t>
            </a:r>
            <a:r>
              <a:rPr lang="zh-CN" altLang="en-US"/>
              <a:t>语句</a:t>
            </a:r>
            <a:endParaRPr lang="zh-CN" altLang="en-US"/>
          </a:p>
          <a:p>
            <a:r>
              <a:rPr lang="zh-CN" altLang="en-US"/>
              <a:t>来验证一下输入内容的数据类型吧。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可以看到，无论键盘输入何种类型的数据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最终的结果都是：字符串类型的数据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605" y="1250315"/>
            <a:ext cx="4712335" cy="43567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31393938393834313b31393939353234343bd7a2d2e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" y="4925060"/>
            <a:ext cx="509905" cy="509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735830" y="2018665"/>
            <a:ext cx="7208520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input()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语句的功能是，获取键盘输入的数据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可以使用：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input(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提示信息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，用以在使用者输入内容之前显示提示信息。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要注意，无论键盘输入什么类型的数据，获取到的数据</a:t>
            </a:r>
            <a:r>
              <a:rPr lang="zh-CN" altLang="en-US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永远都是字符串类型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欢迎登陆小程序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定义两个变量，用以获取从键盘输入的内容，并给出提示信息：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变量</a:t>
            </a:r>
            <a:r>
              <a:rPr lang="en-US" altLang="zh-CN"/>
              <a:t>1</a:t>
            </a:r>
            <a:r>
              <a:rPr lang="zh-CN" altLang="en-US"/>
              <a:t>，变量名：</a:t>
            </a:r>
            <a:r>
              <a:rPr lang="en-US" altLang="zh-CN"/>
              <a:t>user_name</a:t>
            </a:r>
            <a:r>
              <a:rPr lang="zh-CN" altLang="en-US"/>
              <a:t>，记录用户名称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变量</a:t>
            </a:r>
            <a:r>
              <a:rPr lang="en-US" altLang="zh-CN"/>
              <a:t>2</a:t>
            </a:r>
            <a:r>
              <a:rPr lang="zh-CN" altLang="en-US"/>
              <a:t>，变量名：</a:t>
            </a:r>
            <a:r>
              <a:rPr lang="en-US" altLang="zh-CN"/>
              <a:t>user_type</a:t>
            </a:r>
            <a:r>
              <a:rPr lang="zh-CN" altLang="en-US"/>
              <a:t>，记录用户类型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并通过格式化字符串的形式，通过</a:t>
            </a:r>
            <a:r>
              <a:rPr lang="en-US" altLang="zh-CN"/>
              <a:t>print</a:t>
            </a:r>
            <a:r>
              <a:rPr lang="zh-CN" altLang="en-US"/>
              <a:t>语句输出欢迎信息，如下：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365" y="3927475"/>
            <a:ext cx="6680200" cy="1003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3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4.xml><?xml version="1.0" encoding="utf-8"?>
<p:tagLst xmlns:p="http://schemas.openxmlformats.org/presentationml/2006/main">
  <p:tag name="KSO_WM_UNIT_PLACING_PICTURE_USER_VIEWPORT" val="{&quot;height&quot;:3050,&quot;width&quot;:2840}"/>
</p:tagLst>
</file>

<file path=ppt/tags/tag5.xml><?xml version="1.0" encoding="utf-8"?>
<p:tagLst xmlns:p="http://schemas.openxmlformats.org/presentationml/2006/main">
  <p:tag name="KSO_WM_UNIT_PLACING_PICTURE_USER_VIEWPORT" val="{&quot;height&quot;:2820,&quot;width&quot;:3000}"/>
</p:tagLst>
</file>

<file path=ppt/tags/tag6.xml><?xml version="1.0" encoding="utf-8"?>
<p:tagLst xmlns:p="http://schemas.openxmlformats.org/presentationml/2006/main">
  <p:tag name="KSO_WM_UNIT_TABLE_BEAUTIFY" val="smartTable{37ef8245-9a74-4662-9b07-0b6c945e05d4}"/>
</p:tagLst>
</file>

<file path=ppt/tags/tag7.xml><?xml version="1.0" encoding="utf-8"?>
<p:tagLst xmlns:p="http://schemas.openxmlformats.org/presentationml/2006/main">
  <p:tag name="KSO_WM_UNIT_TABLE_BEAUTIFY" val="smartTable{a3ef52e2-3ca2-46f8-b124-d21cef0b911f}"/>
</p:tagLst>
</file>

<file path=ppt/tags/tag8.xml><?xml version="1.0" encoding="utf-8"?>
<p:tagLst xmlns:p="http://schemas.openxmlformats.org/presentationml/2006/main">
  <p:tag name="KSO_WM_UNIT_TABLE_BEAUTIFY" val="smartTable{a3ef52e2-3ca2-46f8-b124-d21cef0b911f}"/>
  <p:tag name="TABLE_ENDDRAG_ORIGIN_RECT" val="298*105"/>
  <p:tag name="TABLE_ENDDRAG_RECT" val="437*220*298*105"/>
</p:tagLst>
</file>

<file path=ppt/tags/tag9.xml><?xml version="1.0" encoding="utf-8"?>
<p:tagLst xmlns:p="http://schemas.openxmlformats.org/presentationml/2006/main">
  <p:tag name="KSO_WM_UNIT_TABLE_BEAUTIFY" val="smartTable{7b67655c-0c72-44b7-8586-49837074b958}"/>
</p:tagLst>
</file>

<file path=ppt/tags/tag10.xml><?xml version="1.0" encoding="utf-8"?>
<p:tagLst xmlns:p="http://schemas.openxmlformats.org/presentationml/2006/main">
  <p:tag name="KSO_WM_UNIT_TABLE_BEAUTIFY" val="smartTable{395b1191-580b-4703-b1ce-787eef739edc}"/>
</p:tagLst>
</file>

<file path=ppt/tags/tag11.xml><?xml version="1.0" encoding="utf-8"?>
<p:tagLst xmlns:p="http://schemas.openxmlformats.org/presentationml/2006/main">
  <p:tag name="KSO_WM_UNIT_TABLE_BEAUTIFY" val="smartTable{a7301b7f-6f15-4da9-b332-af3435932409}"/>
</p:tagLst>
</file>

<file path=ppt/tags/tag12.xml><?xml version="1.0" encoding="utf-8"?>
<p:tagLst xmlns:p="http://schemas.openxmlformats.org/presentationml/2006/main">
  <p:tag name="COMMONDATA" val="eyJoZGlkIjoiZjFlMjg2MmYxODM4Yjk5ZDc5MGVmYjg0M2JjYjM0MTgifQ=="/>
  <p:tag name="KSO_WPP_MARK_KEY" val="216ea374-5a2a-4dbc-86e3-012f022b80e2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6848</Words>
  <Application>WPS 演示</Application>
  <PresentationFormat>宽屏</PresentationFormat>
  <Paragraphs>928</Paragraphs>
  <Slides>75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29</vt:i4>
      </vt:variant>
      <vt:variant>
        <vt:lpstr>幻灯片标题</vt:lpstr>
      </vt:variant>
      <vt:variant>
        <vt:i4>75</vt:i4>
      </vt:variant>
    </vt:vector>
  </HeadingPairs>
  <TitlesOfParts>
    <vt:vector size="124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纤黑体</vt:lpstr>
      <vt:lpstr>Arial Unicode MS</vt:lpstr>
      <vt:lpstr>等线</vt:lpstr>
      <vt:lpstr>Consolas</vt:lpstr>
      <vt:lpstr>Helvetica Neue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Python基础语法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1252</cp:revision>
  <dcterms:created xsi:type="dcterms:W3CDTF">2022-04-23T05:57:00Z</dcterms:created>
  <dcterms:modified xsi:type="dcterms:W3CDTF">2025-04-15T15:04:37Z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2052-12.1.0.20305</vt:lpwstr>
  </property>
  <property fmtid="{D5CDD505-2E9C-101B-9397-08002B2CF9AE}" pid="4" name="commondata">
    <vt:lpwstr>eyJoZGlkIjoiMDAzZmIwZjU2YjM3ZmIyZjYxNWQ1NTViMjdhYzBlM2EifQ==</vt:lpwstr>
  </property>
</Properties>
</file>