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74" r:id="rId8"/>
  </p:sldMasterIdLst>
  <p:notesMasterIdLst>
    <p:notesMasterId r:id="rId14"/>
  </p:notesMasterIdLst>
  <p:handoutMasterIdLst>
    <p:handoutMasterId r:id="rId33"/>
  </p:handoutMasterIdLst>
  <p:sldIdLst>
    <p:sldId id="462" r:id="rId9"/>
    <p:sldId id="658" r:id="rId10"/>
    <p:sldId id="659" r:id="rId11"/>
    <p:sldId id="634" r:id="rId12"/>
    <p:sldId id="635" r:id="rId13"/>
    <p:sldId id="636" r:id="rId15"/>
    <p:sldId id="637" r:id="rId16"/>
    <p:sldId id="638" r:id="rId17"/>
    <p:sldId id="639" r:id="rId18"/>
    <p:sldId id="640" r:id="rId19"/>
    <p:sldId id="660" r:id="rId20"/>
    <p:sldId id="641" r:id="rId21"/>
    <p:sldId id="642" r:id="rId22"/>
    <p:sldId id="643" r:id="rId23"/>
    <p:sldId id="647" r:id="rId24"/>
    <p:sldId id="661" r:id="rId25"/>
    <p:sldId id="662" r:id="rId26"/>
    <p:sldId id="645" r:id="rId27"/>
    <p:sldId id="649" r:id="rId28"/>
    <p:sldId id="650" r:id="rId29"/>
    <p:sldId id="651" r:id="rId30"/>
    <p:sldId id="987" r:id="rId31"/>
    <p:sldId id="264" r:id="rId32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B26"/>
    <a:srgbClr val="49504F"/>
    <a:srgbClr val="FFFFFF"/>
    <a:srgbClr val="B60206"/>
    <a:srgbClr val="B70006"/>
    <a:srgbClr val="FFFFE4"/>
    <a:srgbClr val="919191"/>
    <a:srgbClr val="333333"/>
    <a:srgbClr val="D9D9D9"/>
    <a:srgbClr val="5151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24" autoAdjust="0"/>
    <p:restoredTop sz="92818" autoAdjust="0"/>
  </p:normalViewPr>
  <p:slideViewPr>
    <p:cSldViewPr snapToGrid="0">
      <p:cViewPr varScale="1">
        <p:scale>
          <a:sx n="117" d="100"/>
          <a:sy n="117" d="100"/>
        </p:scale>
        <p:origin x="18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7" Type="http://schemas.openxmlformats.org/officeDocument/2006/relationships/tags" Target="tags/tag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handoutMaster" Target="handoutMasters/handoutMaster1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7" Type="http://schemas.openxmlformats.org/officeDocument/2006/relationships/theme" Target="../theme/theme6.xml"/><Relationship Id="rId16" Type="http://schemas.openxmlformats.org/officeDocument/2006/relationships/image" Target="../media/image6.png"/><Relationship Id="rId15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5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5" name="矩形 14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多一句没有，少一句不行，用更短时间，教会更实用的技术！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任意形状 22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4" name="矩形 23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6" name="矩形 25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Alibaba PuHuiTi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Alibaba PuHuiTi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6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人生苦短，我学</a:t>
            </a:r>
            <a:r>
              <a:rPr kumimoji="1" lang="en-US" altLang="zh-CN" dirty="0"/>
              <a:t>Python!</a:t>
            </a:r>
            <a:endParaRPr kumimoji="1"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p>
            <a:r>
              <a:rPr lang="en-US" altLang="zh-CN" sz="4400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P</a:t>
            </a:r>
            <a:r>
              <a:rPr lang="en-US" altLang="zh-CN" sz="4400" dirty="0">
                <a:solidFill>
                  <a:schemeClr val="accent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y</a:t>
            </a:r>
            <a:r>
              <a:rPr lang="en-US" altLang="zh-CN" sz="4400" dirty="0">
                <a:solidFill>
                  <a:schemeClr val="accent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t</a:t>
            </a:r>
            <a:r>
              <a:rPr lang="en-US" altLang="zh-CN" sz="4400" dirty="0">
                <a:solidFill>
                  <a:schemeClr val="accent5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h</a:t>
            </a:r>
            <a:r>
              <a:rPr lang="en-US" altLang="zh-CN" sz="4400" dirty="0">
                <a:solidFill>
                  <a:schemeClr val="accent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o</a:t>
            </a:r>
            <a:r>
              <a:rPr lang="en-US" altLang="zh-CN" sz="4400" dirty="0">
                <a:solidFill>
                  <a:srgbClr val="92D05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n</a:t>
            </a:r>
            <a:r>
              <a:rPr lang="zh-CN" altLang="en-US" sz="4400" dirty="0">
                <a:solidFill>
                  <a:schemeClr val="tx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模块与包</a:t>
            </a:r>
            <a:endParaRPr lang="zh-CN" altLang="en-US" sz="4400" dirty="0">
              <a:solidFill>
                <a:schemeClr val="tx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71231" y="756218"/>
            <a:ext cx="5973761" cy="4256405"/>
          </a:xfrm>
        </p:spPr>
        <p:txBody>
          <a:bodyPr/>
          <a:lstStyle/>
          <a:p>
            <a:r>
              <a:rPr lang="en-US" altLang="zh-CN" dirty="0">
                <a:solidFill>
                  <a:srgbClr val="C00000"/>
                </a:solidFill>
              </a:rPr>
              <a:t>Python</a:t>
            </a:r>
            <a:r>
              <a:rPr lang="zh-CN" altLang="en-US" dirty="0">
                <a:solidFill>
                  <a:srgbClr val="C00000"/>
                </a:solidFill>
              </a:rPr>
              <a:t>模块</a:t>
            </a:r>
            <a:endParaRPr lang="en-US" altLang="zh-CN" dirty="0">
              <a:solidFill>
                <a:srgbClr val="C00000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Python</a:t>
            </a:r>
            <a:r>
              <a:rPr lang="zh-CN" altLang="en-US" dirty="0">
                <a:solidFill>
                  <a:schemeClr val="tx1"/>
                </a:solidFill>
              </a:rPr>
              <a:t>包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00216" y="423612"/>
            <a:ext cx="6654482" cy="4855845"/>
          </a:xfrm>
        </p:spPr>
        <p:txBody>
          <a:bodyPr/>
          <a:lstStyle/>
          <a:p>
            <a:r>
              <a:rPr lang="zh-CN" altLang="en-US" dirty="0"/>
              <a:t>掌握如何导入模块</a:t>
            </a:r>
            <a:endParaRPr lang="zh-CN" altLang="en-US" dirty="0"/>
          </a:p>
          <a:p>
            <a:r>
              <a:rPr lang="zh-CN" altLang="en-US" dirty="0"/>
              <a:t>了解如何自定义模块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了解并导入模块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01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0" y="1457271"/>
            <a:ext cx="11291822" cy="503128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 </a:t>
            </a:r>
            <a:r>
              <a:rPr lang="zh-CN" altLang="en-US" dirty="0">
                <a:solidFill>
                  <a:srgbClr val="C00000"/>
                </a:solidFill>
              </a:rPr>
              <a:t>模块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(Module)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，是一个 </a:t>
            </a:r>
            <a:r>
              <a:rPr lang="en-US" altLang="zh-CN" dirty="0">
                <a:solidFill>
                  <a:srgbClr val="C00000"/>
                </a:solidFill>
              </a:rPr>
              <a:t>Python </a:t>
            </a:r>
            <a:r>
              <a:rPr lang="zh-CN" altLang="en-US" dirty="0">
                <a:solidFill>
                  <a:srgbClr val="C00000"/>
                </a:solidFill>
              </a:rPr>
              <a:t>文件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zh-CN" altLang="en-US" dirty="0">
                <a:solidFill>
                  <a:srgbClr val="C00000"/>
                </a:solidFill>
              </a:rPr>
              <a:t>以 </a:t>
            </a:r>
            <a:r>
              <a:rPr lang="en-US" altLang="zh-CN" dirty="0">
                <a:solidFill>
                  <a:srgbClr val="C00000"/>
                </a:solidFill>
              </a:rPr>
              <a:t>.</a:t>
            </a:r>
            <a:r>
              <a:rPr lang="en-US" altLang="zh-CN" dirty="0" err="1">
                <a:solidFill>
                  <a:srgbClr val="C00000"/>
                </a:solidFill>
              </a:rPr>
              <a:t>py</a:t>
            </a:r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rgbClr val="C00000"/>
                </a:solidFill>
              </a:rPr>
              <a:t>结尾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模块能定义函数，类和变量，模块里也能包含可执行的代码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模块的作用</a:t>
            </a:r>
            <a:r>
              <a:rPr lang="en-US" altLang="zh-CN" b="1" dirty="0">
                <a:solidFill>
                  <a:srgbClr val="C00000"/>
                </a:solidFill>
              </a:rPr>
              <a:t>:</a:t>
            </a:r>
            <a:r>
              <a:rPr lang="zh-CN" altLang="en-US" b="1" dirty="0">
                <a:solidFill>
                  <a:srgbClr val="C00000"/>
                </a:solidFill>
              </a:rPr>
              <a:t> 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中有很多各种不同的模块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每一个模块都可以帮助我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们快速的实现一些</a:t>
            </a:r>
            <a:r>
              <a:rPr lang="zh-CN" altLang="en-US" dirty="0">
                <a:solidFill>
                  <a:srgbClr val="C00000"/>
                </a:solidFill>
              </a:rPr>
              <a:t>功能</a:t>
            </a:r>
            <a:r>
              <a:rPr lang="en-US" altLang="zh-CN" dirty="0">
                <a:solidFill>
                  <a:srgbClr val="C00000"/>
                </a:solidFill>
              </a:rPr>
              <a:t>,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比如实现和时间相关的功能就可以使用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我们可以认为</a:t>
            </a:r>
            <a:r>
              <a:rPr lang="zh-CN" altLang="en-US" dirty="0">
                <a:solidFill>
                  <a:srgbClr val="C00000"/>
                </a:solidFill>
              </a:rPr>
              <a:t>一个模块</a:t>
            </a:r>
            <a:r>
              <a:rPr lang="zh-CN" altLang="en-US" dirty="0">
                <a:solidFill>
                  <a:schemeClr val="tx1"/>
                </a:solidFill>
              </a:rPr>
              <a:t>就是</a:t>
            </a:r>
            <a:r>
              <a:rPr lang="zh-CN" altLang="en-US" dirty="0">
                <a:solidFill>
                  <a:srgbClr val="C00000"/>
                </a:solidFill>
              </a:rPr>
              <a:t>一个工具包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每一个工具包中都有各种不同的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工具供我们使用进而实现各种不同的功能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什么是模块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5786" y="2429328"/>
            <a:ext cx="4240893" cy="33892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0" y="1457271"/>
            <a:ext cx="11291822" cy="503128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模块在使用前需要先导入 导入的方式如下</a:t>
            </a:r>
            <a:r>
              <a:rPr lang="en-US" altLang="zh-CN" dirty="0">
                <a:solidFill>
                  <a:srgbClr val="C00000"/>
                </a:solidFill>
              </a:rPr>
              <a:t>:</a:t>
            </a:r>
            <a:endParaRPr lang="en-US" altLang="zh-CN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模块名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from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模块名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功能名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from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模块名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*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模块名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别名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p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from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模块名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功能名 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as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别名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模块的导入方式</a:t>
            </a:r>
            <a:endParaRPr lang="zh-CN" altLang="en-US" dirty="0"/>
          </a:p>
        </p:txBody>
      </p:sp>
      <p:pic>
        <p:nvPicPr>
          <p:cNvPr id="3" name="图片 2" descr="D:/新版课程资料/AI+数据分析研发/播仔最新素材库 - All update/播仔最新素材库 - All update/01 (49).png01 (49)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0" y="1632942"/>
            <a:ext cx="11291822" cy="503128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基本语法：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案例：导入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模块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import</a:t>
            </a:r>
            <a:r>
              <a:rPr lang="zh-CN" altLang="en-US" dirty="0"/>
              <a:t>模块名</a:t>
            </a:r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710880" y="2106366"/>
            <a:ext cx="10302240" cy="107721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模块名</a:t>
            </a:r>
            <a:endParaRPr lang="zh-CN" altLang="en-US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模块名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，模块名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模块名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功能名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710880" y="3788992"/>
            <a:ext cx="10302240" cy="181588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导入时间模块</a:t>
            </a:r>
            <a:br>
              <a:rPr lang="zh-CN" altLang="en-US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solidFill>
                  <a:srgbClr val="0033B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time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solidFill>
                  <a:srgbClr val="000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b="1" dirty="0">
                <a:solidFill>
                  <a:srgbClr val="008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zh-CN" altLang="en-US" sz="1600" b="1" dirty="0">
                <a:solidFill>
                  <a:srgbClr val="008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开始</a:t>
            </a:r>
            <a:r>
              <a:rPr lang="en-US" altLang="zh-CN" sz="1600" b="1" dirty="0">
                <a:solidFill>
                  <a:srgbClr val="008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让程序睡眠</a:t>
            </a:r>
            <a:r>
              <a:rPr lang="en-US" altLang="zh-CN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秒</a:t>
            </a:r>
            <a:r>
              <a:rPr lang="en-US" altLang="zh-CN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zh-CN" altLang="en-US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阻塞</a:t>
            </a:r>
            <a:r>
              <a:rPr lang="en-US" altLang="zh-CN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US" altLang="zh-CN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time.sleep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dirty="0">
                <a:solidFill>
                  <a:srgbClr val="1750EB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solidFill>
                  <a:srgbClr val="000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b="1" dirty="0">
                <a:solidFill>
                  <a:srgbClr val="008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zh-CN" altLang="en-US" sz="1600" b="1" dirty="0">
                <a:solidFill>
                  <a:srgbClr val="008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结束</a:t>
            </a:r>
            <a:r>
              <a:rPr lang="en-US" altLang="zh-CN" sz="1600" b="1" dirty="0">
                <a:solidFill>
                  <a:srgbClr val="008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3" name="图片 2" descr="D:/新版课程资料/AI+数据分析研发/播仔最新素材库 - All update/播仔最新素材库 - All update/01 (49).png01 (49)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0" y="1632942"/>
            <a:ext cx="11291822" cy="503128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基本语法：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案例：导入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模块中的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sleep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from </a:t>
            </a:r>
            <a:r>
              <a:rPr lang="zh-CN" altLang="en-US" dirty="0"/>
              <a:t>模块名 </a:t>
            </a:r>
            <a:r>
              <a:rPr lang="en-US" altLang="zh-CN" dirty="0"/>
              <a:t>import </a:t>
            </a:r>
            <a:r>
              <a:rPr lang="zh-CN" altLang="en-US" dirty="0"/>
              <a:t>功能名</a:t>
            </a:r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710880" y="2178765"/>
            <a:ext cx="10302240" cy="83099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from 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模块名 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 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功能名</a:t>
            </a:r>
            <a:endParaRPr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功能名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710880" y="3788992"/>
            <a:ext cx="10302240" cy="181588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导入时间模块中的</a:t>
            </a:r>
            <a:r>
              <a:rPr lang="en-US" altLang="zh-CN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sleep</a:t>
            </a:r>
            <a:r>
              <a:rPr lang="zh-CN" altLang="en-US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方法</a:t>
            </a:r>
            <a:br>
              <a:rPr lang="zh-CN" altLang="en-US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solidFill>
                  <a:srgbClr val="0033B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time </a:t>
            </a:r>
            <a:r>
              <a:rPr lang="en-GB" altLang="zh-CN" sz="1600" dirty="0">
                <a:solidFill>
                  <a:srgbClr val="0033B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sleep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solidFill>
                  <a:srgbClr val="000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b="1" dirty="0">
                <a:solidFill>
                  <a:srgbClr val="008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zh-CN" altLang="en-US" sz="1600" b="1" dirty="0">
                <a:solidFill>
                  <a:srgbClr val="008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开始</a:t>
            </a:r>
            <a:r>
              <a:rPr lang="en-US" altLang="zh-CN" sz="1600" b="1" dirty="0">
                <a:solidFill>
                  <a:srgbClr val="008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让程序睡眠</a:t>
            </a:r>
            <a:r>
              <a:rPr lang="en-US" altLang="zh-CN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秒</a:t>
            </a:r>
            <a:r>
              <a:rPr lang="en-US" altLang="zh-CN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zh-CN" altLang="en-US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阻塞</a:t>
            </a:r>
            <a:r>
              <a:rPr lang="en-US" altLang="zh-CN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US" altLang="zh-CN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sleep(</a:t>
            </a:r>
            <a:r>
              <a:rPr lang="en-GB" altLang="zh-CN" sz="1600" dirty="0">
                <a:solidFill>
                  <a:srgbClr val="1750EB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solidFill>
                  <a:srgbClr val="000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b="1" dirty="0">
                <a:solidFill>
                  <a:srgbClr val="008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zh-CN" altLang="en-US" sz="1600" b="1" dirty="0">
                <a:solidFill>
                  <a:srgbClr val="008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结束</a:t>
            </a:r>
            <a:r>
              <a:rPr lang="en-US" altLang="zh-CN" sz="1600" b="1" dirty="0">
                <a:solidFill>
                  <a:srgbClr val="008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3" name="图片 2" descr="D:/新版课程资料/AI+数据分析研发/播仔最新素材库 - All update/播仔最新素材库 - All update/01 (49).png01 (49)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0" y="1632942"/>
            <a:ext cx="11291822" cy="503128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基本语法：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案例：导入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模块中所有的方法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from </a:t>
            </a:r>
            <a:r>
              <a:rPr lang="zh-CN" altLang="en-US" dirty="0"/>
              <a:t>模块名 </a:t>
            </a:r>
            <a:r>
              <a:rPr lang="en-US" altLang="zh-CN" dirty="0"/>
              <a:t>import *</a:t>
            </a:r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710880" y="2178765"/>
            <a:ext cx="10302240" cy="830997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from 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模块名 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 *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功能名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()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710880" y="3788992"/>
            <a:ext cx="10302240" cy="1815882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导入时间模块中所有的方法</a:t>
            </a:r>
            <a:br>
              <a:rPr lang="zh-CN" altLang="en-US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solidFill>
                  <a:srgbClr val="0033B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time </a:t>
            </a:r>
            <a:r>
              <a:rPr lang="en-GB" altLang="zh-CN" sz="1600" dirty="0">
                <a:solidFill>
                  <a:srgbClr val="0033B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*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solidFill>
                  <a:srgbClr val="000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b="1" dirty="0">
                <a:solidFill>
                  <a:srgbClr val="008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zh-CN" altLang="en-US" sz="1600" b="1" dirty="0">
                <a:solidFill>
                  <a:srgbClr val="008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开始</a:t>
            </a:r>
            <a:r>
              <a:rPr lang="en-US" altLang="zh-CN" sz="1600" b="1" dirty="0">
                <a:solidFill>
                  <a:srgbClr val="008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US" altLang="zh-CN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让程序睡眠</a:t>
            </a:r>
            <a:r>
              <a:rPr lang="en-US" altLang="zh-CN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秒</a:t>
            </a:r>
            <a:r>
              <a:rPr lang="en-US" altLang="zh-CN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zh-CN" altLang="en-US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阻塞</a:t>
            </a:r>
            <a:r>
              <a:rPr lang="en-US" altLang="zh-CN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US" altLang="zh-CN" sz="1600" i="1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sleep(</a:t>
            </a:r>
            <a:r>
              <a:rPr lang="en-GB" altLang="zh-CN" sz="1600" dirty="0">
                <a:solidFill>
                  <a:srgbClr val="1750EB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solidFill>
                  <a:srgbClr val="000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b="1" dirty="0">
                <a:solidFill>
                  <a:srgbClr val="008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zh-CN" altLang="en-US" sz="1600" b="1" dirty="0">
                <a:solidFill>
                  <a:srgbClr val="008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结束</a:t>
            </a:r>
            <a:r>
              <a:rPr lang="en-US" altLang="zh-CN" sz="1600" b="1" dirty="0">
                <a:solidFill>
                  <a:srgbClr val="008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"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3" name="图片 2" descr="D:/新版课程资料/AI+数据分析研发/播仔最新素材库 - All update/播仔最新素材库 - All update/01 (49).png01 (49)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0" y="1632942"/>
            <a:ext cx="11291822" cy="503128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基本语法：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案例：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as</a:t>
            </a:r>
            <a:r>
              <a:rPr lang="zh-CN" altLang="en-US" dirty="0"/>
              <a:t>定义别名</a:t>
            </a:r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710880" y="2048500"/>
            <a:ext cx="10302240" cy="132343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模块定义别名</a:t>
            </a:r>
            <a:endParaRPr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 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模块名 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as 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别名</a:t>
            </a:r>
            <a:endParaRPr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功能定义别名</a:t>
            </a:r>
            <a:endParaRPr lang="zh-CN" altLang="en-US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from 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模块名 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 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功能 </a:t>
            </a:r>
            <a:r>
              <a:rPr lang="en-US" altLang="zh-CN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as </a:t>
            </a:r>
            <a:r>
              <a:rPr lang="zh-CN" altLang="en-US" sz="1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别名</a:t>
            </a:r>
            <a:endParaRPr lang="en-US" altLang="zh-CN" sz="1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6" name="TextBox 3"/>
          <p:cNvSpPr txBox="1"/>
          <p:nvPr/>
        </p:nvSpPr>
        <p:spPr>
          <a:xfrm>
            <a:off x="710880" y="3788992"/>
            <a:ext cx="10302240" cy="1323439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模块别名</a:t>
            </a:r>
            <a:br>
              <a:rPr lang="zh-CN" altLang="en-US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solidFill>
                  <a:srgbClr val="0033B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time </a:t>
            </a:r>
            <a:r>
              <a:rPr lang="en-GB" altLang="zh-CN" sz="1600" dirty="0">
                <a:solidFill>
                  <a:srgbClr val="0033B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as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tt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tt.sleep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dirty="0">
                <a:solidFill>
                  <a:srgbClr val="1750EB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solidFill>
                  <a:srgbClr val="000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b="1" dirty="0">
                <a:solidFill>
                  <a:srgbClr val="008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'hello'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710880" y="5226607"/>
            <a:ext cx="10302240" cy="1077218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功能别名</a:t>
            </a:r>
            <a:br>
              <a:rPr lang="zh-CN" altLang="en-US" sz="1600" dirty="0">
                <a:solidFill>
                  <a:srgbClr val="8C8C8C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solidFill>
                  <a:srgbClr val="0033B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time </a:t>
            </a:r>
            <a:r>
              <a:rPr lang="en-GB" altLang="zh-CN" sz="1600" dirty="0">
                <a:solidFill>
                  <a:srgbClr val="0033B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sleep </a:t>
            </a:r>
            <a:r>
              <a:rPr lang="en-GB" altLang="zh-CN" sz="1600" dirty="0">
                <a:solidFill>
                  <a:srgbClr val="0033B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as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sl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sl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dirty="0">
                <a:solidFill>
                  <a:srgbClr val="1750EB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solidFill>
                  <a:srgbClr val="000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b="1" dirty="0">
                <a:solidFill>
                  <a:srgbClr val="00808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'hello'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3" name="图片 2" descr="D:/新版课程资料/AI+数据分析研发/播仔最新素材库 - All update/播仔最新素材库 - All update/01 (49).png01 (49)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自定义模块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en-US" altLang="zh-CN" dirty="0"/>
              <a:t>02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0" y="1632942"/>
            <a:ext cx="11291822" cy="503128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中已经帮我们实现了很多的模块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不过有时候我们需要一些</a:t>
            </a:r>
            <a:r>
              <a:rPr lang="zh-CN" altLang="en-US" dirty="0">
                <a:solidFill>
                  <a:srgbClr val="C00000"/>
                </a:solidFill>
              </a:rPr>
              <a:t>个性化的模块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这里就可以通过</a:t>
            </a:r>
            <a:r>
              <a:rPr lang="zh-CN" altLang="en-US" dirty="0">
                <a:solidFill>
                  <a:srgbClr val="C00000"/>
                </a:solidFill>
              </a:rPr>
              <a:t>自定义模块实现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也就是自己制作一个模块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49504F"/>
                </a:solidFill>
              </a:rPr>
              <a:t>案例</a:t>
            </a:r>
            <a:r>
              <a:rPr lang="zh-CN" altLang="en-US" dirty="0">
                <a:solidFill>
                  <a:srgbClr val="49504F"/>
                </a:solidFill>
              </a:rPr>
              <a:t>：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新建一个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文件，命名为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my_module1.py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，并定义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函数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注意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en-US" altLang="zh-CN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每个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Python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文件都可以作为一个模块，模块的名字就是文件的名字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 dirty="0">
                <a:solidFill>
                  <a:srgbClr val="AD2B26"/>
                </a:solidFill>
              </a:rPr>
              <a:t>也就是说自定义模块名必须要符合标识符命名规则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制作自定义模块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463" y="3257365"/>
            <a:ext cx="3314700" cy="17824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043" y="3257365"/>
            <a:ext cx="3681186" cy="18046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 descr="D:/新版课程资料/AI+数据分析研发/播仔最新素材库 - All update/播仔最新素材库 - All update/播仔素材库【1】0084.png播仔素材库【1】008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0" y="1632942"/>
            <a:ext cx="11291822" cy="503128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在实际开发中，当一个开发人员编写完一个模块后，为了让模块能够在项目中达到想要的效果，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这个开发人员会自行在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文件中添加一些</a:t>
            </a:r>
            <a:r>
              <a:rPr lang="zh-CN" altLang="en-US" dirty="0">
                <a:solidFill>
                  <a:srgbClr val="C00000"/>
                </a:solidFill>
              </a:rPr>
              <a:t>测试信息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，例如，在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my_module1.py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文件中添加</a:t>
            </a:r>
            <a:r>
              <a:rPr lang="zh-CN" altLang="en-US" dirty="0">
                <a:solidFill>
                  <a:srgbClr val="C00000"/>
                </a:solidFill>
              </a:rPr>
              <a:t>测试代码</a:t>
            </a:r>
            <a:r>
              <a:rPr lang="en-US" altLang="zh-CN" dirty="0">
                <a:solidFill>
                  <a:srgbClr val="C00000"/>
                </a:solidFill>
              </a:rPr>
              <a:t>test(1,1)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问题</a:t>
            </a:r>
            <a:r>
              <a:rPr lang="en-US" altLang="zh-CN" b="1" dirty="0">
                <a:solidFill>
                  <a:srgbClr val="C00000"/>
                </a:solidFill>
              </a:rPr>
              <a:t>: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此时，无论是当前文件，还是其他已经导入了该模块的文件，在运行的时候都会</a:t>
            </a:r>
            <a:r>
              <a:rPr lang="zh-CN" altLang="en-US" dirty="0">
                <a:solidFill>
                  <a:srgbClr val="C00000"/>
                </a:solidFill>
              </a:rPr>
              <a:t>自动执行</a:t>
            </a:r>
            <a:r>
              <a:rPr lang="en-US" altLang="zh-CN" dirty="0">
                <a:solidFill>
                  <a:srgbClr val="C00000"/>
                </a:solidFill>
              </a:rPr>
              <a:t>`test`</a:t>
            </a:r>
            <a:r>
              <a:rPr lang="zh-CN" altLang="en-US" dirty="0">
                <a:solidFill>
                  <a:srgbClr val="C00000"/>
                </a:solidFill>
              </a:rPr>
              <a:t>函数的调用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解决方案：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测试模块</a:t>
            </a:r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710880" y="2547333"/>
            <a:ext cx="10302240" cy="1169551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it-IT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 test(a, b):</a:t>
            </a:r>
            <a:endParaRPr lang="it-IT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it-IT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print(a + b)</a:t>
            </a:r>
            <a:endParaRPr lang="it-IT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it-IT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it-IT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it-IT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test(1, 1)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710880" y="5355427"/>
            <a:ext cx="10302240" cy="1384995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it-IT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def test(a, b):</a:t>
            </a:r>
            <a:endParaRPr lang="it-IT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it-IT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print(a + b)</a:t>
            </a:r>
            <a:endParaRPr lang="it-IT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it-IT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it-IT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#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只在当前文件中调用该函数，其他导入的文件内不符合该条件，则不执行</a:t>
            </a:r>
            <a:r>
              <a:rPr lang="it-IT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test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函数调用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it-IT" altLang="zh-CN" sz="1400" dirty="0">
                <a:solidFill>
                  <a:srgbClr val="AD2B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if __name__ == '__main__':</a:t>
            </a:r>
            <a:endParaRPr lang="it-IT" altLang="zh-CN" sz="1400" dirty="0">
              <a:solidFill>
                <a:srgbClr val="AD2B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it-IT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   test (1, 1)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图片 4" descr="D:/新版课程资料/AI+数据分析研发/播仔最新素材库 - All update/播仔最新素材库 - All update/播仔素材库【1】0084.png播仔素材库【1】008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0" y="1466574"/>
            <a:ext cx="11291822" cy="5168771"/>
          </a:xfrm>
        </p:spPr>
        <p:txBody>
          <a:bodyPr/>
          <a:lstStyle/>
          <a:p>
            <a:pPr marL="0" indent="0">
              <a:buNone/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                       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注意事项：当</a:t>
            </a:r>
            <a:r>
              <a:rPr lang="zh-CN" altLang="en-US" dirty="0">
                <a:solidFill>
                  <a:srgbClr val="C00000"/>
                </a:solidFill>
              </a:rPr>
              <a:t>导入多个模块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的时候，且模块内有</a:t>
            </a:r>
            <a:r>
              <a:rPr lang="zh-CN" altLang="en-US" dirty="0">
                <a:solidFill>
                  <a:srgbClr val="C00000"/>
                </a:solidFill>
              </a:rPr>
              <a:t>同名功能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                         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当调用这个同名功能的时候，调用到的是</a:t>
            </a:r>
            <a:r>
              <a:rPr lang="zh-CN" altLang="en-US" dirty="0">
                <a:solidFill>
                  <a:srgbClr val="C00000"/>
                </a:solidFill>
              </a:rPr>
              <a:t>后面导入的模块的功能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注意事项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453" y="1466574"/>
            <a:ext cx="4170004" cy="430344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 descr="D:/新版课程资料/AI+数据分析研发/播仔最新素材库 - All update/播仔最新素材库 - All update/播仔素材库【1】0084.png播仔素材库【1】008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0" y="1466574"/>
            <a:ext cx="11291822" cy="516877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如果一个模块文件中有</a:t>
            </a:r>
            <a:r>
              <a:rPr lang="en-US" altLang="zh-CN" dirty="0">
                <a:solidFill>
                  <a:srgbClr val="AD2B26"/>
                </a:solidFill>
              </a:rPr>
              <a:t>`__all__`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变量，当使用</a:t>
            </a:r>
            <a:r>
              <a:rPr lang="en-US" altLang="zh-CN" dirty="0">
                <a:solidFill>
                  <a:srgbClr val="AD2B26"/>
                </a:solidFill>
              </a:rPr>
              <a:t>`from xxx import *`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导入时，只能导入这个列表中的元素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__all__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613" y="2499178"/>
            <a:ext cx="3365501" cy="265135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2345" y="2736739"/>
            <a:ext cx="5758134" cy="21762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右箭头 9"/>
          <p:cNvSpPr/>
          <p:nvPr/>
        </p:nvSpPr>
        <p:spPr>
          <a:xfrm>
            <a:off x="4386058" y="3358245"/>
            <a:ext cx="1110343" cy="6927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kumimoji="1" lang="zh-CN" alt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5" name="图片 4" descr="D:/新版课程资料/AI+数据分析研发/播仔最新素材库 - All update/播仔最新素材库 - All update/播仔素材库【1】0084.png播仔素材库【1】008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139170" y="5489575"/>
            <a:ext cx="1052830" cy="10528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71231" y="756218"/>
            <a:ext cx="5973761" cy="4256405"/>
          </a:xfrm>
        </p:spPr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Python</a:t>
            </a:r>
            <a:r>
              <a:rPr lang="zh-CN" altLang="en-US" dirty="0">
                <a:solidFill>
                  <a:schemeClr val="tx1"/>
                </a:solidFill>
              </a:rPr>
              <a:t>模块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rgbClr val="C00000"/>
                </a:solidFill>
              </a:rPr>
              <a:t>Python</a:t>
            </a:r>
            <a:r>
              <a:rPr lang="zh-CN" altLang="en-US" dirty="0">
                <a:solidFill>
                  <a:srgbClr val="C00000"/>
                </a:solidFill>
              </a:rPr>
              <a:t>包</a:t>
            </a:r>
            <a:endParaRPr lang="en-US" altLang="zh-CN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799581" y="423612"/>
            <a:ext cx="6654482" cy="48558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知道如何制作包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0" y="1466574"/>
            <a:ext cx="11291822" cy="516877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从物理上看</a:t>
            </a:r>
            <a:r>
              <a:rPr lang="zh-CN" altLang="en-US" dirty="0"/>
              <a:t>，包就是一个</a:t>
            </a:r>
            <a:r>
              <a:rPr lang="zh-CN" altLang="en-US" dirty="0">
                <a:solidFill>
                  <a:srgbClr val="C00000"/>
                </a:solidFill>
              </a:rPr>
              <a:t>文件夹</a:t>
            </a:r>
            <a:r>
              <a:rPr lang="zh-CN" altLang="en-US" dirty="0"/>
              <a:t>，在该文件夹下包含了一个 </a:t>
            </a:r>
            <a:r>
              <a:rPr lang="en-US" altLang="zh-CN" dirty="0">
                <a:solidFill>
                  <a:srgbClr val="C00000"/>
                </a:solidFill>
              </a:rPr>
              <a:t>__</a:t>
            </a:r>
            <a:r>
              <a:rPr lang="en-GB" altLang="zh-CN" dirty="0">
                <a:solidFill>
                  <a:srgbClr val="C00000"/>
                </a:solidFill>
              </a:rPr>
              <a:t>init__.py </a:t>
            </a:r>
            <a:r>
              <a:rPr lang="zh-CN" altLang="en-US" dirty="0">
                <a:solidFill>
                  <a:srgbClr val="C00000"/>
                </a:solidFill>
              </a:rPr>
              <a:t>文件</a:t>
            </a:r>
            <a:r>
              <a:rPr lang="zh-CN" altLang="en-US" dirty="0"/>
              <a:t>，该文件夹可用于包含多个</a:t>
            </a:r>
            <a:r>
              <a:rPr lang="zh-CN" altLang="en-US" dirty="0">
                <a:solidFill>
                  <a:srgbClr val="C00000"/>
                </a:solidFill>
              </a:rPr>
              <a:t>模块文件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从逻辑上看</a:t>
            </a:r>
            <a:r>
              <a:rPr lang="zh-CN" altLang="en-US" dirty="0"/>
              <a:t>，包的本质依然是</a:t>
            </a:r>
            <a:r>
              <a:rPr lang="zh-CN" altLang="en-US" dirty="0">
                <a:solidFill>
                  <a:srgbClr val="C00000"/>
                </a:solidFill>
              </a:rPr>
              <a:t>模块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C00000"/>
                </a:solidFill>
              </a:rPr>
              <a:t>包的作用</a:t>
            </a:r>
            <a:r>
              <a:rPr lang="en-US" altLang="zh-CN" b="1" dirty="0">
                <a:solidFill>
                  <a:srgbClr val="C00000"/>
                </a:solidFill>
              </a:rPr>
              <a:t>:</a:t>
            </a:r>
            <a:r>
              <a:rPr lang="zh-CN" altLang="en-US" b="1" dirty="0">
                <a:solidFill>
                  <a:srgbClr val="C00000"/>
                </a:solidFill>
              </a:rPr>
              <a:t> </a:t>
            </a:r>
            <a:endParaRPr lang="en-US" altLang="zh-CN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     当我们的</a:t>
            </a:r>
            <a:r>
              <a:rPr lang="zh-CN" altLang="en-US" dirty="0">
                <a:solidFill>
                  <a:srgbClr val="C00000"/>
                </a:solidFill>
              </a:rPr>
              <a:t>模块文件</a:t>
            </a:r>
            <a:r>
              <a:rPr lang="zh-CN" altLang="en-US" dirty="0">
                <a:solidFill>
                  <a:schemeClr val="tx1"/>
                </a:solidFill>
              </a:rPr>
              <a:t>越来越多时</a:t>
            </a:r>
            <a:r>
              <a:rPr lang="en-US" altLang="zh-CN" dirty="0">
                <a:solidFill>
                  <a:schemeClr val="tx1"/>
                </a:solidFill>
              </a:rPr>
              <a:t>,</a:t>
            </a:r>
            <a:r>
              <a:rPr lang="zh-CN" altLang="en-US" dirty="0">
                <a:solidFill>
                  <a:srgbClr val="C00000"/>
                </a:solidFill>
              </a:rPr>
              <a:t>包</a:t>
            </a:r>
            <a:r>
              <a:rPr lang="zh-CN" altLang="en-US" dirty="0">
                <a:solidFill>
                  <a:schemeClr val="tx1"/>
                </a:solidFill>
              </a:rPr>
              <a:t>可以帮助我们</a:t>
            </a:r>
            <a:r>
              <a:rPr lang="zh-CN" altLang="en-US" dirty="0">
                <a:solidFill>
                  <a:srgbClr val="C00000"/>
                </a:solidFill>
              </a:rPr>
              <a:t>管理这些模块</a:t>
            </a:r>
            <a:r>
              <a:rPr lang="en-US" altLang="zh-CN" dirty="0">
                <a:solidFill>
                  <a:schemeClr val="tx1"/>
                </a:solidFill>
              </a:rPr>
              <a:t>,</a:t>
            </a:r>
            <a:r>
              <a:rPr lang="zh-CN" altLang="en-US" dirty="0">
                <a:solidFill>
                  <a:schemeClr val="tx1"/>
                </a:solidFill>
              </a:rPr>
              <a:t> 包的作用就是</a:t>
            </a:r>
            <a:r>
              <a:rPr lang="zh-CN" altLang="en-US" dirty="0">
                <a:solidFill>
                  <a:srgbClr val="C00000"/>
                </a:solidFill>
              </a:rPr>
              <a:t>包含多个模块</a:t>
            </a:r>
            <a:r>
              <a:rPr lang="zh-CN" altLang="en-US" dirty="0">
                <a:solidFill>
                  <a:schemeClr val="tx1"/>
                </a:solidFill>
              </a:rPr>
              <a:t>，但包的本质依然是</a:t>
            </a:r>
            <a:r>
              <a:rPr lang="zh-CN" altLang="en-US" dirty="0">
                <a:solidFill>
                  <a:srgbClr val="C00000"/>
                </a:solidFill>
              </a:rPr>
              <a:t>模块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r>
              <a:rPr lang="en-US" altLang="zh-CN" dirty="0"/>
              <a:t>Python</a:t>
            </a:r>
            <a:r>
              <a:rPr lang="zh-CN" altLang="en-US" dirty="0"/>
              <a:t>包</a:t>
            </a:r>
            <a:endParaRPr lang="zh-CN" altLang="en-US" dirty="0"/>
          </a:p>
        </p:txBody>
      </p:sp>
      <p:sp>
        <p:nvSpPr>
          <p:cNvPr id="9" name="圆角矩形 8"/>
          <p:cNvSpPr/>
          <p:nvPr/>
        </p:nvSpPr>
        <p:spPr>
          <a:xfrm>
            <a:off x="895150" y="2935705"/>
            <a:ext cx="1655545" cy="471638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my_module1</a:t>
            </a:r>
            <a:endParaRPr lang="zh-CN" altLang="en-US" dirty="0"/>
          </a:p>
        </p:txBody>
      </p:sp>
      <p:sp>
        <p:nvSpPr>
          <p:cNvPr id="10" name="圆角矩形 9"/>
          <p:cNvSpPr/>
          <p:nvPr/>
        </p:nvSpPr>
        <p:spPr>
          <a:xfrm>
            <a:off x="875900" y="3819630"/>
            <a:ext cx="1655545" cy="471638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my_module2</a:t>
            </a:r>
            <a:endParaRPr lang="zh-CN" altLang="en-US" dirty="0"/>
          </a:p>
        </p:txBody>
      </p:sp>
      <p:sp>
        <p:nvSpPr>
          <p:cNvPr id="11" name="圆角矩形 10"/>
          <p:cNvSpPr/>
          <p:nvPr/>
        </p:nvSpPr>
        <p:spPr>
          <a:xfrm>
            <a:off x="875899" y="4703555"/>
            <a:ext cx="1655545" cy="471638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my_module3</a:t>
            </a:r>
            <a:endParaRPr lang="zh-CN" altLang="en-US" dirty="0"/>
          </a:p>
        </p:txBody>
      </p:sp>
      <p:sp>
        <p:nvSpPr>
          <p:cNvPr id="12" name="圆角矩形 11"/>
          <p:cNvSpPr/>
          <p:nvPr/>
        </p:nvSpPr>
        <p:spPr>
          <a:xfrm>
            <a:off x="2725340" y="2935705"/>
            <a:ext cx="1655545" cy="471638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my_module4</a:t>
            </a:r>
            <a:endParaRPr lang="zh-CN" altLang="en-US" dirty="0"/>
          </a:p>
        </p:txBody>
      </p:sp>
      <p:sp>
        <p:nvSpPr>
          <p:cNvPr id="13" name="圆角矩形 12"/>
          <p:cNvSpPr/>
          <p:nvPr/>
        </p:nvSpPr>
        <p:spPr>
          <a:xfrm>
            <a:off x="2734965" y="3819630"/>
            <a:ext cx="1655545" cy="471638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my_module5</a:t>
            </a:r>
            <a:endParaRPr lang="zh-CN" altLang="en-US" dirty="0"/>
          </a:p>
        </p:txBody>
      </p:sp>
      <p:sp>
        <p:nvSpPr>
          <p:cNvPr id="14" name="圆角矩形 13"/>
          <p:cNvSpPr/>
          <p:nvPr/>
        </p:nvSpPr>
        <p:spPr>
          <a:xfrm>
            <a:off x="2734965" y="4703555"/>
            <a:ext cx="1655545" cy="471638"/>
          </a:xfrm>
          <a:prstGeom prst="round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my_module6</a:t>
            </a:r>
            <a:endParaRPr lang="zh-CN" altLang="en-US" dirty="0"/>
          </a:p>
        </p:txBody>
      </p:sp>
      <p:sp>
        <p:nvSpPr>
          <p:cNvPr id="15" name="圆角矩形 14"/>
          <p:cNvSpPr/>
          <p:nvPr/>
        </p:nvSpPr>
        <p:spPr>
          <a:xfrm>
            <a:off x="710880" y="2611982"/>
            <a:ext cx="6912328" cy="2877954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右箭头 15"/>
          <p:cNvSpPr/>
          <p:nvPr/>
        </p:nvSpPr>
        <p:spPr>
          <a:xfrm>
            <a:off x="4756269" y="3819630"/>
            <a:ext cx="798897" cy="44276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/>
        </p:nvSpPr>
        <p:spPr>
          <a:xfrm>
            <a:off x="5758686" y="3776336"/>
            <a:ext cx="1567529" cy="453982"/>
          </a:xfrm>
          <a:prstGeom prst="round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ysClr val="windowText" lastClr="000000"/>
                </a:solidFill>
              </a:rPr>
              <a:t>__init__.py</a:t>
            </a:r>
            <a:endParaRPr lang="zh-CN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8" name="右箭头 17"/>
          <p:cNvSpPr/>
          <p:nvPr/>
        </p:nvSpPr>
        <p:spPr>
          <a:xfrm>
            <a:off x="7826728" y="3776336"/>
            <a:ext cx="798897" cy="442762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圆角矩形 18"/>
          <p:cNvSpPr/>
          <p:nvPr/>
        </p:nvSpPr>
        <p:spPr>
          <a:xfrm>
            <a:off x="8783797" y="3747460"/>
            <a:ext cx="1655545" cy="471638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Package</a:t>
            </a:r>
            <a:r>
              <a:rPr lang="zh-CN" altLang="en-US" dirty="0"/>
              <a:t>包</a:t>
            </a:r>
            <a:endParaRPr lang="zh-CN" altLang="en-US" dirty="0"/>
          </a:p>
        </p:txBody>
      </p:sp>
      <p:pic>
        <p:nvPicPr>
          <p:cNvPr id="6" name="图片 5" descr="01 (107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3025" y="5718175"/>
            <a:ext cx="814070" cy="8140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0" y="1466574"/>
            <a:ext cx="11291822" cy="5168771"/>
          </a:xfrm>
        </p:spPr>
        <p:txBody>
          <a:bodyPr/>
          <a:lstStyle/>
          <a:p>
            <a:pPr marL="0" indent="0">
              <a:buNone/>
            </a:pPr>
            <a:r>
              <a:rPr lang="zh-CN" altLang="en-US" b="1" dirty="0">
                <a:solidFill>
                  <a:srgbClr val="AD2B26"/>
                </a:solidFill>
              </a:rPr>
              <a:t>步骤如下</a:t>
            </a:r>
            <a:r>
              <a:rPr lang="en-US" altLang="zh-CN" b="1" dirty="0">
                <a:solidFill>
                  <a:srgbClr val="AD2B26"/>
                </a:solidFill>
              </a:rPr>
              <a:t>:</a:t>
            </a:r>
            <a:endParaRPr lang="en-US" altLang="zh-CN" b="1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① 新建包</a:t>
            </a:r>
            <a:r>
              <a:rPr lang="en-US" altLang="zh-CN" dirty="0">
                <a:solidFill>
                  <a:schemeClr val="tx1"/>
                </a:solidFill>
              </a:rPr>
              <a:t>`</a:t>
            </a:r>
            <a:r>
              <a:rPr lang="en-US" altLang="zh-CN" dirty="0" err="1">
                <a:solidFill>
                  <a:schemeClr val="tx1"/>
                </a:solidFill>
              </a:rPr>
              <a:t>my_package</a:t>
            </a:r>
            <a:r>
              <a:rPr lang="en-US" altLang="zh-CN" dirty="0">
                <a:solidFill>
                  <a:schemeClr val="tx1"/>
                </a:solidFill>
              </a:rPr>
              <a:t>`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② </a:t>
            </a:r>
            <a:r>
              <a:rPr lang="zh-CN" altLang="en-US" dirty="0">
                <a:solidFill>
                  <a:schemeClr val="tx1"/>
                </a:solidFill>
              </a:rPr>
              <a:t>新建包内模块：</a:t>
            </a:r>
            <a:r>
              <a:rPr lang="en-US" altLang="zh-CN" dirty="0">
                <a:solidFill>
                  <a:schemeClr val="tx1"/>
                </a:solidFill>
              </a:rPr>
              <a:t>`my_module1` </a:t>
            </a:r>
            <a:r>
              <a:rPr lang="zh-CN" altLang="en-US" dirty="0">
                <a:solidFill>
                  <a:schemeClr val="tx1"/>
                </a:solidFill>
              </a:rPr>
              <a:t>和 </a:t>
            </a:r>
            <a:r>
              <a:rPr lang="en-US" altLang="zh-CN" dirty="0">
                <a:solidFill>
                  <a:schemeClr val="tx1"/>
                </a:solidFill>
              </a:rPr>
              <a:t>`my_module2`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③ </a:t>
            </a:r>
            <a:r>
              <a:rPr lang="zh-CN" altLang="en-US" dirty="0">
                <a:solidFill>
                  <a:schemeClr val="tx1"/>
                </a:solidFill>
              </a:rPr>
              <a:t>模块内代码如下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快速入门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6767" y="3229195"/>
            <a:ext cx="3777552" cy="22043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791" y="3238498"/>
            <a:ext cx="3814177" cy="220435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195" y="3238498"/>
            <a:ext cx="2705100" cy="13081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文本框 8"/>
          <p:cNvSpPr txBox="1"/>
          <p:nvPr/>
        </p:nvSpPr>
        <p:spPr>
          <a:xfrm>
            <a:off x="710880" y="5533692"/>
            <a:ext cx="887943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err="1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Pycharm</a:t>
            </a:r>
            <a:r>
              <a:rPr lang="zh-CN" altLang="en-US" sz="1600" b="1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中的基本步骤</a:t>
            </a:r>
            <a:r>
              <a:rPr lang="en-US" altLang="zh-CN" sz="1600" b="1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endParaRPr lang="en-US" altLang="zh-CN" sz="1600" b="1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endParaRPr lang="en-US" altLang="zh-CN" sz="1600" b="1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[New]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Wingdings" panose="05000000000000000000" pitchFamily="2" charset="2"/>
              </a:rPr>
              <a:t>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Wingdings" panose="05000000000000000000" pitchFamily="2" charset="2"/>
              </a:rPr>
              <a:t>  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[Python Package]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Wingdings" panose="05000000000000000000" pitchFamily="2" charset="2"/>
              </a:rPr>
              <a:t>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Wingdings" panose="05000000000000000000" pitchFamily="2" charset="2"/>
              </a:rPr>
              <a:t>  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输入包名  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Wingdings" panose="05000000000000000000" pitchFamily="2" charset="2"/>
              </a:rPr>
              <a:t>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Wingdings" panose="05000000000000000000" pitchFamily="2" charset="2"/>
              </a:rPr>
              <a:t> 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[OK] 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Wingdings" panose="05000000000000000000" pitchFamily="2" charset="2"/>
              </a:rPr>
              <a:t>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Wingdings" panose="05000000000000000000" pitchFamily="2" charset="2"/>
              </a:rPr>
              <a:t>  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新建功能模块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有联系的模块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endParaRPr lang="en-US" altLang="zh-CN" sz="1600" dirty="0">
              <a:solidFill>
                <a:srgbClr val="AD2B26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zh-CN" altLang="en-US" sz="1600" dirty="0">
                <a:solidFill>
                  <a:srgbClr val="AD2B26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注意：新建包后，包内部会自动创建</a:t>
            </a:r>
            <a:r>
              <a:rPr lang="en-US" altLang="zh-CN" sz="1600" dirty="0">
                <a:solidFill>
                  <a:srgbClr val="AD2B26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`__</a:t>
            </a:r>
            <a:r>
              <a:rPr lang="en-US" altLang="zh-CN" sz="1600" dirty="0" err="1">
                <a:solidFill>
                  <a:srgbClr val="AD2B26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init</a:t>
            </a:r>
            <a:r>
              <a:rPr lang="en-US" altLang="zh-CN" sz="1600" dirty="0">
                <a:solidFill>
                  <a:srgbClr val="AD2B26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__.</a:t>
            </a:r>
            <a:r>
              <a:rPr lang="en-US" altLang="zh-CN" sz="1600" dirty="0" err="1">
                <a:solidFill>
                  <a:srgbClr val="AD2B26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py</a:t>
            </a:r>
            <a:r>
              <a:rPr lang="en-US" altLang="zh-CN" sz="1600" dirty="0">
                <a:solidFill>
                  <a:srgbClr val="AD2B26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`</a:t>
            </a:r>
            <a:r>
              <a:rPr lang="zh-CN" altLang="en-US" sz="1600" dirty="0">
                <a:solidFill>
                  <a:srgbClr val="AD2B26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文件，这个文件控制着包的导入行为</a:t>
            </a:r>
            <a:endParaRPr lang="en-US" altLang="zh-CN" sz="1600" dirty="0">
              <a:solidFill>
                <a:srgbClr val="AD2B26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zh-CN" altLang="en-US" sz="1600" dirty="0">
              <a:solidFill>
                <a:schemeClr val="tx1">
                  <a:lumMod val="65000"/>
                  <a:lumOff val="35000"/>
                </a:schemeClr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7" name="图片 6" descr="01 (107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03025" y="5718175"/>
            <a:ext cx="814070" cy="81407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0" y="1466574"/>
            <a:ext cx="11291822" cy="516877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方式一：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导入包</a:t>
            </a:r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710880" y="2051841"/>
            <a:ext cx="2511291" cy="738664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包名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模块名</a:t>
            </a:r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endParaRPr lang="zh-CN" altLang="en-US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包名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模块名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目标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1376" y="1774148"/>
            <a:ext cx="5362121" cy="45536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图片 2" descr="01 (107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3025" y="5718175"/>
            <a:ext cx="814070" cy="8140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1"/>
          </p:nvPr>
        </p:nvSpPr>
        <p:spPr>
          <a:xfrm>
            <a:off x="710880" y="1466574"/>
            <a:ext cx="11291822" cy="5168771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AD2B26"/>
                </a:solidFill>
              </a:rPr>
              <a:t>方式二：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注意：必须在</a:t>
            </a:r>
            <a:r>
              <a:rPr lang="en-US" altLang="zh-CN" dirty="0">
                <a:solidFill>
                  <a:srgbClr val="C00000"/>
                </a:solidFill>
              </a:rPr>
              <a:t>`__init__.py`</a:t>
            </a:r>
            <a:r>
              <a:rPr lang="zh-CN" altLang="en-US" dirty="0">
                <a:solidFill>
                  <a:srgbClr val="C00000"/>
                </a:solidFill>
              </a:rPr>
              <a:t>文件中添加</a:t>
            </a:r>
            <a:r>
              <a:rPr lang="en-US" altLang="zh-CN" dirty="0">
                <a:solidFill>
                  <a:srgbClr val="C00000"/>
                </a:solidFill>
              </a:rPr>
              <a:t>`__all__ = []`</a:t>
            </a:r>
            <a:r>
              <a:rPr lang="zh-CN" altLang="en-US" dirty="0">
                <a:solidFill>
                  <a:srgbClr val="C00000"/>
                </a:solidFill>
              </a:rPr>
              <a:t>，控制允许导入的模块列表</a:t>
            </a: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rgbClr val="AD2B26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导入包</a:t>
            </a:r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787080" y="2387898"/>
            <a:ext cx="1760177" cy="523220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from 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包名 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import *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模块名</a:t>
            </a:r>
            <a:r>
              <a:rPr lang="en-US" altLang="zh-CN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.</a:t>
            </a:r>
            <a:r>
              <a:rPr lang="zh-CN" altLang="en-US" sz="14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目标</a:t>
            </a:r>
            <a:endParaRPr lang="en-US" altLang="zh-CN" sz="14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080" y="3058949"/>
            <a:ext cx="6271986" cy="114285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080" y="4439887"/>
            <a:ext cx="6285020" cy="192825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9" name="直线箭头连接符 8"/>
          <p:cNvCxnSpPr/>
          <p:nvPr/>
        </p:nvCxnSpPr>
        <p:spPr>
          <a:xfrm flipH="1">
            <a:off x="2667000" y="5029200"/>
            <a:ext cx="4800600" cy="5660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7467506" y="4440188"/>
            <a:ext cx="4246880" cy="13220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en-US" altLang="zh-CN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my_module1</a:t>
            </a:r>
            <a:r>
              <a:rPr kumimoji="1"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报红证明不可用</a:t>
            </a:r>
            <a:endParaRPr kumimoji="1" lang="en-US" altLang="zh-CN" sz="160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1" lang="en-US" altLang="zh-CN" sz="160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600" b="1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注意</a:t>
            </a:r>
            <a:r>
              <a:rPr kumimoji="1" lang="en-US" altLang="zh-CN" sz="1600" b="1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endParaRPr kumimoji="1" lang="en-US" altLang="zh-CN" sz="1600" b="1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600" b="1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kumimoji="1"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__all__</a:t>
            </a:r>
            <a:r>
              <a:rPr kumimoji="1"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针对的是 </a:t>
            </a:r>
            <a:r>
              <a:rPr kumimoji="1"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</a:t>
            </a:r>
            <a:r>
              <a:rPr kumimoji="1"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...</a:t>
            </a:r>
            <a:r>
              <a:rPr kumimoji="1"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</a:t>
            </a:r>
            <a:r>
              <a:rPr kumimoji="1"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* </a:t>
            </a:r>
            <a:endParaRPr kumimoji="1" lang="zh-CN" altLang="en-US" sz="1600" dirty="0">
              <a:solidFill>
                <a:srgbClr val="C0000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kumimoji="1"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这种方式对 </a:t>
            </a:r>
            <a:r>
              <a:rPr kumimoji="1" lang="en-US" altLang="zh-CN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‘</a:t>
            </a:r>
            <a:r>
              <a:rPr kumimoji="1"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</a:t>
            </a:r>
            <a:r>
              <a:rPr kumimoji="1"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xxx</a:t>
            </a:r>
            <a:r>
              <a:rPr kumimoji="1"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’</a:t>
            </a:r>
            <a:r>
              <a:rPr kumimoji="1" lang="zh-CN" altLang="en-US" sz="1600" dirty="0">
                <a:solidFill>
                  <a:srgbClr val="C0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这种方式无效</a:t>
            </a:r>
            <a:endParaRPr kumimoji="1" lang="zh-CN" altLang="en-US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7" name="图片 6" descr="01 (10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480" y="5821045"/>
            <a:ext cx="814070" cy="81407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771073" y="2296480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C00000"/>
                </a:solidFill>
                <a:latin typeface="Helvetica Neue" panose="02000503000000020004" pitchFamily="2" charset="0"/>
              </a:rPr>
              <a:t>导入模块方法</a:t>
            </a:r>
            <a:endParaRPr lang="zh-CN" altLang="en-US" dirty="0">
              <a:solidFill>
                <a:srgbClr val="C00000"/>
              </a:solidFill>
              <a:latin typeface="Helvetica Neue" panose="02000503000000020004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altLang="zh-CN" dirty="0">
                <a:solidFill>
                  <a:srgbClr val="8959A8"/>
                </a:solidFill>
              </a:rPr>
              <a:t>import</a:t>
            </a:r>
            <a:r>
              <a:rPr lang="en-GB" altLang="zh-CN" dirty="0"/>
              <a:t> </a:t>
            </a:r>
            <a:r>
              <a:rPr lang="zh-CN" altLang="en-US" dirty="0"/>
              <a:t>模块名 </a:t>
            </a:r>
            <a:endParaRPr lang="en-US" altLang="zh-C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altLang="zh-CN" dirty="0">
                <a:solidFill>
                  <a:srgbClr val="8959A8"/>
                </a:solidFill>
              </a:rPr>
              <a:t>from</a:t>
            </a:r>
            <a:r>
              <a:rPr lang="en-GB" altLang="zh-CN" dirty="0"/>
              <a:t> </a:t>
            </a:r>
            <a:r>
              <a:rPr lang="zh-CN" altLang="en-US" dirty="0"/>
              <a:t>模块名 </a:t>
            </a:r>
            <a:r>
              <a:rPr lang="en-GB" altLang="zh-CN" dirty="0">
                <a:solidFill>
                  <a:srgbClr val="8959A8"/>
                </a:solidFill>
              </a:rPr>
              <a:t>import</a:t>
            </a:r>
            <a:r>
              <a:rPr lang="en-GB" altLang="zh-CN" dirty="0"/>
              <a:t> </a:t>
            </a:r>
            <a:r>
              <a:rPr lang="zh-CN" altLang="en-US" dirty="0"/>
              <a:t>目标 </a:t>
            </a:r>
            <a:endParaRPr lang="en-US" altLang="zh-C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altLang="zh-CN" dirty="0">
                <a:solidFill>
                  <a:srgbClr val="8959A8"/>
                </a:solidFill>
              </a:rPr>
              <a:t>from</a:t>
            </a:r>
            <a:r>
              <a:rPr lang="en-GB" altLang="zh-CN" dirty="0"/>
              <a:t> </a:t>
            </a:r>
            <a:r>
              <a:rPr lang="zh-CN" altLang="en-US" dirty="0"/>
              <a:t>模块名 </a:t>
            </a:r>
            <a:r>
              <a:rPr lang="en-GB" altLang="zh-CN" dirty="0">
                <a:solidFill>
                  <a:srgbClr val="8959A8"/>
                </a:solidFill>
              </a:rPr>
              <a:t>import</a:t>
            </a:r>
            <a:r>
              <a:rPr lang="en-GB" altLang="zh-CN" dirty="0"/>
              <a:t> * </a:t>
            </a:r>
            <a:endParaRPr lang="en-GB" altLang="zh-CN" dirty="0"/>
          </a:p>
          <a:p>
            <a:endParaRPr lang="en-GB" altLang="zh-CN" dirty="0">
              <a:solidFill>
                <a:srgbClr val="C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C00000"/>
                </a:solidFill>
                <a:latin typeface="Helvetica Neue" panose="02000503000000020004" pitchFamily="2" charset="0"/>
              </a:rPr>
              <a:t>导入包</a:t>
            </a:r>
            <a:endParaRPr lang="zh-CN" altLang="en-US" dirty="0">
              <a:solidFill>
                <a:srgbClr val="C00000"/>
              </a:solidFill>
              <a:latin typeface="Helvetica Neue" panose="02000503000000020004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GB" altLang="zh-CN" dirty="0">
                <a:solidFill>
                  <a:srgbClr val="8959A8"/>
                </a:solidFill>
              </a:rPr>
              <a:t>import</a:t>
            </a:r>
            <a:r>
              <a:rPr lang="en-GB" altLang="zh-CN" dirty="0"/>
              <a:t> </a:t>
            </a:r>
            <a:r>
              <a:rPr lang="zh-CN" altLang="en-US" dirty="0"/>
              <a:t>包名</a:t>
            </a:r>
            <a:r>
              <a:rPr lang="en-US" altLang="zh-CN" dirty="0"/>
              <a:t>.</a:t>
            </a:r>
            <a:r>
              <a:rPr lang="zh-CN" altLang="en-US" dirty="0"/>
              <a:t>模块名 </a:t>
            </a:r>
            <a:endParaRPr lang="en-US" altLang="zh-C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altLang="zh-CN" dirty="0">
                <a:solidFill>
                  <a:srgbClr val="8959A8"/>
                </a:solidFill>
              </a:rPr>
              <a:t>from</a:t>
            </a:r>
            <a:r>
              <a:rPr lang="en-GB" altLang="zh-CN" dirty="0"/>
              <a:t> </a:t>
            </a:r>
            <a:r>
              <a:rPr lang="zh-CN" altLang="en-US" dirty="0"/>
              <a:t>包名 </a:t>
            </a:r>
            <a:r>
              <a:rPr lang="en-GB" altLang="zh-CN" dirty="0">
                <a:solidFill>
                  <a:srgbClr val="8959A8"/>
                </a:solidFill>
              </a:rPr>
              <a:t>import</a:t>
            </a:r>
            <a:r>
              <a:rPr lang="en-GB" altLang="zh-CN" dirty="0"/>
              <a:t> * </a:t>
            </a:r>
            <a:endParaRPr lang="en-GB" altLang="zh-CN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GB" altLang="zh-CN" dirty="0">
                <a:solidFill>
                  <a:srgbClr val="333333"/>
                </a:solidFill>
                <a:latin typeface="Helvetica Neue" panose="02000503000000020004" pitchFamily="2" charset="0"/>
              </a:rPr>
              <a:t>__all__ = [] </a:t>
            </a:r>
            <a:r>
              <a:rPr lang="zh-CN" altLang="en-GB" dirty="0">
                <a:solidFill>
                  <a:srgbClr val="333333"/>
                </a:solidFill>
                <a:latin typeface="Helvetica Neue" panose="02000503000000020004" pitchFamily="2" charset="0"/>
              </a:rPr>
              <a:t>：</a:t>
            </a:r>
            <a:r>
              <a:rPr lang="zh-CN" altLang="en-US" dirty="0">
                <a:solidFill>
                  <a:srgbClr val="333333"/>
                </a:solidFill>
                <a:latin typeface="Helvetica Neue" panose="02000503000000020004" pitchFamily="2" charset="0"/>
              </a:rPr>
              <a:t>允许导入的模块或功能列表</a:t>
            </a:r>
            <a:endParaRPr lang="zh-CN" altLang="en-US" dirty="0">
              <a:solidFill>
                <a:srgbClr val="333333"/>
              </a:solidFill>
              <a:latin typeface="Helvetica Neue" panose="02000503000000020004" pitchFamily="2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jFlMjg2MmYxODM4Yjk5ZDc5MGVmYjg0M2JjYjM0MTg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2457</Words>
  <Application>WPS 演示</Application>
  <PresentationFormat>宽屏</PresentationFormat>
  <Paragraphs>241</Paragraphs>
  <Slides>23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23</vt:i4>
      </vt:variant>
    </vt:vector>
  </HeadingPairs>
  <TitlesOfParts>
    <vt:vector size="49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华文楷体</vt:lpstr>
      <vt:lpstr>Alibaba PuHuiTi</vt:lpstr>
      <vt:lpstr>Alibaba PuHuiTi M</vt:lpstr>
      <vt:lpstr>Segoe UI Light</vt:lpstr>
      <vt:lpstr>微软雅黑 Light</vt:lpstr>
      <vt:lpstr>Arial Unicode MS</vt:lpstr>
      <vt:lpstr>等线</vt:lpstr>
      <vt:lpstr>Helvetica Neue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Python异常模块与包</vt:lpstr>
      <vt:lpstr>PowerPoint 演示文稿</vt:lpstr>
      <vt:lpstr>PowerPoint 演示文稿</vt:lpstr>
      <vt:lpstr>了解并导入模块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自定义模块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武常斌</cp:lastModifiedBy>
  <cp:revision>1058</cp:revision>
  <dcterms:created xsi:type="dcterms:W3CDTF">2020-03-31T02:23:00Z</dcterms:created>
  <dcterms:modified xsi:type="dcterms:W3CDTF">2025-04-21T06:26:13Z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DB117108CC56493BB4EDC9D368675076_12</vt:lpwstr>
  </property>
  <property fmtid="{D5CDD505-2E9C-101B-9397-08002B2CF9AE}" pid="3" name="KSOProductBuildVer">
    <vt:lpwstr>2052-12.1.0.20305</vt:lpwstr>
  </property>
</Properties>
</file>