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74" r:id="rId8"/>
  </p:sldMasterIdLst>
  <p:notesMasterIdLst>
    <p:notesMasterId r:id="rId29"/>
  </p:notesMasterIdLst>
  <p:handoutMasterIdLst>
    <p:handoutMasterId r:id="rId30"/>
  </p:handoutMasterIdLst>
  <p:sldIdLst>
    <p:sldId id="462" r:id="rId9"/>
    <p:sldId id="463" r:id="rId10"/>
    <p:sldId id="464" r:id="rId11"/>
    <p:sldId id="587" r:id="rId12"/>
    <p:sldId id="622" r:id="rId13"/>
    <p:sldId id="652" r:id="rId14"/>
    <p:sldId id="653" r:id="rId15"/>
    <p:sldId id="590" r:id="rId16"/>
    <p:sldId id="654" r:id="rId17"/>
    <p:sldId id="625" r:id="rId18"/>
    <p:sldId id="626" r:id="rId19"/>
    <p:sldId id="627" r:id="rId20"/>
    <p:sldId id="628" r:id="rId21"/>
    <p:sldId id="629" r:id="rId22"/>
    <p:sldId id="630" r:id="rId23"/>
    <p:sldId id="657" r:id="rId24"/>
    <p:sldId id="656" r:id="rId25"/>
    <p:sldId id="632" r:id="rId26"/>
    <p:sldId id="655" r:id="rId27"/>
    <p:sldId id="264" r:id="rId28"/>
  </p:sldIdLst>
  <p:sldSz cx="12192000" cy="6858000"/>
  <p:notesSz cx="6858000" cy="9144000"/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2B26"/>
    <a:srgbClr val="49504F"/>
    <a:srgbClr val="FFFFFF"/>
    <a:srgbClr val="B60206"/>
    <a:srgbClr val="B70006"/>
    <a:srgbClr val="FFFFE4"/>
    <a:srgbClr val="919191"/>
    <a:srgbClr val="333333"/>
    <a:srgbClr val="D9D9D9"/>
    <a:srgbClr val="515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24" autoAdjust="0"/>
    <p:restoredTop sz="92818" autoAdjust="0"/>
  </p:normalViewPr>
  <p:slideViewPr>
    <p:cSldViewPr snapToGrid="0">
      <p:cViewPr varScale="1">
        <p:scale>
          <a:sx n="117" d="100"/>
          <a:sy n="117" d="100"/>
        </p:scale>
        <p:origin x="18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4" Type="http://schemas.openxmlformats.org/officeDocument/2006/relationships/tags" Target="tags/tag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Master" Target="slideMasters/slideMaster2.xml"/><Relationship Id="rId29" Type="http://schemas.openxmlformats.org/officeDocument/2006/relationships/notesMaster" Target="notesMasters/notesMaster1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0" Type="http://schemas.openxmlformats.org/officeDocument/2006/relationships/slide" Target="slides/slide12.xml"/><Relationship Id="rId2" Type="http://schemas.openxmlformats.org/officeDocument/2006/relationships/theme" Target="theme/theme1.xml"/><Relationship Id="rId19" Type="http://schemas.openxmlformats.org/officeDocument/2006/relationships/slide" Target="slides/slide11.xml"/><Relationship Id="rId18" Type="http://schemas.openxmlformats.org/officeDocument/2006/relationships/slide" Target="slides/slide1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7" Type="http://schemas.openxmlformats.org/officeDocument/2006/relationships/theme" Target="../theme/theme6.xml"/><Relationship Id="rId16" Type="http://schemas.openxmlformats.org/officeDocument/2006/relationships/image" Target="../media/image6.png"/><Relationship Id="rId15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  <a:endPara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任意形状 22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人生苦短，我学</a:t>
            </a:r>
            <a:r>
              <a:rPr kumimoji="1" lang="en-US" altLang="zh-CN" dirty="0"/>
              <a:t>Python!</a:t>
            </a:r>
            <a:endParaRPr kumimoji="1"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825500" y="2158365"/>
            <a:ext cx="10541000" cy="1158875"/>
          </a:xfrm>
        </p:spPr>
        <p:txBody>
          <a:bodyPr/>
          <a:p>
            <a:r>
              <a:rPr lang="en-US" altLang="zh-CN" sz="4400" dirty="0">
                <a:solidFill>
                  <a:schemeClr val="accent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P</a:t>
            </a:r>
            <a:r>
              <a:rPr lang="en-US" altLang="zh-CN" sz="4400" dirty="0">
                <a:solidFill>
                  <a:schemeClr val="accent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y</a:t>
            </a:r>
            <a:r>
              <a:rPr lang="en-US" altLang="zh-CN" sz="4400" dirty="0">
                <a:solidFill>
                  <a:schemeClr val="accent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t</a:t>
            </a:r>
            <a:r>
              <a:rPr lang="en-US" altLang="zh-CN" sz="4400" dirty="0">
                <a:solidFill>
                  <a:schemeClr val="accent5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h</a:t>
            </a:r>
            <a:r>
              <a:rPr lang="en-US" altLang="zh-CN" sz="4400" dirty="0">
                <a:solidFill>
                  <a:schemeClr val="accent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o</a:t>
            </a:r>
            <a:r>
              <a:rPr lang="en-US" altLang="zh-CN" sz="4400" dirty="0">
                <a:solidFill>
                  <a:srgbClr val="92D05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n</a:t>
            </a:r>
            <a:r>
              <a:rPr lang="zh-CN" altLang="en-US" sz="44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异常</a:t>
            </a:r>
            <a:endParaRPr lang="zh-CN" altLang="en-US" sz="4400" dirty="0">
              <a:solidFill>
                <a:schemeClr val="tx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971231" y="756218"/>
            <a:ext cx="5973761" cy="4256405"/>
          </a:xfrm>
        </p:spPr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了解异常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异常的捕获方法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异常的传递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799581" y="423612"/>
            <a:ext cx="6654482" cy="485584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了解异常的概念</a:t>
            </a:r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当检测到</a:t>
            </a:r>
            <a:r>
              <a:rPr lang="zh-CN" altLang="en-US" dirty="0">
                <a:solidFill>
                  <a:srgbClr val="AD2B26"/>
                </a:solidFill>
              </a:rPr>
              <a:t>一个错误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时，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解释器就无法继续执行了，反而出现了一些错误的提示，这就是所谓的</a:t>
            </a:r>
            <a:r>
              <a:rPr lang="en-US" altLang="zh-CN" dirty="0">
                <a:solidFill>
                  <a:srgbClr val="AD2B26"/>
                </a:solidFill>
              </a:rPr>
              <a:t>“</a:t>
            </a:r>
            <a:r>
              <a:rPr lang="zh-CN" altLang="en-US" dirty="0">
                <a:solidFill>
                  <a:srgbClr val="AD2B26"/>
                </a:solidFill>
              </a:rPr>
              <a:t>异常</a:t>
            </a:r>
            <a:r>
              <a:rPr lang="en-US" altLang="zh-CN" dirty="0">
                <a:solidFill>
                  <a:srgbClr val="AD2B26"/>
                </a:solidFill>
              </a:rPr>
              <a:t>”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也就是我们常说的</a:t>
            </a:r>
            <a:r>
              <a:rPr lang="en-US" altLang="zh-CN" dirty="0">
                <a:solidFill>
                  <a:srgbClr val="C00000"/>
                </a:solidFill>
              </a:rPr>
              <a:t>BUG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什么是异常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800" y="2460836"/>
            <a:ext cx="9602032" cy="42066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例如：以</a:t>
            </a:r>
            <a:r>
              <a:rPr lang="en-US" altLang="zh-CN" dirty="0">
                <a:solidFill>
                  <a:srgbClr val="AD2B26"/>
                </a:solidFill>
              </a:rPr>
              <a:t>`r`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方式打开一个不存在的文件。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执行结果：</a:t>
            </a:r>
            <a:endParaRPr lang="en-US" altLang="zh-CN" dirty="0">
              <a:solidFill>
                <a:srgbClr val="AD2B26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异常演示</a:t>
            </a:r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710880" y="2191190"/>
            <a:ext cx="10302240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 = open('linux.txt', 'r')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415" y="2909911"/>
            <a:ext cx="7591873" cy="18712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图片 4" descr="01 (150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930" y="5333365"/>
            <a:ext cx="1225550" cy="1225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971231" y="756218"/>
            <a:ext cx="5973761" cy="425640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了解异常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异常的捕获方法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异常的传递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799581" y="423612"/>
            <a:ext cx="6654482" cy="4855845"/>
          </a:xfrm>
        </p:spPr>
        <p:txBody>
          <a:bodyPr/>
          <a:lstStyle/>
          <a:p>
            <a:r>
              <a:rPr lang="zh-CN" altLang="en-US" dirty="0"/>
              <a:t>知道为什么要捕获异常</a:t>
            </a:r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掌握捕获异常的语法格式</a:t>
            </a:r>
            <a:endParaRPr lang="en-US" altLang="zh-CN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21957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当我们的程序遇到了</a:t>
            </a:r>
            <a:r>
              <a:rPr lang="en-US" altLang="zh-CN" dirty="0">
                <a:solidFill>
                  <a:srgbClr val="C00000"/>
                </a:solidFill>
              </a:rPr>
              <a:t>BUG</a:t>
            </a:r>
            <a:r>
              <a:rPr lang="en-US" altLang="zh-CN" dirty="0">
                <a:solidFill>
                  <a:schemeClr val="tx1"/>
                </a:solidFill>
              </a:rPr>
              <a:t>,</a:t>
            </a:r>
            <a:r>
              <a:rPr lang="zh-CN" altLang="en-US" dirty="0">
                <a:solidFill>
                  <a:schemeClr val="tx1"/>
                </a:solidFill>
              </a:rPr>
              <a:t> 那么接下来有两种情况</a:t>
            </a:r>
            <a:r>
              <a:rPr lang="en-US" altLang="zh-CN" dirty="0">
                <a:solidFill>
                  <a:schemeClr val="tx1"/>
                </a:solidFill>
              </a:rPr>
              <a:t>: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       ① 整个程序因为一个</a:t>
            </a:r>
            <a:r>
              <a:rPr lang="en-US" altLang="zh-CN" dirty="0">
                <a:solidFill>
                  <a:srgbClr val="C00000"/>
                </a:solidFill>
              </a:rPr>
              <a:t>BUG</a:t>
            </a:r>
            <a:r>
              <a:rPr lang="zh-CN" altLang="en-US" dirty="0">
                <a:solidFill>
                  <a:srgbClr val="C00000"/>
                </a:solidFill>
              </a:rPr>
              <a:t>停止运行</a:t>
            </a: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       ② 对</a:t>
            </a:r>
            <a:r>
              <a:rPr lang="en-US" altLang="zh-CN" dirty="0">
                <a:solidFill>
                  <a:srgbClr val="C00000"/>
                </a:solidFill>
              </a:rPr>
              <a:t>BUG</a:t>
            </a:r>
            <a:r>
              <a:rPr lang="zh-CN" altLang="en-US" dirty="0">
                <a:solidFill>
                  <a:srgbClr val="C00000"/>
                </a:solidFill>
              </a:rPr>
              <a:t>进行提醒</a:t>
            </a:r>
            <a:r>
              <a:rPr lang="en-US" altLang="zh-CN" dirty="0">
                <a:solidFill>
                  <a:srgbClr val="C00000"/>
                </a:solidFill>
              </a:rPr>
              <a:t>,</a:t>
            </a:r>
            <a:r>
              <a:rPr lang="zh-CN" altLang="en-US" dirty="0">
                <a:solidFill>
                  <a:srgbClr val="C00000"/>
                </a:solidFill>
              </a:rPr>
              <a:t> 整个程序继续运行</a:t>
            </a: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显然在之前的学习中</a:t>
            </a:r>
            <a:r>
              <a:rPr lang="en-US" altLang="zh-CN" dirty="0">
                <a:solidFill>
                  <a:schemeClr val="tx1"/>
                </a:solidFill>
              </a:rPr>
              <a:t>,</a:t>
            </a:r>
            <a:r>
              <a:rPr lang="zh-CN" altLang="en-US" dirty="0">
                <a:solidFill>
                  <a:schemeClr val="tx1"/>
                </a:solidFill>
              </a:rPr>
              <a:t> 我们所有的程序</a:t>
            </a:r>
            <a:r>
              <a:rPr lang="zh-CN" altLang="en-US" dirty="0">
                <a:solidFill>
                  <a:srgbClr val="C00000"/>
                </a:solidFill>
              </a:rPr>
              <a:t>遇到</a:t>
            </a:r>
            <a:r>
              <a:rPr lang="en-US" altLang="zh-CN" dirty="0">
                <a:solidFill>
                  <a:srgbClr val="C00000"/>
                </a:solidFill>
              </a:rPr>
              <a:t>BUG</a:t>
            </a:r>
            <a:r>
              <a:rPr lang="zh-CN" altLang="en-US" dirty="0">
                <a:solidFill>
                  <a:schemeClr val="tx1"/>
                </a:solidFill>
              </a:rPr>
              <a:t>就会出现</a:t>
            </a:r>
            <a:r>
              <a:rPr lang="zh-CN" altLang="en-US" dirty="0">
                <a:solidFill>
                  <a:srgbClr val="C00000"/>
                </a:solidFill>
              </a:rPr>
              <a:t>①的这种情况</a:t>
            </a:r>
            <a:r>
              <a:rPr lang="en-US" altLang="zh-CN" dirty="0">
                <a:solidFill>
                  <a:srgbClr val="C00000"/>
                </a:solidFill>
              </a:rPr>
              <a:t>,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也就是整个程序直接奔溃</a:t>
            </a:r>
            <a:r>
              <a:rPr lang="en-US" altLang="zh-CN" dirty="0">
                <a:solidFill>
                  <a:schemeClr val="tx1"/>
                </a:solidFill>
              </a:rPr>
              <a:t>.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但是在真实工作中</a:t>
            </a:r>
            <a:r>
              <a:rPr lang="en-US" altLang="zh-CN" dirty="0">
                <a:solidFill>
                  <a:schemeClr val="tx1"/>
                </a:solidFill>
              </a:rPr>
              <a:t>,</a:t>
            </a:r>
            <a:r>
              <a:rPr lang="zh-CN" altLang="en-US" dirty="0">
                <a:solidFill>
                  <a:schemeClr val="tx1"/>
                </a:solidFill>
              </a:rPr>
              <a:t> 我们肯定不能因为一个小的</a:t>
            </a:r>
            <a:r>
              <a:rPr lang="en-US" altLang="zh-CN" dirty="0">
                <a:solidFill>
                  <a:schemeClr val="tx1"/>
                </a:solidFill>
              </a:rPr>
              <a:t>BUG</a:t>
            </a:r>
            <a:r>
              <a:rPr lang="zh-CN" altLang="en-US" dirty="0">
                <a:solidFill>
                  <a:schemeClr val="tx1"/>
                </a:solidFill>
              </a:rPr>
              <a:t>就让整个程序全部奔溃</a:t>
            </a:r>
            <a:r>
              <a:rPr lang="en-US" altLang="zh-CN" dirty="0">
                <a:solidFill>
                  <a:schemeClr val="tx1"/>
                </a:solidFill>
              </a:rPr>
              <a:t>,</a:t>
            </a:r>
            <a:r>
              <a:rPr lang="zh-CN" altLang="en-US" dirty="0">
                <a:solidFill>
                  <a:schemeClr val="tx1"/>
                </a:solidFill>
              </a:rPr>
              <a:t> 也就是我们希望的是达到</a:t>
            </a:r>
            <a:r>
              <a:rPr lang="zh-CN" altLang="en-US" dirty="0">
                <a:solidFill>
                  <a:srgbClr val="C00000"/>
                </a:solidFill>
              </a:rPr>
              <a:t>② 的这种情况</a:t>
            </a: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那这里我们就需要使用到</a:t>
            </a:r>
            <a:r>
              <a:rPr lang="zh-CN" altLang="en-US" b="1" dirty="0">
                <a:solidFill>
                  <a:srgbClr val="C00000"/>
                </a:solidFill>
              </a:rPr>
              <a:t>捕获异常</a:t>
            </a:r>
            <a:endParaRPr lang="zh-CN" altLang="en-US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为什么需要捕获异常</a:t>
            </a:r>
            <a:endParaRPr lang="zh-CN" altLang="en-US" dirty="0"/>
          </a:p>
        </p:txBody>
      </p:sp>
      <p:pic>
        <p:nvPicPr>
          <p:cNvPr id="5" name="图片 4" descr="01 (150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23930" y="5333365"/>
            <a:ext cx="1225550" cy="1225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基本语法：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快速入门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需求：尝试以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`r`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模式打开文件，如果文件不存在，则以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`w`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方式打开。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捕获常规异常</a:t>
            </a:r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820970" y="2191190"/>
            <a:ext cx="10302240" cy="95410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try: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可能发生错误的代码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except: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如果出现异常执行的代码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TextBox 3"/>
          <p:cNvSpPr txBox="1"/>
          <p:nvPr/>
        </p:nvSpPr>
        <p:spPr>
          <a:xfrm>
            <a:off x="820970" y="4689359"/>
            <a:ext cx="10302240" cy="95410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try: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f = open('linux.txt', 'r')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except: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f = open('linux.txt', 'w')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3" name="图片 2" descr="01 (13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0842625" y="5449570"/>
            <a:ext cx="1349375" cy="13493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基本语法：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捕获指定异常</a:t>
            </a:r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820970" y="2191190"/>
            <a:ext cx="10302240" cy="95410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try: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print(name)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except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NameError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print('name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变量名称未定义错误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三角形 9"/>
          <p:cNvSpPr/>
          <p:nvPr/>
        </p:nvSpPr>
        <p:spPr>
          <a:xfrm rot="2651319">
            <a:off x="717495" y="3972988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TextBox 6"/>
          <p:cNvSpPr txBox="1"/>
          <p:nvPr/>
        </p:nvSpPr>
        <p:spPr>
          <a:xfrm>
            <a:off x="1085446" y="4004454"/>
            <a:ext cx="9773285" cy="70410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① 如果尝试执行的代码的异常类型和要捕获的异常类型不一致，则无法捕获异常。</a:t>
            </a:r>
            <a:endParaRPr lang="en-US" altLang="zh-CN" sz="1400" dirty="0">
              <a:solidFill>
                <a:srgbClr val="AD2B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② 一般</a:t>
            </a:r>
            <a:r>
              <a:rPr lang="en-US" altLang="zh-CN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try</a:t>
            </a: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下方只放一行尝试执行的代码。</a:t>
            </a:r>
            <a:endParaRPr lang="en-US" altLang="zh-CN" sz="1400" dirty="0">
              <a:solidFill>
                <a:srgbClr val="2626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20969" y="3587888"/>
            <a:ext cx="10302240" cy="1272870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10881" y="3688875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注意事项</a:t>
            </a:r>
            <a:endParaRPr kumimoji="1" lang="zh-CN" altLang="en-US" sz="140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pic>
        <p:nvPicPr>
          <p:cNvPr id="3" name="图片 2" descr="01 (13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0729595" y="5449570"/>
            <a:ext cx="1349375" cy="13493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当捕获多个异常时，可以把要捕获的异常类型的名字，放到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except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后，并使用元组的方式进行书写。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执行结果：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捕获多个异常</a:t>
            </a:r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820970" y="2191190"/>
            <a:ext cx="10302240" cy="95410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try: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print(1/0)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except (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NameError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ZeroDivisionError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):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print('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ZeroDivision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错误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...')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969" y="3940683"/>
            <a:ext cx="10302241" cy="1998104"/>
          </a:xfrm>
          <a:prstGeom prst="rect">
            <a:avLst/>
          </a:prstGeom>
        </p:spPr>
      </p:pic>
      <p:pic>
        <p:nvPicPr>
          <p:cNvPr id="3" name="图片 2" descr="01 (13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0729595" y="5449570"/>
            <a:ext cx="1349375" cy="13493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基本语法：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执行结果：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捕获异常并输出描述信息</a:t>
            </a:r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820970" y="2191190"/>
            <a:ext cx="10302240" cy="95410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pt-BR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try:</a:t>
            </a:r>
            <a:endParaRPr lang="pt-BR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pt-BR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print(num)</a:t>
            </a:r>
            <a:endParaRPr lang="pt-BR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pt-BR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except (NameError, ZeroDivisionError) as e:</a:t>
            </a:r>
            <a:endParaRPr lang="pt-BR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pt-BR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print(e)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450" y="3808212"/>
            <a:ext cx="10289035" cy="1658937"/>
          </a:xfrm>
          <a:prstGeom prst="rect">
            <a:avLst/>
          </a:prstGeom>
        </p:spPr>
      </p:pic>
      <p:pic>
        <p:nvPicPr>
          <p:cNvPr id="3" name="图片 2" descr="01 (13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0729595" y="5449570"/>
            <a:ext cx="1349375" cy="13493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基本语法：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执行结果：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捕获所有异常</a:t>
            </a:r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820970" y="2191190"/>
            <a:ext cx="10302240" cy="95410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try: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print(name)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except Exception as e: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print(e)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970" y="3823453"/>
            <a:ext cx="10303089" cy="17784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else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表示的是如果没有异常要执行的代码。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执行结果：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异常</a:t>
            </a:r>
            <a:r>
              <a:rPr lang="en-US" altLang="zh-CN" dirty="0"/>
              <a:t>else</a:t>
            </a:r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820970" y="2191190"/>
            <a:ext cx="10302240" cy="138499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try: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print(1)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except Exception as e: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print(e)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else: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我是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else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，是没有异常的时候执行的代码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970" y="4252699"/>
            <a:ext cx="10017076" cy="1616489"/>
          </a:xfrm>
          <a:prstGeom prst="rect">
            <a:avLst/>
          </a:prstGeom>
        </p:spPr>
      </p:pic>
      <p:pic>
        <p:nvPicPr>
          <p:cNvPr id="3" name="图片 2" descr="01 (13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0729595" y="5449570"/>
            <a:ext cx="1349375" cy="13493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finally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表示的是无论是否异常都要执行的代码，例如关闭文件。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异常的</a:t>
            </a:r>
            <a:r>
              <a:rPr lang="en-US" altLang="zh-CN" dirty="0"/>
              <a:t>finally</a:t>
            </a:r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820970" y="2191190"/>
            <a:ext cx="10302240" cy="181588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try: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f = open('test.txt', 'r')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except Exception as e: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f = open('test.txt', 'w')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else: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没有异常，真开心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finally: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f.close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3" name="图片 2" descr="01 (13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0729595" y="5449570"/>
            <a:ext cx="1349375" cy="13493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971231" y="756218"/>
            <a:ext cx="5973761" cy="425640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了解异常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异常的捕获方法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异常的传递</a:t>
            </a: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799581" y="423612"/>
            <a:ext cx="6654482" cy="4855845"/>
          </a:xfrm>
        </p:spPr>
        <p:txBody>
          <a:bodyPr/>
          <a:lstStyle/>
          <a:p>
            <a:r>
              <a:rPr lang="zh-CN" altLang="en-US" dirty="0"/>
              <a:t>知道异常具有传递性</a:t>
            </a:r>
            <a:endParaRPr lang="en-US" altLang="zh-CN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6946" y="940081"/>
            <a:ext cx="3675340" cy="554922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457271"/>
            <a:ext cx="10749598" cy="421957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异常是具有传递性的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当</a:t>
            </a:r>
            <a:r>
              <a:rPr lang="zh-CN" altLang="en-US" dirty="0">
                <a:solidFill>
                  <a:srgbClr val="C00000"/>
                </a:solidFill>
              </a:rPr>
              <a:t>函数</a:t>
            </a:r>
            <a:r>
              <a:rPr lang="en-US" altLang="zh-CN" dirty="0">
                <a:solidFill>
                  <a:srgbClr val="C00000"/>
                </a:solidFill>
              </a:rPr>
              <a:t>func01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中发生异常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并且没有捕获处理这个异常的时候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异常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会传递到</a:t>
            </a:r>
            <a:r>
              <a:rPr lang="zh-CN" altLang="en-US" dirty="0">
                <a:solidFill>
                  <a:srgbClr val="C00000"/>
                </a:solidFill>
              </a:rPr>
              <a:t>函数</a:t>
            </a:r>
            <a:r>
              <a:rPr lang="en-US" altLang="zh-CN" dirty="0">
                <a:solidFill>
                  <a:srgbClr val="C00000"/>
                </a:solidFill>
              </a:rPr>
              <a:t>func02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当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func02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也没有捕获处理这个异常的时候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C00000"/>
                </a:solidFill>
              </a:rPr>
              <a:t>main</a:t>
            </a:r>
            <a:r>
              <a:rPr lang="zh-CN" altLang="en-US" dirty="0">
                <a:solidFill>
                  <a:srgbClr val="C00000"/>
                </a:solidFill>
              </a:rPr>
              <a:t>函数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会捕获这个异常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这就是</a:t>
            </a:r>
            <a:r>
              <a:rPr lang="zh-CN" altLang="en-US" dirty="0">
                <a:solidFill>
                  <a:srgbClr val="C00000"/>
                </a:solidFill>
              </a:rPr>
              <a:t>异常的传递性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提示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    当所有函数都没有捕获异常的时候</a:t>
            </a:r>
            <a:r>
              <a:rPr lang="en-US" altLang="zh-CN" dirty="0">
                <a:solidFill>
                  <a:srgbClr val="C00000"/>
                </a:solidFill>
              </a:rPr>
              <a:t>,</a:t>
            </a:r>
            <a:r>
              <a:rPr lang="zh-CN" altLang="en-US" dirty="0">
                <a:solidFill>
                  <a:srgbClr val="C00000"/>
                </a:solidFill>
              </a:rPr>
              <a:t> 程序就会报错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异常的传递</a:t>
            </a:r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117" y="1587901"/>
            <a:ext cx="2815368" cy="425079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异常的传递</a:t>
            </a:r>
            <a:endParaRPr lang="zh-CN" altLang="en-US" dirty="0"/>
          </a:p>
        </p:txBody>
      </p:sp>
      <p:cxnSp>
        <p:nvCxnSpPr>
          <p:cNvPr id="6" name="直线箭头连接符 5"/>
          <p:cNvCxnSpPr/>
          <p:nvPr/>
        </p:nvCxnSpPr>
        <p:spPr>
          <a:xfrm flipH="1">
            <a:off x="1426029" y="5519057"/>
            <a:ext cx="36793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5105400" y="5103558"/>
            <a:ext cx="68788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利用异常具有</a:t>
            </a:r>
            <a:r>
              <a:rPr lang="zh-CN" altLang="en-US" sz="16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传递性的特点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,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当我们想要保证程序不会因为异常崩溃的时候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,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就可以在</a:t>
            </a:r>
            <a:r>
              <a:rPr lang="zh-CN" altLang="en-US" sz="16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主函数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中设置异常捕获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,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由于无论在整个程序哪里发生异常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,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最终都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会传递到</a:t>
            </a:r>
            <a:r>
              <a:rPr lang="zh-CN" altLang="en-US" sz="16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主函数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中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,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这样就可以确保</a:t>
            </a:r>
            <a:r>
              <a:rPr lang="zh-CN" altLang="en-US" sz="16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所有的异常都会被捕获</a:t>
            </a:r>
            <a:endParaRPr lang="zh-CN" altLang="en-US" sz="1600" dirty="0">
              <a:solidFill>
                <a:srgbClr val="C0000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jFlMjg2MmYxODM4Yjk5ZDc5MGVmYjg0M2JjYjM0MTg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1572</Words>
  <Application>WPS 演示</Application>
  <PresentationFormat>宽屏</PresentationFormat>
  <Paragraphs>182</Paragraphs>
  <Slides>20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20</vt:i4>
      </vt:variant>
    </vt:vector>
  </HeadingPairs>
  <TitlesOfParts>
    <vt:vector size="45" baseType="lpstr">
      <vt:lpstr>Arial</vt:lpstr>
      <vt:lpstr>宋体</vt:lpstr>
      <vt:lpstr>Wingdings</vt:lpstr>
      <vt:lpstr>Calibri</vt:lpstr>
      <vt:lpstr>黑体</vt:lpstr>
      <vt:lpstr>Alibaba PuHuiTi B</vt:lpstr>
      <vt:lpstr>Alibaba PuHuiTi R</vt:lpstr>
      <vt:lpstr>Segoe UI</vt:lpstr>
      <vt:lpstr>微软雅黑</vt:lpstr>
      <vt:lpstr>Verdana</vt:lpstr>
      <vt:lpstr>阿里巴巴普惠体</vt:lpstr>
      <vt:lpstr>华文楷体</vt:lpstr>
      <vt:lpstr>Alibaba PuHuiTi</vt:lpstr>
      <vt:lpstr>Alibaba PuHuiTi M</vt:lpstr>
      <vt:lpstr>Segoe UI Light</vt:lpstr>
      <vt:lpstr>微软雅黑 Light</vt:lpstr>
      <vt:lpstr>Arial Unicode MS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Python异常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武常斌</cp:lastModifiedBy>
  <cp:revision>1059</cp:revision>
  <dcterms:created xsi:type="dcterms:W3CDTF">2020-03-31T02:23:00Z</dcterms:created>
  <dcterms:modified xsi:type="dcterms:W3CDTF">2025-04-21T08:59:08Z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DB117108CC56493BB4EDC9D368675076_12</vt:lpwstr>
  </property>
  <property fmtid="{D5CDD505-2E9C-101B-9397-08002B2CF9AE}" pid="3" name="KSOProductBuildVer">
    <vt:lpwstr>2052-12.1.0.20305</vt:lpwstr>
  </property>
</Properties>
</file>