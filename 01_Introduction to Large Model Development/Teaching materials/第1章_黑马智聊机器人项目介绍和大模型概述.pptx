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1" r:id="rId3"/>
    <p:sldMasterId id="2147483660" r:id="rId4"/>
    <p:sldMasterId id="2147483663" r:id="rId5"/>
    <p:sldMasterId id="2147483665" r:id="rId6"/>
    <p:sldMasterId id="2147483668" r:id="rId7"/>
    <p:sldMasterId id="2147483687" r:id="rId8"/>
    <p:sldMasterId id="2147483689" r:id="rId9"/>
    <p:sldMasterId id="2147483692" r:id="rId10"/>
    <p:sldMasterId id="2147483695" r:id="rId11"/>
    <p:sldMasterId id="2147483698" r:id="rId12"/>
    <p:sldMasterId id="2147483701" r:id="rId13"/>
    <p:sldMasterId id="2147483704" r:id="rId14"/>
    <p:sldMasterId id="2147483707" r:id="rId15"/>
    <p:sldMasterId id="2147483710" r:id="rId16"/>
    <p:sldMasterId id="2147483729" r:id="rId17"/>
    <p:sldMasterId id="2147483732" r:id="rId18"/>
    <p:sldMasterId id="2147483735" r:id="rId19"/>
    <p:sldMasterId id="2147483738" r:id="rId20"/>
    <p:sldMasterId id="2147483757" r:id="rId21"/>
    <p:sldMasterId id="2147483760" r:id="rId22"/>
    <p:sldMasterId id="2147483763" r:id="rId23"/>
    <p:sldMasterId id="2147483766" r:id="rId24"/>
    <p:sldMasterId id="2147483769" r:id="rId25"/>
    <p:sldMasterId id="2147483772" r:id="rId26"/>
    <p:sldMasterId id="2147483791" r:id="rId27"/>
    <p:sldMasterId id="2147483794" r:id="rId28"/>
    <p:sldMasterId id="2147483797" r:id="rId29"/>
    <p:sldMasterId id="2147483800" r:id="rId30"/>
    <p:sldMasterId id="2147483803" r:id="rId31"/>
    <p:sldMasterId id="2147483806" r:id="rId32"/>
    <p:sldMasterId id="2147483809" r:id="rId33"/>
    <p:sldMasterId id="2147483812" r:id="rId34"/>
  </p:sldMasterIdLst>
  <p:notesMasterIdLst>
    <p:notesMasterId r:id="rId36"/>
  </p:notesMasterIdLst>
  <p:handoutMasterIdLst>
    <p:handoutMasterId r:id="rId82"/>
  </p:handoutMasterIdLst>
  <p:sldIdLst>
    <p:sldId id="462" r:id="rId35"/>
    <p:sldId id="1573" r:id="rId37"/>
    <p:sldId id="1611" r:id="rId38"/>
    <p:sldId id="1577" r:id="rId39"/>
    <p:sldId id="1174" r:id="rId40"/>
    <p:sldId id="1575" r:id="rId41"/>
    <p:sldId id="1574" r:id="rId42"/>
    <p:sldId id="1576" r:id="rId43"/>
    <p:sldId id="1175" r:id="rId44"/>
    <p:sldId id="1173" r:id="rId45"/>
    <p:sldId id="1612" r:id="rId46"/>
    <p:sldId id="1588" r:id="rId47"/>
    <p:sldId id="1579" r:id="rId48"/>
    <p:sldId id="1580" r:id="rId49"/>
    <p:sldId id="814" r:id="rId50"/>
    <p:sldId id="1583" r:id="rId51"/>
    <p:sldId id="1584" r:id="rId52"/>
    <p:sldId id="1586" r:id="rId53"/>
    <p:sldId id="1585" r:id="rId54"/>
    <p:sldId id="1587" r:id="rId55"/>
    <p:sldId id="1589" r:id="rId56"/>
    <p:sldId id="1614" r:id="rId57"/>
    <p:sldId id="868" r:id="rId58"/>
    <p:sldId id="869" r:id="rId59"/>
    <p:sldId id="1590" r:id="rId60"/>
    <p:sldId id="493" r:id="rId61"/>
    <p:sldId id="1613" r:id="rId62"/>
    <p:sldId id="1315" r:id="rId63"/>
    <p:sldId id="1591" r:id="rId64"/>
    <p:sldId id="1592" r:id="rId65"/>
    <p:sldId id="1593" r:id="rId66"/>
    <p:sldId id="1594" r:id="rId67"/>
    <p:sldId id="1595" r:id="rId68"/>
    <p:sldId id="1596" r:id="rId69"/>
    <p:sldId id="1615" r:id="rId70"/>
    <p:sldId id="1597" r:id="rId71"/>
    <p:sldId id="1598" r:id="rId72"/>
    <p:sldId id="1599" r:id="rId73"/>
    <p:sldId id="1600" r:id="rId74"/>
    <p:sldId id="1601" r:id="rId75"/>
    <p:sldId id="1602" r:id="rId76"/>
    <p:sldId id="1603" r:id="rId77"/>
    <p:sldId id="1604" r:id="rId78"/>
    <p:sldId id="1605" r:id="rId79"/>
    <p:sldId id="1606" r:id="rId80"/>
    <p:sldId id="264" r:id="rId81"/>
  </p:sldIdLst>
  <p:sldSz cx="12192000" cy="6858000"/>
  <p:notesSz cx="6858000" cy="9144000"/>
  <p:embeddedFontLst>
    <p:embeddedFont>
      <p:font typeface="Calibri" panose="020F0502020204030204" pitchFamily="34" charset="0"/>
      <p:regular r:id="rId86"/>
      <p:bold r:id="rId87"/>
      <p:italic r:id="rId88"/>
      <p:boldItalic r:id="rId89"/>
    </p:embeddedFont>
    <p:embeddedFont>
      <p:font typeface="黑体" panose="02010609060101010101" pitchFamily="49" charset="-122"/>
      <p:regular r:id="rId90"/>
    </p:embeddedFont>
    <p:embeddedFont>
      <p:font typeface="Verdana" panose="020B0604030504040204" pitchFamily="34" charset="0"/>
      <p:regular r:id="rId91"/>
      <p:bold r:id="rId92"/>
      <p:italic r:id="rId93"/>
      <p:boldItalic r:id="rId94"/>
    </p:embeddedFont>
    <p:embeddedFont>
      <p:font typeface="华文楷体" panose="02010600040101010101" pitchFamily="2" charset="-122"/>
      <p:regular r:id="rId95"/>
    </p:embeddedFont>
    <p:embeddedFont>
      <p:font typeface="纤黑体" panose="02000000000000000000" charset="-122"/>
      <p:regular r:id="rId96"/>
    </p:embeddedFont>
    <p:embeddedFont>
      <p:font typeface="等线" panose="02010600030101010101" charset="-122"/>
      <p:regular r:id="rId97"/>
    </p:embeddedFont>
  </p:embeddedFontLst>
  <p:custDataLst>
    <p:tags r:id="rId9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48"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D2A26"/>
    <a:srgbClr val="AD2B26"/>
    <a:srgbClr val="49504F"/>
    <a:srgbClr val="B60206"/>
    <a:srgbClr val="B70006"/>
    <a:srgbClr val="FFFFE4"/>
    <a:srgbClr val="919191"/>
    <a:srgbClr val="333333"/>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843" autoAdjust="0"/>
    <p:restoredTop sz="95344" autoAdjust="0"/>
  </p:normalViewPr>
  <p:slideViewPr>
    <p:cSldViewPr snapToGrid="0" showGuides="1">
      <p:cViewPr varScale="1">
        <p:scale>
          <a:sx n="93" d="100"/>
          <a:sy n="93" d="100"/>
        </p:scale>
        <p:origin x="216" y="520"/>
      </p:cViewPr>
      <p:guideLst>
        <p:guide orient="horz" pos="648"/>
        <p:guide pos="3817"/>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gs" Target="tags/tag5.xml"/><Relationship Id="rId97" Type="http://schemas.openxmlformats.org/officeDocument/2006/relationships/font" Target="fonts/font12.fntdata"/><Relationship Id="rId96" Type="http://schemas.openxmlformats.org/officeDocument/2006/relationships/font" Target="fonts/font11.fntdata"/><Relationship Id="rId95" Type="http://schemas.openxmlformats.org/officeDocument/2006/relationships/font" Target="fonts/font10.fntdata"/><Relationship Id="rId94" Type="http://schemas.openxmlformats.org/officeDocument/2006/relationships/font" Target="fonts/font9.fntdata"/><Relationship Id="rId93" Type="http://schemas.openxmlformats.org/officeDocument/2006/relationships/font" Target="fonts/font8.fntdata"/><Relationship Id="rId92" Type="http://schemas.openxmlformats.org/officeDocument/2006/relationships/font" Target="fonts/font7.fntdata"/><Relationship Id="rId91" Type="http://schemas.openxmlformats.org/officeDocument/2006/relationships/font" Target="fonts/font6.fntdata"/><Relationship Id="rId90" Type="http://schemas.openxmlformats.org/officeDocument/2006/relationships/font" Target="fonts/font5.fntdata"/><Relationship Id="rId9" Type="http://schemas.openxmlformats.org/officeDocument/2006/relationships/slideMaster" Target="slideMasters/slideMaster8.xml"/><Relationship Id="rId89" Type="http://schemas.openxmlformats.org/officeDocument/2006/relationships/font" Target="fonts/font4.fntdata"/><Relationship Id="rId88" Type="http://schemas.openxmlformats.org/officeDocument/2006/relationships/font" Target="fonts/font3.fntdata"/><Relationship Id="rId87" Type="http://schemas.openxmlformats.org/officeDocument/2006/relationships/font" Target="fonts/font2.fntdata"/><Relationship Id="rId86" Type="http://schemas.openxmlformats.org/officeDocument/2006/relationships/font" Target="fonts/font1.fntdata"/><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handoutMaster" Target="handoutMasters/handoutMaster1.xml"/><Relationship Id="rId81" Type="http://schemas.openxmlformats.org/officeDocument/2006/relationships/slide" Target="slides/slide46.xml"/><Relationship Id="rId80" Type="http://schemas.openxmlformats.org/officeDocument/2006/relationships/slide" Target="slides/slide45.xml"/><Relationship Id="rId8" Type="http://schemas.openxmlformats.org/officeDocument/2006/relationships/slideMaster" Target="slideMasters/slideMaster7.xml"/><Relationship Id="rId79" Type="http://schemas.openxmlformats.org/officeDocument/2006/relationships/slide" Target="slides/slide44.xml"/><Relationship Id="rId78" Type="http://schemas.openxmlformats.org/officeDocument/2006/relationships/slide" Target="slides/slide43.xml"/><Relationship Id="rId77" Type="http://schemas.openxmlformats.org/officeDocument/2006/relationships/slide" Target="slides/slide42.xml"/><Relationship Id="rId76" Type="http://schemas.openxmlformats.org/officeDocument/2006/relationships/slide" Target="slides/slide41.xml"/><Relationship Id="rId75" Type="http://schemas.openxmlformats.org/officeDocument/2006/relationships/slide" Target="slides/slide40.xml"/><Relationship Id="rId74" Type="http://schemas.openxmlformats.org/officeDocument/2006/relationships/slide" Target="slides/slide39.xml"/><Relationship Id="rId73" Type="http://schemas.openxmlformats.org/officeDocument/2006/relationships/slide" Target="slides/slide38.xml"/><Relationship Id="rId72" Type="http://schemas.openxmlformats.org/officeDocument/2006/relationships/slide" Target="slides/slide37.xml"/><Relationship Id="rId71" Type="http://schemas.openxmlformats.org/officeDocument/2006/relationships/slide" Target="slides/slide36.xml"/><Relationship Id="rId70" Type="http://schemas.openxmlformats.org/officeDocument/2006/relationships/slide" Target="slides/slide35.xml"/><Relationship Id="rId7" Type="http://schemas.openxmlformats.org/officeDocument/2006/relationships/slideMaster" Target="slideMasters/slideMaster6.xml"/><Relationship Id="rId69" Type="http://schemas.openxmlformats.org/officeDocument/2006/relationships/slide" Target="slides/slide34.xml"/><Relationship Id="rId68" Type="http://schemas.openxmlformats.org/officeDocument/2006/relationships/slide" Target="slides/slide33.xml"/><Relationship Id="rId67" Type="http://schemas.openxmlformats.org/officeDocument/2006/relationships/slide" Target="slides/slide32.xml"/><Relationship Id="rId66" Type="http://schemas.openxmlformats.org/officeDocument/2006/relationships/slide" Target="slides/slide31.xml"/><Relationship Id="rId65" Type="http://schemas.openxmlformats.org/officeDocument/2006/relationships/slide" Target="slides/slide30.xml"/><Relationship Id="rId64" Type="http://schemas.openxmlformats.org/officeDocument/2006/relationships/slide" Target="slides/slide29.xml"/><Relationship Id="rId63" Type="http://schemas.openxmlformats.org/officeDocument/2006/relationships/slide" Target="slides/slide28.xml"/><Relationship Id="rId62" Type="http://schemas.openxmlformats.org/officeDocument/2006/relationships/slide" Target="slides/slide27.xml"/><Relationship Id="rId61" Type="http://schemas.openxmlformats.org/officeDocument/2006/relationships/slide" Target="slides/slide26.xml"/><Relationship Id="rId60" Type="http://schemas.openxmlformats.org/officeDocument/2006/relationships/slide" Target="slides/slide25.xml"/><Relationship Id="rId6" Type="http://schemas.openxmlformats.org/officeDocument/2006/relationships/slideMaster" Target="slideMasters/slideMaster5.xml"/><Relationship Id="rId59" Type="http://schemas.openxmlformats.org/officeDocument/2006/relationships/slide" Target="slides/slide24.xml"/><Relationship Id="rId58" Type="http://schemas.openxmlformats.org/officeDocument/2006/relationships/slide" Target="slides/slide23.xml"/><Relationship Id="rId57" Type="http://schemas.openxmlformats.org/officeDocument/2006/relationships/slide" Target="slides/slide22.xml"/><Relationship Id="rId56" Type="http://schemas.openxmlformats.org/officeDocument/2006/relationships/slide" Target="slides/slide21.xml"/><Relationship Id="rId55" Type="http://schemas.openxmlformats.org/officeDocument/2006/relationships/slide" Target="slides/slide20.xml"/><Relationship Id="rId54" Type="http://schemas.openxmlformats.org/officeDocument/2006/relationships/slide" Target="slides/slide19.xml"/><Relationship Id="rId53" Type="http://schemas.openxmlformats.org/officeDocument/2006/relationships/slide" Target="slides/slide18.xml"/><Relationship Id="rId52" Type="http://schemas.openxmlformats.org/officeDocument/2006/relationships/slide" Target="slides/slide17.xml"/><Relationship Id="rId51" Type="http://schemas.openxmlformats.org/officeDocument/2006/relationships/slide" Target="slides/slide16.xml"/><Relationship Id="rId50" Type="http://schemas.openxmlformats.org/officeDocument/2006/relationships/slide" Target="slides/slide15.xml"/><Relationship Id="rId5" Type="http://schemas.openxmlformats.org/officeDocument/2006/relationships/slideMaster" Target="slideMasters/slideMaster4.xml"/><Relationship Id="rId49" Type="http://schemas.openxmlformats.org/officeDocument/2006/relationships/slide" Target="slides/slide14.xml"/><Relationship Id="rId48" Type="http://schemas.openxmlformats.org/officeDocument/2006/relationships/slide" Target="slides/slide13.xml"/><Relationship Id="rId47" Type="http://schemas.openxmlformats.org/officeDocument/2006/relationships/slide" Target="slides/slide12.xml"/><Relationship Id="rId46" Type="http://schemas.openxmlformats.org/officeDocument/2006/relationships/slide" Target="slides/slide11.xml"/><Relationship Id="rId45" Type="http://schemas.openxmlformats.org/officeDocument/2006/relationships/slide" Target="slides/slide10.xml"/><Relationship Id="rId44" Type="http://schemas.openxmlformats.org/officeDocument/2006/relationships/slide" Target="slides/slide9.xml"/><Relationship Id="rId43" Type="http://schemas.openxmlformats.org/officeDocument/2006/relationships/slide" Target="slides/slide8.xml"/><Relationship Id="rId42" Type="http://schemas.openxmlformats.org/officeDocument/2006/relationships/slide" Target="slides/slide7.xml"/><Relationship Id="rId41" Type="http://schemas.openxmlformats.org/officeDocument/2006/relationships/slide" Target="slides/slide6.xml"/><Relationship Id="rId40" Type="http://schemas.openxmlformats.org/officeDocument/2006/relationships/slide" Target="slides/slide5.xml"/><Relationship Id="rId4" Type="http://schemas.openxmlformats.org/officeDocument/2006/relationships/slideMaster" Target="slideMasters/slideMaster3.xml"/><Relationship Id="rId39" Type="http://schemas.openxmlformats.org/officeDocument/2006/relationships/slide" Target="slides/slide4.xml"/><Relationship Id="rId38" Type="http://schemas.openxmlformats.org/officeDocument/2006/relationships/slide" Target="slides/slide3.xml"/><Relationship Id="rId37" Type="http://schemas.openxmlformats.org/officeDocument/2006/relationships/slide" Target="slides/slide2.xml"/><Relationship Id="rId36" Type="http://schemas.openxmlformats.org/officeDocument/2006/relationships/notesMaster" Target="notesMasters/notesMaster1.xml"/><Relationship Id="rId35" Type="http://schemas.openxmlformats.org/officeDocument/2006/relationships/slide" Target="slides/slide1.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5.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9.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9.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9.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9.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5.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5.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5.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5.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互动</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拓展</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互动</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拓展</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互动</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拓展</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互动</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拓展</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5" Type="http://schemas.openxmlformats.org/officeDocument/2006/relationships/theme" Target="../theme/theme3.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0" Type="http://schemas.openxmlformats.org/officeDocument/2006/relationships/theme" Target="../theme/theme6.xml"/><Relationship Id="rId2" Type="http://schemas.openxmlformats.org/officeDocument/2006/relationships/slideLayout" Target="../slideLayouts/slideLayout17.xml"/><Relationship Id="rId19" Type="http://schemas.openxmlformats.org/officeDocument/2006/relationships/image" Target="../media/image6.png"/><Relationship Id="rId18" Type="http://schemas.openxmlformats.org/officeDocument/2006/relationships/slideLayout" Target="../slideLayouts/slideLayout33.xml"/><Relationship Id="rId17" Type="http://schemas.openxmlformats.org/officeDocument/2006/relationships/slideLayout" Target="../slideLayouts/slideLayout32.xml"/><Relationship Id="rId16" Type="http://schemas.openxmlformats.org/officeDocument/2006/relationships/slideLayout" Target="../slideLayouts/slideLayout31.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7.png"/><Relationship Id="rId1" Type="http://schemas.openxmlformats.org/officeDocument/2006/relationships/slideLayout" Target="../slideLayouts/slideLayout34.xml"/></Relationships>
</file>

<file path=ppt/slideMasters/_rels/slideMaster8.xml.rels><?xml version="1.0" encoding="UTF-8" standalone="yes"?>
<Relationships xmlns="http://schemas.openxmlformats.org/package/2006/relationships"><Relationship Id="rId5" Type="http://schemas.openxmlformats.org/officeDocument/2006/relationships/theme" Target="../theme/theme8.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_rels/slideMaster9.xml.rels><?xml version="1.0" encoding="UTF-8" standalone="yes"?>
<Relationships xmlns="http://schemas.openxmlformats.org/package/2006/relationships"><Relationship Id="rId5" Type="http://schemas.openxmlformats.org/officeDocument/2006/relationships/theme" Target="../theme/theme9.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38.xml"/><Relationship Id="rId1" Type="http://schemas.openxmlformats.org/officeDocument/2006/relationships/slideLayout" Target="../slideLayouts/slideLayout37.xml"/></Relationships>
</file>

<file path=ppt/slideMasters/_rels/slideMaster10.xml.rels><?xml version="1.0" encoding="UTF-8" standalone="yes"?>
<Relationships xmlns="http://schemas.openxmlformats.org/package/2006/relationships"><Relationship Id="rId5" Type="http://schemas.openxmlformats.org/officeDocument/2006/relationships/theme" Target="../theme/theme10.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40.xml"/><Relationship Id="rId1" Type="http://schemas.openxmlformats.org/officeDocument/2006/relationships/slideLayout" Target="../slideLayouts/slideLayout39.xml"/></Relationships>
</file>

<file path=ppt/slideMasters/_rels/slideMaster11.xml.rels><?xml version="1.0" encoding="UTF-8" standalone="yes"?>
<Relationships xmlns="http://schemas.openxmlformats.org/package/2006/relationships"><Relationship Id="rId5" Type="http://schemas.openxmlformats.org/officeDocument/2006/relationships/theme" Target="../theme/theme11.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42.xml"/><Relationship Id="rId1" Type="http://schemas.openxmlformats.org/officeDocument/2006/relationships/slideLayout" Target="../slideLayouts/slideLayout41.xml"/></Relationships>
</file>

<file path=ppt/slideMasters/_rels/slideMaster12.xml.rels><?xml version="1.0" encoding="UTF-8" standalone="yes"?>
<Relationships xmlns="http://schemas.openxmlformats.org/package/2006/relationships"><Relationship Id="rId5" Type="http://schemas.openxmlformats.org/officeDocument/2006/relationships/theme" Target="../theme/theme12.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44.xml"/><Relationship Id="rId1" Type="http://schemas.openxmlformats.org/officeDocument/2006/relationships/slideLayout" Target="../slideLayouts/slideLayout43.xml"/></Relationships>
</file>

<file path=ppt/slideMasters/_rels/slideMaster13.xml.rels><?xml version="1.0" encoding="UTF-8" standalone="yes"?>
<Relationships xmlns="http://schemas.openxmlformats.org/package/2006/relationships"><Relationship Id="rId5" Type="http://schemas.openxmlformats.org/officeDocument/2006/relationships/theme" Target="../theme/theme13.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46.xml"/><Relationship Id="rId1" Type="http://schemas.openxmlformats.org/officeDocument/2006/relationships/slideLayout" Target="../slideLayouts/slideLayout45.xml"/></Relationships>
</file>

<file path=ppt/slideMasters/_rels/slideMaster14.xml.rels><?xml version="1.0" encoding="UTF-8" standalone="yes"?>
<Relationships xmlns="http://schemas.openxmlformats.org/package/2006/relationships"><Relationship Id="rId5" Type="http://schemas.openxmlformats.org/officeDocument/2006/relationships/theme" Target="../theme/theme14.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48.xml"/><Relationship Id="rId1" Type="http://schemas.openxmlformats.org/officeDocument/2006/relationships/slideLayout" Target="../slideLayouts/slideLayout47.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0" Type="http://schemas.openxmlformats.org/officeDocument/2006/relationships/theme" Target="../theme/theme15.xml"/><Relationship Id="rId2" Type="http://schemas.openxmlformats.org/officeDocument/2006/relationships/slideLayout" Target="../slideLayouts/slideLayout50.xml"/><Relationship Id="rId19" Type="http://schemas.openxmlformats.org/officeDocument/2006/relationships/image" Target="../media/image6.png"/><Relationship Id="rId18" Type="http://schemas.openxmlformats.org/officeDocument/2006/relationships/slideLayout" Target="../slideLayouts/slideLayout66.xml"/><Relationship Id="rId17" Type="http://schemas.openxmlformats.org/officeDocument/2006/relationships/slideLayout" Target="../slideLayouts/slideLayout65.xml"/><Relationship Id="rId16" Type="http://schemas.openxmlformats.org/officeDocument/2006/relationships/slideLayout" Target="../slideLayouts/slideLayout64.xml"/><Relationship Id="rId15" Type="http://schemas.openxmlformats.org/officeDocument/2006/relationships/slideLayout" Target="../slideLayouts/slideLayout63.xml"/><Relationship Id="rId14" Type="http://schemas.openxmlformats.org/officeDocument/2006/relationships/slideLayout" Target="../slideLayouts/slideLayout62.xml"/><Relationship Id="rId13" Type="http://schemas.openxmlformats.org/officeDocument/2006/relationships/slideLayout" Target="../slideLayouts/slideLayout61.xml"/><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16.xml.rels><?xml version="1.0" encoding="UTF-8" standalone="yes"?>
<Relationships xmlns="http://schemas.openxmlformats.org/package/2006/relationships"><Relationship Id="rId5" Type="http://schemas.openxmlformats.org/officeDocument/2006/relationships/theme" Target="../theme/theme16.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68.xml"/><Relationship Id="rId1" Type="http://schemas.openxmlformats.org/officeDocument/2006/relationships/slideLayout" Target="../slideLayouts/slideLayout67.xml"/></Relationships>
</file>

<file path=ppt/slideMasters/_rels/slideMaster17.xml.rels><?xml version="1.0" encoding="UTF-8" standalone="yes"?>
<Relationships xmlns="http://schemas.openxmlformats.org/package/2006/relationships"><Relationship Id="rId5" Type="http://schemas.openxmlformats.org/officeDocument/2006/relationships/theme" Target="../theme/theme1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70.xml"/><Relationship Id="rId1" Type="http://schemas.openxmlformats.org/officeDocument/2006/relationships/slideLayout" Target="../slideLayouts/slideLayout69.xml"/></Relationships>
</file>

<file path=ppt/slideMasters/_rels/slideMaster18.xml.rels><?xml version="1.0" encoding="UTF-8" standalone="yes"?>
<Relationships xmlns="http://schemas.openxmlformats.org/package/2006/relationships"><Relationship Id="rId5" Type="http://schemas.openxmlformats.org/officeDocument/2006/relationships/theme" Target="../theme/theme18.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72.xml"/><Relationship Id="rId1" Type="http://schemas.openxmlformats.org/officeDocument/2006/relationships/slideLayout" Target="../slideLayouts/slideLayout71.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81.xml"/><Relationship Id="rId8" Type="http://schemas.openxmlformats.org/officeDocument/2006/relationships/slideLayout" Target="../slideLayouts/slideLayout80.xml"/><Relationship Id="rId7" Type="http://schemas.openxmlformats.org/officeDocument/2006/relationships/slideLayout" Target="../slideLayouts/slideLayout79.xml"/><Relationship Id="rId6" Type="http://schemas.openxmlformats.org/officeDocument/2006/relationships/slideLayout" Target="../slideLayouts/slideLayout78.xml"/><Relationship Id="rId5" Type="http://schemas.openxmlformats.org/officeDocument/2006/relationships/slideLayout" Target="../slideLayouts/slideLayout77.xml"/><Relationship Id="rId4" Type="http://schemas.openxmlformats.org/officeDocument/2006/relationships/slideLayout" Target="../slideLayouts/slideLayout76.xml"/><Relationship Id="rId3" Type="http://schemas.openxmlformats.org/officeDocument/2006/relationships/slideLayout" Target="../slideLayouts/slideLayout75.xml"/><Relationship Id="rId20" Type="http://schemas.openxmlformats.org/officeDocument/2006/relationships/theme" Target="../theme/theme19.xml"/><Relationship Id="rId2" Type="http://schemas.openxmlformats.org/officeDocument/2006/relationships/slideLayout" Target="../slideLayouts/slideLayout74.xml"/><Relationship Id="rId19" Type="http://schemas.openxmlformats.org/officeDocument/2006/relationships/image" Target="../media/image6.png"/><Relationship Id="rId18" Type="http://schemas.openxmlformats.org/officeDocument/2006/relationships/slideLayout" Target="../slideLayouts/slideLayout90.xml"/><Relationship Id="rId17" Type="http://schemas.openxmlformats.org/officeDocument/2006/relationships/slideLayout" Target="../slideLayouts/slideLayout89.xml"/><Relationship Id="rId16" Type="http://schemas.openxmlformats.org/officeDocument/2006/relationships/slideLayout" Target="../slideLayouts/slideLayout88.xml"/><Relationship Id="rId15" Type="http://schemas.openxmlformats.org/officeDocument/2006/relationships/slideLayout" Target="../slideLayouts/slideLayout87.xml"/><Relationship Id="rId14" Type="http://schemas.openxmlformats.org/officeDocument/2006/relationships/slideLayout" Target="../slideLayouts/slideLayout86.xml"/><Relationship Id="rId13" Type="http://schemas.openxmlformats.org/officeDocument/2006/relationships/slideLayout" Target="../slideLayouts/slideLayout85.xml"/><Relationship Id="rId12" Type="http://schemas.openxmlformats.org/officeDocument/2006/relationships/slideLayout" Target="../slideLayouts/slideLayout84.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 Type="http://schemas.openxmlformats.org/officeDocument/2006/relationships/slideLayout" Target="../slideLayouts/slideLayout73.xml"/></Relationships>
</file>

<file path=ppt/slideMasters/_rels/slideMaster20.xml.rels><?xml version="1.0" encoding="UTF-8" standalone="yes"?>
<Relationships xmlns="http://schemas.openxmlformats.org/package/2006/relationships"><Relationship Id="rId5" Type="http://schemas.openxmlformats.org/officeDocument/2006/relationships/theme" Target="../theme/theme20.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92.xml"/><Relationship Id="rId1" Type="http://schemas.openxmlformats.org/officeDocument/2006/relationships/slideLayout" Target="../slideLayouts/slideLayout91.xml"/></Relationships>
</file>

<file path=ppt/slideMasters/_rels/slideMaster21.xml.rels><?xml version="1.0" encoding="UTF-8" standalone="yes"?>
<Relationships xmlns="http://schemas.openxmlformats.org/package/2006/relationships"><Relationship Id="rId5" Type="http://schemas.openxmlformats.org/officeDocument/2006/relationships/theme" Target="../theme/theme21.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94.xml"/><Relationship Id="rId1" Type="http://schemas.openxmlformats.org/officeDocument/2006/relationships/slideLayout" Target="../slideLayouts/slideLayout93.xml"/></Relationships>
</file>

<file path=ppt/slideMasters/_rels/slideMaster22.xml.rels><?xml version="1.0" encoding="UTF-8" standalone="yes"?>
<Relationships xmlns="http://schemas.openxmlformats.org/package/2006/relationships"><Relationship Id="rId5" Type="http://schemas.openxmlformats.org/officeDocument/2006/relationships/theme" Target="../theme/theme22.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96.xml"/><Relationship Id="rId1" Type="http://schemas.openxmlformats.org/officeDocument/2006/relationships/slideLayout" Target="../slideLayouts/slideLayout95.xml"/></Relationships>
</file>

<file path=ppt/slideMasters/_rels/slideMaster23.xml.rels><?xml version="1.0" encoding="UTF-8" standalone="yes"?>
<Relationships xmlns="http://schemas.openxmlformats.org/package/2006/relationships"><Relationship Id="rId5" Type="http://schemas.openxmlformats.org/officeDocument/2006/relationships/theme" Target="../theme/theme23.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98.xml"/><Relationship Id="rId1" Type="http://schemas.openxmlformats.org/officeDocument/2006/relationships/slideLayout" Target="../slideLayouts/slideLayout97.xml"/></Relationships>
</file>

<file path=ppt/slideMasters/_rels/slideMaster24.xml.rels><?xml version="1.0" encoding="UTF-8" standalone="yes"?>
<Relationships xmlns="http://schemas.openxmlformats.org/package/2006/relationships"><Relationship Id="rId5" Type="http://schemas.openxmlformats.org/officeDocument/2006/relationships/theme" Target="../theme/theme24.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00.xml"/><Relationship Id="rId1" Type="http://schemas.openxmlformats.org/officeDocument/2006/relationships/slideLayout" Target="../slideLayouts/slideLayout99.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109.xml"/><Relationship Id="rId8" Type="http://schemas.openxmlformats.org/officeDocument/2006/relationships/slideLayout" Target="../slideLayouts/slideLayout108.xml"/><Relationship Id="rId7" Type="http://schemas.openxmlformats.org/officeDocument/2006/relationships/slideLayout" Target="../slideLayouts/slideLayout107.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0" Type="http://schemas.openxmlformats.org/officeDocument/2006/relationships/theme" Target="../theme/theme25.xml"/><Relationship Id="rId2" Type="http://schemas.openxmlformats.org/officeDocument/2006/relationships/slideLayout" Target="../slideLayouts/slideLayout102.xml"/><Relationship Id="rId19" Type="http://schemas.openxmlformats.org/officeDocument/2006/relationships/image" Target="../media/image6.png"/><Relationship Id="rId18" Type="http://schemas.openxmlformats.org/officeDocument/2006/relationships/slideLayout" Target="../slideLayouts/slideLayout118.xml"/><Relationship Id="rId17" Type="http://schemas.openxmlformats.org/officeDocument/2006/relationships/slideLayout" Target="../slideLayouts/slideLayout117.xml"/><Relationship Id="rId16" Type="http://schemas.openxmlformats.org/officeDocument/2006/relationships/slideLayout" Target="../slideLayouts/slideLayout116.xml"/><Relationship Id="rId15" Type="http://schemas.openxmlformats.org/officeDocument/2006/relationships/slideLayout" Target="../slideLayouts/slideLayout115.xml"/><Relationship Id="rId14" Type="http://schemas.openxmlformats.org/officeDocument/2006/relationships/slideLayout" Target="../slideLayouts/slideLayout114.xml"/><Relationship Id="rId13" Type="http://schemas.openxmlformats.org/officeDocument/2006/relationships/slideLayout" Target="../slideLayouts/slideLayout113.xml"/><Relationship Id="rId12" Type="http://schemas.openxmlformats.org/officeDocument/2006/relationships/slideLayout" Target="../slideLayouts/slideLayout112.xml"/><Relationship Id="rId11" Type="http://schemas.openxmlformats.org/officeDocument/2006/relationships/slideLayout" Target="../slideLayouts/slideLayout111.xml"/><Relationship Id="rId10" Type="http://schemas.openxmlformats.org/officeDocument/2006/relationships/slideLayout" Target="../slideLayouts/slideLayout110.xml"/><Relationship Id="rId1" Type="http://schemas.openxmlformats.org/officeDocument/2006/relationships/slideLayout" Target="../slideLayouts/slideLayout101.xml"/></Relationships>
</file>

<file path=ppt/slideMasters/_rels/slideMaster26.xml.rels><?xml version="1.0" encoding="UTF-8" standalone="yes"?>
<Relationships xmlns="http://schemas.openxmlformats.org/package/2006/relationships"><Relationship Id="rId5" Type="http://schemas.openxmlformats.org/officeDocument/2006/relationships/theme" Target="../theme/theme26.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20.xml"/><Relationship Id="rId1" Type="http://schemas.openxmlformats.org/officeDocument/2006/relationships/slideLayout" Target="../slideLayouts/slideLayout119.xml"/></Relationships>
</file>

<file path=ppt/slideMasters/_rels/slideMaster27.xml.rels><?xml version="1.0" encoding="UTF-8" standalone="yes"?>
<Relationships xmlns="http://schemas.openxmlformats.org/package/2006/relationships"><Relationship Id="rId5" Type="http://schemas.openxmlformats.org/officeDocument/2006/relationships/theme" Target="../theme/theme2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22.xml"/><Relationship Id="rId1" Type="http://schemas.openxmlformats.org/officeDocument/2006/relationships/slideLayout" Target="../slideLayouts/slideLayout121.xml"/></Relationships>
</file>

<file path=ppt/slideMasters/_rels/slideMaster28.xml.rels><?xml version="1.0" encoding="UTF-8" standalone="yes"?>
<Relationships xmlns="http://schemas.openxmlformats.org/package/2006/relationships"><Relationship Id="rId5" Type="http://schemas.openxmlformats.org/officeDocument/2006/relationships/theme" Target="../theme/theme28.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24.xml"/><Relationship Id="rId1" Type="http://schemas.openxmlformats.org/officeDocument/2006/relationships/slideLayout" Target="../slideLayouts/slideLayout123.xml"/></Relationships>
</file>

<file path=ppt/slideMasters/_rels/slideMaster29.xml.rels><?xml version="1.0" encoding="UTF-8" standalone="yes"?>
<Relationships xmlns="http://schemas.openxmlformats.org/package/2006/relationships"><Relationship Id="rId5" Type="http://schemas.openxmlformats.org/officeDocument/2006/relationships/theme" Target="../theme/theme29.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26.xml"/><Relationship Id="rId1" Type="http://schemas.openxmlformats.org/officeDocument/2006/relationships/slideLayout" Target="../slideLayouts/slideLayout125.xml"/></Relationships>
</file>

<file path=ppt/slideMasters/_rels/slideMaster30.xml.rels><?xml version="1.0" encoding="UTF-8" standalone="yes"?>
<Relationships xmlns="http://schemas.openxmlformats.org/package/2006/relationships"><Relationship Id="rId5" Type="http://schemas.openxmlformats.org/officeDocument/2006/relationships/theme" Target="../theme/theme30.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28.xml"/><Relationship Id="rId1" Type="http://schemas.openxmlformats.org/officeDocument/2006/relationships/slideLayout" Target="../slideLayouts/slideLayout127.xml"/></Relationships>
</file>

<file path=ppt/slideMasters/_rels/slideMaster31.xml.rels><?xml version="1.0" encoding="UTF-8" standalone="yes"?>
<Relationships xmlns="http://schemas.openxmlformats.org/package/2006/relationships"><Relationship Id="rId5" Type="http://schemas.openxmlformats.org/officeDocument/2006/relationships/theme" Target="../theme/theme31.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30.xml"/><Relationship Id="rId1" Type="http://schemas.openxmlformats.org/officeDocument/2006/relationships/slideLayout" Target="../slideLayouts/slideLayout129.xml"/></Relationships>
</file>

<file path=ppt/slideMasters/_rels/slideMaster32.xml.rels><?xml version="1.0" encoding="UTF-8" standalone="yes"?>
<Relationships xmlns="http://schemas.openxmlformats.org/package/2006/relationships"><Relationship Id="rId5" Type="http://schemas.openxmlformats.org/officeDocument/2006/relationships/theme" Target="../theme/theme32.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32.xml"/><Relationship Id="rId1" Type="http://schemas.openxmlformats.org/officeDocument/2006/relationships/slideLayout" Target="../slideLayouts/slideLayout131.xml"/></Relationships>
</file>

<file path=ppt/slideMasters/_rels/slideMaster33.xml.rels><?xml version="1.0" encoding="UTF-8" standalone="yes"?>
<Relationships xmlns="http://schemas.openxmlformats.org/package/2006/relationships"><Relationship Id="rId5" Type="http://schemas.openxmlformats.org/officeDocument/2006/relationships/theme" Target="../theme/theme33.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slideLayout" Target="../slideLayouts/slideLayout134.xml"/><Relationship Id="rId1"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14020"/>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sym typeface="华文楷体" panose="02010600040101010101" pitchFamily="2" charset="-122"/>
              </a:rPr>
              <a:t>更</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短时间，教会</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sym typeface="华文楷体" panose="02010600040101010101" pitchFamily="2" charset="-122"/>
              </a:rPr>
              <a:t>更</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3"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4"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688"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90" r:id="rId1"/>
    <p:sldLayoutId id="2147483691"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93" r:id="rId1"/>
    <p:sldLayoutId id="2147483694"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96" r:id="rId1"/>
    <p:sldLayoutId id="2147483697"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99" r:id="rId1"/>
    <p:sldLayoutId id="2147483700"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02" r:id="rId1"/>
    <p:sldLayoutId id="2147483703"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6"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08" r:id="rId1"/>
    <p:sldLayoutId id="2147483709"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14020"/>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sym typeface="华文楷体" panose="02010600040101010101" pitchFamily="2" charset="-122"/>
              </a:rPr>
              <a:t>更</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短时间，教会</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sym typeface="华文楷体" panose="02010600040101010101" pitchFamily="2" charset="-122"/>
              </a:rPr>
              <a:t>更</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3"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4"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30" r:id="rId1"/>
    <p:sldLayoutId id="2147483731"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36" r:id="rId1"/>
    <p:sldLayoutId id="2147483737"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14020"/>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sym typeface="华文楷体" panose="02010600040101010101" pitchFamily="2" charset="-122"/>
              </a:rPr>
              <a:t>更</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短时间，教会</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sym typeface="华文楷体" panose="02010600040101010101" pitchFamily="2" charset="-122"/>
              </a:rPr>
              <a:t>更</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3"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4"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58" r:id="rId1"/>
    <p:sldLayoutId id="2147483759"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61" r:id="rId1"/>
    <p:sldLayoutId id="2147483762"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64" r:id="rId1"/>
    <p:sldLayoutId id="2147483765"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67" r:id="rId1"/>
    <p:sldLayoutId id="2147483768"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70" r:id="rId1"/>
    <p:sldLayoutId id="2147483771"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14020"/>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sym typeface="华文楷体" panose="02010600040101010101" pitchFamily="2" charset="-122"/>
              </a:rPr>
              <a:t>更</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短时间，教会</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sym typeface="华文楷体" panose="02010600040101010101" pitchFamily="2" charset="-122"/>
              </a:rPr>
              <a:t>更</a:t>
            </a:r>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3"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4"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92" r:id="rId1"/>
    <p:sldLayoutId id="2147483793"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95" r:id="rId1"/>
    <p:sldLayoutId id="2147483796"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98" r:id="rId1"/>
    <p:sldLayoutId id="2147483799"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801" r:id="rId1"/>
    <p:sldLayoutId id="2147483802"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804" r:id="rId1"/>
    <p:sldLayoutId id="2147483805"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807" r:id="rId1"/>
    <p:sldLayoutId id="2147483808"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810" r:id="rId1"/>
    <p:sldLayoutId id="2147483811"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813" r:id="rId1"/>
    <p:sldLayoutId id="2147483814"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7.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6.xml"/><Relationship Id="rId4" Type="http://schemas.openxmlformats.org/officeDocument/2006/relationships/image" Target="../media/image10.png"/><Relationship Id="rId3" Type="http://schemas.openxmlformats.org/officeDocument/2006/relationships/tags" Target="../tags/tag2.xml"/><Relationship Id="rId2" Type="http://schemas.openxmlformats.org/officeDocument/2006/relationships/image" Target="../media/image9.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2.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1.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9.xml"/><Relationship Id="rId2" Type="http://schemas.openxmlformats.org/officeDocument/2006/relationships/image" Target="../media/image9.png"/><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9.png"/><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8.png"/><Relationship Id="rId1"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8.png"/><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8.png"/><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8.png"/><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3.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3.png"/><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hyperlink" Target="https://nebula.itcast.cn" TargetMode="Externa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3.png"/><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3.png"/><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3.png"/><Relationship Id="rId1"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9.png"/><Relationship Id="rId1" Type="http://schemas.openxmlformats.org/officeDocument/2006/relationships/image" Target="../media/image28.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hyperlink" Target="https://chat.deepseek.com" TargetMode="Externa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9.png"/><Relationship Id="rId1"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25500" y="2158365"/>
            <a:ext cx="10541000" cy="1158875"/>
          </a:xfrm>
        </p:spPr>
        <p:txBody>
          <a:bodyPr/>
          <a:p>
            <a:r>
              <a:rPr lang="zh-CN" altLang="en-US" sz="4400" dirty="0">
                <a:sym typeface="+mn-ea"/>
              </a:rPr>
              <a:t>黑马智聊机器人</a:t>
            </a:r>
            <a:r>
              <a:rPr kumimoji="1" lang="zh-CN" altLang="en-US" sz="4400" dirty="0">
                <a:solidFill>
                  <a:srgbClr val="262626"/>
                </a:solidFill>
                <a:latin typeface="阿里巴巴普惠体" panose="00020600040101010101" pitchFamily="18" charset="-122"/>
                <a:ea typeface="阿里巴巴普惠体" panose="00020600040101010101" pitchFamily="18" charset="-122"/>
              </a:rPr>
              <a:t>项目介绍</a:t>
            </a:r>
            <a:endParaRPr kumimoji="1" lang="zh-CN" altLang="en-US" sz="4400" dirty="0">
              <a:solidFill>
                <a:srgbClr val="262626"/>
              </a:solidFill>
              <a:latin typeface="阿里巴巴普惠体" panose="00020600040101010101" pitchFamily="18" charset="-122"/>
              <a:ea typeface="阿里巴巴普惠体" panose="00020600040101010101" pitchFamily="18" charset="-122"/>
            </a:endParaRPr>
          </a:p>
        </p:txBody>
      </p:sp>
      <p:pic>
        <p:nvPicPr>
          <p:cNvPr id="6" name="图片 5" descr="01 (140)"/>
          <p:cNvPicPr>
            <a:picLocks noChangeAspect="1"/>
          </p:cNvPicPr>
          <p:nvPr/>
        </p:nvPicPr>
        <p:blipFill>
          <a:blip r:embed="rId1"/>
          <a:stretch>
            <a:fillRect/>
          </a:stretch>
        </p:blipFill>
        <p:spPr>
          <a:xfrm>
            <a:off x="5506720" y="4218305"/>
            <a:ext cx="1179195" cy="11791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19358" y="1029625"/>
            <a:ext cx="5973761" cy="4256405"/>
          </a:xfrm>
        </p:spPr>
        <p:txBody>
          <a:bodyPr/>
          <a:lstStyle/>
          <a:p>
            <a:pPr algn="l"/>
            <a:r>
              <a:rPr lang="zh-CN" altLang="en-US" sz="1600" dirty="0"/>
              <a:t>黑马智聊机器人项目简介</a:t>
            </a:r>
            <a:endParaRPr lang="zh-CN" altLang="en-US" sz="1600" dirty="0"/>
          </a:p>
          <a:p>
            <a:pPr algn="l"/>
            <a:r>
              <a:rPr lang="zh-CN" altLang="en-US" sz="1600" dirty="0">
                <a:sym typeface="+mn-ea"/>
              </a:rPr>
              <a:t>黑马智聊机器人项目需求</a:t>
            </a:r>
            <a:endParaRPr lang="zh-CN" altLang="en-US" sz="1600" dirty="0"/>
          </a:p>
          <a:p>
            <a:pPr algn="l"/>
            <a:r>
              <a:rPr lang="zh-CN" altLang="en-US" sz="1600" dirty="0">
                <a:sym typeface="+mn-ea"/>
              </a:rPr>
              <a:t>黑马智聊机器人项目架构</a:t>
            </a:r>
            <a:endParaRPr lang="zh-CN" altLang="en-US" sz="1600" dirty="0"/>
          </a:p>
          <a:p>
            <a:pPr algn="l"/>
            <a:r>
              <a:rPr lang="zh-CN" altLang="en-US" sz="1600" dirty="0">
                <a:sym typeface="+mn-ea"/>
              </a:rPr>
              <a:t>大模型分类</a:t>
            </a:r>
            <a:endParaRPr lang="zh-CN" altLang="en-US" sz="1600" dirty="0">
              <a:sym typeface="+mn-ea"/>
            </a:endParaRPr>
          </a:p>
          <a:p>
            <a:pPr algn="l"/>
            <a:r>
              <a:rPr lang="zh-CN" altLang="en-US" sz="1600" dirty="0">
                <a:sym typeface="+mn-ea"/>
              </a:rPr>
              <a:t>热门大模型初体验</a:t>
            </a:r>
            <a:endParaRPr lang="zh-CN" altLang="en-US" sz="1600" dirty="0">
              <a:sym typeface="+mn-ea"/>
            </a:endParaRPr>
          </a:p>
          <a:p>
            <a:pPr marL="0" indent="0" algn="l">
              <a:buNone/>
            </a:pPr>
            <a:endParaRPr kumimoji="1" lang="zh-CN" altLang="en-US" sz="1600"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19358" y="1029625"/>
            <a:ext cx="5973761" cy="4256405"/>
          </a:xfrm>
        </p:spPr>
        <p:txBody>
          <a:bodyPr/>
          <a:lstStyle/>
          <a:p>
            <a:pPr algn="l"/>
            <a:r>
              <a:rPr lang="zh-CN" altLang="en-US" sz="1600" dirty="0">
                <a:solidFill>
                  <a:srgbClr val="C00000"/>
                </a:solidFill>
              </a:rPr>
              <a:t>黑马智聊机器人项目简介</a:t>
            </a:r>
            <a:endParaRPr lang="zh-CN" altLang="en-US" sz="1600" dirty="0">
              <a:solidFill>
                <a:srgbClr val="C00000"/>
              </a:solidFill>
            </a:endParaRPr>
          </a:p>
          <a:p>
            <a:pPr algn="l"/>
            <a:r>
              <a:rPr lang="zh-CN" altLang="en-US" sz="1600" dirty="0">
                <a:sym typeface="+mn-ea"/>
              </a:rPr>
              <a:t>黑马智聊机器人项目需求</a:t>
            </a:r>
            <a:endParaRPr lang="zh-CN" altLang="en-US" sz="1600" dirty="0"/>
          </a:p>
          <a:p>
            <a:pPr algn="l"/>
            <a:r>
              <a:rPr lang="zh-CN" altLang="en-US" sz="1600" dirty="0">
                <a:sym typeface="+mn-ea"/>
              </a:rPr>
              <a:t>黑马智聊机器人项目架构</a:t>
            </a:r>
            <a:endParaRPr lang="zh-CN" altLang="en-US" sz="1600" dirty="0"/>
          </a:p>
          <a:p>
            <a:pPr algn="l"/>
            <a:r>
              <a:rPr lang="zh-CN" altLang="en-US" sz="1600" dirty="0">
                <a:sym typeface="+mn-ea"/>
              </a:rPr>
              <a:t>大模型分类</a:t>
            </a:r>
            <a:endParaRPr lang="zh-CN" altLang="en-US" sz="1600" dirty="0">
              <a:sym typeface="+mn-ea"/>
            </a:endParaRPr>
          </a:p>
          <a:p>
            <a:pPr algn="l"/>
            <a:r>
              <a:rPr lang="zh-CN" altLang="en-US" sz="1600" dirty="0">
                <a:sym typeface="+mn-ea"/>
              </a:rPr>
              <a:t>热门大模型初体验</a:t>
            </a:r>
            <a:endParaRPr lang="zh-CN" altLang="en-US" sz="1600" dirty="0">
              <a:sym typeface="+mn-ea"/>
            </a:endParaRPr>
          </a:p>
          <a:p>
            <a:pPr marL="0" indent="0" algn="l">
              <a:buNone/>
            </a:pPr>
            <a:endParaRPr kumimoji="1" lang="zh-CN" altLang="en-US" sz="1600" dirty="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866958" y="335400"/>
            <a:ext cx="6298881" cy="4855845"/>
          </a:xfrm>
        </p:spPr>
        <p:txBody>
          <a:bodyPr/>
          <a:lstStyle/>
          <a:p>
            <a:r>
              <a:rPr lang="zh-CN" altLang="en-US" dirty="0">
                <a:solidFill>
                  <a:schemeClr val="tx1"/>
                </a:solidFill>
              </a:rPr>
              <a:t>知道什么是聊天机器人</a:t>
            </a:r>
            <a:endParaRPr lang="zh-CN" altLang="en-US" dirty="0">
              <a:solidFill>
                <a:schemeClr val="tx1"/>
              </a:solidFill>
            </a:endParaRPr>
          </a:p>
          <a:p>
            <a:r>
              <a:rPr lang="zh-CN" dirty="0">
                <a:solidFill>
                  <a:schemeClr val="tx1"/>
                </a:solidFill>
                <a:sym typeface="+mn-ea"/>
              </a:rPr>
              <a:t>了解聊天机器人的特点</a:t>
            </a:r>
            <a:endParaRPr lang="zh-CN" altLang="en-US" dirty="0">
              <a:solidFill>
                <a:schemeClr val="tx1"/>
              </a:solidFill>
            </a:endParaRPr>
          </a:p>
          <a:p>
            <a:r>
              <a:rPr lang="zh-CN" altLang="en-US" dirty="0">
                <a:solidFill>
                  <a:schemeClr val="tx1"/>
                </a:solidFill>
              </a:rPr>
              <a:t>了解聊天机器人的应用场景</a:t>
            </a:r>
            <a:endParaRPr lang="zh-CN" altLang="en-US" dirty="0">
              <a:solidFill>
                <a:schemeClr val="tx1"/>
              </a:solidFill>
            </a:endParaRPr>
          </a:p>
          <a:p>
            <a:r>
              <a:rPr lang="zh-CN" altLang="en-US" dirty="0">
                <a:solidFill>
                  <a:schemeClr val="tx1"/>
                </a:solidFill>
              </a:rPr>
              <a:t>熟悉黑马智聊机器人项目效果</a:t>
            </a:r>
            <a:endParaRPr lang="zh-CN" altLang="en-US"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什么是聊天机器人</a:t>
            </a:r>
            <a:endParaRPr lang="zh-CN" altLang="en-US"/>
          </a:p>
        </p:txBody>
      </p:sp>
      <p:pic>
        <p:nvPicPr>
          <p:cNvPr id="8" name="图片 7" descr="01 (106)"/>
          <p:cNvPicPr>
            <a:picLocks noChangeAspect="1"/>
          </p:cNvPicPr>
          <p:nvPr>
            <p:custDataLst>
              <p:tags r:id="rId1"/>
            </p:custDataLst>
          </p:nvPr>
        </p:nvPicPr>
        <p:blipFill>
          <a:blip r:embed="rId2"/>
          <a:stretch>
            <a:fillRect/>
          </a:stretch>
        </p:blipFill>
        <p:spPr>
          <a:xfrm>
            <a:off x="11169015" y="5426075"/>
            <a:ext cx="1112520" cy="1112520"/>
          </a:xfrm>
          <a:prstGeom prst="rect">
            <a:avLst/>
          </a:prstGeom>
        </p:spPr>
      </p:pic>
      <p:sp>
        <p:nvSpPr>
          <p:cNvPr id="27" name="圆角右箭头 26"/>
          <p:cNvSpPr/>
          <p:nvPr/>
        </p:nvSpPr>
        <p:spPr>
          <a:xfrm flipH="1" flipV="1">
            <a:off x="2901315" y="4983480"/>
            <a:ext cx="1445895" cy="580390"/>
          </a:xfrm>
          <a:prstGeom prst="ben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5" name="圆角右箭头 24"/>
          <p:cNvSpPr/>
          <p:nvPr/>
        </p:nvSpPr>
        <p:spPr>
          <a:xfrm flipV="1">
            <a:off x="6649720" y="4983480"/>
            <a:ext cx="1445895" cy="580390"/>
          </a:xfrm>
          <a:prstGeom prst="ben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4" name="圆角右箭头 23"/>
          <p:cNvSpPr/>
          <p:nvPr/>
        </p:nvSpPr>
        <p:spPr>
          <a:xfrm flipH="1">
            <a:off x="2901315" y="2227580"/>
            <a:ext cx="1445895" cy="580390"/>
          </a:xfrm>
          <a:prstGeom prst="ben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9" name="文本框 8"/>
          <p:cNvSpPr txBox="1"/>
          <p:nvPr/>
        </p:nvSpPr>
        <p:spPr>
          <a:xfrm>
            <a:off x="8171180" y="5162550"/>
            <a:ext cx="3569970" cy="681355"/>
          </a:xfrm>
          <a:prstGeom prst="rect">
            <a:avLst/>
          </a:prstGeom>
          <a:noFill/>
        </p:spPr>
        <p:txBody>
          <a:bodyPr wrap="square" rtlCol="0">
            <a:spAutoFit/>
            <a:scene3d>
              <a:camera prst="orthographicFront"/>
              <a:lightRig rig="threePt" dir="t"/>
            </a:scene3d>
            <a:sp3d contourW="12700"/>
          </a:bodyPr>
          <a:p>
            <a:pPr indent="0" algn="just" fontAlgn="auto">
              <a:lnSpc>
                <a:spcPct val="120000"/>
              </a:lnSpc>
            </a:pPr>
            <a:r>
              <a:rPr lang="en-US" altLang="zh-CN"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利用自然语言处理、机器学习等技术</a:t>
            </a: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。当前最热：</a:t>
            </a:r>
            <a:r>
              <a:rPr lang="zh-CN" altLang="en-US" sz="1600" dirty="0" err="1">
                <a:solidFill>
                  <a:srgbClr val="C00000"/>
                </a:solidFill>
                <a:latin typeface="阿里巴巴普惠体 R" panose="00020600040101010101" pitchFamily="18" charset="-122"/>
                <a:ea typeface="阿里巴巴普惠体 R" panose="00020600040101010101" pitchFamily="18" charset="-122"/>
                <a:cs typeface="Alibaba PuHuiTi Regular" panose="00020600040101010101" charset="-122"/>
              </a:rPr>
              <a:t>大模型技术</a:t>
            </a:r>
            <a:endParaRPr lang="zh-CN" altLang="en-US" sz="1600" dirty="0" err="1">
              <a:solidFill>
                <a:srgbClr val="C00000"/>
              </a:solidFill>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10" name="文本框 9"/>
          <p:cNvSpPr txBox="1"/>
          <p:nvPr/>
        </p:nvSpPr>
        <p:spPr>
          <a:xfrm>
            <a:off x="6718935" y="1890395"/>
            <a:ext cx="1193800" cy="369332"/>
          </a:xfrm>
          <a:prstGeom prst="rect">
            <a:avLst/>
          </a:prstGeom>
          <a:noFill/>
        </p:spPr>
        <p:txBody>
          <a:bodyPr wrap="square" rtlCol="0">
            <a:spAutoFit/>
            <a:scene3d>
              <a:camera prst="orthographicFront"/>
              <a:lightRig rig="threePt" dir="t"/>
            </a:scene3d>
            <a:sp3d contourW="12700"/>
          </a:bodyPr>
          <a:p>
            <a:pPr algn="r"/>
            <a:r>
              <a:rPr lang="zh-CN" b="1" dirty="0" err="1">
                <a:solidFill>
                  <a:srgbClr val="C00000"/>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rPr>
              <a:t>关键问题</a:t>
            </a:r>
            <a:endParaRPr lang="zh-CN" b="1" dirty="0" err="1">
              <a:solidFill>
                <a:srgbClr val="C00000"/>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endParaRPr>
          </a:p>
        </p:txBody>
      </p:sp>
      <p:sp>
        <p:nvSpPr>
          <p:cNvPr id="7" name="圆角右箭头 6"/>
          <p:cNvSpPr/>
          <p:nvPr/>
        </p:nvSpPr>
        <p:spPr>
          <a:xfrm>
            <a:off x="6649720" y="2226310"/>
            <a:ext cx="1445895" cy="580390"/>
          </a:xfrm>
          <a:prstGeom prst="ben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2" name="文本框 11"/>
          <p:cNvSpPr txBox="1"/>
          <p:nvPr/>
        </p:nvSpPr>
        <p:spPr>
          <a:xfrm>
            <a:off x="8095615" y="2226310"/>
            <a:ext cx="3505200" cy="941705"/>
          </a:xfrm>
          <a:prstGeom prst="rect">
            <a:avLst/>
          </a:prstGeom>
          <a:noFill/>
        </p:spPr>
        <p:txBody>
          <a:bodyPr wrap="square" rtlCol="0">
            <a:noAutofit/>
            <a:scene3d>
              <a:camera prst="orthographicFront"/>
              <a:lightRig rig="threePt" dir="t"/>
            </a:scene3d>
            <a:sp3d contourW="12700"/>
          </a:bodyPr>
          <a:p>
            <a:pPr indent="0" algn="just" fontAlgn="auto">
              <a:lnSpc>
                <a:spcPct val="120000"/>
              </a:lnSpc>
            </a:pP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机器的回复是否是人类可以理解的或者是人类习惯在日常生活中习惯表达的？</a:t>
            </a:r>
            <a:endPar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13" name="文本框 12"/>
          <p:cNvSpPr txBox="1"/>
          <p:nvPr/>
        </p:nvSpPr>
        <p:spPr>
          <a:xfrm>
            <a:off x="8095615" y="1795780"/>
            <a:ext cx="3568700" cy="517525"/>
          </a:xfrm>
          <a:prstGeom prst="rect">
            <a:avLst/>
          </a:prstGeom>
          <a:noFill/>
        </p:spPr>
        <p:txBody>
          <a:bodyPr wrap="square" rtlCol="0">
            <a:noAutofit/>
            <a:scene3d>
              <a:camera prst="orthographicFront"/>
              <a:lightRig rig="threePt" dir="t"/>
            </a:scene3d>
            <a:sp3d contourW="12700"/>
          </a:bodyPr>
          <a:p>
            <a:pPr indent="0" algn="just" fontAlgn="auto">
              <a:lnSpc>
                <a:spcPct val="120000"/>
              </a:lnSpc>
            </a:pP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机器如何判断一条输入句子的合理性？</a:t>
            </a:r>
            <a:endPar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15" name="文本框 14"/>
          <p:cNvSpPr txBox="1"/>
          <p:nvPr/>
        </p:nvSpPr>
        <p:spPr>
          <a:xfrm>
            <a:off x="6776085" y="5526405"/>
            <a:ext cx="1193165" cy="369332"/>
          </a:xfrm>
          <a:prstGeom prst="rect">
            <a:avLst/>
          </a:prstGeom>
          <a:noFill/>
        </p:spPr>
        <p:txBody>
          <a:bodyPr wrap="square" rtlCol="0">
            <a:spAutoFit/>
            <a:scene3d>
              <a:camera prst="orthographicFront"/>
              <a:lightRig rig="threePt" dir="t"/>
            </a:scene3d>
            <a:sp3d contourW="12700"/>
          </a:bodyPr>
          <a:p>
            <a:pPr algn="r"/>
            <a:r>
              <a:rPr lang="zh-CN" b="1" dirty="0" err="1">
                <a:gradFill>
                  <a:gsLst>
                    <a:gs pos="0">
                      <a:srgbClr val="14CD68"/>
                    </a:gs>
                    <a:gs pos="100000">
                      <a:srgbClr val="0B6E38"/>
                    </a:gs>
                  </a:gsLst>
                  <a:lin scaled="0"/>
                </a:gra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rPr>
              <a:t>解决方法</a:t>
            </a:r>
            <a:endParaRPr lang="zh-CN" b="1" dirty="0" err="1">
              <a:gradFill>
                <a:gsLst>
                  <a:gs pos="0">
                    <a:srgbClr val="14CD68"/>
                  </a:gs>
                  <a:gs pos="100000">
                    <a:srgbClr val="0B6E38"/>
                  </a:gs>
                </a:gsLst>
                <a:lin scaled="0"/>
              </a:gra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endParaRPr>
          </a:p>
        </p:txBody>
      </p:sp>
      <p:sp>
        <p:nvSpPr>
          <p:cNvPr id="17" name="文本框 16"/>
          <p:cNvSpPr txBox="1"/>
          <p:nvPr/>
        </p:nvSpPr>
        <p:spPr>
          <a:xfrm>
            <a:off x="2925445" y="1890395"/>
            <a:ext cx="1193800" cy="369332"/>
          </a:xfrm>
          <a:prstGeom prst="rect">
            <a:avLst/>
          </a:prstGeom>
          <a:noFill/>
        </p:spPr>
        <p:txBody>
          <a:bodyPr wrap="square" rtlCol="0">
            <a:spAutoFit/>
            <a:scene3d>
              <a:camera prst="orthographicFront"/>
              <a:lightRig rig="threePt" dir="t"/>
            </a:scene3d>
            <a:sp3d contourW="12700"/>
          </a:bodyPr>
          <a:p>
            <a:pPr algn="r"/>
            <a:r>
              <a:rPr lang="zh-CN" b="1" dirty="0" err="1">
                <a:solidFill>
                  <a:srgbClr val="FFC000"/>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rPr>
              <a:t>基本定义</a:t>
            </a:r>
            <a:endParaRPr lang="zh-CN" b="1" dirty="0" err="1">
              <a:solidFill>
                <a:srgbClr val="FFC000"/>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endParaRPr>
          </a:p>
        </p:txBody>
      </p:sp>
      <p:sp>
        <p:nvSpPr>
          <p:cNvPr id="18" name="文本框 17"/>
          <p:cNvSpPr txBox="1"/>
          <p:nvPr/>
        </p:nvSpPr>
        <p:spPr>
          <a:xfrm>
            <a:off x="827405" y="2037715"/>
            <a:ext cx="2058670" cy="768985"/>
          </a:xfrm>
          <a:prstGeom prst="rect">
            <a:avLst/>
          </a:prstGeom>
          <a:noFill/>
        </p:spPr>
        <p:txBody>
          <a:bodyPr wrap="square" rtlCol="0">
            <a:noAutofit/>
            <a:scene3d>
              <a:camera prst="orthographicFront"/>
              <a:lightRig rig="threePt" dir="t"/>
            </a:scene3d>
            <a:sp3d contourW="12700"/>
          </a:bodyPr>
          <a:p>
            <a:pPr indent="0" algn="just" fontAlgn="auto">
              <a:lnSpc>
                <a:spcPct val="120000"/>
              </a:lnSpc>
            </a:pP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一个用来模拟人类对话或聊天的程序。</a:t>
            </a:r>
            <a:endPar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11" name="文本框 10"/>
          <p:cNvSpPr txBox="1"/>
          <p:nvPr/>
        </p:nvSpPr>
        <p:spPr>
          <a:xfrm flipH="1">
            <a:off x="647065" y="5066665"/>
            <a:ext cx="2239010" cy="868680"/>
          </a:xfrm>
          <a:prstGeom prst="rect">
            <a:avLst/>
          </a:prstGeom>
          <a:noFill/>
        </p:spPr>
        <p:txBody>
          <a:bodyPr wrap="square" rtlCol="0">
            <a:noAutofit/>
            <a:scene3d>
              <a:camera prst="orthographicFront"/>
              <a:lightRig rig="threePt" dir="t"/>
            </a:scene3d>
            <a:sp3d contourW="12700"/>
          </a:bodyPr>
          <a:p>
            <a:pPr indent="0" algn="just" fontAlgn="auto">
              <a:lnSpc>
                <a:spcPct val="120000"/>
              </a:lnSpc>
            </a:pP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客服支持、智能助手、社交互动、教育学习等</a:t>
            </a:r>
            <a:endPar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23" name="文本框 22"/>
          <p:cNvSpPr txBox="1"/>
          <p:nvPr/>
        </p:nvSpPr>
        <p:spPr>
          <a:xfrm flipH="1">
            <a:off x="2926080" y="5506720"/>
            <a:ext cx="1193165" cy="369332"/>
          </a:xfrm>
          <a:prstGeom prst="rect">
            <a:avLst/>
          </a:prstGeom>
          <a:noFill/>
        </p:spPr>
        <p:txBody>
          <a:bodyPr wrap="square" rtlCol="0">
            <a:spAutoFit/>
            <a:scene3d>
              <a:camera prst="orthographicFront"/>
              <a:lightRig rig="threePt" dir="t"/>
            </a:scene3d>
            <a:sp3d contourW="12700"/>
          </a:bodyPr>
          <a:p>
            <a:pPr algn="r"/>
            <a:r>
              <a:rPr lang="zh-CN" b="1" dirty="0" err="1">
                <a:solidFill>
                  <a:schemeClr val="accent1"/>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rPr>
              <a:t>主要应用</a:t>
            </a:r>
            <a:endParaRPr lang="zh-CN" b="1" dirty="0" err="1">
              <a:solidFill>
                <a:schemeClr val="accent1"/>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endParaRPr>
          </a:p>
        </p:txBody>
      </p:sp>
      <p:pic>
        <p:nvPicPr>
          <p:cNvPr id="14" name="图片 13"/>
          <p:cNvPicPr>
            <a:picLocks noChangeAspect="1"/>
          </p:cNvPicPr>
          <p:nvPr>
            <p:custDataLst>
              <p:tags r:id="rId3"/>
            </p:custDataLst>
          </p:nvPr>
        </p:nvPicPr>
        <p:blipFill>
          <a:blip r:embed="rId4"/>
          <a:stretch>
            <a:fillRect/>
          </a:stretch>
        </p:blipFill>
        <p:spPr>
          <a:xfrm>
            <a:off x="3814445" y="2660650"/>
            <a:ext cx="3568700" cy="2581910"/>
          </a:xfrm>
          <a:prstGeom prst="round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linds(horizontal)">
                                      <p:cBhvr>
                                        <p:cTn id="15" dur="500"/>
                                        <p:tgtEl>
                                          <p:spTgt spid="1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linds(horizontal)">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blinds(horizontal)">
                                      <p:cBhvr>
                                        <p:cTn id="23" dur="500"/>
                                        <p:tgtEl>
                                          <p:spTgt spid="2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linds(horizontal)">
                                      <p:cBhvr>
                                        <p:cTn id="26" dur="500"/>
                                        <p:tgtEl>
                                          <p:spTgt spid="23"/>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linds(horizontal)">
                                      <p:cBhvr>
                                        <p:cTn id="37" dur="500"/>
                                        <p:tgtEl>
                                          <p:spTgt spid="1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linds(horizontal)">
                                      <p:cBhvr>
                                        <p:cTn id="40" dur="500"/>
                                        <p:tgtEl>
                                          <p:spTgt spid="1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blinds(horizontal)">
                                      <p:cBhvr>
                                        <p:cTn id="48" dur="500"/>
                                        <p:tgtEl>
                                          <p:spTgt spid="1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blinds(horizontal)">
                                      <p:cBhvr>
                                        <p:cTn id="51" dur="500"/>
                                        <p:tgtEl>
                                          <p:spTgt spid="25"/>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blinds(horizontal)">
                                      <p:cBhvr>
                                        <p:cTn id="5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7" grpId="1" animBg="1"/>
      <p:bldP spid="25" grpId="0" bldLvl="0" animBg="1"/>
      <p:bldP spid="25" grpId="1" animBg="1"/>
      <p:bldP spid="24" grpId="0" bldLvl="0" animBg="1"/>
      <p:bldP spid="24" grpId="1" animBg="1"/>
      <p:bldP spid="9" grpId="0"/>
      <p:bldP spid="9" grpId="1"/>
      <p:bldP spid="10" grpId="0"/>
      <p:bldP spid="10" grpId="1"/>
      <p:bldP spid="7" grpId="0" bldLvl="0" animBg="1"/>
      <p:bldP spid="7" grpId="1" animBg="1"/>
      <p:bldP spid="12" grpId="0"/>
      <p:bldP spid="12" grpId="1"/>
      <p:bldP spid="13" grpId="0"/>
      <p:bldP spid="13" grpId="1"/>
      <p:bldP spid="15" grpId="0"/>
      <p:bldP spid="15" grpId="1"/>
      <p:bldP spid="17" grpId="0"/>
      <p:bldP spid="17" grpId="1"/>
      <p:bldP spid="18" grpId="0"/>
      <p:bldP spid="18" grpId="1"/>
      <p:bldP spid="11" grpId="0"/>
      <p:bldP spid="11" grpId="1"/>
      <p:bldP spid="23" grpId="0"/>
      <p:bldP spid="23"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t>聊天机器人特点</a:t>
            </a:r>
          </a:p>
        </p:txBody>
      </p:sp>
      <p:sp>
        <p:nvSpPr>
          <p:cNvPr id="4" name="文本占位符 3"/>
          <p:cNvSpPr/>
          <p:nvPr>
            <p:ph type="body" sz="quarter" idx="11"/>
          </p:nvPr>
        </p:nvSpPr>
        <p:spPr>
          <a:xfrm>
            <a:off x="710880" y="1744900"/>
            <a:ext cx="10698800" cy="4219575"/>
          </a:xfrm>
        </p:spPr>
        <p:txBody>
          <a:bodyPr/>
          <a:p>
            <a:pPr>
              <a:lnSpc>
                <a:spcPct val="200000"/>
              </a:lnSpc>
            </a:pPr>
            <a:r>
              <a:rPr lang="en-US" altLang="zh-CN"/>
              <a:t>1. </a:t>
            </a:r>
            <a:r>
              <a:rPr lang="zh-CN" altLang="en-US"/>
              <a:t>自然语言理解（</a:t>
            </a:r>
            <a:r>
              <a:rPr lang="en-US" altLang="zh-CN"/>
              <a:t>NLP</a:t>
            </a:r>
            <a:r>
              <a:rPr lang="zh-CN" altLang="en-US"/>
              <a:t>）：能够理解用户输入自然语言，并从中提取意图和关键信息。</a:t>
            </a:r>
            <a:endParaRPr lang="zh-CN" altLang="en-US"/>
          </a:p>
          <a:p>
            <a:pPr>
              <a:lnSpc>
                <a:spcPct val="200000"/>
              </a:lnSpc>
            </a:pPr>
            <a:r>
              <a:rPr lang="en-US" altLang="zh-CN"/>
              <a:t>2. </a:t>
            </a:r>
            <a:r>
              <a:rPr lang="zh-CN" altLang="en-US"/>
              <a:t>对话管理：通过对话引擎维持对话的连贯性，根据上下文生成合适的回答。</a:t>
            </a:r>
            <a:endParaRPr lang="zh-CN" altLang="en-US"/>
          </a:p>
          <a:p>
            <a:pPr>
              <a:lnSpc>
                <a:spcPct val="200000"/>
              </a:lnSpc>
            </a:pPr>
            <a:r>
              <a:rPr lang="en-US" altLang="zh-CN"/>
              <a:t>3. </a:t>
            </a:r>
            <a:r>
              <a:rPr lang="zh-CN" altLang="en-US"/>
              <a:t>个性化交互：可以根据用户的历史记录和偏好提供定制化的回答。</a:t>
            </a:r>
            <a:endParaRPr lang="zh-CN" altLang="en-US"/>
          </a:p>
          <a:p>
            <a:pPr>
              <a:lnSpc>
                <a:spcPct val="200000"/>
              </a:lnSpc>
            </a:pPr>
            <a:r>
              <a:rPr lang="en-US" altLang="zh-CN"/>
              <a:t>4. </a:t>
            </a:r>
            <a:r>
              <a:rPr lang="zh-CN" altLang="en-US"/>
              <a:t>多功能性：除了聊天，还可以执行任务，如查询信息、预订服务、提供帮助等。</a:t>
            </a:r>
            <a:endParaRPr lang="zh-CN" altLang="en-US"/>
          </a:p>
          <a:p>
            <a:endParaRPr lang="zh-CN" altLang="en-US"/>
          </a:p>
        </p:txBody>
      </p:sp>
      <p:pic>
        <p:nvPicPr>
          <p:cNvPr id="5" name="图片 4" descr="01 (134)"/>
          <p:cNvPicPr>
            <a:picLocks noChangeAspect="1"/>
          </p:cNvPicPr>
          <p:nvPr/>
        </p:nvPicPr>
        <p:blipFill>
          <a:blip r:embed="rId1"/>
          <a:stretch>
            <a:fillRect/>
          </a:stretch>
        </p:blipFill>
        <p:spPr>
          <a:xfrm>
            <a:off x="7274560" y="1191260"/>
            <a:ext cx="3810000" cy="3810000"/>
          </a:xfrm>
          <a:prstGeom prst="rect">
            <a:avLst/>
          </a:prstGeom>
        </p:spPr>
      </p:pic>
      <p:pic>
        <p:nvPicPr>
          <p:cNvPr id="3" name="图片 2" descr="01 (53)"/>
          <p:cNvPicPr>
            <a:picLocks noChangeAspect="1"/>
          </p:cNvPicPr>
          <p:nvPr/>
        </p:nvPicPr>
        <p:blipFill>
          <a:blip r:embed="rId2"/>
          <a:stretch>
            <a:fillRect/>
          </a:stretch>
        </p:blipFill>
        <p:spPr>
          <a:xfrm>
            <a:off x="10902950" y="5070475"/>
            <a:ext cx="1563370" cy="156337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应用场景：</a:t>
            </a:r>
            <a:endParaRPr lang="zh-CN" altLang="en-US"/>
          </a:p>
        </p:txBody>
      </p:sp>
      <p:sp>
        <p:nvSpPr>
          <p:cNvPr id="3" name="文本占位符 2"/>
          <p:cNvSpPr>
            <a:spLocks noGrp="1"/>
          </p:cNvSpPr>
          <p:nvPr>
            <p:ph type="body" sz="quarter" idx="11"/>
          </p:nvPr>
        </p:nvSpPr>
        <p:spPr/>
        <p:txBody>
          <a:bodyPr/>
          <a:p>
            <a:pPr>
              <a:lnSpc>
                <a:spcPct val="180000"/>
              </a:lnSpc>
            </a:pPr>
            <a:r>
              <a:rPr lang="en-US" altLang="zh-CN"/>
              <a:t>1. </a:t>
            </a:r>
            <a:r>
              <a:rPr lang="zh-CN" altLang="en-US"/>
              <a:t>客户服务：在电商、金融等领域，自动解答用户问题，提供</a:t>
            </a:r>
            <a:r>
              <a:rPr lang="en-US" altLang="zh-CN"/>
              <a:t>24*7</a:t>
            </a:r>
            <a:r>
              <a:rPr lang="zh-CN" altLang="en-US"/>
              <a:t>的客户支持。</a:t>
            </a:r>
            <a:endParaRPr lang="zh-CN" altLang="en-US"/>
          </a:p>
          <a:p>
            <a:pPr>
              <a:lnSpc>
                <a:spcPct val="180000"/>
              </a:lnSpc>
            </a:pPr>
            <a:r>
              <a:rPr lang="en-US" altLang="zh-CN"/>
              <a:t>2. </a:t>
            </a:r>
            <a:r>
              <a:rPr lang="zh-CN" altLang="en-US"/>
              <a:t>娱乐：一些聊天机器人可以与用户进行趣味对话，提供娱乐体验。</a:t>
            </a:r>
            <a:endParaRPr lang="zh-CN" altLang="en-US"/>
          </a:p>
          <a:p>
            <a:pPr>
              <a:lnSpc>
                <a:spcPct val="180000"/>
              </a:lnSpc>
            </a:pPr>
            <a:r>
              <a:rPr lang="en-US" altLang="zh-CN"/>
              <a:t>3. </a:t>
            </a:r>
            <a:r>
              <a:rPr lang="zh-CN" altLang="en-US"/>
              <a:t>教育：用于语言学习、知识问答等教育场景。</a:t>
            </a:r>
            <a:endParaRPr lang="zh-CN" altLang="en-US"/>
          </a:p>
          <a:p>
            <a:pPr>
              <a:lnSpc>
                <a:spcPct val="180000"/>
              </a:lnSpc>
            </a:pPr>
            <a:r>
              <a:rPr lang="en-US" altLang="zh-CN"/>
              <a:t>4. </a:t>
            </a:r>
            <a:r>
              <a:rPr lang="zh-CN" altLang="en-US"/>
              <a:t>智能家居：控制家电设备，如灯光、空调等。</a:t>
            </a:r>
            <a:endParaRPr lang="zh-CN" altLang="en-US"/>
          </a:p>
          <a:p>
            <a:pPr>
              <a:lnSpc>
                <a:spcPct val="180000"/>
              </a:lnSpc>
            </a:pPr>
            <a:r>
              <a:rPr lang="en-US" altLang="zh-CN"/>
              <a:t>5. </a:t>
            </a:r>
            <a:r>
              <a:rPr lang="zh-CN" altLang="en-US"/>
              <a:t>医疗健康：提供健康咨询、预约挂号等服务。</a:t>
            </a:r>
            <a:endParaRPr lang="zh-CN" altLang="en-US"/>
          </a:p>
          <a:p>
            <a:endParaRPr lang="zh-CN" altLang="en-US"/>
          </a:p>
          <a:p>
            <a:pPr>
              <a:buFont typeface="Arial" panose="020B0604020202020204" pitchFamily="34" charset="0"/>
            </a:pPr>
            <a:endParaRPr lang="zh-CN" altLang="en-US" sz="2400" b="1">
              <a:solidFill>
                <a:srgbClr val="FF0000"/>
              </a:solidFill>
              <a:latin typeface="纤黑体" panose="02000000000000000000" charset="-122"/>
              <a:ea typeface="纤黑体" panose="02000000000000000000" charset="-122"/>
              <a:cs typeface="纤黑体" panose="02000000000000000000" charset="-122"/>
            </a:endParaRPr>
          </a:p>
        </p:txBody>
      </p:sp>
      <p:pic>
        <p:nvPicPr>
          <p:cNvPr id="6" name="图片 5"/>
          <p:cNvPicPr>
            <a:picLocks noChangeAspect="1"/>
          </p:cNvPicPr>
          <p:nvPr/>
        </p:nvPicPr>
        <p:blipFill>
          <a:blip r:embed="rId1"/>
          <a:stretch>
            <a:fillRect/>
          </a:stretch>
        </p:blipFill>
        <p:spPr>
          <a:xfrm>
            <a:off x="6899910" y="2090420"/>
            <a:ext cx="3314700" cy="2677160"/>
          </a:xfrm>
          <a:prstGeom prst="rect">
            <a:avLst/>
          </a:prstGeom>
        </p:spPr>
      </p:pic>
      <p:pic>
        <p:nvPicPr>
          <p:cNvPr id="4" name="图片 3" descr="01 (53)"/>
          <p:cNvPicPr>
            <a:picLocks noChangeAspect="1"/>
          </p:cNvPicPr>
          <p:nvPr/>
        </p:nvPicPr>
        <p:blipFill>
          <a:blip r:embed="rId2"/>
          <a:stretch>
            <a:fillRect/>
          </a:stretch>
        </p:blipFill>
        <p:spPr>
          <a:xfrm>
            <a:off x="10902950" y="5070475"/>
            <a:ext cx="1563370" cy="156337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常见聊天机器人：</a:t>
            </a:r>
            <a:endParaRPr lang="zh-CN" altLang="en-US"/>
          </a:p>
        </p:txBody>
      </p:sp>
      <p:sp>
        <p:nvSpPr>
          <p:cNvPr id="3" name="文本占位符 2"/>
          <p:cNvSpPr>
            <a:spLocks noGrp="1"/>
          </p:cNvSpPr>
          <p:nvPr>
            <p:ph type="body" sz="quarter" idx="11"/>
          </p:nvPr>
        </p:nvSpPr>
        <p:spPr/>
        <p:txBody>
          <a:bodyPr/>
          <a:p>
            <a:r>
              <a:rPr lang="en-US" altLang="zh-CN" b="1"/>
              <a:t>DeepSeek</a:t>
            </a:r>
            <a:endParaRPr lang="en-US" altLang="zh-CN" b="1"/>
          </a:p>
          <a:p>
            <a:r>
              <a:rPr lang="zh-CN" altLang="en-US"/>
              <a:t>由杭州深度求索人工智能基础技术研究有限公司研发</a:t>
            </a:r>
            <a:r>
              <a:rPr lang="en-US" altLang="zh-CN"/>
              <a:t>,  </a:t>
            </a:r>
            <a:r>
              <a:rPr lang="zh-CN" altLang="en-US"/>
              <a:t>其核心优势在于性能卓越、低成本开发和开源策略</a:t>
            </a:r>
            <a:endParaRPr lang="en-US" altLang="zh-CN"/>
          </a:p>
          <a:p>
            <a:r>
              <a:rPr lang="en-US" altLang="zh-CN" b="1"/>
              <a:t>Kimi</a:t>
            </a:r>
            <a:r>
              <a:rPr lang="zh-CN" altLang="en-US" b="1"/>
              <a:t>智能助手</a:t>
            </a:r>
            <a:endParaRPr lang="zh-CN" altLang="en-US" b="1"/>
          </a:p>
          <a:p>
            <a:r>
              <a:rPr lang="zh-CN" altLang="en-US"/>
              <a:t>由月之暗面科技有限公司开发，支持超长上下文（最高</a:t>
            </a:r>
            <a:r>
              <a:rPr lang="en-US" altLang="zh-CN"/>
              <a:t>200</a:t>
            </a:r>
            <a:r>
              <a:rPr lang="zh-CN" altLang="en-US"/>
              <a:t>万汉字），适合长文本处理和复杂对话。</a:t>
            </a:r>
            <a:endParaRPr lang="en-US" altLang="zh-CN"/>
          </a:p>
          <a:p>
            <a:r>
              <a:rPr lang="zh-CN" altLang="en-US" b="1"/>
              <a:t>通义千问</a:t>
            </a:r>
            <a:endParaRPr lang="zh-CN" altLang="en-US" b="1"/>
          </a:p>
          <a:p>
            <a:r>
              <a:rPr lang="zh-CN" altLang="en-US"/>
              <a:t>阿里云推出的人工智能助手，适合办公场景，提供高效的信息处理能力。</a:t>
            </a:r>
            <a:endParaRPr lang="en-US" altLang="zh-CN"/>
          </a:p>
          <a:p>
            <a:r>
              <a:rPr lang="zh-CN" altLang="en-US" b="1"/>
              <a:t>讯飞星火</a:t>
            </a:r>
            <a:endParaRPr lang="zh-CN" altLang="en-US" b="1"/>
          </a:p>
          <a:p>
            <a:r>
              <a:rPr lang="zh-CN" altLang="en-US"/>
              <a:t>科大讯飞出品，支持语音输入和语音朗读回复，适合语音交互场景。</a:t>
            </a:r>
            <a:endParaRPr lang="zh-CN" altLang="en-US"/>
          </a:p>
          <a:p>
            <a:r>
              <a:rPr lang="zh-CN" altLang="en-US" b="1"/>
              <a:t>豆包</a:t>
            </a:r>
            <a:endParaRPr lang="zh-CN" altLang="en-US" b="1"/>
          </a:p>
          <a:p>
            <a:r>
              <a:rPr lang="zh-CN" altLang="en-US"/>
              <a:t>字节跳动推出，支持抖音和今日头条的内容信息获取，适合内容创作和信息检索。</a:t>
            </a:r>
            <a:endParaRPr lang="zh-CN" altLang="en-US"/>
          </a:p>
          <a:p>
            <a:endParaRPr lang="zh-CN" altLang="en-US"/>
          </a:p>
          <a:p>
            <a:pPr>
              <a:buFont typeface="Arial" panose="020B0604020202020204" pitchFamily="34" charset="0"/>
            </a:pPr>
            <a:endParaRPr lang="zh-CN" altLang="en-US" sz="2400" b="1">
              <a:solidFill>
                <a:srgbClr val="FF0000"/>
              </a:solidFill>
              <a:latin typeface="纤黑体" panose="02000000000000000000" charset="-122"/>
              <a:ea typeface="纤黑体" panose="02000000000000000000" charset="-122"/>
              <a:cs typeface="纤黑体" panose="02000000000000000000" charset="-122"/>
            </a:endParaRPr>
          </a:p>
        </p:txBody>
      </p:sp>
      <p:pic>
        <p:nvPicPr>
          <p:cNvPr id="4" name="图片 3" descr="01 (53)"/>
          <p:cNvPicPr>
            <a:picLocks noChangeAspect="1"/>
          </p:cNvPicPr>
          <p:nvPr/>
        </p:nvPicPr>
        <p:blipFill>
          <a:blip r:embed="rId1"/>
          <a:stretch>
            <a:fillRect/>
          </a:stretch>
        </p:blipFill>
        <p:spPr>
          <a:xfrm>
            <a:off x="10902950" y="5070475"/>
            <a:ext cx="1563370" cy="156337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黑马智能聊天机器人效果展示</a:t>
            </a:r>
            <a:r>
              <a:rPr lang="en-US" altLang="zh-CN"/>
              <a:t>:</a:t>
            </a:r>
            <a:endParaRPr lang="en-US" altLang="zh-CN"/>
          </a:p>
        </p:txBody>
      </p:sp>
      <p:sp>
        <p:nvSpPr>
          <p:cNvPr id="3" name="文本占位符 2"/>
          <p:cNvSpPr>
            <a:spLocks noGrp="1"/>
          </p:cNvSpPr>
          <p:nvPr>
            <p:ph type="body" sz="quarter" idx="11"/>
          </p:nvPr>
        </p:nvSpPr>
        <p:spPr>
          <a:xfrm>
            <a:off x="710880" y="1879520"/>
            <a:ext cx="10698800" cy="4219575"/>
          </a:xfrm>
        </p:spPr>
        <p:txBody>
          <a:bodyPr/>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本次课我们会带领大家完成从</a:t>
            </a:r>
            <a:r>
              <a:rPr lang="en-US" altLang="zh-CN"/>
              <a:t>0-1</a:t>
            </a:r>
            <a:r>
              <a:rPr lang="zh-CN" altLang="en-US"/>
              <a:t>的聊天机器人搭建。</a:t>
            </a:r>
            <a:endParaRPr lang="zh-CN" altLang="en-US"/>
          </a:p>
        </p:txBody>
      </p:sp>
      <p:pic>
        <p:nvPicPr>
          <p:cNvPr id="4" name="图片 3"/>
          <p:cNvPicPr>
            <a:picLocks noChangeAspect="1"/>
          </p:cNvPicPr>
          <p:nvPr/>
        </p:nvPicPr>
        <p:blipFill>
          <a:blip r:embed="rId1"/>
          <a:stretch>
            <a:fillRect/>
          </a:stretch>
        </p:blipFill>
        <p:spPr>
          <a:xfrm>
            <a:off x="2790190" y="1513840"/>
            <a:ext cx="5231765" cy="4340225"/>
          </a:xfrm>
          <a:prstGeom prst="rect">
            <a:avLst/>
          </a:prstGeom>
        </p:spPr>
      </p:pic>
      <p:pic>
        <p:nvPicPr>
          <p:cNvPr id="5" name="图片 4" descr="01 (134)"/>
          <p:cNvPicPr>
            <a:picLocks noChangeAspect="1"/>
          </p:cNvPicPr>
          <p:nvPr/>
        </p:nvPicPr>
        <p:blipFill>
          <a:blip r:embed="rId2"/>
          <a:stretch>
            <a:fillRect/>
          </a:stretch>
        </p:blipFill>
        <p:spPr>
          <a:xfrm>
            <a:off x="7023100" y="1656080"/>
            <a:ext cx="3810000" cy="3810000"/>
          </a:xfrm>
          <a:prstGeom prst="rect">
            <a:avLst/>
          </a:prstGeom>
        </p:spPr>
      </p:pic>
      <p:sp>
        <p:nvSpPr>
          <p:cNvPr id="8" name="文本框 7"/>
          <p:cNvSpPr txBox="1"/>
          <p:nvPr/>
        </p:nvSpPr>
        <p:spPr>
          <a:xfrm>
            <a:off x="2790190" y="1514475"/>
            <a:ext cx="5342890" cy="443611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noAutofit/>
          </a:bodyPr>
          <a:p>
            <a:pPr indent="0" fontAlgn="auto">
              <a:lnSpc>
                <a:spcPts val="1800"/>
              </a:lnSpc>
            </a:pPr>
            <a:endParaRPr lang="en-US" altLang="zh-CN" sz="1600" b="0" i="1">
              <a:solidFill>
                <a:srgbClr val="AAAAAA"/>
              </a:solidFill>
              <a:latin typeface="Consolas" panose="020B0609020204030204"/>
              <a:ea typeface="Consolas" panose="020B0609020204030204"/>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a:xfrm>
            <a:off x="5082134" y="1069975"/>
            <a:ext cx="5760538" cy="4511040"/>
          </a:xfrm>
        </p:spPr>
        <p:txBody>
          <a:bodyPr/>
          <a:p>
            <a:pPr marL="0" indent="0">
              <a:buNone/>
            </a:pPr>
            <a:r>
              <a:rPr lang="zh-CN" dirty="0">
                <a:sym typeface="+mn-ea"/>
              </a:rPr>
              <a:t>什么是聊天机器人</a:t>
            </a:r>
            <a:r>
              <a:rPr lang="en-US" altLang="zh-CN" dirty="0">
                <a:sym typeface="+mn-ea"/>
              </a:rPr>
              <a:t>?</a:t>
            </a:r>
            <a:endParaRPr lang="zh-CN" dirty="0">
              <a:sym typeface="+mn-ea"/>
            </a:endParaRPr>
          </a:p>
          <a:p>
            <a:pPr marL="0" indent="0">
              <a:buNone/>
            </a:pPr>
            <a:r>
              <a:rPr lang="zh-CN" altLang="en-US" sz="1400" dirty="0">
                <a:solidFill>
                  <a:schemeClr val="tx1"/>
                </a:solidFill>
              </a:rPr>
              <a:t>聊天机器人是一种基于人工智能的自然语言处理技术开发的软件程序，能够通过文本或语音与用户进行交互，模拟人类对话。它可以根据用户输入的问题或指令，生成相应的回答或执行特定的操作。</a:t>
            </a:r>
            <a:endParaRPr lang="zh-CN" altLang="en-US" sz="1400" dirty="0">
              <a:solidFill>
                <a:schemeClr val="tx1"/>
              </a:solidFill>
            </a:endParaRPr>
          </a:p>
        </p:txBody>
      </p:sp>
      <p:sp>
        <p:nvSpPr>
          <p:cNvPr id="21" name="矩形 20"/>
          <p:cNvSpPr/>
          <p:nvPr/>
        </p:nvSpPr>
        <p:spPr>
          <a:xfrm>
            <a:off x="6934200" y="3085465"/>
            <a:ext cx="746760" cy="343535"/>
          </a:xfrm>
          <a:prstGeom prst="rect">
            <a:avLst/>
          </a:prstGeom>
          <a:noFill/>
          <a:ln w="38100">
            <a:solidFill>
              <a:srgbClr val="B7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9772015" y="3085465"/>
            <a:ext cx="746760" cy="343535"/>
          </a:xfrm>
          <a:prstGeom prst="rect">
            <a:avLst/>
          </a:prstGeom>
          <a:noFill/>
          <a:ln w="38100">
            <a:solidFill>
              <a:srgbClr val="B7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1" grpId="1" animBg="1"/>
      <p:bldP spid="3" grpId="0" bldLvl="0" animBg="1"/>
      <p:bldP spid="3"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19358" y="1029625"/>
            <a:ext cx="5973761" cy="4256405"/>
          </a:xfrm>
        </p:spPr>
        <p:txBody>
          <a:bodyPr/>
          <a:lstStyle/>
          <a:p>
            <a:pPr algn="l"/>
            <a:r>
              <a:rPr lang="zh-CN" altLang="en-US" sz="1600" dirty="0"/>
              <a:t>黑马智聊机器人项目简介</a:t>
            </a:r>
            <a:endParaRPr lang="zh-CN" altLang="en-US" sz="1600" dirty="0"/>
          </a:p>
          <a:p>
            <a:pPr algn="l"/>
            <a:r>
              <a:rPr lang="zh-CN" altLang="en-US" sz="1600" dirty="0">
                <a:solidFill>
                  <a:srgbClr val="C00000"/>
                </a:solidFill>
                <a:sym typeface="+mn-ea"/>
              </a:rPr>
              <a:t>黑马智聊机器人项目需求</a:t>
            </a:r>
            <a:endParaRPr lang="zh-CN" altLang="en-US" sz="1600" dirty="0">
              <a:solidFill>
                <a:srgbClr val="C00000"/>
              </a:solidFill>
            </a:endParaRPr>
          </a:p>
          <a:p>
            <a:pPr algn="l"/>
            <a:r>
              <a:rPr lang="zh-CN" altLang="en-US" sz="1600" dirty="0">
                <a:sym typeface="+mn-ea"/>
              </a:rPr>
              <a:t>黑马智聊机器人项目架构</a:t>
            </a:r>
            <a:endParaRPr lang="zh-CN" altLang="en-US" sz="1600" dirty="0"/>
          </a:p>
          <a:p>
            <a:pPr algn="l"/>
            <a:r>
              <a:rPr lang="zh-CN" altLang="en-US" sz="1600" dirty="0">
                <a:sym typeface="+mn-ea"/>
              </a:rPr>
              <a:t>大模型分类</a:t>
            </a:r>
            <a:endParaRPr lang="zh-CN" altLang="en-US" sz="1600" dirty="0">
              <a:sym typeface="+mn-ea"/>
            </a:endParaRPr>
          </a:p>
          <a:p>
            <a:pPr algn="l"/>
            <a:r>
              <a:rPr lang="zh-CN" altLang="en-US" sz="1600" dirty="0">
                <a:sym typeface="+mn-ea"/>
              </a:rPr>
              <a:t>热门大模型初体验</a:t>
            </a:r>
            <a:endParaRPr lang="zh-CN" altLang="en-US" sz="1600" dirty="0">
              <a:sym typeface="+mn-ea"/>
            </a:endParaRPr>
          </a:p>
          <a:p>
            <a:pPr marL="0" indent="0" algn="l">
              <a:buNone/>
            </a:pPr>
            <a:endParaRPr kumimoji="1" lang="zh-CN" altLang="en-US" sz="1600" dirty="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866958" y="335400"/>
            <a:ext cx="6298881" cy="4855845"/>
          </a:xfrm>
        </p:spPr>
        <p:txBody>
          <a:bodyPr/>
          <a:lstStyle/>
          <a:p>
            <a:r>
              <a:rPr lang="zh-CN" altLang="en-US" dirty="0">
                <a:solidFill>
                  <a:schemeClr val="tx1"/>
                </a:solidFill>
              </a:rPr>
              <a:t>了解黑马智聊机器人项目需求</a:t>
            </a:r>
            <a:endParaRPr lang="zh-CN" altLang="en-US" dirty="0">
              <a:solidFill>
                <a:schemeClr val="tx1"/>
              </a:solidFill>
            </a:endParaRPr>
          </a:p>
          <a:p>
            <a:r>
              <a:rPr lang="zh-CN" altLang="en-US" dirty="0">
                <a:solidFill>
                  <a:schemeClr val="tx1"/>
                </a:solidFill>
                <a:sym typeface="+mn-ea"/>
              </a:rPr>
              <a:t>熟悉搭建聊天机器人三种方式的区别</a:t>
            </a:r>
            <a:endParaRPr lang="zh-CN" altLang="en-US"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t>黑马智聊机器人项目需求</a:t>
            </a:r>
          </a:p>
        </p:txBody>
      </p:sp>
      <p:sp>
        <p:nvSpPr>
          <p:cNvPr id="4" name="文本占位符 3"/>
          <p:cNvSpPr/>
          <p:nvPr>
            <p:ph type="body" sz="quarter" idx="11"/>
          </p:nvPr>
        </p:nvSpPr>
        <p:spPr>
          <a:xfrm>
            <a:off x="710565" y="1744980"/>
            <a:ext cx="8613775" cy="4219575"/>
          </a:xfrm>
        </p:spPr>
        <p:txBody>
          <a:bodyPr/>
          <a:p>
            <a:pPr>
              <a:lnSpc>
                <a:spcPct val="200000"/>
              </a:lnSpc>
            </a:pPr>
            <a:r>
              <a:rPr lang="zh-CN" altLang="en-US"/>
              <a:t>该项目旨在构建一个基于大模型的智能聊天机器人，利用其强大的自然语言处理和生成能力，为用户提供高效、精准、个性化的对话服务。</a:t>
            </a:r>
            <a:endParaRPr lang="zh-CN" altLang="en-US"/>
          </a:p>
          <a:p>
            <a:pPr>
              <a:lnSpc>
                <a:spcPct val="200000"/>
              </a:lnSpc>
            </a:pPr>
            <a:endParaRPr lang="en-US" altLang="zh-CN"/>
          </a:p>
          <a:p>
            <a:pPr>
              <a:lnSpc>
                <a:spcPct val="200000"/>
              </a:lnSpc>
            </a:pPr>
            <a:r>
              <a:rPr lang="zh-CN" altLang="en-US"/>
              <a:t>该聊天机器人将集成先进的大规模预训练语言模型（如</a:t>
            </a:r>
            <a:r>
              <a:rPr lang="en-US" altLang="zh-CN"/>
              <a:t>Deepseek</a:t>
            </a:r>
            <a:r>
              <a:rPr lang="zh-CN" altLang="en-US"/>
              <a:t>、</a:t>
            </a:r>
            <a:r>
              <a:rPr lang="en-US" altLang="zh-CN"/>
              <a:t>Qwen</a:t>
            </a:r>
            <a:r>
              <a:rPr lang="zh-CN" altLang="en-US"/>
              <a:t>等），具备自然语言理解、多轮对话、情感分析、知识问答等核心功能，并可根据具体应用场景进行定制化扩展，如客服咨询、教育辅导、娱乐互动等。</a:t>
            </a:r>
            <a:endParaRPr lang="zh-CN" altLang="en-US"/>
          </a:p>
          <a:p>
            <a:endParaRPr lang="zh-CN" altLang="en-US"/>
          </a:p>
        </p:txBody>
      </p:sp>
      <p:pic>
        <p:nvPicPr>
          <p:cNvPr id="3" name="图片 2" descr="01 (134)"/>
          <p:cNvPicPr>
            <a:picLocks noChangeAspect="1"/>
          </p:cNvPicPr>
          <p:nvPr/>
        </p:nvPicPr>
        <p:blipFill>
          <a:blip r:embed="rId1"/>
          <a:stretch>
            <a:fillRect/>
          </a:stretch>
        </p:blipFill>
        <p:spPr>
          <a:xfrm>
            <a:off x="-477520" y="1280795"/>
            <a:ext cx="1587500" cy="1587500"/>
          </a:xfrm>
          <a:prstGeom prst="rect">
            <a:avLst/>
          </a:prstGeom>
        </p:spPr>
      </p:pic>
      <p:pic>
        <p:nvPicPr>
          <p:cNvPr id="5" name="图片 4" descr="01 (53)"/>
          <p:cNvPicPr>
            <a:picLocks noChangeAspect="1"/>
          </p:cNvPicPr>
          <p:nvPr/>
        </p:nvPicPr>
        <p:blipFill>
          <a:blip r:embed="rId2"/>
          <a:stretch>
            <a:fillRect/>
          </a:stretch>
        </p:blipFill>
        <p:spPr>
          <a:xfrm>
            <a:off x="10902950" y="5070475"/>
            <a:ext cx="1563370" cy="156337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t>黑马智聊机器人项目需求</a:t>
            </a:r>
          </a:p>
        </p:txBody>
      </p:sp>
      <p:sp>
        <p:nvSpPr>
          <p:cNvPr id="4" name="文本占位符 3"/>
          <p:cNvSpPr/>
          <p:nvPr>
            <p:ph type="body" sz="quarter" idx="11"/>
          </p:nvPr>
        </p:nvSpPr>
        <p:spPr>
          <a:xfrm>
            <a:off x="767715" y="1596390"/>
            <a:ext cx="8971915" cy="4219575"/>
          </a:xfrm>
        </p:spPr>
        <p:txBody>
          <a:bodyPr/>
          <a:p>
            <a:pPr>
              <a:lnSpc>
                <a:spcPct val="200000"/>
              </a:lnSpc>
            </a:pPr>
            <a:r>
              <a:rPr lang="zh-CN" altLang="en-US"/>
              <a:t>（一）核心对话功能需求</a:t>
            </a:r>
            <a:endParaRPr lang="en-US" altLang="zh-CN"/>
          </a:p>
          <a:p>
            <a:pPr indent="457200">
              <a:lnSpc>
                <a:spcPct val="200000"/>
              </a:lnSpc>
            </a:pPr>
            <a:r>
              <a:rPr lang="en-US" altLang="zh-CN"/>
              <a:t>  1. </a:t>
            </a:r>
            <a:r>
              <a:rPr lang="zh-CN" altLang="en-US"/>
              <a:t>自然语言处理</a:t>
            </a:r>
            <a:endParaRPr lang="zh-CN" altLang="en-US"/>
          </a:p>
          <a:p>
            <a:pPr indent="457200">
              <a:lnSpc>
                <a:spcPct val="200000"/>
              </a:lnSpc>
            </a:pPr>
            <a:r>
              <a:rPr lang="en-US" altLang="zh-CN"/>
              <a:t>  2. </a:t>
            </a:r>
            <a:r>
              <a:rPr lang="zh-CN" altLang="en-US"/>
              <a:t>实时对话交互</a:t>
            </a:r>
            <a:endParaRPr lang="zh-CN" altLang="en-US"/>
          </a:p>
          <a:p>
            <a:pPr>
              <a:lnSpc>
                <a:spcPct val="200000"/>
              </a:lnSpc>
            </a:pPr>
            <a:r>
              <a:rPr lang="zh-CN" altLang="en-US">
                <a:sym typeface="+mn-ea"/>
              </a:rPr>
              <a:t>（二）用户界面功能需求</a:t>
            </a:r>
            <a:endParaRPr lang="en-US" altLang="zh-CN"/>
          </a:p>
          <a:p>
            <a:pPr indent="457200">
              <a:lnSpc>
                <a:spcPct val="200000"/>
              </a:lnSpc>
            </a:pPr>
            <a:r>
              <a:rPr lang="en-US" altLang="zh-CN">
                <a:sym typeface="+mn-ea"/>
              </a:rPr>
              <a:t>  1. </a:t>
            </a:r>
            <a:r>
              <a:rPr lang="zh-CN" altLang="en-US">
                <a:sym typeface="+mn-ea"/>
              </a:rPr>
              <a:t>简洁明了的布局</a:t>
            </a:r>
            <a:endParaRPr lang="zh-CN" altLang="en-US"/>
          </a:p>
          <a:p>
            <a:pPr indent="457200">
              <a:lnSpc>
                <a:spcPct val="200000"/>
              </a:lnSpc>
            </a:pPr>
            <a:r>
              <a:rPr lang="en-US" altLang="zh-CN">
                <a:sym typeface="+mn-ea"/>
              </a:rPr>
              <a:t>  2. </a:t>
            </a:r>
            <a:r>
              <a:rPr lang="zh-CN" altLang="en-US">
                <a:sym typeface="+mn-ea"/>
              </a:rPr>
              <a:t>交互式体验</a:t>
            </a:r>
            <a:endParaRPr lang="zh-CN" altLang="en-US">
              <a:sym typeface="+mn-ea"/>
            </a:endParaRPr>
          </a:p>
          <a:p>
            <a:pPr>
              <a:lnSpc>
                <a:spcPct val="200000"/>
              </a:lnSpc>
            </a:pPr>
            <a:r>
              <a:rPr lang="zh-CN" altLang="en-US">
                <a:sym typeface="+mn-ea"/>
              </a:rPr>
              <a:t>根据上述功能需求，项目采用模块化设计，前端通过</a:t>
            </a:r>
            <a:r>
              <a:rPr lang="en-US" altLang="zh-CN">
                <a:sym typeface="+mn-ea"/>
              </a:rPr>
              <a:t>Streamlit</a:t>
            </a:r>
            <a:r>
              <a:rPr lang="zh-CN" altLang="en-US">
                <a:sym typeface="+mn-ea"/>
              </a:rPr>
              <a:t>等框架实现简洁易用的交互界面，后端基于</a:t>
            </a:r>
            <a:r>
              <a:rPr lang="en-US" altLang="zh-CN">
                <a:sym typeface="+mn-ea"/>
              </a:rPr>
              <a:t>Ollama</a:t>
            </a:r>
            <a:r>
              <a:rPr lang="zh-CN" altLang="en-US">
                <a:sym typeface="+mn-ea"/>
              </a:rPr>
              <a:t>等平台进行模型部署和管理，确保系统的高效性和可扩展性。</a:t>
            </a:r>
            <a:endParaRPr lang="zh-CN" altLang="en-US"/>
          </a:p>
          <a:p>
            <a:pPr>
              <a:lnSpc>
                <a:spcPct val="200000"/>
              </a:lnSpc>
            </a:pPr>
            <a:endParaRPr lang="zh-CN" altLang="en-US"/>
          </a:p>
        </p:txBody>
      </p:sp>
      <p:sp>
        <p:nvSpPr>
          <p:cNvPr id="21" name="矩形 20"/>
          <p:cNvSpPr/>
          <p:nvPr/>
        </p:nvSpPr>
        <p:spPr>
          <a:xfrm>
            <a:off x="4683760" y="5008245"/>
            <a:ext cx="2348865" cy="343535"/>
          </a:xfrm>
          <a:prstGeom prst="rect">
            <a:avLst/>
          </a:prstGeom>
          <a:noFill/>
          <a:ln w="38100">
            <a:solidFill>
              <a:srgbClr val="B7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829310" y="5478780"/>
            <a:ext cx="2089785" cy="343535"/>
          </a:xfrm>
          <a:prstGeom prst="rect">
            <a:avLst/>
          </a:prstGeom>
          <a:noFill/>
          <a:ln w="38100">
            <a:solidFill>
              <a:srgbClr val="B7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5" name="图片 4" descr="01 (53)"/>
          <p:cNvPicPr>
            <a:picLocks noChangeAspect="1"/>
          </p:cNvPicPr>
          <p:nvPr/>
        </p:nvPicPr>
        <p:blipFill>
          <a:blip r:embed="rId1"/>
          <a:stretch>
            <a:fillRect/>
          </a:stretch>
        </p:blipFill>
        <p:spPr>
          <a:xfrm>
            <a:off x="10902950" y="5070475"/>
            <a:ext cx="1563370" cy="15633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1" grpId="1" animBg="1"/>
      <p:bldP spid="3" grpId="0" bldLvl="0" animBg="1"/>
      <p:bldP spid="3"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a:xfrm>
            <a:off x="4610100" y="2338070"/>
            <a:ext cx="5760720" cy="1861185"/>
          </a:xfrm>
        </p:spPr>
        <p:txBody>
          <a:bodyPr/>
          <a:p>
            <a:pPr marL="0" indent="0">
              <a:buNone/>
            </a:pPr>
            <a:r>
              <a:rPr lang="zh-CN" altLang="en-US"/>
              <a:t>了解了相关需求之后，如何搭建聊天机器人呢？</a:t>
            </a:r>
            <a:endParaRPr lang="en-US" altLang="zh-CN"/>
          </a:p>
        </p:txBody>
      </p:sp>
      <p:sp>
        <p:nvSpPr>
          <p:cNvPr id="3" name="矩形 2"/>
          <p:cNvSpPr/>
          <p:nvPr/>
        </p:nvSpPr>
        <p:spPr>
          <a:xfrm>
            <a:off x="6957060" y="3202940"/>
            <a:ext cx="2326640" cy="337185"/>
          </a:xfrm>
          <a:prstGeom prst="rect">
            <a:avLst/>
          </a:prstGeom>
          <a:noFill/>
          <a:ln>
            <a:solidFill>
              <a:srgbClr val="B7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 name="图片 3" descr="01 (106)"/>
          <p:cNvPicPr>
            <a:picLocks noChangeAspect="1"/>
          </p:cNvPicPr>
          <p:nvPr>
            <p:custDataLst>
              <p:tags r:id="rId1"/>
            </p:custDataLst>
          </p:nvPr>
        </p:nvPicPr>
        <p:blipFill>
          <a:blip r:embed="rId2"/>
          <a:stretch>
            <a:fillRect/>
          </a:stretch>
        </p:blipFill>
        <p:spPr>
          <a:xfrm>
            <a:off x="6206490" y="3837305"/>
            <a:ext cx="1638300" cy="1638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如何搭建聊天机器人</a:t>
            </a:r>
            <a:r>
              <a:rPr lang="en-US" altLang="zh-CN"/>
              <a:t>?</a:t>
            </a:r>
            <a:endParaRPr lang="en-US" altLang="zh-CN"/>
          </a:p>
        </p:txBody>
      </p:sp>
      <p:sp>
        <p:nvSpPr>
          <p:cNvPr id="4" name="文本占位符 3"/>
          <p:cNvSpPr/>
          <p:nvPr>
            <p:ph type="body" sz="quarter" idx="11"/>
          </p:nvPr>
        </p:nvSpPr>
        <p:spPr>
          <a:xfrm>
            <a:off x="710565" y="1744980"/>
            <a:ext cx="8613775" cy="4219575"/>
          </a:xfrm>
        </p:spPr>
        <p:txBody>
          <a:bodyPr/>
          <a:p>
            <a:pPr>
              <a:lnSpc>
                <a:spcPct val="200000"/>
              </a:lnSpc>
            </a:pPr>
            <a:r>
              <a:rPr lang="zh-CN" altLang="en-US"/>
              <a:t>常见搭建聊天机器人方式有</a:t>
            </a:r>
            <a:r>
              <a:rPr lang="en-US" altLang="zh-CN"/>
              <a:t>3</a:t>
            </a:r>
            <a:r>
              <a:rPr lang="zh-CN" altLang="en-US"/>
              <a:t>种</a:t>
            </a:r>
            <a:endParaRPr lang="zh-CN" altLang="en-US"/>
          </a:p>
          <a:p>
            <a:pPr>
              <a:lnSpc>
                <a:spcPct val="200000"/>
              </a:lnSpc>
            </a:pPr>
            <a:r>
              <a:rPr lang="zh-CN" altLang="en-US"/>
              <a:t>分别是：</a:t>
            </a:r>
            <a:endParaRPr lang="en-US" altLang="zh-CN"/>
          </a:p>
          <a:p>
            <a:pPr indent="457200">
              <a:lnSpc>
                <a:spcPct val="200000"/>
              </a:lnSpc>
            </a:pPr>
            <a:r>
              <a:rPr lang="en-US" altLang="en-US"/>
              <a:t>①</a:t>
            </a:r>
            <a:r>
              <a:rPr lang="zh-CN" altLang="en-US"/>
              <a:t>使用无代码平台搭建</a:t>
            </a:r>
            <a:endParaRPr lang="en-US" altLang="zh-CN"/>
          </a:p>
          <a:p>
            <a:pPr indent="457200">
              <a:lnSpc>
                <a:spcPct val="200000"/>
              </a:lnSpc>
            </a:pPr>
            <a:r>
              <a:rPr lang="en-US" altLang="en-US"/>
              <a:t>②</a:t>
            </a:r>
            <a:r>
              <a:rPr lang="zh-CN" altLang="en-US"/>
              <a:t>使用开源框架开发</a:t>
            </a:r>
            <a:endParaRPr lang="en-US" altLang="zh-CN"/>
          </a:p>
          <a:p>
            <a:pPr indent="457200">
              <a:lnSpc>
                <a:spcPct val="200000"/>
              </a:lnSpc>
            </a:pPr>
            <a:r>
              <a:rPr lang="en-US" altLang="en-US"/>
              <a:t>③</a:t>
            </a:r>
            <a:r>
              <a:rPr lang="zh-CN" altLang="en-US"/>
              <a:t>基于大语言模型的集成</a:t>
            </a:r>
            <a:endParaRPr lang="zh-CN" altLang="en-US"/>
          </a:p>
          <a:p>
            <a:pPr>
              <a:lnSpc>
                <a:spcPct val="200000"/>
              </a:lnSpc>
            </a:pPr>
            <a:endParaRPr lang="zh-CN" altLang="en-US"/>
          </a:p>
        </p:txBody>
      </p:sp>
      <p:pic>
        <p:nvPicPr>
          <p:cNvPr id="8" name="图片 7" descr="01 (106)"/>
          <p:cNvPicPr>
            <a:picLocks noChangeAspect="1"/>
          </p:cNvPicPr>
          <p:nvPr>
            <p:custDataLst>
              <p:tags r:id="rId1"/>
            </p:custDataLst>
          </p:nvPr>
        </p:nvPicPr>
        <p:blipFill>
          <a:blip r:embed="rId2"/>
          <a:stretch>
            <a:fillRect/>
          </a:stretch>
        </p:blipFill>
        <p:spPr>
          <a:xfrm>
            <a:off x="4048125" y="2844165"/>
            <a:ext cx="1638300" cy="1638300"/>
          </a:xfrm>
          <a:prstGeom prst="rect">
            <a:avLst/>
          </a:prstGeom>
        </p:spPr>
      </p:pic>
      <p:sp>
        <p:nvSpPr>
          <p:cNvPr id="6" name="文本框 5"/>
          <p:cNvSpPr txBox="1"/>
          <p:nvPr/>
        </p:nvSpPr>
        <p:spPr>
          <a:xfrm>
            <a:off x="6019800" y="3340735"/>
            <a:ext cx="4123055" cy="521970"/>
          </a:xfrm>
          <a:prstGeom prst="rect">
            <a:avLst/>
          </a:prstGeom>
          <a:noFill/>
        </p:spPr>
        <p:txBody>
          <a:bodyPr wrap="square">
            <a:spAutoFit/>
          </a:bodyPr>
          <a:p>
            <a:pPr fontAlgn="auto">
              <a:spcBef>
                <a:spcPts val="0"/>
              </a:spcBef>
              <a:spcAft>
                <a:spcPts val="0"/>
              </a:spcAft>
            </a:pPr>
            <a:r>
              <a:rPr lang="zh-CN" altLang="en-US" sz="2800" b="1" dirty="0">
                <a:solidFill>
                  <a:schemeClr val="tx1">
                    <a:lumMod val="65000"/>
                    <a:lumOff val="35000"/>
                  </a:schemeClr>
                </a:solidFill>
                <a:latin typeface="纤黑体" panose="02000000000000000000" charset="-122"/>
                <a:ea typeface="纤黑体" panose="02000000000000000000" charset="-122"/>
              </a:rPr>
              <a:t>他们有什么区别呢</a:t>
            </a:r>
            <a:endParaRPr lang="en-US" altLang="zh-CN" sz="2800" b="1" dirty="0">
              <a:solidFill>
                <a:schemeClr val="tx1">
                  <a:lumMod val="65000"/>
                  <a:lumOff val="35000"/>
                </a:schemeClr>
              </a:solidFill>
              <a:latin typeface="纤黑体" panose="02000000000000000000" charset="-122"/>
              <a:ea typeface="纤黑体" panose="020000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2"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6" grpId="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①使用无代码平台搭建</a:t>
            </a:r>
            <a:endParaRPr lang="zh-CN" altLang="en-US"/>
          </a:p>
        </p:txBody>
      </p:sp>
      <p:sp>
        <p:nvSpPr>
          <p:cNvPr id="4" name="文本占位符 3"/>
          <p:cNvSpPr/>
          <p:nvPr>
            <p:ph type="body" sz="quarter" idx="11"/>
          </p:nvPr>
        </p:nvSpPr>
        <p:spPr>
          <a:xfrm>
            <a:off x="710565" y="1420495"/>
            <a:ext cx="8669020" cy="4942840"/>
          </a:xfrm>
        </p:spPr>
        <p:txBody>
          <a:bodyPr/>
          <a:p>
            <a:pPr>
              <a:lnSpc>
                <a:spcPct val="200000"/>
              </a:lnSpc>
            </a:pPr>
            <a:r>
              <a:rPr lang="zh-CN" altLang="en-US"/>
              <a:t>无代码平台允许用户通过可视化界面快速创建聊天机器人，无需编程基础。</a:t>
            </a:r>
            <a:endParaRPr lang="zh-CN" altLang="en-US"/>
          </a:p>
          <a:p>
            <a:pPr>
              <a:lnSpc>
                <a:spcPct val="200000"/>
              </a:lnSpc>
            </a:pPr>
            <a:r>
              <a:rPr lang="zh-CN" altLang="en-US"/>
              <a:t>例如，扣子（</a:t>
            </a:r>
            <a:r>
              <a:rPr lang="en-US" altLang="zh-CN"/>
              <a:t>Coze</a:t>
            </a:r>
            <a:r>
              <a:rPr lang="zh-CN" altLang="en-US"/>
              <a:t>）</a:t>
            </a:r>
            <a:r>
              <a:rPr lang="en-US" altLang="zh-CN"/>
              <a:t> </a:t>
            </a:r>
            <a:r>
              <a:rPr lang="zh-CN" altLang="en-US"/>
              <a:t>是一个由字节跳动开发的智能体应用开发平台，支持集成多种大语言模型（如</a:t>
            </a:r>
            <a:r>
              <a:rPr lang="en-US" altLang="zh-CN"/>
              <a:t> DeepSeek</a:t>
            </a:r>
            <a:r>
              <a:rPr lang="zh-CN" altLang="en-US"/>
              <a:t>），并可以快速接入微信公众号。</a:t>
            </a:r>
            <a:endParaRPr lang="en-US" altLang="zh-CN"/>
          </a:p>
          <a:p>
            <a:pPr>
              <a:lnSpc>
                <a:spcPct val="200000"/>
              </a:lnSpc>
            </a:pPr>
            <a:r>
              <a:rPr lang="zh-CN" altLang="en-US"/>
              <a:t>搭建步骤：</a:t>
            </a:r>
            <a:endParaRPr lang="en-US" altLang="zh-CN"/>
          </a:p>
          <a:p>
            <a:pPr indent="457200">
              <a:lnSpc>
                <a:spcPct val="200000"/>
              </a:lnSpc>
            </a:pPr>
            <a:r>
              <a:rPr lang="en-US" altLang="zh-CN" sz="1200" b="1"/>
              <a:t>1. </a:t>
            </a:r>
            <a:r>
              <a:rPr lang="zh-CN" altLang="en-US" sz="1200" b="1"/>
              <a:t>注册并登录平台：</a:t>
            </a:r>
            <a:r>
              <a:rPr lang="zh-CN" altLang="en-US" sz="1200"/>
              <a:t>访问</a:t>
            </a:r>
            <a:r>
              <a:rPr lang="en-US" altLang="zh-CN" sz="1200"/>
              <a:t> </a:t>
            </a:r>
            <a:r>
              <a:rPr lang="zh-CN" altLang="en-US" sz="1200"/>
              <a:t>扣子官网，使用抖音或飞书扫码登录。</a:t>
            </a:r>
            <a:endParaRPr lang="zh-CN" altLang="en-US" sz="1200"/>
          </a:p>
          <a:p>
            <a:pPr indent="457200">
              <a:lnSpc>
                <a:spcPct val="200000"/>
              </a:lnSpc>
            </a:pPr>
            <a:r>
              <a:rPr lang="en-US" altLang="zh-CN" sz="1200" b="1"/>
              <a:t>2. </a:t>
            </a:r>
            <a:r>
              <a:rPr lang="zh-CN" altLang="en-US" sz="1200" b="1"/>
              <a:t>创建应用：</a:t>
            </a:r>
            <a:r>
              <a:rPr lang="zh-CN" altLang="en-US" sz="1200"/>
              <a:t>填写智能体名称、功能介绍和图标。</a:t>
            </a:r>
            <a:endParaRPr lang="zh-CN" altLang="en-US" sz="1200"/>
          </a:p>
          <a:p>
            <a:pPr indent="457200">
              <a:lnSpc>
                <a:spcPct val="200000"/>
              </a:lnSpc>
            </a:pPr>
            <a:r>
              <a:rPr lang="en-US" altLang="zh-CN" sz="1200" b="1"/>
              <a:t>3. </a:t>
            </a:r>
            <a:r>
              <a:rPr lang="zh-CN" altLang="en-US" sz="1200" b="1"/>
              <a:t>配置机器人：</a:t>
            </a:r>
            <a:endParaRPr lang="zh-CN" altLang="en-US" sz="1200" b="1"/>
          </a:p>
          <a:p>
            <a:pPr indent="457200">
              <a:lnSpc>
                <a:spcPct val="200000"/>
              </a:lnSpc>
            </a:pPr>
            <a:r>
              <a:rPr lang="zh-CN" altLang="en-US" sz="1200"/>
              <a:t> </a:t>
            </a:r>
            <a:r>
              <a:rPr lang="en-US" altLang="zh-CN" sz="1200"/>
              <a:t>         - </a:t>
            </a:r>
            <a:r>
              <a:rPr lang="zh-CN" altLang="en-US" sz="1200"/>
              <a:t>选择模型（如</a:t>
            </a:r>
            <a:r>
              <a:rPr lang="en-US" altLang="zh-CN" sz="1200"/>
              <a:t> DeepSeek </a:t>
            </a:r>
            <a:r>
              <a:rPr lang="zh-CN" altLang="en-US" sz="1200"/>
              <a:t>或其他大模型）</a:t>
            </a:r>
            <a:endParaRPr lang="zh-CN" altLang="en-US" sz="1200"/>
          </a:p>
          <a:p>
            <a:pPr indent="457200">
              <a:lnSpc>
                <a:spcPct val="200000"/>
              </a:lnSpc>
            </a:pPr>
            <a:r>
              <a:rPr lang="zh-CN" altLang="en-US" sz="1200"/>
              <a:t> </a:t>
            </a:r>
            <a:r>
              <a:rPr lang="en-US" altLang="zh-CN" sz="1200"/>
              <a:t>         - </a:t>
            </a:r>
            <a:r>
              <a:rPr lang="zh-CN" altLang="en-US" sz="1200"/>
              <a:t>添加插件（如联网、绘画等）</a:t>
            </a:r>
            <a:endParaRPr lang="zh-CN" altLang="en-US" sz="1200"/>
          </a:p>
          <a:p>
            <a:pPr indent="457200">
              <a:lnSpc>
                <a:spcPct val="200000"/>
              </a:lnSpc>
            </a:pPr>
            <a:r>
              <a:rPr lang="zh-CN" altLang="en-US" sz="1200"/>
              <a:t> </a:t>
            </a:r>
            <a:r>
              <a:rPr lang="en-US" altLang="zh-CN" sz="1200"/>
              <a:t>         - </a:t>
            </a:r>
            <a:r>
              <a:rPr lang="zh-CN" altLang="en-US" sz="1200"/>
              <a:t>编写开场白并测试对话效果</a:t>
            </a:r>
            <a:endParaRPr lang="en-US" altLang="zh-CN"/>
          </a:p>
          <a:p>
            <a:pPr indent="457200">
              <a:lnSpc>
                <a:spcPct val="200000"/>
              </a:lnSpc>
            </a:pPr>
            <a:r>
              <a:rPr lang="en-US" altLang="zh-CN" sz="1200" b="1"/>
              <a:t>4. </a:t>
            </a:r>
            <a:r>
              <a:rPr lang="zh-CN" altLang="en-US" sz="1200" b="1"/>
              <a:t>接入平台：</a:t>
            </a:r>
            <a:r>
              <a:rPr lang="zh-CN" altLang="en-US" sz="1200"/>
              <a:t>将机器人接入微信公众号或其他平台，配置必要的参数（如</a:t>
            </a:r>
            <a:r>
              <a:rPr lang="en-US" altLang="zh-CN" sz="1200"/>
              <a:t> AppID</a:t>
            </a:r>
            <a:r>
              <a:rPr lang="zh-CN" altLang="en-US" sz="1200"/>
              <a:t>）</a:t>
            </a:r>
            <a:endParaRPr lang="zh-CN" altLang="en-US" sz="1200"/>
          </a:p>
          <a:p>
            <a:pPr>
              <a:lnSpc>
                <a:spcPct val="200000"/>
              </a:lnSpc>
            </a:pPr>
            <a:endParaRPr lang="zh-CN" altLang="en-US" sz="1200"/>
          </a:p>
        </p:txBody>
      </p:sp>
      <p:pic>
        <p:nvPicPr>
          <p:cNvPr id="6" name="图片 5" descr="01 (107)"/>
          <p:cNvPicPr>
            <a:picLocks noChangeAspect="1"/>
          </p:cNvPicPr>
          <p:nvPr/>
        </p:nvPicPr>
        <p:blipFill>
          <a:blip r:embed="rId1"/>
          <a:stretch>
            <a:fillRect/>
          </a:stretch>
        </p:blipFill>
        <p:spPr>
          <a:xfrm>
            <a:off x="10602595" y="4839335"/>
            <a:ext cx="1760220" cy="176022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sym typeface="+mn-ea"/>
              </a:rPr>
              <a:t>②</a:t>
            </a:r>
            <a:r>
              <a:rPr>
                <a:sym typeface="+mn-ea"/>
              </a:rPr>
              <a:t>使用开源框架开发</a:t>
            </a:r>
            <a:endParaRPr lang="zh-CN" altLang="en-US"/>
          </a:p>
        </p:txBody>
      </p:sp>
      <p:sp>
        <p:nvSpPr>
          <p:cNvPr id="4" name="文本占位符 3"/>
          <p:cNvSpPr/>
          <p:nvPr>
            <p:ph type="body" sz="quarter" idx="11"/>
          </p:nvPr>
        </p:nvSpPr>
        <p:spPr>
          <a:xfrm>
            <a:off x="710565" y="1420495"/>
            <a:ext cx="10121900" cy="4942840"/>
          </a:xfrm>
        </p:spPr>
        <p:txBody>
          <a:bodyPr/>
          <a:p>
            <a:pPr>
              <a:lnSpc>
                <a:spcPct val="200000"/>
              </a:lnSpc>
            </a:pPr>
            <a:r>
              <a:rPr lang="zh-CN" altLang="en-US" sz="1600"/>
              <a:t>如果你有一定的编程基础，可以使用开源框架（如 ChatterBot）和 Web 框架（如 Flask）来开发聊天机器人</a:t>
            </a:r>
            <a:endParaRPr lang="zh-CN" altLang="en-US" sz="1600"/>
          </a:p>
          <a:p>
            <a:pPr>
              <a:lnSpc>
                <a:spcPct val="200000"/>
              </a:lnSpc>
            </a:pPr>
            <a:r>
              <a:rPr lang="zh-CN" altLang="en-US">
                <a:sym typeface="+mn-ea"/>
              </a:rPr>
              <a:t>其中</a:t>
            </a:r>
            <a:r>
              <a:rPr lang="en-US" altLang="zh-CN">
                <a:sym typeface="+mn-ea"/>
              </a:rPr>
              <a:t>,</a:t>
            </a:r>
            <a:r>
              <a:rPr lang="zh-CN" altLang="en-US">
                <a:sym typeface="+mn-ea"/>
              </a:rPr>
              <a:t>ChatterBot 是一个开源的 Python 库，用于创建聊天机器人。它通过机器学习技术来生成对话内容，能够根据用户输入自动学习和生成回答。</a:t>
            </a:r>
            <a:endParaRPr lang="zh-CN" altLang="en-US">
              <a:sym typeface="+mn-ea"/>
            </a:endParaRPr>
          </a:p>
          <a:p>
            <a:pPr>
              <a:lnSpc>
                <a:spcPct val="200000"/>
              </a:lnSpc>
            </a:pPr>
            <a:r>
              <a:rPr lang="zh-CN" altLang="en-US">
                <a:sym typeface="+mn-ea"/>
              </a:rPr>
              <a:t>ChatterBot库对话生成能力有限，生成文本可能不够自然，大模型出来之前使用较多</a:t>
            </a:r>
            <a:endParaRPr lang="zh-CN" altLang="en-US">
              <a:sym typeface="+mn-ea"/>
            </a:endParaRPr>
          </a:p>
          <a:p>
            <a:pPr>
              <a:lnSpc>
                <a:spcPct val="200000"/>
              </a:lnSpc>
            </a:pPr>
            <a:r>
              <a:rPr lang="zh-CN" altLang="en-US" sz="1600"/>
              <a:t>搭建步骤</a:t>
            </a:r>
            <a:r>
              <a:rPr lang="en-US" altLang="zh-CN" sz="1600"/>
              <a:t>:</a:t>
            </a:r>
            <a:endParaRPr lang="zh-CN" altLang="en-US" sz="1600"/>
          </a:p>
          <a:p>
            <a:pPr indent="457200">
              <a:lnSpc>
                <a:spcPct val="200000"/>
              </a:lnSpc>
            </a:pPr>
            <a:r>
              <a:rPr lang="en-US" altLang="zh-CN" sz="1200" b="1">
                <a:sym typeface="+mn-ea"/>
              </a:rPr>
              <a:t>1. </a:t>
            </a:r>
            <a:r>
              <a:rPr lang="zh-CN" altLang="en-US" sz="1200" b="1"/>
              <a:t>安装必要的库：</a:t>
            </a:r>
            <a:r>
              <a:rPr lang="zh-CN" altLang="en-US" sz="1200"/>
              <a:t>安装 Flask 和 ChatterBot。</a:t>
            </a:r>
            <a:endParaRPr lang="zh-CN" altLang="en-US" sz="1200"/>
          </a:p>
          <a:p>
            <a:pPr indent="457200">
              <a:lnSpc>
                <a:spcPct val="200000"/>
              </a:lnSpc>
            </a:pPr>
            <a:r>
              <a:rPr lang="en-US" altLang="zh-CN" sz="1200" b="1">
                <a:sym typeface="+mn-ea"/>
              </a:rPr>
              <a:t>2. </a:t>
            </a:r>
            <a:r>
              <a:rPr lang="zh-CN" altLang="en-US" sz="1200" b="1"/>
              <a:t>编写代码：</a:t>
            </a:r>
            <a:r>
              <a:rPr lang="zh-CN" altLang="en-US" sz="1200"/>
              <a:t>创建一个 Flask 应用，集成 ChatterBot 并训练模型。</a:t>
            </a:r>
            <a:endParaRPr lang="zh-CN" altLang="en-US" sz="1200"/>
          </a:p>
          <a:p>
            <a:pPr indent="457200">
              <a:lnSpc>
                <a:spcPct val="200000"/>
              </a:lnSpc>
            </a:pPr>
            <a:r>
              <a:rPr lang="en-US" altLang="zh-CN" sz="1200" b="1">
                <a:sym typeface="+mn-ea"/>
              </a:rPr>
              <a:t>3. </a:t>
            </a:r>
            <a:r>
              <a:rPr lang="zh-CN" altLang="en-US" sz="1200" b="1"/>
              <a:t>创建前端界面：</a:t>
            </a:r>
            <a:r>
              <a:rPr lang="zh-CN" altLang="en-US" sz="1200"/>
              <a:t>使用 HTML 和 JavaScript 创建一个简单的聊天界面</a:t>
            </a:r>
            <a:endParaRPr lang="zh-CN" altLang="en-US" sz="1200"/>
          </a:p>
          <a:p>
            <a:pPr indent="457200">
              <a:lnSpc>
                <a:spcPct val="200000"/>
              </a:lnSpc>
            </a:pPr>
            <a:r>
              <a:rPr lang="en-US" altLang="zh-CN" sz="1200" b="1">
                <a:sym typeface="+mn-ea"/>
              </a:rPr>
              <a:t>4. </a:t>
            </a:r>
            <a:r>
              <a:rPr lang="zh-CN" altLang="en-US" sz="1200" b="1"/>
              <a:t>部署应用：</a:t>
            </a:r>
            <a:r>
              <a:rPr lang="zh-CN" altLang="en-US" sz="1200"/>
              <a:t>将应用部署到服务器，如 Heroku 或本地服务器。</a:t>
            </a:r>
            <a:endParaRPr lang="zh-CN" altLang="en-US" sz="1200"/>
          </a:p>
          <a:p>
            <a:pPr>
              <a:lnSpc>
                <a:spcPct val="200000"/>
              </a:lnSpc>
            </a:pPr>
            <a:endParaRPr lang="zh-CN" altLang="en-US" sz="1600"/>
          </a:p>
          <a:p>
            <a:pPr>
              <a:lnSpc>
                <a:spcPct val="200000"/>
              </a:lnSpc>
            </a:pPr>
            <a:endParaRPr lang="zh-CN" altLang="en-US" sz="1200"/>
          </a:p>
        </p:txBody>
      </p:sp>
      <p:pic>
        <p:nvPicPr>
          <p:cNvPr id="6" name="图片 5" descr="01 (107)"/>
          <p:cNvPicPr>
            <a:picLocks noChangeAspect="1"/>
          </p:cNvPicPr>
          <p:nvPr/>
        </p:nvPicPr>
        <p:blipFill>
          <a:blip r:embed="rId1"/>
          <a:stretch>
            <a:fillRect/>
          </a:stretch>
        </p:blipFill>
        <p:spPr>
          <a:xfrm>
            <a:off x="10602595" y="4839335"/>
            <a:ext cx="1760220" cy="176022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en-US">
                <a:sym typeface="+mn-ea"/>
              </a:rPr>
              <a:t>③</a:t>
            </a:r>
            <a:r>
              <a:rPr>
                <a:sym typeface="+mn-ea"/>
              </a:rPr>
              <a:t>基于大语言模型的集成</a:t>
            </a:r>
            <a:endParaRPr lang="zh-CN" altLang="en-US"/>
          </a:p>
        </p:txBody>
      </p:sp>
      <p:sp>
        <p:nvSpPr>
          <p:cNvPr id="4" name="文本占位符 3"/>
          <p:cNvSpPr/>
          <p:nvPr>
            <p:ph type="body" sz="quarter" idx="11"/>
          </p:nvPr>
        </p:nvSpPr>
        <p:spPr>
          <a:xfrm>
            <a:off x="710565" y="1420495"/>
            <a:ext cx="9862185" cy="4942840"/>
          </a:xfrm>
        </p:spPr>
        <p:txBody>
          <a:bodyPr/>
          <a:p>
            <a:pPr algn="l">
              <a:lnSpc>
                <a:spcPct val="200000"/>
              </a:lnSpc>
              <a:buClrTx/>
              <a:buSzTx/>
              <a:buNone/>
            </a:pPr>
            <a:r>
              <a:rPr lang="zh-CN" altLang="en-US" sz="1600"/>
              <a:t>如果你希望使用更强大语言模型（如 DeepSeek或QWen），可以通过本地部署或云服务快速搭建聊天机器人。</a:t>
            </a:r>
            <a:endParaRPr lang="zh-CN" altLang="en-US" sz="1600"/>
          </a:p>
          <a:p>
            <a:pPr algn="l">
              <a:lnSpc>
                <a:spcPct val="200000"/>
              </a:lnSpc>
              <a:buClrTx/>
              <a:buSzTx/>
              <a:buNone/>
            </a:pPr>
            <a:r>
              <a:rPr lang="zh-CN" altLang="en-US" sz="1600"/>
              <a:t>适合有一定技术能力的企业，需要高度定制化功能的聊天机器人。</a:t>
            </a:r>
            <a:endParaRPr lang="en-US" altLang="zh-CN" sz="1600"/>
          </a:p>
          <a:p>
            <a:pPr algn="l">
              <a:lnSpc>
                <a:spcPct val="200000"/>
              </a:lnSpc>
              <a:buClrTx/>
              <a:buSzTx/>
              <a:buNone/>
            </a:pPr>
            <a:r>
              <a:rPr lang="zh-CN" altLang="en-US" sz="1600"/>
              <a:t>适合大模型出来后有更好对话效果场景，目前企业纷纷采用方式。</a:t>
            </a:r>
            <a:endParaRPr lang="zh-CN" altLang="en-US" sz="1600"/>
          </a:p>
          <a:p>
            <a:pPr algn="l">
              <a:lnSpc>
                <a:spcPct val="200000"/>
              </a:lnSpc>
              <a:buClrTx/>
              <a:buSzTx/>
              <a:buNone/>
            </a:pPr>
            <a:endParaRPr lang="zh-CN" altLang="en-US" sz="1600"/>
          </a:p>
          <a:p>
            <a:pPr algn="l">
              <a:lnSpc>
                <a:spcPct val="200000"/>
              </a:lnSpc>
              <a:buClrTx/>
              <a:buSzTx/>
              <a:buNone/>
            </a:pPr>
            <a:r>
              <a:rPr lang="zh-CN" altLang="en-US" sz="1600"/>
              <a:t>搭建步骤：</a:t>
            </a:r>
            <a:endParaRPr lang="zh-CN" altLang="en-US" sz="1600"/>
          </a:p>
          <a:p>
            <a:pPr indent="457200">
              <a:lnSpc>
                <a:spcPct val="200000"/>
              </a:lnSpc>
            </a:pPr>
            <a:r>
              <a:rPr lang="en-US" altLang="zh-CN" sz="1200" b="1"/>
              <a:t>1. </a:t>
            </a:r>
            <a:r>
              <a:rPr lang="zh-CN" altLang="en-US" sz="1200" b="1"/>
              <a:t>部署模型：</a:t>
            </a:r>
            <a:r>
              <a:rPr lang="zh-CN" altLang="en-US" sz="1200"/>
              <a:t>使用</a:t>
            </a:r>
            <a:r>
              <a:rPr lang="en-US" altLang="zh-CN" sz="1200"/>
              <a:t> Ollama</a:t>
            </a:r>
            <a:r>
              <a:rPr lang="zh-CN" altLang="en-US" sz="1200"/>
              <a:t>部署</a:t>
            </a:r>
            <a:r>
              <a:rPr lang="en-US" altLang="zh-CN" sz="1200"/>
              <a:t> QWen</a:t>
            </a:r>
            <a:r>
              <a:rPr lang="zh-CN" altLang="en-US" sz="1200"/>
              <a:t>或</a:t>
            </a:r>
            <a:r>
              <a:rPr lang="en-US" altLang="zh-CN" sz="1200"/>
              <a:t>DeepSeek</a:t>
            </a:r>
            <a:r>
              <a:rPr lang="zh-CN" altLang="en-US" sz="1200"/>
              <a:t>。</a:t>
            </a:r>
            <a:endParaRPr lang="zh-CN" altLang="en-US" sz="1200"/>
          </a:p>
          <a:p>
            <a:pPr indent="457200">
              <a:lnSpc>
                <a:spcPct val="200000"/>
              </a:lnSpc>
            </a:pPr>
            <a:r>
              <a:rPr lang="en-US" altLang="zh-CN" sz="1200" b="1"/>
              <a:t>2. </a:t>
            </a:r>
            <a:r>
              <a:rPr lang="zh-CN" altLang="en-US" sz="1200" b="1"/>
              <a:t>配置机器人：</a:t>
            </a:r>
            <a:r>
              <a:rPr lang="zh-CN" altLang="en-US" sz="1200"/>
              <a:t>通过</a:t>
            </a:r>
            <a:r>
              <a:rPr lang="en-US" altLang="zh-CN" sz="1200"/>
              <a:t> Ollama </a:t>
            </a:r>
            <a:r>
              <a:rPr lang="zh-CN" altLang="en-US" sz="1200"/>
              <a:t>的</a:t>
            </a:r>
            <a:r>
              <a:rPr lang="en-US" altLang="zh-CN" sz="1200"/>
              <a:t> API </a:t>
            </a:r>
            <a:r>
              <a:rPr lang="zh-CN" altLang="en-US" sz="1200"/>
              <a:t>配置聊天机器人，设置模型、对话历史等参数。</a:t>
            </a:r>
            <a:endParaRPr lang="zh-CN" altLang="en-US" sz="1200"/>
          </a:p>
          <a:p>
            <a:pPr indent="457200">
              <a:lnSpc>
                <a:spcPct val="200000"/>
              </a:lnSpc>
            </a:pPr>
            <a:r>
              <a:rPr lang="en-US" altLang="zh-CN" sz="1200" b="1"/>
              <a:t>3. </a:t>
            </a:r>
            <a:r>
              <a:rPr lang="zh-CN" altLang="en-US" sz="1200" b="1"/>
              <a:t>接入微信或其他平台：</a:t>
            </a:r>
            <a:r>
              <a:rPr lang="zh-CN" altLang="en-US" sz="1200"/>
              <a:t>使用</a:t>
            </a:r>
            <a:r>
              <a:rPr lang="en-US" altLang="zh-CN" sz="1200"/>
              <a:t> Gewechat </a:t>
            </a:r>
            <a:r>
              <a:rPr lang="zh-CN" altLang="en-US" sz="1200"/>
              <a:t>框架将机器人接入微信。</a:t>
            </a:r>
            <a:endParaRPr lang="zh-CN" altLang="en-US" sz="1200"/>
          </a:p>
          <a:p>
            <a:pPr>
              <a:lnSpc>
                <a:spcPct val="200000"/>
              </a:lnSpc>
            </a:pPr>
            <a:endParaRPr lang="zh-CN" altLang="en-US" sz="1200"/>
          </a:p>
        </p:txBody>
      </p:sp>
      <p:pic>
        <p:nvPicPr>
          <p:cNvPr id="6" name="图片 5" descr="01 (107)"/>
          <p:cNvPicPr>
            <a:picLocks noChangeAspect="1"/>
          </p:cNvPicPr>
          <p:nvPr/>
        </p:nvPicPr>
        <p:blipFill>
          <a:blip r:embed="rId1"/>
          <a:stretch>
            <a:fillRect/>
          </a:stretch>
        </p:blipFill>
        <p:spPr>
          <a:xfrm>
            <a:off x="10602595" y="4839335"/>
            <a:ext cx="1760220" cy="176022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pPr>
              <a:lnSpc>
                <a:spcPct val="200000"/>
              </a:lnSpc>
            </a:pPr>
            <a:r>
              <a:rPr>
                <a:sym typeface="+mn-ea"/>
              </a:rPr>
              <a:t>搭建聊天机器人</a:t>
            </a:r>
            <a:r>
              <a:rPr lang="en-US" altLang="zh-CN">
                <a:sym typeface="+mn-ea"/>
              </a:rPr>
              <a:t>3</a:t>
            </a:r>
            <a:r>
              <a:rPr>
                <a:sym typeface="+mn-ea"/>
              </a:rPr>
              <a:t>种方式区别</a:t>
            </a:r>
            <a:r>
              <a:rPr lang="en-US" altLang="zh-CN">
                <a:sym typeface="+mn-ea"/>
              </a:rPr>
              <a:t>:</a:t>
            </a:r>
            <a:endParaRPr lang="en-US" altLang="zh-CN">
              <a:sym typeface="+mn-ea"/>
            </a:endParaRPr>
          </a:p>
        </p:txBody>
      </p:sp>
      <p:sp>
        <p:nvSpPr>
          <p:cNvPr id="4" name="文本占位符 3"/>
          <p:cNvSpPr/>
          <p:nvPr>
            <p:ph type="body" sz="quarter" idx="11"/>
          </p:nvPr>
        </p:nvSpPr>
        <p:spPr>
          <a:xfrm>
            <a:off x="710565" y="1591945"/>
            <a:ext cx="8081645" cy="4942840"/>
          </a:xfrm>
        </p:spPr>
        <p:txBody>
          <a:bodyPr/>
          <a:p>
            <a:pPr algn="l">
              <a:lnSpc>
                <a:spcPct val="200000"/>
              </a:lnSpc>
              <a:buClrTx/>
              <a:buSzTx/>
              <a:buNone/>
            </a:pPr>
            <a:r>
              <a:rPr lang="en-US" altLang="zh-CN" sz="1600"/>
              <a:t>- </a:t>
            </a:r>
            <a:r>
              <a:rPr lang="zh-CN" altLang="en-US" sz="1600"/>
              <a:t>如果需求简单且希望快速上线，优先选择无代码平台。</a:t>
            </a:r>
            <a:endParaRPr lang="zh-CN" altLang="en-US" sz="1600"/>
          </a:p>
          <a:p>
            <a:pPr algn="l">
              <a:lnSpc>
                <a:spcPct val="200000"/>
              </a:lnSpc>
              <a:buClrTx/>
              <a:buSzTx/>
              <a:buNone/>
            </a:pPr>
            <a:r>
              <a:rPr lang="en-US" altLang="zh-CN" sz="1600"/>
              <a:t>- </a:t>
            </a:r>
            <a:r>
              <a:rPr lang="zh-CN" altLang="en-US" sz="1600"/>
              <a:t>如果需求复杂，需要高度定制化功能，建议选择开源框架。</a:t>
            </a:r>
            <a:endParaRPr lang="zh-CN" altLang="en-US" sz="1600"/>
          </a:p>
          <a:p>
            <a:pPr algn="l">
              <a:lnSpc>
                <a:spcPct val="200000"/>
              </a:lnSpc>
              <a:buClrTx/>
              <a:buSzTx/>
              <a:buNone/>
            </a:pPr>
            <a:r>
              <a:rPr lang="en-US" altLang="zh-CN" sz="1600"/>
              <a:t>- </a:t>
            </a:r>
            <a:r>
              <a:rPr lang="zh-CN" altLang="en-US" sz="1600"/>
              <a:t>如果需要高质量的对话体验且预算充足，可以选择基于大语言模型的集成。</a:t>
            </a:r>
            <a:endParaRPr lang="zh-CN" altLang="en-US" sz="1600"/>
          </a:p>
          <a:p>
            <a:pPr algn="l">
              <a:lnSpc>
                <a:spcPct val="200000"/>
              </a:lnSpc>
              <a:buClrTx/>
              <a:buSzTx/>
              <a:buNone/>
            </a:pPr>
            <a:endParaRPr lang="zh-CN" altLang="en-US" sz="1600"/>
          </a:p>
          <a:p>
            <a:pPr>
              <a:lnSpc>
                <a:spcPct val="200000"/>
              </a:lnSpc>
            </a:pPr>
            <a:r>
              <a:rPr lang="zh-CN" altLang="en-US" sz="1600"/>
              <a:t>当前项目我们选择基于开源框架和基于大语言模型集成的综合方式来开发聊天机器人，不仅能保障适合数据隐私和安全性要求，还可以实现高质量对话体验。</a:t>
            </a:r>
            <a:endParaRPr lang="zh-CN" altLang="en-US" sz="1600"/>
          </a:p>
        </p:txBody>
      </p:sp>
      <p:sp>
        <p:nvSpPr>
          <p:cNvPr id="21" name="矩形 20"/>
          <p:cNvSpPr/>
          <p:nvPr/>
        </p:nvSpPr>
        <p:spPr>
          <a:xfrm>
            <a:off x="4677410" y="1777365"/>
            <a:ext cx="1019810" cy="343535"/>
          </a:xfrm>
          <a:prstGeom prst="rect">
            <a:avLst/>
          </a:prstGeom>
          <a:noFill/>
          <a:ln w="38100">
            <a:solidFill>
              <a:srgbClr val="B7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5263515" y="2327275"/>
            <a:ext cx="833755" cy="343535"/>
          </a:xfrm>
          <a:prstGeom prst="rect">
            <a:avLst/>
          </a:prstGeom>
          <a:noFill/>
          <a:ln w="38100">
            <a:solidFill>
              <a:srgbClr val="B7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矩形 4"/>
          <p:cNvSpPr/>
          <p:nvPr/>
        </p:nvSpPr>
        <p:spPr>
          <a:xfrm>
            <a:off x="5446395" y="2877185"/>
            <a:ext cx="2094865" cy="343535"/>
          </a:xfrm>
          <a:prstGeom prst="rect">
            <a:avLst/>
          </a:prstGeom>
          <a:noFill/>
          <a:ln w="38100">
            <a:solidFill>
              <a:srgbClr val="B7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 name="图片 5" descr="01 (134)"/>
          <p:cNvPicPr>
            <a:picLocks noChangeAspect="1"/>
          </p:cNvPicPr>
          <p:nvPr/>
        </p:nvPicPr>
        <p:blipFill>
          <a:blip r:embed="rId1"/>
          <a:stretch>
            <a:fillRect/>
          </a:stretch>
        </p:blipFill>
        <p:spPr>
          <a:xfrm>
            <a:off x="7268845" y="1591945"/>
            <a:ext cx="3810000" cy="381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1" grpId="1" animBg="1"/>
      <p:bldP spid="3" grpId="0" bldLvl="0" animBg="1"/>
      <p:bldP spid="3" grpId="1" animBg="1"/>
      <p:bldP spid="5" grpId="0" bldLvl="0" animBg="1"/>
      <p:bldP spid="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a:xfrm>
            <a:off x="4729480" y="1496695"/>
            <a:ext cx="6130925" cy="4511040"/>
          </a:xfrm>
        </p:spPr>
        <p:txBody>
          <a:bodyPr/>
          <a:p>
            <a:pPr marL="0" indent="0">
              <a:buNone/>
            </a:pPr>
            <a:r>
              <a:rPr lang="zh-CN" altLang="en-US" dirty="0">
                <a:sym typeface="+mn-ea"/>
              </a:rPr>
              <a:t>搭建聊天机器人三种方式的区别</a:t>
            </a:r>
            <a:r>
              <a:rPr lang="en-US" altLang="zh-CN" dirty="0">
                <a:sym typeface="+mn-ea"/>
              </a:rPr>
              <a:t>?</a:t>
            </a:r>
            <a:endParaRPr lang="zh-CN" dirty="0">
              <a:sym typeface="+mn-ea"/>
            </a:endParaRPr>
          </a:p>
          <a:p>
            <a:pPr marL="0" indent="0">
              <a:buNone/>
            </a:pPr>
            <a:r>
              <a:rPr lang="en-US" altLang="zh-CN" sz="1400" dirty="0">
                <a:solidFill>
                  <a:schemeClr val="tx1"/>
                </a:solidFill>
              </a:rPr>
              <a:t>- </a:t>
            </a:r>
            <a:r>
              <a:rPr lang="zh-CN" altLang="en-US" sz="1400" dirty="0">
                <a:solidFill>
                  <a:schemeClr val="tx1"/>
                </a:solidFill>
              </a:rPr>
              <a:t>如果需求简单且希望快速上线，优先选择无代码平台。</a:t>
            </a:r>
            <a:endParaRPr lang="zh-CN" altLang="en-US" sz="1400" dirty="0">
              <a:solidFill>
                <a:schemeClr val="tx1"/>
              </a:solidFill>
            </a:endParaRPr>
          </a:p>
          <a:p>
            <a:pPr marL="0" indent="0">
              <a:buNone/>
            </a:pPr>
            <a:r>
              <a:rPr lang="en-US" altLang="zh-CN" sz="1400" dirty="0">
                <a:solidFill>
                  <a:schemeClr val="tx1"/>
                </a:solidFill>
              </a:rPr>
              <a:t>- </a:t>
            </a:r>
            <a:r>
              <a:rPr lang="zh-CN" altLang="en-US" sz="1400" dirty="0">
                <a:solidFill>
                  <a:schemeClr val="tx1"/>
                </a:solidFill>
              </a:rPr>
              <a:t>如果需求复杂，需要高度定制化功能，建议选择开源框架。</a:t>
            </a:r>
            <a:endParaRPr lang="zh-CN" altLang="en-US" sz="1400" dirty="0">
              <a:solidFill>
                <a:schemeClr val="tx1"/>
              </a:solidFill>
            </a:endParaRPr>
          </a:p>
          <a:p>
            <a:pPr marL="0" indent="0">
              <a:buNone/>
            </a:pPr>
            <a:r>
              <a:rPr lang="en-US" altLang="zh-CN" sz="1400" dirty="0">
                <a:solidFill>
                  <a:schemeClr val="tx1"/>
                </a:solidFill>
              </a:rPr>
              <a:t>- </a:t>
            </a:r>
            <a:r>
              <a:rPr lang="zh-CN" altLang="en-US" sz="1400" dirty="0">
                <a:solidFill>
                  <a:schemeClr val="tx1"/>
                </a:solidFill>
              </a:rPr>
              <a:t>如果需要高质量的对话体验且预算充足，可以选择基于大语言模型的集成。</a:t>
            </a:r>
            <a:endParaRPr lang="zh-CN" altLang="en-US" sz="1400" dirty="0">
              <a:solidFill>
                <a:schemeClr val="tx1"/>
              </a:solidFill>
            </a:endParaRPr>
          </a:p>
          <a:p>
            <a:pPr marL="0" indent="0">
              <a:buNone/>
            </a:pPr>
            <a:endParaRPr lang="zh-CN" altLang="en-US" sz="1400" dirty="0">
              <a:solidFill>
                <a:schemeClr val="tx1"/>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19358" y="1029625"/>
            <a:ext cx="5973761" cy="4256405"/>
          </a:xfrm>
        </p:spPr>
        <p:txBody>
          <a:bodyPr/>
          <a:lstStyle/>
          <a:p>
            <a:pPr algn="l"/>
            <a:r>
              <a:rPr lang="zh-CN" altLang="en-US" sz="1600" dirty="0"/>
              <a:t>黑马智聊机器人项目简介</a:t>
            </a:r>
            <a:endParaRPr lang="zh-CN" altLang="en-US" sz="1600" dirty="0"/>
          </a:p>
          <a:p>
            <a:pPr algn="l"/>
            <a:r>
              <a:rPr lang="zh-CN" altLang="en-US" sz="1600" dirty="0">
                <a:sym typeface="+mn-ea"/>
              </a:rPr>
              <a:t>黑马智聊机器人项目需求</a:t>
            </a:r>
            <a:endParaRPr lang="zh-CN" altLang="en-US" sz="1600" dirty="0"/>
          </a:p>
          <a:p>
            <a:pPr algn="l"/>
            <a:r>
              <a:rPr lang="zh-CN" altLang="en-US" sz="1600" dirty="0">
                <a:solidFill>
                  <a:srgbClr val="C00000"/>
                </a:solidFill>
                <a:sym typeface="+mn-ea"/>
              </a:rPr>
              <a:t>黑马智聊机器人项目架构</a:t>
            </a:r>
            <a:endParaRPr lang="zh-CN" altLang="en-US" sz="1600" dirty="0">
              <a:solidFill>
                <a:srgbClr val="C00000"/>
              </a:solidFill>
            </a:endParaRPr>
          </a:p>
          <a:p>
            <a:pPr algn="l"/>
            <a:r>
              <a:rPr lang="zh-CN" altLang="en-US" sz="1600" dirty="0">
                <a:sym typeface="+mn-ea"/>
              </a:rPr>
              <a:t>大模型分类</a:t>
            </a:r>
            <a:endParaRPr lang="zh-CN" altLang="en-US" sz="1600" dirty="0">
              <a:sym typeface="+mn-ea"/>
            </a:endParaRPr>
          </a:p>
          <a:p>
            <a:pPr algn="l"/>
            <a:r>
              <a:rPr lang="zh-CN" altLang="en-US" sz="1600" dirty="0">
                <a:sym typeface="+mn-ea"/>
              </a:rPr>
              <a:t>热门大模型初体验</a:t>
            </a:r>
            <a:endParaRPr lang="zh-CN" altLang="en-US" sz="1600" dirty="0">
              <a:sym typeface="+mn-ea"/>
            </a:endParaRPr>
          </a:p>
          <a:p>
            <a:pPr marL="0" indent="0" algn="l">
              <a:buNone/>
            </a:pPr>
            <a:endParaRPr kumimoji="1" lang="zh-CN" altLang="en-US" sz="1600" dirty="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a:xfrm>
            <a:off x="4834890" y="1525905"/>
            <a:ext cx="6298565" cy="2513965"/>
          </a:xfrm>
        </p:spPr>
        <p:txBody>
          <a:bodyPr/>
          <a:p>
            <a:pPr marL="0" indent="0">
              <a:buNone/>
            </a:pPr>
            <a:r>
              <a:rPr lang="zh-CN" altLang="en-US"/>
              <a:t>了解黑马智聊机器人项目架构</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t>黑马智聊机器人项目架构</a:t>
            </a:r>
          </a:p>
        </p:txBody>
      </p:sp>
      <p:sp>
        <p:nvSpPr>
          <p:cNvPr id="3" name="文本占位符 2"/>
          <p:cNvSpPr>
            <a:spLocks noGrp="1"/>
          </p:cNvSpPr>
          <p:nvPr>
            <p:ph type="body" sz="quarter" idx="11"/>
          </p:nvPr>
        </p:nvSpPr>
        <p:spPr>
          <a:xfrm>
            <a:off x="710565" y="1604645"/>
            <a:ext cx="11156315" cy="4748530"/>
          </a:xfrm>
        </p:spPr>
        <p:txBody>
          <a:bodyPr/>
          <a:p>
            <a:pPr>
              <a:buFont typeface="Arial" panose="020B0604020202020204" pitchFamily="34" charset="0"/>
            </a:pPr>
            <a:r>
              <a:rPr lang="zh-CN" altLang="en-US" b="1"/>
              <a:t>前端界面：</a:t>
            </a:r>
            <a:r>
              <a:rPr lang="en-US" altLang="zh-CN"/>
              <a:t>Streamlit </a:t>
            </a:r>
            <a:r>
              <a:rPr lang="zh-CN" altLang="en-US"/>
              <a:t>框架</a:t>
            </a:r>
            <a:endParaRPr lang="en-US" altLang="zh-CN"/>
          </a:p>
          <a:p>
            <a:pPr>
              <a:buFont typeface="Arial" panose="020B0604020202020204" pitchFamily="34" charset="0"/>
            </a:pPr>
            <a:r>
              <a:rPr lang="en-US" altLang="zh-CN" sz="1200"/>
              <a:t>- </a:t>
            </a:r>
            <a:r>
              <a:rPr lang="zh-CN" altLang="en-US" sz="1200"/>
              <a:t>特点：使用</a:t>
            </a:r>
            <a:r>
              <a:rPr lang="en-US" altLang="zh-CN" sz="1200"/>
              <a:t> Streamlit </a:t>
            </a:r>
            <a:r>
              <a:rPr lang="zh-CN" altLang="en-US" sz="1200"/>
              <a:t>框架搭建用户界面，提供简洁、交互式的</a:t>
            </a:r>
            <a:r>
              <a:rPr lang="en-US" altLang="zh-CN" sz="1200"/>
              <a:t> Web </a:t>
            </a:r>
            <a:r>
              <a:rPr lang="zh-CN" altLang="en-US" sz="1200"/>
              <a:t>应用。</a:t>
            </a:r>
            <a:endParaRPr lang="zh-CN" altLang="en-US" sz="1200"/>
          </a:p>
          <a:p>
            <a:pPr>
              <a:buFont typeface="Arial" panose="020B0604020202020204" pitchFamily="34" charset="0"/>
            </a:pPr>
            <a:r>
              <a:rPr lang="en-US" altLang="zh-CN" sz="1200"/>
              <a:t>- </a:t>
            </a:r>
            <a:r>
              <a:rPr lang="zh-CN" altLang="en-US" sz="1200"/>
              <a:t>技术细节：</a:t>
            </a:r>
            <a:endParaRPr lang="zh-CN" altLang="en-US" sz="1200"/>
          </a:p>
          <a:p>
            <a:pPr>
              <a:buFont typeface="Arial" panose="020B0604020202020204" pitchFamily="34" charset="0"/>
            </a:pPr>
            <a:r>
              <a:rPr lang="en-US" altLang="zh-CN" sz="1200"/>
              <a:t>  - Streamlit </a:t>
            </a:r>
            <a:r>
              <a:rPr lang="zh-CN" altLang="en-US" sz="1200"/>
              <a:t>是一个基于</a:t>
            </a:r>
            <a:r>
              <a:rPr lang="en-US" altLang="zh-CN" sz="1200"/>
              <a:t> Python </a:t>
            </a:r>
            <a:r>
              <a:rPr lang="zh-CN" altLang="en-US" sz="1200"/>
              <a:t>的开源框架，适合快速开发数据科学和机器学习相关的</a:t>
            </a:r>
            <a:r>
              <a:rPr lang="en-US" altLang="zh-CN" sz="1200"/>
              <a:t> Web </a:t>
            </a:r>
            <a:r>
              <a:rPr lang="zh-CN" altLang="en-US" sz="1200"/>
              <a:t>应用。</a:t>
            </a:r>
            <a:endParaRPr lang="zh-CN" altLang="en-US" sz="1200"/>
          </a:p>
          <a:p>
            <a:pPr>
              <a:buFont typeface="Arial" panose="020B0604020202020204" pitchFamily="34" charset="0"/>
            </a:pPr>
            <a:r>
              <a:rPr lang="en-US" altLang="zh-CN" sz="1200"/>
              <a:t>  - </a:t>
            </a:r>
            <a:r>
              <a:rPr lang="zh-CN" altLang="en-US" sz="1200"/>
              <a:t>你通过</a:t>
            </a:r>
            <a:r>
              <a:rPr lang="en-US" altLang="zh-CN" sz="1200"/>
              <a:t> Streamlit </a:t>
            </a:r>
            <a:r>
              <a:rPr lang="zh-CN" altLang="en-US" sz="1200"/>
              <a:t>创建了一个用户界面，包括输入框、发送按钮和对话展示区域。</a:t>
            </a:r>
            <a:endParaRPr lang="zh-CN" altLang="en-US" sz="1200"/>
          </a:p>
          <a:p>
            <a:pPr>
              <a:buFont typeface="Arial" panose="020B0604020202020204" pitchFamily="34" charset="0"/>
            </a:pPr>
            <a:r>
              <a:rPr lang="en-US" altLang="zh-CN" sz="1200"/>
              <a:t>  - </a:t>
            </a:r>
            <a:r>
              <a:rPr lang="zh-CN" altLang="en-US" sz="1200"/>
              <a:t>用户可以通过网页与聊天机器人进行实时对话。</a:t>
            </a:r>
            <a:endParaRPr lang="zh-CN" altLang="en-US" sz="1200"/>
          </a:p>
          <a:p>
            <a:pPr>
              <a:buFont typeface="Arial" panose="020B0604020202020204" pitchFamily="34" charset="0"/>
            </a:pPr>
            <a:endParaRPr lang="zh-CN" altLang="en-US" sz="1200"/>
          </a:p>
          <a:p>
            <a:pPr>
              <a:buFont typeface="Arial" panose="020B0604020202020204" pitchFamily="34" charset="0"/>
            </a:pPr>
            <a:r>
              <a:rPr lang="zh-CN" altLang="en-US" b="1"/>
              <a:t>后端模型：</a:t>
            </a:r>
            <a:r>
              <a:rPr lang="en-US" altLang="zh-CN"/>
              <a:t>Ollama </a:t>
            </a:r>
            <a:r>
              <a:rPr lang="zh-CN" altLang="en-US"/>
              <a:t>平台的</a:t>
            </a:r>
            <a:r>
              <a:rPr lang="en-US" altLang="zh-CN"/>
              <a:t> Qwen/</a:t>
            </a:r>
            <a:r>
              <a:rPr lang="en-US" altLang="zh-CN">
                <a:sym typeface="+mn-ea"/>
              </a:rPr>
              <a:t>DeepSeek</a:t>
            </a:r>
            <a:r>
              <a:rPr lang="en-US" altLang="zh-CN"/>
              <a:t> </a:t>
            </a:r>
            <a:r>
              <a:rPr lang="zh-CN" altLang="en-US"/>
              <a:t>模型</a:t>
            </a:r>
            <a:endParaRPr lang="en-US" altLang="zh-CN"/>
          </a:p>
          <a:p>
            <a:pPr>
              <a:buFont typeface="Arial" panose="020B0604020202020204" pitchFamily="34" charset="0"/>
            </a:pPr>
            <a:r>
              <a:rPr lang="en-US" altLang="zh-CN" sz="1200"/>
              <a:t>- </a:t>
            </a:r>
            <a:r>
              <a:rPr lang="zh-CN" altLang="en-US" sz="1200"/>
              <a:t>特点：基于</a:t>
            </a:r>
            <a:r>
              <a:rPr lang="en-US" altLang="zh-CN" sz="1200"/>
              <a:t> Ollama </a:t>
            </a:r>
            <a:r>
              <a:rPr lang="zh-CN" altLang="en-US" sz="1200"/>
              <a:t>平台部署</a:t>
            </a:r>
            <a:r>
              <a:rPr lang="en-US" altLang="zh-CN" sz="1200"/>
              <a:t> Qwen, DeepSeek</a:t>
            </a:r>
            <a:r>
              <a:rPr lang="zh-CN" altLang="en-US" sz="1200"/>
              <a:t>模型作为后端核心，提供自然语言处理和对话生成能力。</a:t>
            </a:r>
            <a:endParaRPr lang="zh-CN" altLang="en-US" sz="1200"/>
          </a:p>
          <a:p>
            <a:pPr>
              <a:buFont typeface="Arial" panose="020B0604020202020204" pitchFamily="34" charset="0"/>
            </a:pPr>
            <a:r>
              <a:rPr lang="en-US" altLang="zh-CN" sz="1200"/>
              <a:t>- </a:t>
            </a:r>
            <a:r>
              <a:rPr lang="zh-CN" altLang="en-US" sz="1200"/>
              <a:t>技术细节：</a:t>
            </a:r>
            <a:endParaRPr lang="zh-CN" altLang="en-US" sz="1200"/>
          </a:p>
          <a:p>
            <a:pPr>
              <a:buFont typeface="Arial" panose="020B0604020202020204" pitchFamily="34" charset="0"/>
            </a:pPr>
            <a:r>
              <a:rPr lang="en-US" altLang="zh-CN" sz="1200"/>
              <a:t>  - Ollama </a:t>
            </a:r>
            <a:r>
              <a:rPr lang="zh-CN" altLang="en-US" sz="1200"/>
              <a:t>是一个开源的</a:t>
            </a:r>
            <a:r>
              <a:rPr lang="en-US" altLang="zh-CN" sz="1200"/>
              <a:t> AI </a:t>
            </a:r>
            <a:r>
              <a:rPr lang="zh-CN" altLang="en-US" sz="1200"/>
              <a:t>模型部署平台，支持多种大语言模型（</a:t>
            </a:r>
            <a:r>
              <a:rPr lang="en-US" altLang="zh-CN" sz="1200"/>
              <a:t>LLM</a:t>
            </a:r>
            <a:r>
              <a:rPr lang="zh-CN" altLang="en-US" sz="1200"/>
              <a:t>）。</a:t>
            </a:r>
            <a:endParaRPr lang="zh-CN" altLang="en-US" sz="1200"/>
          </a:p>
          <a:p>
            <a:pPr>
              <a:buFont typeface="Arial" panose="020B0604020202020204" pitchFamily="34" charset="0"/>
            </a:pPr>
            <a:r>
              <a:rPr lang="en-US" altLang="zh-CN" sz="1200"/>
              <a:t>  - Qwen </a:t>
            </a:r>
            <a:r>
              <a:rPr lang="zh-CN" altLang="en-US" sz="1200"/>
              <a:t>是一个高性能的语言模型，能够处理和生成自然语言文本。</a:t>
            </a:r>
            <a:endParaRPr lang="zh-CN" altLang="en-US" sz="1200"/>
          </a:p>
          <a:p>
            <a:pPr>
              <a:buFont typeface="Arial" panose="020B0604020202020204" pitchFamily="34" charset="0"/>
            </a:pPr>
            <a:r>
              <a:rPr lang="en-US" altLang="zh-CN" sz="1200"/>
              <a:t>  - </a:t>
            </a:r>
            <a:r>
              <a:rPr lang="zh-CN" altLang="en-US" sz="1200"/>
              <a:t>通过后端服务调用</a:t>
            </a:r>
            <a:r>
              <a:rPr lang="en-US" altLang="zh-CN" sz="1200"/>
              <a:t> Qwen </a:t>
            </a:r>
            <a:r>
              <a:rPr lang="zh-CN" altLang="en-US" sz="1200"/>
              <a:t>模型，将用户输入传递给模型，并获取模型的回复。</a:t>
            </a:r>
            <a:endParaRPr lang="zh-CN" altLang="en-US" sz="1200"/>
          </a:p>
          <a:p>
            <a:pPr>
              <a:buFont typeface="Arial" panose="020B0604020202020204" pitchFamily="34" charset="0"/>
            </a:pPr>
            <a:endParaRPr lang="zh-CN" altLang="en-US" sz="1200"/>
          </a:p>
        </p:txBody>
      </p:sp>
      <p:pic>
        <p:nvPicPr>
          <p:cNvPr id="4" name="图片 3"/>
          <p:cNvPicPr>
            <a:picLocks noChangeAspect="1"/>
          </p:cNvPicPr>
          <p:nvPr/>
        </p:nvPicPr>
        <p:blipFill>
          <a:blip r:embed="rId1"/>
          <a:stretch>
            <a:fillRect/>
          </a:stretch>
        </p:blipFill>
        <p:spPr>
          <a:xfrm>
            <a:off x="7825105" y="797560"/>
            <a:ext cx="4027805" cy="57473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t>黑马智聊机器人项目架构</a:t>
            </a:r>
          </a:p>
        </p:txBody>
      </p:sp>
      <p:sp>
        <p:nvSpPr>
          <p:cNvPr id="3" name="文本占位符 2"/>
          <p:cNvSpPr>
            <a:spLocks noGrp="1"/>
          </p:cNvSpPr>
          <p:nvPr>
            <p:ph type="body" sz="quarter" idx="11"/>
          </p:nvPr>
        </p:nvSpPr>
        <p:spPr>
          <a:xfrm>
            <a:off x="710565" y="1604645"/>
            <a:ext cx="9772015" cy="4748530"/>
          </a:xfrm>
        </p:spPr>
        <p:txBody>
          <a:bodyPr/>
          <a:p>
            <a:pPr>
              <a:buFont typeface="Arial" panose="020B0604020202020204" pitchFamily="34" charset="0"/>
            </a:pPr>
            <a:r>
              <a:rPr lang="en-US" altLang="zh-CN" b="1">
                <a:sym typeface="+mn-ea"/>
              </a:rPr>
              <a:t>- </a:t>
            </a:r>
            <a:r>
              <a:rPr lang="zh-CN" altLang="en-US" b="1">
                <a:sym typeface="+mn-ea"/>
              </a:rPr>
              <a:t>前端界面：</a:t>
            </a:r>
            <a:r>
              <a:rPr lang="zh-CN" altLang="en-US">
                <a:sym typeface="+mn-ea"/>
              </a:rPr>
              <a:t>采用</a:t>
            </a:r>
            <a:r>
              <a:rPr lang="en-US" altLang="zh-CN">
                <a:sym typeface="+mn-ea"/>
              </a:rPr>
              <a:t> Streamlit </a:t>
            </a:r>
            <a:r>
              <a:rPr lang="zh-CN" altLang="en-US">
                <a:sym typeface="+mn-ea"/>
              </a:rPr>
              <a:t>框架搭建用户界面，</a:t>
            </a:r>
            <a:r>
              <a:rPr lang="en-US" altLang="zh-CN">
                <a:sym typeface="+mn-ea"/>
              </a:rPr>
              <a:t>Streamlit </a:t>
            </a:r>
            <a:r>
              <a:rPr lang="zh-CN" altLang="en-US">
                <a:sym typeface="+mn-ea"/>
              </a:rPr>
              <a:t>是一个简单易用的</a:t>
            </a:r>
            <a:r>
              <a:rPr lang="en-US" altLang="zh-CN">
                <a:sym typeface="+mn-ea"/>
              </a:rPr>
              <a:t> Python </a:t>
            </a:r>
            <a:r>
              <a:rPr lang="zh-CN" altLang="en-US">
                <a:sym typeface="+mn-ea"/>
              </a:rPr>
              <a:t>库，能够快速创建美观、交互式的</a:t>
            </a:r>
            <a:r>
              <a:rPr lang="en-US" altLang="zh-CN">
                <a:sym typeface="+mn-ea"/>
              </a:rPr>
              <a:t> Web </a:t>
            </a:r>
            <a:r>
              <a:rPr lang="zh-CN" altLang="en-US">
                <a:sym typeface="+mn-ea"/>
              </a:rPr>
              <a:t>应用，使用户能够通过网页与聊天机器人进行实时对话。</a:t>
            </a:r>
            <a:endParaRPr lang="zh-CN" altLang="en-US">
              <a:sym typeface="+mn-ea"/>
            </a:endParaRPr>
          </a:p>
          <a:p>
            <a:pPr>
              <a:buFont typeface="Arial" panose="020B0604020202020204" pitchFamily="34" charset="0"/>
            </a:pPr>
            <a:endParaRPr lang="zh-CN" altLang="en-US"/>
          </a:p>
          <a:p>
            <a:pPr>
              <a:buFont typeface="Arial" panose="020B0604020202020204" pitchFamily="34" charset="0"/>
            </a:pPr>
            <a:r>
              <a:rPr lang="en-US" altLang="zh-CN" b="1">
                <a:sym typeface="+mn-ea"/>
              </a:rPr>
              <a:t>- </a:t>
            </a:r>
            <a:r>
              <a:rPr lang="zh-CN" altLang="en-US" b="1">
                <a:sym typeface="+mn-ea"/>
              </a:rPr>
              <a:t>对话交互：</a:t>
            </a:r>
            <a:r>
              <a:rPr lang="zh-CN" altLang="en-US">
                <a:sym typeface="+mn-ea"/>
              </a:rPr>
              <a:t>用户可以通过</a:t>
            </a:r>
            <a:r>
              <a:rPr lang="en-US" altLang="zh-CN">
                <a:sym typeface="+mn-ea"/>
              </a:rPr>
              <a:t> Streamlit </a:t>
            </a:r>
            <a:r>
              <a:rPr lang="zh-CN" altLang="en-US">
                <a:sym typeface="+mn-ea"/>
              </a:rPr>
              <a:t>界面输入文本，聊天机器人基于</a:t>
            </a:r>
            <a:r>
              <a:rPr lang="en-US" altLang="zh-CN">
                <a:sym typeface="+mn-ea"/>
              </a:rPr>
              <a:t> Qwen </a:t>
            </a:r>
            <a:r>
              <a:rPr lang="zh-CN" altLang="en-US">
                <a:sym typeface="+mn-ea"/>
              </a:rPr>
              <a:t>模型对输入内容进行理解和处理，生成相应的回复并展示在界面上，实现流畅的对话交互。</a:t>
            </a:r>
            <a:endParaRPr lang="zh-CN" altLang="en-US"/>
          </a:p>
          <a:p>
            <a:pPr>
              <a:buFont typeface="Arial" panose="020B0604020202020204" pitchFamily="34" charset="0"/>
            </a:pPr>
            <a:endParaRPr lang="en-US" altLang="zh-CN" b="1"/>
          </a:p>
          <a:p>
            <a:pPr>
              <a:buFont typeface="Arial" panose="020B0604020202020204" pitchFamily="34" charset="0"/>
            </a:pPr>
            <a:r>
              <a:rPr lang="en-US" altLang="zh-CN" b="1"/>
              <a:t>- </a:t>
            </a:r>
            <a:r>
              <a:rPr lang="zh-CN" altLang="en-US" b="1"/>
              <a:t>后端模型：</a:t>
            </a:r>
            <a:r>
              <a:rPr lang="zh-CN" altLang="en-US"/>
              <a:t>利用</a:t>
            </a:r>
            <a:r>
              <a:rPr lang="en-US" altLang="zh-CN"/>
              <a:t> Ollama </a:t>
            </a:r>
            <a:r>
              <a:rPr lang="zh-CN" altLang="en-US"/>
              <a:t>平台的</a:t>
            </a:r>
            <a:r>
              <a:rPr lang="en-US" altLang="zh-CN"/>
              <a:t> Qwen </a:t>
            </a:r>
            <a:r>
              <a:rPr lang="zh-CN" altLang="en-US"/>
              <a:t>模型，该模型具备出色的自然语言处理能力，能够理解和生成自然语言文本，为聊天机器人提供核心的对话处理功能。</a:t>
            </a:r>
            <a:endParaRPr lang="zh-CN" altLang="en-US"/>
          </a:p>
          <a:p>
            <a:pPr>
              <a:buFont typeface="Arial" panose="020B0604020202020204" pitchFamily="34" charset="0"/>
            </a:pPr>
            <a:endParaRPr lang="zh-CN" altLang="en-US"/>
          </a:p>
          <a:p>
            <a:pPr>
              <a:buFont typeface="Arial" panose="020B0604020202020204" pitchFamily="34" charset="0"/>
            </a:pPr>
            <a:r>
              <a:rPr lang="en-US" altLang="zh-CN" b="1"/>
              <a:t>- </a:t>
            </a:r>
            <a:r>
              <a:rPr lang="zh-CN" altLang="en-US" b="1"/>
              <a:t>模型调用：</a:t>
            </a:r>
            <a:r>
              <a:rPr lang="zh-CN" altLang="en-US"/>
              <a:t>后端服务负责将用户输入传递给</a:t>
            </a:r>
            <a:r>
              <a:rPr lang="en-US" altLang="zh-CN"/>
              <a:t> Qwen </a:t>
            </a:r>
            <a:r>
              <a:rPr lang="zh-CN" altLang="en-US"/>
              <a:t>模型，并获取模型生成的回复，然后将回复内容返回给前端界面进行展示，确保对话的实时性和准确性。</a:t>
            </a:r>
            <a:endParaRPr lang="zh-CN" altLang="en-US"/>
          </a:p>
          <a:p>
            <a:pPr>
              <a:buFont typeface="Arial" panose="020B0604020202020204" pitchFamily="34" charset="0"/>
            </a:pPr>
            <a:endParaRPr lang="zh-CN" altLang="en-US"/>
          </a:p>
        </p:txBody>
      </p:sp>
      <p:pic>
        <p:nvPicPr>
          <p:cNvPr id="6" name="图片 5" descr="01 (134)"/>
          <p:cNvPicPr>
            <a:picLocks noChangeAspect="1"/>
          </p:cNvPicPr>
          <p:nvPr/>
        </p:nvPicPr>
        <p:blipFill>
          <a:blip r:embed="rId1"/>
          <a:stretch>
            <a:fillRect/>
          </a:stretch>
        </p:blipFill>
        <p:spPr>
          <a:xfrm>
            <a:off x="-477520" y="1280795"/>
            <a:ext cx="1587500" cy="15875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0" indent="0">
              <a:lnSpc>
                <a:spcPct val="150000"/>
              </a:lnSpc>
              <a:buNone/>
            </a:pPr>
            <a:r>
              <a:rPr lang="zh-CN" altLang="en-US" sz="1600" b="1" dirty="0"/>
              <a:t>黑马智聊项目的前端和后端架构分别是什么？</a:t>
            </a:r>
            <a:endParaRPr lang="zh-CN" altLang="en-US" sz="1600" b="1" dirty="0"/>
          </a:p>
          <a:p>
            <a:pPr marL="0" indent="0">
              <a:lnSpc>
                <a:spcPct val="150000"/>
              </a:lnSpc>
              <a:buNone/>
            </a:pPr>
            <a:r>
              <a:rPr lang="zh-CN" altLang="en-US" sz="1600" b="1">
                <a:sym typeface="+mn-ea"/>
              </a:rPr>
              <a:t>前端界面：</a:t>
            </a:r>
            <a:r>
              <a:rPr lang="en-US" altLang="zh-CN" sz="1600">
                <a:sym typeface="+mn-ea"/>
              </a:rPr>
              <a:t>Streamlit </a:t>
            </a:r>
            <a:r>
              <a:rPr lang="zh-CN" altLang="en-US" sz="1600">
                <a:sym typeface="+mn-ea"/>
              </a:rPr>
              <a:t>框架</a:t>
            </a:r>
            <a:endParaRPr lang="zh-CN" altLang="en-US" sz="1600">
              <a:sym typeface="+mn-ea"/>
            </a:endParaRPr>
          </a:p>
          <a:p>
            <a:pPr marL="0" indent="0">
              <a:lnSpc>
                <a:spcPct val="150000"/>
              </a:lnSpc>
              <a:buNone/>
            </a:pPr>
            <a:r>
              <a:rPr lang="zh-CN" altLang="en-US" sz="1600" b="1">
                <a:sym typeface="+mn-ea"/>
              </a:rPr>
              <a:t>后端模型：</a:t>
            </a:r>
            <a:r>
              <a:rPr lang="en-US" altLang="zh-CN" sz="1600">
                <a:sym typeface="+mn-ea"/>
              </a:rPr>
              <a:t>Ollama </a:t>
            </a:r>
            <a:r>
              <a:rPr lang="zh-CN" altLang="en-US" sz="1600">
                <a:sym typeface="+mn-ea"/>
              </a:rPr>
              <a:t>平台的</a:t>
            </a:r>
            <a:r>
              <a:rPr lang="en-US" altLang="zh-CN" sz="1600">
                <a:sym typeface="+mn-ea"/>
              </a:rPr>
              <a:t> Qwen/</a:t>
            </a:r>
            <a:r>
              <a:rPr lang="en-US" altLang="zh-CN" sz="1600">
                <a:sym typeface="+mn-ea"/>
              </a:rPr>
              <a:t>DeepSeek</a:t>
            </a:r>
            <a:r>
              <a:rPr lang="en-US" altLang="zh-CN" sz="1600">
                <a:sym typeface="+mn-ea"/>
              </a:rPr>
              <a:t> </a:t>
            </a:r>
            <a:r>
              <a:rPr lang="zh-CN" altLang="en-US" sz="1600">
                <a:sym typeface="+mn-ea"/>
              </a:rPr>
              <a:t>模型</a:t>
            </a:r>
            <a:endParaRPr lang="en-US" altLang="zh-CN" sz="1600"/>
          </a:p>
          <a:p>
            <a:pPr marL="0" indent="0">
              <a:lnSpc>
                <a:spcPct val="150000"/>
              </a:lnSpc>
              <a:buNone/>
            </a:pPr>
            <a:endParaRPr lang="en-US" altLang="zh-CN" sz="1600"/>
          </a:p>
          <a:p>
            <a:pPr marL="0" indent="0">
              <a:lnSpc>
                <a:spcPct val="150000"/>
              </a:lnSpc>
              <a:buNone/>
            </a:pPr>
            <a:endParaRPr lang="en-US" altLang="zh-CN" sz="1600" dirty="0"/>
          </a:p>
          <a:p>
            <a:pPr marL="0" indent="0">
              <a:lnSpc>
                <a:spcPct val="150000"/>
              </a:lnSpc>
              <a:buNone/>
            </a:pPr>
            <a:endParaRPr lang="zh-CN"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19358" y="1029625"/>
            <a:ext cx="5973761" cy="4256405"/>
          </a:xfrm>
        </p:spPr>
        <p:txBody>
          <a:bodyPr/>
          <a:lstStyle/>
          <a:p>
            <a:pPr algn="l"/>
            <a:r>
              <a:rPr lang="zh-CN" altLang="en-US" sz="1600" dirty="0"/>
              <a:t>黑马智聊机器人项目简介</a:t>
            </a:r>
            <a:endParaRPr lang="zh-CN" altLang="en-US" sz="1600" dirty="0"/>
          </a:p>
          <a:p>
            <a:pPr algn="l"/>
            <a:r>
              <a:rPr lang="zh-CN" altLang="en-US" sz="1600" dirty="0">
                <a:sym typeface="+mn-ea"/>
              </a:rPr>
              <a:t>黑马智聊机器人项目需求</a:t>
            </a:r>
            <a:endParaRPr lang="zh-CN" altLang="en-US" sz="1600" dirty="0"/>
          </a:p>
          <a:p>
            <a:pPr algn="l"/>
            <a:r>
              <a:rPr lang="zh-CN" altLang="en-US" sz="1600" dirty="0">
                <a:sym typeface="+mn-ea"/>
              </a:rPr>
              <a:t>黑马智聊机器人项目架构</a:t>
            </a:r>
            <a:endParaRPr lang="zh-CN" altLang="en-US" sz="1600" dirty="0"/>
          </a:p>
          <a:p>
            <a:pPr algn="l"/>
            <a:r>
              <a:rPr lang="zh-CN" altLang="en-US" sz="1600" dirty="0">
                <a:solidFill>
                  <a:srgbClr val="C00000"/>
                </a:solidFill>
                <a:sym typeface="+mn-ea"/>
              </a:rPr>
              <a:t>大模型分类</a:t>
            </a:r>
            <a:endParaRPr lang="zh-CN" altLang="en-US" sz="1600" dirty="0">
              <a:solidFill>
                <a:srgbClr val="C00000"/>
              </a:solidFill>
              <a:sym typeface="+mn-ea"/>
            </a:endParaRPr>
          </a:p>
          <a:p>
            <a:pPr algn="l"/>
            <a:r>
              <a:rPr lang="zh-CN" altLang="en-US" sz="1600" dirty="0">
                <a:sym typeface="+mn-ea"/>
              </a:rPr>
              <a:t>热门大模型初体验</a:t>
            </a:r>
            <a:endParaRPr lang="zh-CN" altLang="en-US" sz="1600" dirty="0">
              <a:sym typeface="+mn-ea"/>
            </a:endParaRPr>
          </a:p>
          <a:p>
            <a:pPr marL="0" indent="0" algn="l">
              <a:buNone/>
            </a:pPr>
            <a:endParaRPr kumimoji="1" lang="zh-CN" altLang="en-US" sz="1600" dirty="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866958" y="335400"/>
            <a:ext cx="6298881" cy="4855845"/>
          </a:xfrm>
        </p:spPr>
        <p:txBody>
          <a:bodyPr/>
          <a:lstStyle/>
          <a:p>
            <a:pPr marL="0" indent="0">
              <a:buNone/>
            </a:pPr>
            <a:r>
              <a:rPr lang="zh-CN" altLang="en-US" dirty="0">
                <a:solidFill>
                  <a:schemeClr val="tx1"/>
                </a:solidFill>
              </a:rPr>
              <a:t>了解大模型的分类</a:t>
            </a:r>
            <a:endParaRPr lang="zh-CN" altLang="en-US" dirty="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t>大模型分类</a:t>
            </a:r>
          </a:p>
        </p:txBody>
      </p:sp>
      <p:sp>
        <p:nvSpPr>
          <p:cNvPr id="3" name="文本占位符 2"/>
          <p:cNvSpPr>
            <a:spLocks noGrp="1"/>
          </p:cNvSpPr>
          <p:nvPr>
            <p:ph type="body" sz="quarter" idx="11"/>
          </p:nvPr>
        </p:nvSpPr>
        <p:spPr>
          <a:xfrm>
            <a:off x="710565" y="1604645"/>
            <a:ext cx="6950710" cy="4748530"/>
          </a:xfrm>
        </p:spPr>
        <p:txBody>
          <a:bodyPr/>
          <a:p>
            <a:pPr>
              <a:buFont typeface="Arial" panose="020B0604020202020204" pitchFamily="34" charset="0"/>
            </a:pPr>
            <a:r>
              <a:rPr lang="zh-CN" altLang="en-US"/>
              <a:t>大模型的分类方式多样，涵盖了从架构、应用场景到训练目标等多个维度。选择合适的大模型需要综合考虑任务需求、数据规模、计算资源等因素。</a:t>
            </a:r>
            <a:endParaRPr lang="zh-CN" altLang="en-US"/>
          </a:p>
          <a:p>
            <a:pPr>
              <a:buFont typeface="Arial" panose="020B0604020202020204" pitchFamily="34" charset="0"/>
            </a:pPr>
            <a:endParaRPr lang="zh-CN" altLang="en-US"/>
          </a:p>
          <a:p>
            <a:pPr>
              <a:buFont typeface="Arial" panose="020B0604020202020204" pitchFamily="34" charset="0"/>
            </a:pPr>
            <a:r>
              <a:rPr lang="zh-CN" altLang="en-US" b="1"/>
              <a:t>常见的有</a:t>
            </a:r>
            <a:r>
              <a:rPr lang="en-US" altLang="zh-CN" b="1"/>
              <a:t>:</a:t>
            </a:r>
            <a:endParaRPr lang="en-US" altLang="zh-CN" b="1"/>
          </a:p>
          <a:p>
            <a:pPr indent="457200">
              <a:buFont typeface="Arial" panose="020B0604020202020204" pitchFamily="34" charset="0"/>
            </a:pPr>
            <a:r>
              <a:rPr lang="zh-CN" altLang="en-US" b="1"/>
              <a:t>自然语言处理模型</a:t>
            </a:r>
            <a:endParaRPr lang="zh-CN" altLang="en-US" b="1"/>
          </a:p>
          <a:p>
            <a:pPr indent="457200">
              <a:buFont typeface="Arial" panose="020B0604020202020204" pitchFamily="34" charset="0"/>
            </a:pPr>
            <a:r>
              <a:rPr lang="zh-CN" altLang="en-US" b="1"/>
              <a:t>计算机视觉（</a:t>
            </a:r>
            <a:r>
              <a:rPr lang="en-US" altLang="zh-CN" b="1"/>
              <a:t>CV</a:t>
            </a:r>
            <a:r>
              <a:rPr lang="zh-CN" altLang="en-US" b="1"/>
              <a:t>）模型</a:t>
            </a:r>
            <a:endParaRPr lang="zh-CN" altLang="en-US" b="1"/>
          </a:p>
          <a:p>
            <a:pPr indent="457200">
              <a:buFont typeface="Arial" panose="020B0604020202020204" pitchFamily="34" charset="0"/>
            </a:pPr>
            <a:r>
              <a:rPr lang="zh-CN" altLang="en-US" b="1"/>
              <a:t>语音模型</a:t>
            </a:r>
            <a:endParaRPr lang="zh-CN" altLang="en-US" b="1"/>
          </a:p>
          <a:p>
            <a:pPr indent="457200">
              <a:buFont typeface="Arial" panose="020B0604020202020204" pitchFamily="34" charset="0"/>
            </a:pPr>
            <a:r>
              <a:rPr lang="zh-CN" altLang="en-US" b="1"/>
              <a:t>多模态模型</a:t>
            </a:r>
            <a:endParaRPr lang="zh-CN" altLang="en-US" b="1"/>
          </a:p>
        </p:txBody>
      </p:sp>
      <p:pic>
        <p:nvPicPr>
          <p:cNvPr id="6" name="图片 5" descr="01 (134)"/>
          <p:cNvPicPr>
            <a:picLocks noChangeAspect="1"/>
          </p:cNvPicPr>
          <p:nvPr/>
        </p:nvPicPr>
        <p:blipFill>
          <a:blip r:embed="rId1"/>
          <a:stretch>
            <a:fillRect/>
          </a:stretch>
        </p:blipFill>
        <p:spPr>
          <a:xfrm>
            <a:off x="6631940" y="1673225"/>
            <a:ext cx="3810000" cy="38100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自然语言处理模型</a:t>
            </a:r>
            <a:endParaRPr lang="zh-CN" altLang="en-US"/>
          </a:p>
        </p:txBody>
      </p:sp>
      <p:sp>
        <p:nvSpPr>
          <p:cNvPr id="3" name="文本占位符 2"/>
          <p:cNvSpPr>
            <a:spLocks noGrp="1"/>
          </p:cNvSpPr>
          <p:nvPr>
            <p:ph type="body" sz="quarter" idx="11"/>
          </p:nvPr>
        </p:nvSpPr>
        <p:spPr>
          <a:xfrm>
            <a:off x="710565" y="1604645"/>
            <a:ext cx="9549765" cy="4748530"/>
          </a:xfrm>
        </p:spPr>
        <p:txBody>
          <a:bodyPr/>
          <a:p>
            <a:pPr>
              <a:buFont typeface="Arial" panose="020B0604020202020204" pitchFamily="34" charset="0"/>
            </a:pPr>
            <a:r>
              <a:rPr lang="zh-CN" altLang="en-US"/>
              <a:t>自然语言大模型（</a:t>
            </a:r>
            <a:r>
              <a:rPr lang="en-US" altLang="zh-CN"/>
              <a:t>Large Language Models, LLMs</a:t>
            </a:r>
            <a:r>
              <a:rPr lang="zh-CN" altLang="en-US"/>
              <a:t>）是基于深度学习的模型，旨在理解和生成人类语言。它们通过大规模文本数据的训练，能够执行多种自然语言处理（</a:t>
            </a:r>
            <a:r>
              <a:rPr lang="en-US" altLang="zh-CN"/>
              <a:t>NLP</a:t>
            </a:r>
            <a:r>
              <a:rPr lang="zh-CN" altLang="en-US"/>
              <a:t>）任务，如专注于文本生成、理解、翻译等任务</a:t>
            </a:r>
            <a:r>
              <a:rPr lang="en-US" altLang="zh-CN"/>
              <a:t>. </a:t>
            </a:r>
            <a:endParaRPr lang="en-US" altLang="zh-CN"/>
          </a:p>
          <a:p>
            <a:pPr>
              <a:buFont typeface="Arial" panose="020B0604020202020204" pitchFamily="34" charset="0"/>
            </a:pPr>
            <a:r>
              <a:rPr lang="zh-CN" altLang="en-US">
                <a:sym typeface="+mn-ea"/>
              </a:rPr>
              <a:t>举例：</a:t>
            </a:r>
            <a:r>
              <a:rPr lang="en-US" altLang="zh-CN"/>
              <a:t>GPT</a:t>
            </a:r>
            <a:r>
              <a:rPr lang="zh-CN" altLang="en-US"/>
              <a:t>系列（</a:t>
            </a:r>
            <a:r>
              <a:rPr lang="en-US" altLang="zh-CN"/>
              <a:t>OpenAI</a:t>
            </a:r>
            <a:r>
              <a:rPr lang="zh-CN" altLang="en-US"/>
              <a:t>）、</a:t>
            </a:r>
            <a:r>
              <a:rPr lang="en-US" altLang="zh-CN"/>
              <a:t>BERT</a:t>
            </a:r>
            <a:r>
              <a:rPr lang="zh-CN" altLang="en-US"/>
              <a:t>（</a:t>
            </a:r>
            <a:r>
              <a:rPr lang="en-US" altLang="zh-CN"/>
              <a:t>Google</a:t>
            </a:r>
            <a:r>
              <a:rPr lang="zh-CN" altLang="en-US"/>
              <a:t>）、</a:t>
            </a:r>
            <a:r>
              <a:rPr lang="en-US" altLang="zh-CN"/>
              <a:t>T5</a:t>
            </a:r>
            <a:r>
              <a:rPr lang="zh-CN" altLang="en-US"/>
              <a:t>（</a:t>
            </a:r>
            <a:r>
              <a:rPr lang="en-US" altLang="zh-CN"/>
              <a:t>Google</a:t>
            </a:r>
            <a:r>
              <a:rPr lang="zh-CN" altLang="en-US"/>
              <a:t>）</a:t>
            </a:r>
            <a:endParaRPr lang="zh-CN" altLang="en-US"/>
          </a:p>
        </p:txBody>
      </p:sp>
      <p:pic>
        <p:nvPicPr>
          <p:cNvPr id="4" name="图片 3"/>
          <p:cNvPicPr>
            <a:picLocks noChangeAspect="1"/>
          </p:cNvPicPr>
          <p:nvPr/>
        </p:nvPicPr>
        <p:blipFill>
          <a:blip r:embed="rId1"/>
          <a:stretch>
            <a:fillRect/>
          </a:stretch>
        </p:blipFill>
        <p:spPr>
          <a:xfrm>
            <a:off x="878840" y="3108325"/>
            <a:ext cx="8953500" cy="3130550"/>
          </a:xfrm>
          <a:prstGeom prst="rect">
            <a:avLst/>
          </a:prstGeom>
        </p:spPr>
      </p:pic>
      <p:pic>
        <p:nvPicPr>
          <p:cNvPr id="5" name="图片 4" descr="01 (108)"/>
          <p:cNvPicPr>
            <a:picLocks noChangeAspect="1"/>
          </p:cNvPicPr>
          <p:nvPr/>
        </p:nvPicPr>
        <p:blipFill>
          <a:blip r:embed="rId2"/>
          <a:stretch>
            <a:fillRect/>
          </a:stretch>
        </p:blipFill>
        <p:spPr>
          <a:xfrm>
            <a:off x="10619740" y="4848225"/>
            <a:ext cx="1705610" cy="170561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计算机视觉（</a:t>
            </a:r>
            <a:r>
              <a:rPr lang="en-US" altLang="zh-CN"/>
              <a:t>CV</a:t>
            </a:r>
            <a:r>
              <a:rPr lang="zh-CN" altLang="en-US"/>
              <a:t>）模型</a:t>
            </a:r>
            <a:endParaRPr lang="zh-CN" altLang="en-US"/>
          </a:p>
        </p:txBody>
      </p:sp>
      <p:sp>
        <p:nvSpPr>
          <p:cNvPr id="3" name="文本占位符 2"/>
          <p:cNvSpPr>
            <a:spLocks noGrp="1"/>
          </p:cNvSpPr>
          <p:nvPr>
            <p:ph type="body" sz="quarter" idx="11"/>
          </p:nvPr>
        </p:nvSpPr>
        <p:spPr>
          <a:xfrm>
            <a:off x="710565" y="1604645"/>
            <a:ext cx="8933815" cy="4748530"/>
          </a:xfrm>
        </p:spPr>
        <p:txBody>
          <a:bodyPr/>
          <a:p>
            <a:pPr>
              <a:buFont typeface="Arial" panose="020B0604020202020204" pitchFamily="34" charset="0"/>
            </a:pPr>
            <a:r>
              <a:rPr lang="zh-CN" altLang="en-US"/>
              <a:t>视觉大模型（</a:t>
            </a:r>
            <a:r>
              <a:rPr lang="en-US" altLang="zh-CN"/>
              <a:t>Large Visual Models</a:t>
            </a:r>
            <a:r>
              <a:rPr lang="zh-CN" altLang="en-US"/>
              <a:t>）核心是通过大规模数据和复杂模型架构，实现对图像和视频的深度理解和生成。与传统计算机视觉模型相比，视觉大模型具有更强的泛化能力和多任务适应性，能够处理复杂的视觉任务，如图像分类、目标检测、语义分割、图像生成等。</a:t>
            </a:r>
            <a:endParaRPr lang="en-US" altLang="zh-CN"/>
          </a:p>
          <a:p>
            <a:pPr>
              <a:buFont typeface="Arial" panose="020B0604020202020204" pitchFamily="34" charset="0"/>
            </a:pPr>
            <a:r>
              <a:rPr lang="zh-CN" altLang="en-US">
                <a:sym typeface="+mn-ea"/>
              </a:rPr>
              <a:t>举例：</a:t>
            </a:r>
            <a:r>
              <a:rPr lang="en-US" altLang="zh-CN"/>
              <a:t>Stable Diffusion</a:t>
            </a:r>
            <a:r>
              <a:rPr lang="zh-CN" altLang="en-US"/>
              <a:t>、</a:t>
            </a:r>
            <a:r>
              <a:rPr lang="en-US" altLang="zh-CN"/>
              <a:t>Vision Transformers (ViT)</a:t>
            </a:r>
            <a:r>
              <a:rPr lang="zh-CN" altLang="en-US"/>
              <a:t>、</a:t>
            </a:r>
            <a:r>
              <a:rPr lang="en-US" altLang="zh-CN"/>
              <a:t>DALL·E</a:t>
            </a:r>
            <a:r>
              <a:rPr lang="zh-CN" altLang="en-US"/>
              <a:t>（</a:t>
            </a:r>
            <a:r>
              <a:rPr lang="en-US" altLang="zh-CN"/>
              <a:t>OpenAI</a:t>
            </a:r>
            <a:r>
              <a:rPr lang="zh-CN" altLang="en-US"/>
              <a:t>）、</a:t>
            </a:r>
            <a:r>
              <a:rPr lang="en-US" altLang="zh-CN"/>
              <a:t>CLIP</a:t>
            </a:r>
            <a:r>
              <a:rPr lang="zh-CN" altLang="en-US"/>
              <a:t>（</a:t>
            </a:r>
            <a:r>
              <a:rPr lang="en-US" altLang="zh-CN"/>
              <a:t>OpenAI</a:t>
            </a:r>
            <a:r>
              <a:rPr lang="zh-CN" altLang="en-US"/>
              <a:t>）</a:t>
            </a:r>
            <a:endParaRPr lang="zh-CN" altLang="en-US"/>
          </a:p>
          <a:p>
            <a:pPr>
              <a:buFont typeface="Arial" panose="020B0604020202020204" pitchFamily="34" charset="0"/>
            </a:pPr>
            <a:endParaRPr lang="zh-CN" altLang="en-US"/>
          </a:p>
        </p:txBody>
      </p:sp>
      <p:pic>
        <p:nvPicPr>
          <p:cNvPr id="4" name="图片 3"/>
          <p:cNvPicPr>
            <a:picLocks noChangeAspect="1"/>
          </p:cNvPicPr>
          <p:nvPr/>
        </p:nvPicPr>
        <p:blipFill>
          <a:blip r:embed="rId1"/>
          <a:stretch>
            <a:fillRect/>
          </a:stretch>
        </p:blipFill>
        <p:spPr>
          <a:xfrm>
            <a:off x="1402080" y="3340100"/>
            <a:ext cx="6814820" cy="3219450"/>
          </a:xfrm>
          <a:prstGeom prst="rect">
            <a:avLst/>
          </a:prstGeom>
        </p:spPr>
      </p:pic>
      <p:pic>
        <p:nvPicPr>
          <p:cNvPr id="5" name="图片 4" descr="01 (108)"/>
          <p:cNvPicPr>
            <a:picLocks noChangeAspect="1"/>
          </p:cNvPicPr>
          <p:nvPr/>
        </p:nvPicPr>
        <p:blipFill>
          <a:blip r:embed="rId2"/>
          <a:stretch>
            <a:fillRect/>
          </a:stretch>
        </p:blipFill>
        <p:spPr>
          <a:xfrm>
            <a:off x="10619740" y="4848225"/>
            <a:ext cx="1705610" cy="170561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a:sym typeface="+mn-ea"/>
              </a:rPr>
              <a:t>语音大模型</a:t>
            </a:r>
            <a:endParaRPr lang="zh-CN" altLang="en-US"/>
          </a:p>
        </p:txBody>
      </p:sp>
      <p:sp>
        <p:nvSpPr>
          <p:cNvPr id="3" name="文本占位符 2"/>
          <p:cNvSpPr>
            <a:spLocks noGrp="1"/>
          </p:cNvSpPr>
          <p:nvPr>
            <p:ph type="body" sz="quarter" idx="11"/>
          </p:nvPr>
        </p:nvSpPr>
        <p:spPr>
          <a:xfrm>
            <a:off x="710565" y="1604645"/>
            <a:ext cx="8601710" cy="4748530"/>
          </a:xfrm>
        </p:spPr>
        <p:txBody>
          <a:bodyPr/>
          <a:p>
            <a:pPr>
              <a:buFont typeface="Arial" panose="020B0604020202020204" pitchFamily="34" charset="0"/>
            </a:pPr>
            <a:r>
              <a:rPr lang="zh-CN" altLang="en-US"/>
              <a:t>语音大模型是基于深度学习技术构建的人工智能模型，主要用于处理语音相关的任务，如语音识别（</a:t>
            </a:r>
            <a:r>
              <a:rPr lang="en-US" altLang="zh-CN"/>
              <a:t>ASR</a:t>
            </a:r>
            <a:r>
              <a:rPr lang="zh-CN" altLang="en-US"/>
              <a:t>）、语音合成（</a:t>
            </a:r>
            <a:r>
              <a:rPr lang="en-US" altLang="zh-CN"/>
              <a:t>TTS</a:t>
            </a:r>
            <a:r>
              <a:rPr lang="zh-CN" altLang="en-US"/>
              <a:t>）、语音翻译等。近年来，随着深度学习和大规模数据训练的发展，语音大模型在性能和功能上取得了显著进展，能够支持多语言、多场景的复杂任务。</a:t>
            </a:r>
            <a:endParaRPr lang="en-US" altLang="zh-CN"/>
          </a:p>
          <a:p>
            <a:pPr>
              <a:buFont typeface="Arial" panose="020B0604020202020204" pitchFamily="34" charset="0"/>
            </a:pPr>
            <a:r>
              <a:rPr lang="zh-CN" altLang="en-US"/>
              <a:t>举例：</a:t>
            </a:r>
            <a:r>
              <a:rPr lang="en-US" altLang="zh-CN"/>
              <a:t>Whisper</a:t>
            </a:r>
            <a:r>
              <a:rPr lang="zh-CN" altLang="en-US"/>
              <a:t>（</a:t>
            </a:r>
            <a:r>
              <a:rPr lang="en-US" altLang="zh-CN"/>
              <a:t>OpenAI</a:t>
            </a:r>
            <a:r>
              <a:rPr lang="zh-CN" altLang="en-US"/>
              <a:t>）、</a:t>
            </a:r>
            <a:r>
              <a:rPr lang="en-US" altLang="zh-CN"/>
              <a:t>WaveNet</a:t>
            </a:r>
            <a:r>
              <a:rPr lang="zh-CN" altLang="en-US"/>
              <a:t>（</a:t>
            </a:r>
            <a:r>
              <a:rPr lang="en-US" altLang="zh-CN"/>
              <a:t>DeepMind</a:t>
            </a:r>
            <a:r>
              <a:rPr lang="zh-CN" altLang="en-US"/>
              <a:t>）、讯飞星火</a:t>
            </a:r>
            <a:endParaRPr lang="zh-CN" altLang="en-US"/>
          </a:p>
          <a:p>
            <a:pPr>
              <a:buFont typeface="Arial" panose="020B0604020202020204" pitchFamily="34" charset="0"/>
            </a:pPr>
            <a:endParaRPr lang="zh-CN" altLang="en-US"/>
          </a:p>
        </p:txBody>
      </p:sp>
      <p:pic>
        <p:nvPicPr>
          <p:cNvPr id="4" name="图片 3"/>
          <p:cNvPicPr>
            <a:picLocks noChangeAspect="1"/>
          </p:cNvPicPr>
          <p:nvPr/>
        </p:nvPicPr>
        <p:blipFill>
          <a:blip r:embed="rId1"/>
          <a:stretch>
            <a:fillRect/>
          </a:stretch>
        </p:blipFill>
        <p:spPr>
          <a:xfrm>
            <a:off x="1205230" y="3223895"/>
            <a:ext cx="7181850" cy="3369310"/>
          </a:xfrm>
          <a:prstGeom prst="rect">
            <a:avLst/>
          </a:prstGeom>
        </p:spPr>
      </p:pic>
      <p:pic>
        <p:nvPicPr>
          <p:cNvPr id="5" name="图片 4" descr="01 (108)"/>
          <p:cNvPicPr>
            <a:picLocks noChangeAspect="1"/>
          </p:cNvPicPr>
          <p:nvPr/>
        </p:nvPicPr>
        <p:blipFill>
          <a:blip r:embed="rId2"/>
          <a:stretch>
            <a:fillRect/>
          </a:stretch>
        </p:blipFill>
        <p:spPr>
          <a:xfrm>
            <a:off x="10619740" y="4848225"/>
            <a:ext cx="1705610" cy="170561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多模态模型</a:t>
            </a:r>
            <a:endParaRPr lang="zh-CN" altLang="en-US"/>
          </a:p>
        </p:txBody>
      </p:sp>
      <p:sp>
        <p:nvSpPr>
          <p:cNvPr id="3" name="文本占位符 2"/>
          <p:cNvSpPr>
            <a:spLocks noGrp="1"/>
          </p:cNvSpPr>
          <p:nvPr>
            <p:ph type="body" sz="quarter" idx="11"/>
          </p:nvPr>
        </p:nvSpPr>
        <p:spPr>
          <a:xfrm>
            <a:off x="710565" y="1604645"/>
            <a:ext cx="9585325" cy="4748530"/>
          </a:xfrm>
        </p:spPr>
        <p:txBody>
          <a:bodyPr/>
          <a:p>
            <a:pPr>
              <a:buFont typeface="Arial" panose="020B0604020202020204" pitchFamily="34" charset="0"/>
            </a:pPr>
            <a:r>
              <a:rPr lang="zh-CN" altLang="en-US"/>
              <a:t>多模态模型是一种能够同时处理多种数据模态（如文本、图像、音频、视频等）的人工智能模型。它的核心在于跨模态融合，即将不同模态的数据表示映射到同一空间，以便模型能够理解和生成跨模态的内容。</a:t>
            </a:r>
            <a:endParaRPr lang="zh-CN" altLang="en-US"/>
          </a:p>
          <a:p>
            <a:pPr>
              <a:buFont typeface="Arial" panose="020B0604020202020204" pitchFamily="34" charset="0"/>
            </a:pPr>
            <a:r>
              <a:rPr lang="zh-CN" altLang="en-US"/>
              <a:t>举例：</a:t>
            </a:r>
            <a:r>
              <a:rPr lang="en-US" altLang="zh-CN"/>
              <a:t>GPT-4</a:t>
            </a:r>
            <a:r>
              <a:rPr lang="zh-CN" altLang="en-US"/>
              <a:t>（支持多模态）、</a:t>
            </a:r>
            <a:r>
              <a:rPr lang="en-US" altLang="zh-CN"/>
              <a:t>Flamingo</a:t>
            </a:r>
            <a:r>
              <a:rPr lang="zh-CN" altLang="en-US"/>
              <a:t>（</a:t>
            </a:r>
            <a:r>
              <a:rPr lang="en-US" altLang="zh-CN"/>
              <a:t>DeepMind</a:t>
            </a:r>
            <a:r>
              <a:rPr lang="zh-CN" altLang="en-US"/>
              <a:t>）、</a:t>
            </a:r>
            <a:r>
              <a:rPr lang="en-US" altLang="zh-CN"/>
              <a:t>BLIP</a:t>
            </a:r>
            <a:r>
              <a:rPr lang="zh-CN" altLang="en-US"/>
              <a:t>、</a:t>
            </a:r>
            <a:r>
              <a:rPr lang="en-US" altLang="zh-CN"/>
              <a:t>KOSMOS</a:t>
            </a:r>
            <a:r>
              <a:rPr lang="zh-CN" altLang="en-US"/>
              <a:t>（微软）</a:t>
            </a:r>
            <a:endParaRPr lang="zh-CN" altLang="en-US"/>
          </a:p>
          <a:p>
            <a:pPr>
              <a:buFont typeface="Arial" panose="020B0604020202020204" pitchFamily="34" charset="0"/>
            </a:pPr>
            <a:endParaRPr lang="zh-CN" altLang="en-US"/>
          </a:p>
        </p:txBody>
      </p:sp>
      <p:pic>
        <p:nvPicPr>
          <p:cNvPr id="5" name="图片 4"/>
          <p:cNvPicPr>
            <a:picLocks noChangeAspect="1"/>
          </p:cNvPicPr>
          <p:nvPr/>
        </p:nvPicPr>
        <p:blipFill>
          <a:blip r:embed="rId1"/>
          <a:stretch>
            <a:fillRect/>
          </a:stretch>
        </p:blipFill>
        <p:spPr>
          <a:xfrm>
            <a:off x="2008505" y="2909570"/>
            <a:ext cx="5596255" cy="3785870"/>
          </a:xfrm>
          <a:prstGeom prst="rect">
            <a:avLst/>
          </a:prstGeom>
        </p:spPr>
      </p:pic>
      <p:pic>
        <p:nvPicPr>
          <p:cNvPr id="4" name="图片 3" descr="01 (108)"/>
          <p:cNvPicPr>
            <a:picLocks noChangeAspect="1"/>
          </p:cNvPicPr>
          <p:nvPr/>
        </p:nvPicPr>
        <p:blipFill>
          <a:blip r:embed="rId2"/>
          <a:stretch>
            <a:fillRect/>
          </a:stretch>
        </p:blipFill>
        <p:spPr>
          <a:xfrm>
            <a:off x="10619740" y="4848225"/>
            <a:ext cx="1705610" cy="170561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0" indent="0">
              <a:lnSpc>
                <a:spcPct val="150000"/>
              </a:lnSpc>
              <a:buNone/>
            </a:pPr>
            <a:r>
              <a:rPr lang="zh-CN" altLang="en-US" sz="1600" b="1" dirty="0"/>
              <a:t>常见大模型分类是什么？</a:t>
            </a:r>
            <a:endParaRPr lang="zh-CN" altLang="en-US" sz="1600" b="1" dirty="0"/>
          </a:p>
          <a:p>
            <a:pPr indent="457200">
              <a:buFont typeface="Arial" panose="020B0604020202020204" pitchFamily="34" charset="0"/>
            </a:pPr>
            <a:r>
              <a:rPr lang="zh-CN" altLang="en-US" sz="1600" b="1">
                <a:sym typeface="+mn-ea"/>
              </a:rPr>
              <a:t>自然语言处理模型</a:t>
            </a:r>
            <a:endParaRPr lang="zh-CN" altLang="en-US" sz="1600" b="1"/>
          </a:p>
          <a:p>
            <a:pPr indent="457200">
              <a:buFont typeface="Arial" panose="020B0604020202020204" pitchFamily="34" charset="0"/>
            </a:pPr>
            <a:r>
              <a:rPr lang="zh-CN" altLang="en-US" sz="1600" b="1">
                <a:sym typeface="+mn-ea"/>
              </a:rPr>
              <a:t>计算机视觉（</a:t>
            </a:r>
            <a:r>
              <a:rPr lang="en-US" altLang="zh-CN" sz="1600" b="1">
                <a:sym typeface="+mn-ea"/>
              </a:rPr>
              <a:t>CV</a:t>
            </a:r>
            <a:r>
              <a:rPr lang="zh-CN" altLang="en-US" sz="1600" b="1">
                <a:sym typeface="+mn-ea"/>
              </a:rPr>
              <a:t>）模型</a:t>
            </a:r>
            <a:endParaRPr lang="zh-CN" altLang="en-US" sz="1600" b="1"/>
          </a:p>
          <a:p>
            <a:pPr indent="457200">
              <a:buFont typeface="Arial" panose="020B0604020202020204" pitchFamily="34" charset="0"/>
            </a:pPr>
            <a:r>
              <a:rPr lang="zh-CN" altLang="en-US" sz="1600" b="1">
                <a:sym typeface="+mn-ea"/>
              </a:rPr>
              <a:t>语音模型</a:t>
            </a:r>
            <a:endParaRPr lang="zh-CN" altLang="en-US" sz="1600" b="1"/>
          </a:p>
          <a:p>
            <a:pPr indent="457200">
              <a:buFont typeface="Arial" panose="020B0604020202020204" pitchFamily="34" charset="0"/>
            </a:pPr>
            <a:r>
              <a:rPr lang="zh-CN" altLang="en-US" sz="1600" b="1">
                <a:sym typeface="+mn-ea"/>
              </a:rPr>
              <a:t>多模态模型</a:t>
            </a:r>
            <a:endParaRPr lang="zh-CN" altLang="en-US" sz="1600" b="1"/>
          </a:p>
          <a:p>
            <a:pPr marL="0" indent="0">
              <a:lnSpc>
                <a:spcPct val="150000"/>
              </a:lnSpc>
              <a:buNone/>
            </a:pPr>
            <a:endParaRPr lang="en-US" altLang="zh-CN" sz="1600"/>
          </a:p>
          <a:p>
            <a:pPr marL="0" indent="0">
              <a:lnSpc>
                <a:spcPct val="150000"/>
              </a:lnSpc>
              <a:buNone/>
            </a:pPr>
            <a:endParaRPr lang="en-US" altLang="zh-CN" sz="1600" dirty="0"/>
          </a:p>
          <a:p>
            <a:pPr marL="0" indent="0">
              <a:lnSpc>
                <a:spcPct val="150000"/>
              </a:lnSpc>
              <a:buNone/>
            </a:pPr>
            <a:endParaRPr lang="zh-CN"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 calcmode="lin" valueType="num">
                                      <p:cBhvr additive="base">
                                        <p:cTn id="1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19358" y="1029625"/>
            <a:ext cx="5973761" cy="4256405"/>
          </a:xfrm>
        </p:spPr>
        <p:txBody>
          <a:bodyPr/>
          <a:lstStyle/>
          <a:p>
            <a:pPr algn="l"/>
            <a:r>
              <a:rPr lang="zh-CN" altLang="en-US" sz="1600" dirty="0"/>
              <a:t>黑马智聊机器人项目简介</a:t>
            </a:r>
            <a:endParaRPr lang="zh-CN" altLang="en-US" sz="1600" dirty="0"/>
          </a:p>
          <a:p>
            <a:pPr algn="l"/>
            <a:r>
              <a:rPr lang="zh-CN" altLang="en-US" sz="1600" dirty="0">
                <a:sym typeface="+mn-ea"/>
              </a:rPr>
              <a:t>黑马智聊机器人项目需求</a:t>
            </a:r>
            <a:endParaRPr lang="zh-CN" altLang="en-US" sz="1600" dirty="0"/>
          </a:p>
          <a:p>
            <a:pPr algn="l"/>
            <a:r>
              <a:rPr lang="zh-CN" altLang="en-US" sz="1600" dirty="0">
                <a:sym typeface="+mn-ea"/>
              </a:rPr>
              <a:t>黑马智聊机器人项目架构</a:t>
            </a:r>
            <a:endParaRPr lang="zh-CN" altLang="en-US" sz="1600" dirty="0"/>
          </a:p>
          <a:p>
            <a:pPr algn="l"/>
            <a:r>
              <a:rPr lang="zh-CN" altLang="en-US" sz="1600" dirty="0">
                <a:sym typeface="+mn-ea"/>
              </a:rPr>
              <a:t>大模型分类</a:t>
            </a:r>
            <a:endParaRPr lang="zh-CN" altLang="en-US" sz="1600" dirty="0">
              <a:sym typeface="+mn-ea"/>
            </a:endParaRPr>
          </a:p>
          <a:p>
            <a:pPr algn="l"/>
            <a:r>
              <a:rPr lang="zh-CN" altLang="en-US" sz="1600" dirty="0">
                <a:solidFill>
                  <a:srgbClr val="C00000"/>
                </a:solidFill>
                <a:sym typeface="+mn-ea"/>
              </a:rPr>
              <a:t>热门大模型初体验</a:t>
            </a:r>
            <a:endParaRPr lang="zh-CN" altLang="en-US" sz="1600" dirty="0">
              <a:solidFill>
                <a:srgbClr val="C00000"/>
              </a:solidFill>
              <a:sym typeface="+mn-ea"/>
            </a:endParaRPr>
          </a:p>
          <a:p>
            <a:pPr marL="0" indent="0" algn="l">
              <a:buNone/>
            </a:pPr>
            <a:endParaRPr kumimoji="1" lang="zh-CN" altLang="en-US" sz="1600" dirty="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866958" y="335400"/>
            <a:ext cx="6298881" cy="4855845"/>
          </a:xfrm>
        </p:spPr>
        <p:txBody>
          <a:bodyPr/>
          <a:lstStyle/>
          <a:p>
            <a:r>
              <a:rPr lang="zh-CN" altLang="en-US" dirty="0">
                <a:solidFill>
                  <a:schemeClr val="tx1"/>
                </a:solidFill>
              </a:rPr>
              <a:t>大模型有哪些应用场景？</a:t>
            </a:r>
            <a:endParaRPr lang="zh-CN" altLang="en-US" dirty="0">
              <a:solidFill>
                <a:schemeClr val="tx1"/>
              </a:solidFill>
            </a:endParaRPr>
          </a:p>
          <a:p>
            <a:r>
              <a:rPr lang="zh-CN" altLang="en-US" dirty="0">
                <a:solidFill>
                  <a:schemeClr val="tx1"/>
                </a:solidFill>
              </a:rPr>
              <a:t>了解热门大模型有哪些</a:t>
            </a:r>
            <a:r>
              <a:rPr lang="en-US" altLang="zh-CN" dirty="0">
                <a:solidFill>
                  <a:schemeClr val="tx1"/>
                </a:solidFill>
              </a:rPr>
              <a:t>?</a:t>
            </a:r>
            <a:endParaRPr lang="en-US" altLang="zh-CN" dirty="0">
              <a:solidFill>
                <a:schemeClr val="tx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大模型应用场景</a:t>
            </a:r>
            <a:endParaRPr lang="zh-CN" altLang="en-US"/>
          </a:p>
        </p:txBody>
      </p:sp>
      <p:sp>
        <p:nvSpPr>
          <p:cNvPr id="3" name="文本占位符 2"/>
          <p:cNvSpPr>
            <a:spLocks noGrp="1"/>
          </p:cNvSpPr>
          <p:nvPr>
            <p:ph type="body" sz="quarter" idx="11"/>
          </p:nvPr>
        </p:nvSpPr>
        <p:spPr>
          <a:xfrm>
            <a:off x="710565" y="1604645"/>
            <a:ext cx="10364470" cy="4748530"/>
          </a:xfrm>
        </p:spPr>
        <p:txBody>
          <a:bodyPr/>
          <a:p>
            <a:pPr>
              <a:lnSpc>
                <a:spcPct val="220000"/>
              </a:lnSpc>
              <a:buFont typeface="Arial" panose="020B0604020202020204" pitchFamily="34" charset="0"/>
            </a:pPr>
            <a:r>
              <a:rPr lang="en-US" altLang="zh-CN" b="1"/>
              <a:t>- </a:t>
            </a:r>
            <a:r>
              <a:rPr lang="zh-CN" altLang="en-US" b="1"/>
              <a:t>智能客服与对话系统：用于构建聊天机器人、虚拟助手，提供</a:t>
            </a:r>
            <a:r>
              <a:rPr lang="en-US" altLang="zh-CN" b="1"/>
              <a:t>24*7</a:t>
            </a:r>
            <a:r>
              <a:rPr lang="zh-CN" altLang="en-US" b="1"/>
              <a:t>的客户支持。目前大模型最广泛应用。</a:t>
            </a:r>
            <a:endParaRPr lang="zh-CN" altLang="en-US" b="1"/>
          </a:p>
          <a:p>
            <a:pPr>
              <a:lnSpc>
                <a:spcPct val="220000"/>
              </a:lnSpc>
              <a:buFont typeface="Arial" panose="020B0604020202020204" pitchFamily="34" charset="0"/>
            </a:pPr>
            <a:r>
              <a:rPr lang="en-US" altLang="zh-CN" b="1"/>
              <a:t>- </a:t>
            </a:r>
            <a:r>
              <a:rPr lang="zh-CN" altLang="en-US" b="1"/>
              <a:t>文本生成：生成文章、故事、代码、营销文案等。</a:t>
            </a:r>
            <a:endParaRPr lang="zh-CN" altLang="en-US" b="1"/>
          </a:p>
          <a:p>
            <a:pPr>
              <a:lnSpc>
                <a:spcPct val="220000"/>
              </a:lnSpc>
              <a:buFont typeface="Arial" panose="020B0604020202020204" pitchFamily="34" charset="0"/>
            </a:pPr>
            <a:r>
              <a:rPr lang="en-US" altLang="zh-CN" b="1"/>
              <a:t>- </a:t>
            </a:r>
            <a:r>
              <a:rPr lang="zh-CN" altLang="en-US" b="1"/>
              <a:t>机器翻译：实现多语言之间的高质量翻译。</a:t>
            </a:r>
            <a:endParaRPr lang="zh-CN" altLang="en-US" b="1"/>
          </a:p>
          <a:p>
            <a:pPr>
              <a:lnSpc>
                <a:spcPct val="220000"/>
              </a:lnSpc>
              <a:buFont typeface="Arial" panose="020B0604020202020204" pitchFamily="34" charset="0"/>
            </a:pPr>
            <a:r>
              <a:rPr lang="en-US" altLang="zh-CN" b="1"/>
              <a:t>- </a:t>
            </a:r>
            <a:r>
              <a:rPr lang="zh-CN" altLang="en-US" b="1"/>
              <a:t>问答系统：提供精准的问答服务，如技术支持。</a:t>
            </a:r>
            <a:endParaRPr lang="zh-CN" altLang="en-US" b="1"/>
          </a:p>
          <a:p>
            <a:pPr>
              <a:lnSpc>
                <a:spcPct val="220000"/>
              </a:lnSpc>
              <a:buFont typeface="Arial" panose="020B0604020202020204" pitchFamily="34" charset="0"/>
            </a:pPr>
            <a:r>
              <a:rPr lang="en-US" altLang="zh-CN" b="1"/>
              <a:t>- </a:t>
            </a:r>
            <a:r>
              <a:rPr lang="zh-CN" altLang="en-US" b="1"/>
              <a:t>图像分类与识别：识别图像中的物体、场景或人脸。</a:t>
            </a:r>
            <a:endParaRPr lang="zh-CN" altLang="en-US" b="1"/>
          </a:p>
          <a:p>
            <a:pPr>
              <a:lnSpc>
                <a:spcPct val="220000"/>
              </a:lnSpc>
              <a:buFont typeface="Arial" panose="020B0604020202020204" pitchFamily="34" charset="0"/>
            </a:pPr>
            <a:r>
              <a:rPr lang="en-US" altLang="zh-CN" b="1"/>
              <a:t>- </a:t>
            </a:r>
            <a:r>
              <a:rPr lang="zh-CN" altLang="en-US" b="1"/>
              <a:t>目标检测与跟踪：用于自动驾驶、安防监控等场景。</a:t>
            </a:r>
            <a:endParaRPr lang="zh-CN" altLang="en-US" b="1"/>
          </a:p>
          <a:p>
            <a:pPr>
              <a:buFont typeface="Arial" panose="020B0604020202020204" pitchFamily="34" charset="0"/>
            </a:pPr>
            <a:endParaRPr lang="zh-CN" altLang="en-US" b="1"/>
          </a:p>
        </p:txBody>
      </p:sp>
      <p:pic>
        <p:nvPicPr>
          <p:cNvPr id="4" name="图片 3"/>
          <p:cNvPicPr>
            <a:picLocks noChangeAspect="1"/>
          </p:cNvPicPr>
          <p:nvPr/>
        </p:nvPicPr>
        <p:blipFill>
          <a:blip r:embed="rId1"/>
          <a:stretch>
            <a:fillRect/>
          </a:stretch>
        </p:blipFill>
        <p:spPr>
          <a:xfrm>
            <a:off x="5779770" y="2329180"/>
            <a:ext cx="4954905" cy="2737485"/>
          </a:xfrm>
          <a:prstGeom prst="rect">
            <a:avLst/>
          </a:prstGeom>
        </p:spPr>
      </p:pic>
      <p:pic>
        <p:nvPicPr>
          <p:cNvPr id="10" name="图片 9" descr="01 (135)"/>
          <p:cNvPicPr>
            <a:picLocks noChangeAspect="1"/>
          </p:cNvPicPr>
          <p:nvPr/>
        </p:nvPicPr>
        <p:blipFill>
          <a:blip r:embed="rId2"/>
          <a:stretch>
            <a:fillRect/>
          </a:stretch>
        </p:blipFill>
        <p:spPr>
          <a:xfrm>
            <a:off x="11234420" y="5332730"/>
            <a:ext cx="1395730" cy="13957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热门大模型初体验</a:t>
            </a:r>
            <a:endParaRPr lang="zh-CN" altLang="en-US"/>
          </a:p>
        </p:txBody>
      </p:sp>
      <p:sp>
        <p:nvSpPr>
          <p:cNvPr id="3" name="文本占位符 2"/>
          <p:cNvSpPr>
            <a:spLocks noGrp="1"/>
          </p:cNvSpPr>
          <p:nvPr>
            <p:ph type="body" sz="quarter" idx="11"/>
          </p:nvPr>
        </p:nvSpPr>
        <p:spPr>
          <a:xfrm>
            <a:off x="710565" y="1604645"/>
            <a:ext cx="8601710" cy="4748530"/>
          </a:xfrm>
        </p:spPr>
        <p:txBody>
          <a:bodyPr/>
          <a:p>
            <a:pPr>
              <a:buFont typeface="Arial" panose="020B0604020202020204" pitchFamily="34" charset="0"/>
            </a:pPr>
            <a:r>
              <a:rPr lang="zh-CN" altLang="en-US" b="1"/>
              <a:t>黑马星云网</a:t>
            </a:r>
            <a:endParaRPr lang="zh-CN" altLang="en-US" b="1"/>
          </a:p>
          <a:p>
            <a:pPr>
              <a:buFont typeface="Arial" panose="020B0604020202020204" pitchFamily="34" charset="0"/>
            </a:pPr>
            <a:r>
              <a:rPr lang="zh-CN" altLang="en-US" b="1"/>
              <a:t>网址</a:t>
            </a:r>
            <a:r>
              <a:rPr lang="en-US" altLang="zh-CN" b="1"/>
              <a:t>: </a:t>
            </a:r>
            <a:r>
              <a:rPr lang="en-US" altLang="zh-CN" b="1">
                <a:hlinkClick r:id="rId1" action="ppaction://hlinkfile"/>
              </a:rPr>
              <a:t>https://nebula.itcast.cn</a:t>
            </a:r>
            <a:endParaRPr lang="en-US" altLang="zh-CN" b="1"/>
          </a:p>
          <a:p>
            <a:pPr>
              <a:buFont typeface="Arial" panose="020B0604020202020204" pitchFamily="34" charset="0"/>
            </a:pPr>
            <a:endParaRPr lang="zh-CN" altLang="en-US" b="1"/>
          </a:p>
        </p:txBody>
      </p:sp>
      <p:pic>
        <p:nvPicPr>
          <p:cNvPr id="4" name="图片 3"/>
          <p:cNvPicPr>
            <a:picLocks noChangeAspect="1"/>
          </p:cNvPicPr>
          <p:nvPr/>
        </p:nvPicPr>
        <p:blipFill>
          <a:blip r:embed="rId2"/>
          <a:stretch>
            <a:fillRect/>
          </a:stretch>
        </p:blipFill>
        <p:spPr>
          <a:xfrm>
            <a:off x="784225" y="2508250"/>
            <a:ext cx="8476615" cy="4043680"/>
          </a:xfrm>
          <a:prstGeom prst="rect">
            <a:avLst/>
          </a:prstGeom>
        </p:spPr>
      </p:pic>
      <p:pic>
        <p:nvPicPr>
          <p:cNvPr id="10" name="图片 9" descr="01 (135)"/>
          <p:cNvPicPr>
            <a:picLocks noChangeAspect="1"/>
          </p:cNvPicPr>
          <p:nvPr/>
        </p:nvPicPr>
        <p:blipFill>
          <a:blip r:embed="rId3"/>
          <a:stretch>
            <a:fillRect/>
          </a:stretch>
        </p:blipFill>
        <p:spPr>
          <a:xfrm>
            <a:off x="11234420" y="5332730"/>
            <a:ext cx="1395730" cy="1395730"/>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热门大模型初体验</a:t>
            </a:r>
            <a:endParaRPr lang="zh-CN" altLang="en-US"/>
          </a:p>
        </p:txBody>
      </p:sp>
      <p:sp>
        <p:nvSpPr>
          <p:cNvPr id="3" name="文本占位符 2"/>
          <p:cNvSpPr>
            <a:spLocks noGrp="1"/>
          </p:cNvSpPr>
          <p:nvPr>
            <p:ph type="body" sz="quarter" idx="11"/>
          </p:nvPr>
        </p:nvSpPr>
        <p:spPr>
          <a:xfrm>
            <a:off x="710565" y="1604645"/>
            <a:ext cx="9230995" cy="4748530"/>
          </a:xfrm>
        </p:spPr>
        <p:txBody>
          <a:bodyPr/>
          <a:p>
            <a:pPr>
              <a:buFont typeface="Arial" panose="020B0604020202020204" pitchFamily="34" charset="0"/>
            </a:pPr>
            <a:r>
              <a:rPr lang="zh-CN" altLang="en-US" b="1"/>
              <a:t>讯飞星火认知大模型</a:t>
            </a:r>
            <a:endParaRPr lang="zh-CN" altLang="en-US" b="1"/>
          </a:p>
          <a:p>
            <a:pPr>
              <a:buFont typeface="Arial" panose="020B0604020202020204" pitchFamily="34" charset="0"/>
            </a:pPr>
            <a:r>
              <a:rPr lang="zh-CN" altLang="en-US"/>
              <a:t>科大讯飞推出的新一代认知智能大模型，拥有跨领域的知识和语言理解能力，能够基于自然对话方式理解与执行任务。例如：语言理解、知识问答、逻辑推理、数学题解答、代码理解与编写。</a:t>
            </a:r>
            <a:endParaRPr lang="zh-CN" altLang="en-US"/>
          </a:p>
        </p:txBody>
      </p:sp>
      <p:pic>
        <p:nvPicPr>
          <p:cNvPr id="5" name="图片 4"/>
          <p:cNvPicPr>
            <a:picLocks noChangeAspect="1"/>
          </p:cNvPicPr>
          <p:nvPr/>
        </p:nvPicPr>
        <p:blipFill>
          <a:blip r:embed="rId1"/>
          <a:stretch>
            <a:fillRect/>
          </a:stretch>
        </p:blipFill>
        <p:spPr>
          <a:xfrm>
            <a:off x="763270" y="3107055"/>
            <a:ext cx="9436100" cy="2266950"/>
          </a:xfrm>
          <a:prstGeom prst="rect">
            <a:avLst/>
          </a:prstGeom>
        </p:spPr>
      </p:pic>
      <p:pic>
        <p:nvPicPr>
          <p:cNvPr id="10" name="图片 9" descr="01 (135)"/>
          <p:cNvPicPr>
            <a:picLocks noChangeAspect="1"/>
          </p:cNvPicPr>
          <p:nvPr/>
        </p:nvPicPr>
        <p:blipFill>
          <a:blip r:embed="rId2"/>
          <a:stretch>
            <a:fillRect/>
          </a:stretch>
        </p:blipFill>
        <p:spPr>
          <a:xfrm>
            <a:off x="11234420" y="5332730"/>
            <a:ext cx="1395730" cy="139573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热门大模型初体验</a:t>
            </a:r>
            <a:endParaRPr lang="zh-CN" altLang="en-US"/>
          </a:p>
        </p:txBody>
      </p:sp>
      <p:sp>
        <p:nvSpPr>
          <p:cNvPr id="3" name="文本占位符 2"/>
          <p:cNvSpPr>
            <a:spLocks noGrp="1"/>
          </p:cNvSpPr>
          <p:nvPr>
            <p:ph type="body" sz="quarter" idx="11"/>
          </p:nvPr>
        </p:nvSpPr>
        <p:spPr>
          <a:xfrm>
            <a:off x="710565" y="1604645"/>
            <a:ext cx="8601710" cy="4748530"/>
          </a:xfrm>
        </p:spPr>
        <p:txBody>
          <a:bodyPr/>
          <a:p>
            <a:pPr>
              <a:buFont typeface="Arial" panose="020B0604020202020204" pitchFamily="34" charset="0"/>
            </a:pPr>
            <a:r>
              <a:rPr lang="zh-CN" altLang="en-US" b="1">
                <a:sym typeface="+mn-ea"/>
              </a:rPr>
              <a:t>讯飞星火认知大模型</a:t>
            </a:r>
            <a:endParaRPr lang="zh-CN" altLang="en-US" b="1"/>
          </a:p>
          <a:p>
            <a:pPr>
              <a:buFont typeface="Arial" panose="020B0604020202020204" pitchFamily="34" charset="0"/>
            </a:pPr>
            <a:r>
              <a:rPr lang="zh-CN" altLang="en-US"/>
              <a:t>场景：编写报告</a:t>
            </a:r>
            <a:r>
              <a:rPr lang="en-US" altLang="zh-CN"/>
              <a:t>&amp;</a:t>
            </a:r>
            <a:r>
              <a:rPr lang="zh-CN" altLang="en-US"/>
              <a:t>计划</a:t>
            </a:r>
            <a:endParaRPr lang="zh-CN" altLang="en-US"/>
          </a:p>
        </p:txBody>
      </p:sp>
      <p:pic>
        <p:nvPicPr>
          <p:cNvPr id="4" name="图片 3"/>
          <p:cNvPicPr>
            <a:picLocks noChangeAspect="1"/>
          </p:cNvPicPr>
          <p:nvPr/>
        </p:nvPicPr>
        <p:blipFill>
          <a:blip r:embed="rId1"/>
          <a:stretch>
            <a:fillRect/>
          </a:stretch>
        </p:blipFill>
        <p:spPr>
          <a:xfrm>
            <a:off x="1458595" y="2434590"/>
            <a:ext cx="6651625" cy="4086860"/>
          </a:xfrm>
          <a:prstGeom prst="rect">
            <a:avLst/>
          </a:prstGeom>
        </p:spPr>
      </p:pic>
      <p:pic>
        <p:nvPicPr>
          <p:cNvPr id="10" name="图片 9" descr="01 (135)"/>
          <p:cNvPicPr>
            <a:picLocks noChangeAspect="1"/>
          </p:cNvPicPr>
          <p:nvPr/>
        </p:nvPicPr>
        <p:blipFill>
          <a:blip r:embed="rId2"/>
          <a:stretch>
            <a:fillRect/>
          </a:stretch>
        </p:blipFill>
        <p:spPr>
          <a:xfrm>
            <a:off x="11234420" y="5332730"/>
            <a:ext cx="1395730" cy="139573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热门大模型初体验</a:t>
            </a:r>
            <a:endParaRPr lang="zh-CN" altLang="en-US"/>
          </a:p>
        </p:txBody>
      </p:sp>
      <p:sp>
        <p:nvSpPr>
          <p:cNvPr id="3" name="文本占位符 2"/>
          <p:cNvSpPr>
            <a:spLocks noGrp="1"/>
          </p:cNvSpPr>
          <p:nvPr>
            <p:ph type="body" sz="quarter" idx="11"/>
          </p:nvPr>
        </p:nvSpPr>
        <p:spPr>
          <a:xfrm>
            <a:off x="710565" y="1604645"/>
            <a:ext cx="9919335" cy="4748530"/>
          </a:xfrm>
        </p:spPr>
        <p:txBody>
          <a:bodyPr/>
          <a:p>
            <a:pPr>
              <a:buFont typeface="Arial" panose="020B0604020202020204" pitchFamily="34" charset="0"/>
            </a:pPr>
            <a:r>
              <a:rPr lang="zh-CN" altLang="en-US" b="1"/>
              <a:t>阿里通义千问大模型</a:t>
            </a:r>
            <a:endParaRPr lang="zh-CN" altLang="en-US" b="1"/>
          </a:p>
          <a:p>
            <a:pPr>
              <a:buFont typeface="Arial" panose="020B0604020202020204" pitchFamily="34" charset="0"/>
            </a:pPr>
            <a:r>
              <a:rPr lang="zh-CN" altLang="en-US"/>
              <a:t>通义千问是阿里巴巴推出的一款大型预训练语言模型，它能够回答问题、创作文字，还能表达观点、撰写代码。基于海量数据训练，通义千问具备广泛知识和较强理解能力，致力于为用户提供精准、多样、有创意的回答，成为用户在学习、工作、生活中的智能助手。</a:t>
            </a:r>
            <a:endParaRPr lang="zh-CN" altLang="en-US"/>
          </a:p>
        </p:txBody>
      </p:sp>
      <p:pic>
        <p:nvPicPr>
          <p:cNvPr id="5" name="图片 4"/>
          <p:cNvPicPr>
            <a:picLocks noChangeAspect="1"/>
          </p:cNvPicPr>
          <p:nvPr/>
        </p:nvPicPr>
        <p:blipFill>
          <a:blip r:embed="rId1"/>
          <a:stretch>
            <a:fillRect/>
          </a:stretch>
        </p:blipFill>
        <p:spPr>
          <a:xfrm>
            <a:off x="818515" y="3488055"/>
            <a:ext cx="9347200" cy="2245360"/>
          </a:xfrm>
          <a:prstGeom prst="rect">
            <a:avLst/>
          </a:prstGeom>
        </p:spPr>
      </p:pic>
      <p:pic>
        <p:nvPicPr>
          <p:cNvPr id="10" name="图片 9" descr="01 (135)"/>
          <p:cNvPicPr>
            <a:picLocks noChangeAspect="1"/>
          </p:cNvPicPr>
          <p:nvPr/>
        </p:nvPicPr>
        <p:blipFill>
          <a:blip r:embed="rId2"/>
          <a:stretch>
            <a:fillRect/>
          </a:stretch>
        </p:blipFill>
        <p:spPr>
          <a:xfrm>
            <a:off x="11234420" y="5332730"/>
            <a:ext cx="1395730" cy="139573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热门大模型初体验</a:t>
            </a:r>
            <a:endParaRPr lang="zh-CN" altLang="en-US"/>
          </a:p>
        </p:txBody>
      </p:sp>
      <p:sp>
        <p:nvSpPr>
          <p:cNvPr id="3" name="文本占位符 2"/>
          <p:cNvSpPr>
            <a:spLocks noGrp="1"/>
          </p:cNvSpPr>
          <p:nvPr>
            <p:ph type="body" sz="quarter" idx="11"/>
          </p:nvPr>
        </p:nvSpPr>
        <p:spPr>
          <a:xfrm>
            <a:off x="710565" y="1604645"/>
            <a:ext cx="9919335" cy="4748530"/>
          </a:xfrm>
        </p:spPr>
        <p:txBody>
          <a:bodyPr/>
          <a:p>
            <a:pPr>
              <a:buFont typeface="Arial" panose="020B0604020202020204" pitchFamily="34" charset="0"/>
            </a:pPr>
            <a:r>
              <a:rPr lang="zh-CN" altLang="en-US" b="1"/>
              <a:t>阿里通义千问大模型</a:t>
            </a:r>
            <a:endParaRPr lang="zh-CN" altLang="en-US" b="1"/>
          </a:p>
          <a:p>
            <a:pPr>
              <a:buFont typeface="Arial" panose="020B0604020202020204" pitchFamily="34" charset="0"/>
            </a:pPr>
            <a:r>
              <a:rPr lang="zh-CN" altLang="en-US"/>
              <a:t>场景：编程助手</a:t>
            </a:r>
            <a:endParaRPr lang="zh-CN" altLang="en-US"/>
          </a:p>
        </p:txBody>
      </p:sp>
      <p:pic>
        <p:nvPicPr>
          <p:cNvPr id="4" name="图片 3"/>
          <p:cNvPicPr>
            <a:picLocks noChangeAspect="1"/>
          </p:cNvPicPr>
          <p:nvPr/>
        </p:nvPicPr>
        <p:blipFill>
          <a:blip r:embed="rId1"/>
          <a:stretch>
            <a:fillRect/>
          </a:stretch>
        </p:blipFill>
        <p:spPr>
          <a:xfrm>
            <a:off x="1338580" y="2572385"/>
            <a:ext cx="6200140" cy="4015105"/>
          </a:xfrm>
          <a:prstGeom prst="rect">
            <a:avLst/>
          </a:prstGeom>
        </p:spPr>
      </p:pic>
      <p:pic>
        <p:nvPicPr>
          <p:cNvPr id="5" name="图片 4" descr="01 (109)"/>
          <p:cNvPicPr>
            <a:picLocks noChangeAspect="1"/>
          </p:cNvPicPr>
          <p:nvPr/>
        </p:nvPicPr>
        <p:blipFill>
          <a:blip r:embed="rId2"/>
          <a:stretch>
            <a:fillRect/>
          </a:stretch>
        </p:blipFill>
        <p:spPr>
          <a:xfrm>
            <a:off x="11228705" y="5466715"/>
            <a:ext cx="1120775" cy="112077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热门大模型初体验</a:t>
            </a:r>
            <a:endParaRPr lang="zh-CN" altLang="en-US"/>
          </a:p>
        </p:txBody>
      </p:sp>
      <p:sp>
        <p:nvSpPr>
          <p:cNvPr id="3" name="文本占位符 2"/>
          <p:cNvSpPr>
            <a:spLocks noGrp="1"/>
          </p:cNvSpPr>
          <p:nvPr>
            <p:ph type="body" sz="quarter" idx="11"/>
          </p:nvPr>
        </p:nvSpPr>
        <p:spPr>
          <a:xfrm>
            <a:off x="710565" y="1604645"/>
            <a:ext cx="9919335" cy="4748530"/>
          </a:xfrm>
        </p:spPr>
        <p:txBody>
          <a:bodyPr/>
          <a:p>
            <a:pPr>
              <a:buFont typeface="Arial" panose="020B0604020202020204" pitchFamily="34" charset="0"/>
            </a:pPr>
            <a:r>
              <a:rPr lang="zh-CN" altLang="en-US" b="1">
                <a:sym typeface="+mn-ea"/>
              </a:rPr>
              <a:t>深度求索</a:t>
            </a:r>
            <a:r>
              <a:rPr lang="en-US" altLang="zh-CN" b="1">
                <a:sym typeface="+mn-ea"/>
              </a:rPr>
              <a:t>DeepSeek</a:t>
            </a:r>
            <a:endParaRPr lang="en-US" altLang="zh-CN" b="1">
              <a:sym typeface="+mn-ea"/>
            </a:endParaRPr>
          </a:p>
          <a:p>
            <a:pPr>
              <a:buFont typeface="Arial" panose="020B0604020202020204" pitchFamily="34" charset="0"/>
            </a:pPr>
            <a:r>
              <a:rPr lang="en-US" altLang="zh-CN"/>
              <a:t>DeepSeek</a:t>
            </a:r>
            <a:r>
              <a:rPr lang="zh-CN" altLang="en-US"/>
              <a:t>是一家专注于人工智能和大数据技术的创新企业，致力于为各行业提供智能化解决方案。其核心产品包括智能客服系统、数据分析平台和个性化推荐引擎，帮助企业提升运营效率、优化用户体验。</a:t>
            </a:r>
            <a:endParaRPr lang="zh-CN" altLang="en-US"/>
          </a:p>
          <a:p>
            <a:pPr>
              <a:buFont typeface="Arial" panose="020B0604020202020204" pitchFamily="34" charset="0"/>
            </a:pPr>
            <a:r>
              <a:rPr lang="zh-CN" altLang="en-US"/>
              <a:t>网址</a:t>
            </a:r>
            <a:r>
              <a:rPr lang="en-US" altLang="zh-CN"/>
              <a:t>: </a:t>
            </a:r>
            <a:r>
              <a:rPr lang="en-US" altLang="zh-CN">
                <a:hlinkClick r:id="rId1" action="ppaction://hlinkfile"/>
              </a:rPr>
              <a:t>https://chat.deepseek.com</a:t>
            </a:r>
            <a:r>
              <a:rPr lang="en-US" altLang="zh-CN"/>
              <a:t> </a:t>
            </a:r>
            <a:endParaRPr lang="en-US" altLang="zh-CN"/>
          </a:p>
          <a:p>
            <a:pPr>
              <a:buFont typeface="Arial" panose="020B0604020202020204" pitchFamily="34" charset="0"/>
            </a:pPr>
            <a:endParaRPr lang="en-US" altLang="zh-CN"/>
          </a:p>
        </p:txBody>
      </p:sp>
      <p:pic>
        <p:nvPicPr>
          <p:cNvPr id="4" name="图片 3"/>
          <p:cNvPicPr>
            <a:picLocks noChangeAspect="1"/>
          </p:cNvPicPr>
          <p:nvPr/>
        </p:nvPicPr>
        <p:blipFill>
          <a:blip r:embed="rId2"/>
          <a:stretch>
            <a:fillRect/>
          </a:stretch>
        </p:blipFill>
        <p:spPr>
          <a:xfrm>
            <a:off x="1604645" y="3429000"/>
            <a:ext cx="7331075" cy="2870835"/>
          </a:xfrm>
          <a:prstGeom prst="rect">
            <a:avLst/>
          </a:prstGeom>
        </p:spPr>
      </p:pic>
      <p:pic>
        <p:nvPicPr>
          <p:cNvPr id="5" name="图片 4" descr="01 (109)"/>
          <p:cNvPicPr>
            <a:picLocks noChangeAspect="1"/>
          </p:cNvPicPr>
          <p:nvPr/>
        </p:nvPicPr>
        <p:blipFill>
          <a:blip r:embed="rId3"/>
          <a:stretch>
            <a:fillRect/>
          </a:stretch>
        </p:blipFill>
        <p:spPr>
          <a:xfrm>
            <a:off x="11228705" y="5466715"/>
            <a:ext cx="1120775" cy="1120775"/>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a:t>热门大模型初体验</a:t>
            </a:r>
            <a:endParaRPr lang="zh-CN" altLang="en-US"/>
          </a:p>
        </p:txBody>
      </p:sp>
      <p:sp>
        <p:nvSpPr>
          <p:cNvPr id="3" name="文本占位符 2"/>
          <p:cNvSpPr>
            <a:spLocks noGrp="1"/>
          </p:cNvSpPr>
          <p:nvPr>
            <p:ph type="body" sz="quarter" idx="11"/>
          </p:nvPr>
        </p:nvSpPr>
        <p:spPr>
          <a:xfrm>
            <a:off x="710565" y="1604645"/>
            <a:ext cx="9919335" cy="4748530"/>
          </a:xfrm>
        </p:spPr>
        <p:txBody>
          <a:bodyPr/>
          <a:p>
            <a:pPr>
              <a:buFont typeface="Arial" panose="020B0604020202020204" pitchFamily="34" charset="0"/>
            </a:pPr>
            <a:r>
              <a:rPr lang="zh-CN" altLang="en-US" b="1">
                <a:sym typeface="+mn-ea"/>
              </a:rPr>
              <a:t>深度求索</a:t>
            </a:r>
            <a:r>
              <a:rPr lang="en-US" altLang="zh-CN" b="1">
                <a:sym typeface="+mn-ea"/>
              </a:rPr>
              <a:t>DeepSeek</a:t>
            </a:r>
            <a:endParaRPr lang="en-US" altLang="zh-CN" b="1">
              <a:sym typeface="+mn-ea"/>
            </a:endParaRPr>
          </a:p>
          <a:p>
            <a:pPr>
              <a:buFont typeface="Arial" panose="020B0604020202020204" pitchFamily="34" charset="0"/>
            </a:pPr>
            <a:r>
              <a:rPr lang="zh-CN" altLang="en-US"/>
              <a:t>场景</a:t>
            </a:r>
            <a:r>
              <a:rPr lang="en-US" altLang="zh-CN"/>
              <a:t>:</a:t>
            </a:r>
            <a:r>
              <a:rPr lang="zh-CN" altLang="en-US"/>
              <a:t>编程助手</a:t>
            </a:r>
            <a:endParaRPr lang="zh-CN" altLang="en-US"/>
          </a:p>
        </p:txBody>
      </p:sp>
      <p:pic>
        <p:nvPicPr>
          <p:cNvPr id="5" name="图片 4"/>
          <p:cNvPicPr>
            <a:picLocks noChangeAspect="1"/>
          </p:cNvPicPr>
          <p:nvPr/>
        </p:nvPicPr>
        <p:blipFill>
          <a:blip r:embed="rId1"/>
          <a:stretch>
            <a:fillRect/>
          </a:stretch>
        </p:blipFill>
        <p:spPr>
          <a:xfrm>
            <a:off x="2745105" y="1407795"/>
            <a:ext cx="5482590" cy="5344795"/>
          </a:xfrm>
          <a:prstGeom prst="rect">
            <a:avLst/>
          </a:prstGeom>
        </p:spPr>
      </p:pic>
      <p:pic>
        <p:nvPicPr>
          <p:cNvPr id="4" name="图片 3" descr="01 (109)"/>
          <p:cNvPicPr>
            <a:picLocks noChangeAspect="1"/>
          </p:cNvPicPr>
          <p:nvPr/>
        </p:nvPicPr>
        <p:blipFill>
          <a:blip r:embed="rId2"/>
          <a:stretch>
            <a:fillRect/>
          </a:stretch>
        </p:blipFill>
        <p:spPr>
          <a:xfrm>
            <a:off x="11228705" y="5466715"/>
            <a:ext cx="1120775" cy="112077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0" indent="0">
              <a:lnSpc>
                <a:spcPct val="150000"/>
              </a:lnSpc>
              <a:buNone/>
            </a:pPr>
            <a:r>
              <a:rPr lang="zh-CN" altLang="en-US" sz="1600" b="1" dirty="0"/>
              <a:t>大模型有那些应用场景？</a:t>
            </a:r>
            <a:endParaRPr lang="zh-CN" altLang="en-US" sz="1600" b="1" dirty="0"/>
          </a:p>
          <a:p>
            <a:pPr marL="0" indent="0">
              <a:lnSpc>
                <a:spcPct val="150000"/>
              </a:lnSpc>
              <a:buNone/>
            </a:pPr>
            <a:endParaRPr lang="en-US" altLang="zh-CN" sz="1600" b="1" dirty="0"/>
          </a:p>
          <a:p>
            <a:pPr marL="0" indent="0">
              <a:lnSpc>
                <a:spcPct val="150000"/>
              </a:lnSpc>
              <a:buNone/>
            </a:pPr>
            <a:r>
              <a:rPr lang="zh-CN" altLang="en-US" sz="1600" dirty="0"/>
              <a:t>机器翻译、文本生成、对话系统、聊天机器人等应用</a:t>
            </a:r>
            <a:endParaRPr lang="zh-CN" altLang="en-US" sz="1600" dirty="0"/>
          </a:p>
          <a:p>
            <a:pPr marL="0" indent="0">
              <a:lnSpc>
                <a:spcPct val="150000"/>
              </a:lnSpc>
              <a:buNone/>
            </a:pPr>
            <a:endParaRPr lang="zh-CN" altLang="en-US" sz="1600" b="1" dirty="0"/>
          </a:p>
          <a:p>
            <a:pPr marL="0" indent="0">
              <a:lnSpc>
                <a:spcPct val="150000"/>
              </a:lnSpc>
              <a:buNone/>
            </a:pPr>
            <a:r>
              <a:rPr lang="zh-CN" altLang="en-US" sz="1600" b="1" dirty="0"/>
              <a:t>常用的热门大模型有哪些？</a:t>
            </a:r>
            <a:endParaRPr lang="zh-CN" altLang="en-US" sz="1600" b="1" dirty="0"/>
          </a:p>
          <a:p>
            <a:pPr indent="0">
              <a:buFont typeface="Arial" panose="020B0604020202020204" pitchFamily="34" charset="0"/>
              <a:buNone/>
            </a:pPr>
            <a:r>
              <a:rPr lang="zh-CN" altLang="en-US" sz="1600"/>
              <a:t>讯飞星火认知大模型</a:t>
            </a:r>
            <a:endParaRPr lang="zh-CN" altLang="en-US" sz="1600"/>
          </a:p>
          <a:p>
            <a:pPr indent="0">
              <a:buFont typeface="Arial" panose="020B0604020202020204" pitchFamily="34" charset="0"/>
              <a:buNone/>
            </a:pPr>
            <a:r>
              <a:rPr lang="zh-CN" altLang="en-US" sz="1600"/>
              <a:t>阿里通义大模型</a:t>
            </a:r>
            <a:endParaRPr lang="zh-CN" altLang="en-US" sz="1600"/>
          </a:p>
          <a:p>
            <a:pPr indent="0">
              <a:buFont typeface="Arial" panose="020B0604020202020204" pitchFamily="34" charset="0"/>
              <a:buNone/>
            </a:pPr>
            <a:r>
              <a:rPr lang="zh-CN" altLang="en-US" sz="1600"/>
              <a:t>深度求索</a:t>
            </a:r>
            <a:r>
              <a:rPr lang="en-US" altLang="zh-CN" sz="1600"/>
              <a:t>DeepSeek</a:t>
            </a:r>
            <a:endParaRPr lang="en-US" altLang="zh-CN" sz="1600"/>
          </a:p>
          <a:p>
            <a:pPr indent="0">
              <a:buFont typeface="Arial" panose="020B0604020202020204" pitchFamily="34" charset="0"/>
              <a:buNone/>
            </a:pPr>
            <a:r>
              <a:rPr lang="en-US" altLang="zh-CN" sz="1600"/>
              <a:t>...</a:t>
            </a:r>
            <a:endParaRPr lang="en-US" altLang="zh-CN" sz="1600"/>
          </a:p>
          <a:p>
            <a:pPr marL="0" indent="0">
              <a:lnSpc>
                <a:spcPct val="150000"/>
              </a:lnSpc>
              <a:buNone/>
            </a:pPr>
            <a:endParaRPr lang="en-US" altLang="zh-CN" sz="1600" dirty="0"/>
          </a:p>
          <a:p>
            <a:pPr marL="0" indent="0">
              <a:lnSpc>
                <a:spcPct val="150000"/>
              </a:lnSpc>
              <a:buNone/>
            </a:pPr>
            <a:endParaRPr lang="zh-CN"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UNIT_PLACING_PICTURE_USER_VIEWPORT" val="{&quot;height&quot;:10800,&quot;width&quot;:1080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PLACING_PICTURE_USER_VIEWPORT" val="{&quot;height&quot;:10800,&quot;width&quot;:10800}"/>
</p:tagLst>
</file>

<file path=ppt/tags/tag4.xml><?xml version="1.0" encoding="utf-8"?>
<p:tagLst xmlns:p="http://schemas.openxmlformats.org/presentationml/2006/main">
  <p:tag name="KSO_WM_UNIT_PLACING_PICTURE_USER_VIEWPORT" val="{&quot;height&quot;:10800,&quot;width&quot;:10800}"/>
</p:tagLst>
</file>

<file path=ppt/tags/tag5.xml><?xml version="1.0" encoding="utf-8"?>
<p:tagLst xmlns:p="http://schemas.openxmlformats.org/presentationml/2006/main">
  <p:tag name="COMMONDATA" val="eyJoZGlkIjoiZjFlMjg2MmYxODM4Yjk5ZDc5MGVmYjg0M2JjYjM0MTgifQ=="/>
  <p:tag name="KSO_WPP_MARK_KEY" val="216ea374-5a2a-4dbc-86e3-012f022b80e2"/>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3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4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5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6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7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8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9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0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2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1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2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3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14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15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3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16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17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18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19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20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21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22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23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5219</Words>
  <Application>WPS 演示</Application>
  <PresentationFormat>宽屏</PresentationFormat>
  <Paragraphs>349</Paragraphs>
  <Slides>46</Slides>
  <Notes>2</Notes>
  <HiddenSlides>0</HiddenSlides>
  <MMClips>0</MMClips>
  <ScaleCrop>false</ScaleCrop>
  <HeadingPairs>
    <vt:vector size="6" baseType="variant">
      <vt:variant>
        <vt:lpstr>已用的字体</vt:lpstr>
      </vt:variant>
      <vt:variant>
        <vt:i4>22</vt:i4>
      </vt:variant>
      <vt:variant>
        <vt:lpstr>主题</vt:lpstr>
      </vt:variant>
      <vt:variant>
        <vt:i4>33</vt:i4>
      </vt:variant>
      <vt:variant>
        <vt:lpstr>幻灯片标题</vt:lpstr>
      </vt:variant>
      <vt:variant>
        <vt:i4>46</vt:i4>
      </vt:variant>
    </vt:vector>
  </HeadingPairs>
  <TitlesOfParts>
    <vt:vector size="101" baseType="lpstr">
      <vt:lpstr>Arial</vt:lpstr>
      <vt:lpstr>宋体</vt:lpstr>
      <vt:lpstr>Wingdings</vt:lpstr>
      <vt:lpstr>Calibri</vt:lpstr>
      <vt:lpstr>黑体</vt:lpstr>
      <vt:lpstr>Alibaba PuHuiTi B</vt:lpstr>
      <vt:lpstr>Alibaba PuHuiTi R</vt:lpstr>
      <vt:lpstr>Segoe UI</vt:lpstr>
      <vt:lpstr>微软雅黑</vt:lpstr>
      <vt:lpstr>Verdana</vt:lpstr>
      <vt:lpstr>阿里巴巴普惠体</vt:lpstr>
      <vt:lpstr>Alibaba PuHuiTi M</vt:lpstr>
      <vt:lpstr>Segoe UI Light</vt:lpstr>
      <vt:lpstr>微软雅黑 Light</vt:lpstr>
      <vt:lpstr>华文楷体</vt:lpstr>
      <vt:lpstr>阿里巴巴普惠体 R</vt:lpstr>
      <vt:lpstr>Alibaba PuHuiTi Regular</vt:lpstr>
      <vt:lpstr>阿里巴巴普惠体 2.0 65 Medium</vt:lpstr>
      <vt:lpstr>纤黑体</vt:lpstr>
      <vt:lpstr>Consolas</vt:lpstr>
      <vt:lpstr>Arial Unicode MS</vt:lpstr>
      <vt:lpstr>等线</vt:lpstr>
      <vt:lpstr>封面2</vt:lpstr>
      <vt:lpstr>目录</vt:lpstr>
      <vt:lpstr>学习目标</vt:lpstr>
      <vt:lpstr>章节页版式（一级+二级标题）</vt:lpstr>
      <vt:lpstr>章节页版式（一级标题）</vt:lpstr>
      <vt:lpstr>正文设计方案</vt:lpstr>
      <vt:lpstr>5_结束页设计方案</vt:lpstr>
      <vt:lpstr>1_学习目标</vt:lpstr>
      <vt:lpstr>2_学习目标</vt:lpstr>
      <vt:lpstr>3_学习目标</vt:lpstr>
      <vt:lpstr>4_学习目标</vt:lpstr>
      <vt:lpstr>5_学习目标</vt:lpstr>
      <vt:lpstr>6_学习目标</vt:lpstr>
      <vt:lpstr>7_学习目标</vt:lpstr>
      <vt:lpstr>1_正文设计方案</vt:lpstr>
      <vt:lpstr>8_学习目标</vt:lpstr>
      <vt:lpstr>9_学习目标</vt:lpstr>
      <vt:lpstr>10_学习目标</vt:lpstr>
      <vt:lpstr>2_正文设计方案</vt:lpstr>
      <vt:lpstr>11_学习目标</vt:lpstr>
      <vt:lpstr>12_学习目标</vt:lpstr>
      <vt:lpstr>13_学习目标</vt:lpstr>
      <vt:lpstr>14_学习目标</vt:lpstr>
      <vt:lpstr>15_学习目标</vt:lpstr>
      <vt:lpstr>3_正文设计方案</vt:lpstr>
      <vt:lpstr>16_学习目标</vt:lpstr>
      <vt:lpstr>17_学习目标</vt:lpstr>
      <vt:lpstr>18_学习目标</vt:lpstr>
      <vt:lpstr>19_学习目标</vt:lpstr>
      <vt:lpstr>20_学习目标</vt:lpstr>
      <vt:lpstr>21_学习目标</vt:lpstr>
      <vt:lpstr>22_学习目标</vt:lpstr>
      <vt:lpstr>23_学习目标</vt:lpstr>
      <vt:lpstr>黑马智聊机器人项目介绍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武常斌</cp:lastModifiedBy>
  <cp:revision>1331</cp:revision>
  <dcterms:created xsi:type="dcterms:W3CDTF">2022-04-23T05:57:00Z</dcterms:created>
  <dcterms:modified xsi:type="dcterms:W3CDTF">2025-04-12T17:32:57Z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8F3BE0D789E24AA8A6562930946781AC</vt:lpwstr>
  </property>
  <property fmtid="{D5CDD505-2E9C-101B-9397-08002B2CF9AE}" pid="3" name="KSOProductBuildVer">
    <vt:lpwstr>2052-12.1.0.20305</vt:lpwstr>
  </property>
  <property fmtid="{D5CDD505-2E9C-101B-9397-08002B2CF9AE}" pid="4" name="commondata">
    <vt:lpwstr>eyJoZGlkIjoiMDAzZmIwZjU2YjM3ZmIyZjYxNWQ1NTViMjdhYzBlM2EifQ==</vt:lpwstr>
  </property>
</Properties>
</file>