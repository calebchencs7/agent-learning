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3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5" r:id="rId5"/>
    <p:sldMasterId id="2147483657" r:id="rId6"/>
    <p:sldMasterId id="2147483659" r:id="rId7"/>
    <p:sldMasterId id="2147483677" r:id="rId8"/>
    <p:sldMasterId id="2147483679" r:id="rId9"/>
    <p:sldMasterId id="2147483682" r:id="rId10"/>
    <p:sldMasterId id="2147483685" r:id="rId11"/>
    <p:sldMasterId id="2147483688" r:id="rId12"/>
    <p:sldMasterId id="2147483691" r:id="rId13"/>
  </p:sldMasterIdLst>
  <p:notesMasterIdLst>
    <p:notesMasterId r:id="rId25"/>
  </p:notesMasterIdLst>
  <p:handoutMasterIdLst>
    <p:handoutMasterId r:id="rId61"/>
  </p:handoutMasterIdLst>
  <p:sldIdLst>
    <p:sldId id="1000" r:id="rId14"/>
    <p:sldId id="463" r:id="rId15"/>
    <p:sldId id="1037" r:id="rId16"/>
    <p:sldId id="1039" r:id="rId17"/>
    <p:sldId id="1062" r:id="rId18"/>
    <p:sldId id="1050" r:id="rId19"/>
    <p:sldId id="1051" r:id="rId20"/>
    <p:sldId id="1052" r:id="rId21"/>
    <p:sldId id="1036" r:id="rId22"/>
    <p:sldId id="1053" r:id="rId23"/>
    <p:sldId id="1054" r:id="rId24"/>
    <p:sldId id="1055" r:id="rId26"/>
    <p:sldId id="1035" r:id="rId27"/>
    <p:sldId id="1056" r:id="rId28"/>
    <p:sldId id="1057" r:id="rId29"/>
    <p:sldId id="1058" r:id="rId30"/>
    <p:sldId id="1059" r:id="rId31"/>
    <p:sldId id="1060" r:id="rId32"/>
    <p:sldId id="1061" r:id="rId33"/>
    <p:sldId id="1034" r:id="rId34"/>
    <p:sldId id="464" r:id="rId35"/>
    <p:sldId id="953" r:id="rId36"/>
    <p:sldId id="564" r:id="rId37"/>
    <p:sldId id="978" r:id="rId38"/>
    <p:sldId id="979" r:id="rId39"/>
    <p:sldId id="577" r:id="rId40"/>
    <p:sldId id="981" r:id="rId41"/>
    <p:sldId id="982" r:id="rId42"/>
    <p:sldId id="983" r:id="rId43"/>
    <p:sldId id="984" r:id="rId44"/>
    <p:sldId id="985" r:id="rId45"/>
    <p:sldId id="986" r:id="rId46"/>
    <p:sldId id="987" r:id="rId47"/>
    <p:sldId id="1017" r:id="rId48"/>
    <p:sldId id="1018" r:id="rId49"/>
    <p:sldId id="1019" r:id="rId50"/>
    <p:sldId id="1020" r:id="rId51"/>
    <p:sldId id="1022" r:id="rId52"/>
    <p:sldId id="1023" r:id="rId53"/>
    <p:sldId id="1024" r:id="rId54"/>
    <p:sldId id="1025" r:id="rId55"/>
    <p:sldId id="1032" r:id="rId56"/>
    <p:sldId id="1026" r:id="rId57"/>
    <p:sldId id="1030" r:id="rId58"/>
    <p:sldId id="1031" r:id="rId59"/>
    <p:sldId id="264" r:id="rId60"/>
  </p:sldIdLst>
  <p:sldSz cx="12192000" cy="6858000"/>
  <p:notesSz cx="6858000" cy="9144000"/>
  <p:custDataLst>
    <p:tags r:id="rId6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60206"/>
    <a:srgbClr val="49504F"/>
    <a:srgbClr val="B70006"/>
    <a:srgbClr val="AD2B26"/>
    <a:srgbClr val="FFFFE4"/>
    <a:srgbClr val="919191"/>
    <a:srgbClr val="333333"/>
    <a:srgbClr val="FFFFFF"/>
    <a:srgbClr val="D9D9D9"/>
    <a:srgbClr val="5151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5979" autoAdjust="0"/>
    <p:restoredTop sz="91802" autoAdjust="0"/>
  </p:normalViewPr>
  <p:slideViewPr>
    <p:cSldViewPr snapToGrid="0">
      <p:cViewPr varScale="1">
        <p:scale>
          <a:sx n="102" d="100"/>
          <a:sy n="102" d="100"/>
        </p:scale>
        <p:origin x="216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5" Type="http://schemas.openxmlformats.org/officeDocument/2006/relationships/tags" Target="tags/tag3.xml"/><Relationship Id="rId64" Type="http://schemas.openxmlformats.org/officeDocument/2006/relationships/tableStyles" Target="tableStyles.xml"/><Relationship Id="rId63" Type="http://schemas.openxmlformats.org/officeDocument/2006/relationships/viewProps" Target="viewProps.xml"/><Relationship Id="rId62" Type="http://schemas.openxmlformats.org/officeDocument/2006/relationships/presProps" Target="presProps.xml"/><Relationship Id="rId61" Type="http://schemas.openxmlformats.org/officeDocument/2006/relationships/handoutMaster" Target="handoutMasters/handoutMaster1.xml"/><Relationship Id="rId60" Type="http://schemas.openxmlformats.org/officeDocument/2006/relationships/slide" Target="slides/slide46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45.xml"/><Relationship Id="rId58" Type="http://schemas.openxmlformats.org/officeDocument/2006/relationships/slide" Target="slides/slide44.xml"/><Relationship Id="rId57" Type="http://schemas.openxmlformats.org/officeDocument/2006/relationships/slide" Target="slides/slide43.xml"/><Relationship Id="rId56" Type="http://schemas.openxmlformats.org/officeDocument/2006/relationships/slide" Target="slides/slide42.xml"/><Relationship Id="rId55" Type="http://schemas.openxmlformats.org/officeDocument/2006/relationships/slide" Target="slides/slide41.xml"/><Relationship Id="rId54" Type="http://schemas.openxmlformats.org/officeDocument/2006/relationships/slide" Target="slides/slide40.xml"/><Relationship Id="rId53" Type="http://schemas.openxmlformats.org/officeDocument/2006/relationships/slide" Target="slides/slide39.xml"/><Relationship Id="rId52" Type="http://schemas.openxmlformats.org/officeDocument/2006/relationships/slide" Target="slides/slide38.xml"/><Relationship Id="rId51" Type="http://schemas.openxmlformats.org/officeDocument/2006/relationships/slide" Target="slides/slide37.xml"/><Relationship Id="rId50" Type="http://schemas.openxmlformats.org/officeDocument/2006/relationships/slide" Target="slides/slide36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35.xml"/><Relationship Id="rId48" Type="http://schemas.openxmlformats.org/officeDocument/2006/relationships/slide" Target="slides/slide34.xml"/><Relationship Id="rId47" Type="http://schemas.openxmlformats.org/officeDocument/2006/relationships/slide" Target="slides/slide33.xml"/><Relationship Id="rId46" Type="http://schemas.openxmlformats.org/officeDocument/2006/relationships/slide" Target="slides/slide32.xml"/><Relationship Id="rId45" Type="http://schemas.openxmlformats.org/officeDocument/2006/relationships/slide" Target="slides/slide31.xml"/><Relationship Id="rId44" Type="http://schemas.openxmlformats.org/officeDocument/2006/relationships/slide" Target="slides/slide30.xml"/><Relationship Id="rId43" Type="http://schemas.openxmlformats.org/officeDocument/2006/relationships/slide" Target="slides/slide29.xml"/><Relationship Id="rId42" Type="http://schemas.openxmlformats.org/officeDocument/2006/relationships/slide" Target="slides/slide28.xml"/><Relationship Id="rId41" Type="http://schemas.openxmlformats.org/officeDocument/2006/relationships/slide" Target="slides/slide27.xml"/><Relationship Id="rId40" Type="http://schemas.openxmlformats.org/officeDocument/2006/relationships/slide" Target="slides/slide26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25.xml"/><Relationship Id="rId38" Type="http://schemas.openxmlformats.org/officeDocument/2006/relationships/slide" Target="slides/slide24.xml"/><Relationship Id="rId37" Type="http://schemas.openxmlformats.org/officeDocument/2006/relationships/slide" Target="slides/slide23.xml"/><Relationship Id="rId36" Type="http://schemas.openxmlformats.org/officeDocument/2006/relationships/slide" Target="slides/slide22.xml"/><Relationship Id="rId35" Type="http://schemas.openxmlformats.org/officeDocument/2006/relationships/slide" Target="slides/slide21.xml"/><Relationship Id="rId34" Type="http://schemas.openxmlformats.org/officeDocument/2006/relationships/slide" Target="slides/slide20.xml"/><Relationship Id="rId33" Type="http://schemas.openxmlformats.org/officeDocument/2006/relationships/slide" Target="slides/slide19.xml"/><Relationship Id="rId32" Type="http://schemas.openxmlformats.org/officeDocument/2006/relationships/slide" Target="slides/slide18.xml"/><Relationship Id="rId31" Type="http://schemas.openxmlformats.org/officeDocument/2006/relationships/slide" Target="slides/slide17.xml"/><Relationship Id="rId30" Type="http://schemas.openxmlformats.org/officeDocument/2006/relationships/slide" Target="slides/slide1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5.xml"/><Relationship Id="rId28" Type="http://schemas.openxmlformats.org/officeDocument/2006/relationships/slide" Target="slides/slide14.xml"/><Relationship Id="rId27" Type="http://schemas.openxmlformats.org/officeDocument/2006/relationships/slide" Target="slides/slide13.xml"/><Relationship Id="rId26" Type="http://schemas.openxmlformats.org/officeDocument/2006/relationships/slide" Target="slides/slide12.xml"/><Relationship Id="rId25" Type="http://schemas.openxmlformats.org/officeDocument/2006/relationships/notesMaster" Target="notesMasters/notesMaster1.xml"/><Relationship Id="rId24" Type="http://schemas.openxmlformats.org/officeDocument/2006/relationships/slide" Target="slides/slide11.xml"/><Relationship Id="rId23" Type="http://schemas.openxmlformats.org/officeDocument/2006/relationships/slide" Target="slides/slide10.xml"/><Relationship Id="rId22" Type="http://schemas.openxmlformats.org/officeDocument/2006/relationships/slide" Target="slides/slide9.xml"/><Relationship Id="rId21" Type="http://schemas.openxmlformats.org/officeDocument/2006/relationships/slide" Target="slides/slide8.xml"/><Relationship Id="rId20" Type="http://schemas.openxmlformats.org/officeDocument/2006/relationships/slide" Target="slides/slide7.xml"/><Relationship Id="rId2" Type="http://schemas.openxmlformats.org/officeDocument/2006/relationships/theme" Target="theme/theme1.xml"/><Relationship Id="rId19" Type="http://schemas.openxmlformats.org/officeDocument/2006/relationships/slide" Target="slides/slide6.xml"/><Relationship Id="rId18" Type="http://schemas.openxmlformats.org/officeDocument/2006/relationships/slide" Target="slides/slide5.xml"/><Relationship Id="rId17" Type="http://schemas.openxmlformats.org/officeDocument/2006/relationships/slide" Target="slides/slide4.xml"/><Relationship Id="rId16" Type="http://schemas.openxmlformats.org/officeDocument/2006/relationships/slide" Target="slides/slide3.xml"/><Relationship Id="rId15" Type="http://schemas.openxmlformats.org/officeDocument/2006/relationships/slide" Target="slides/slide2.xml"/><Relationship Id="rId14" Type="http://schemas.openxmlformats.org/officeDocument/2006/relationships/slide" Target="slides/slide1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5" Type="http://schemas.openxmlformats.org/officeDocument/2006/relationships/theme" Target="../theme/theme3.xml"/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9" Type="http://schemas.openxmlformats.org/officeDocument/2006/relationships/theme" Target="../theme/theme6.xml"/><Relationship Id="rId18" Type="http://schemas.openxmlformats.org/officeDocument/2006/relationships/image" Target="../media/image6.png"/><Relationship Id="rId17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6.xml"/><Relationship Id="rId1" Type="http://schemas.openxmlformats.org/officeDocument/2006/relationships/slideLayout" Target="../slideLayouts/slideLayout7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4.xml"/></Relationships>
</file>

<file path=ppt/slideMasters/_rels/slideMaster8.xml.rels><?xml version="1.0" encoding="UTF-8" standalone="yes"?>
<Relationships xmlns="http://schemas.openxmlformats.org/package/2006/relationships"><Relationship Id="rId5" Type="http://schemas.openxmlformats.org/officeDocument/2006/relationships/theme" Target="../theme/theme8.xml"/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/Relationships>
</file>

<file path=ppt/slideMasters/_rels/slideMaster9.xml.rels><?xml version="1.0" encoding="UTF-8" standalone="yes"?>
<Relationships xmlns="http://schemas.openxmlformats.org/package/2006/relationships"><Relationship Id="rId5" Type="http://schemas.openxmlformats.org/officeDocument/2006/relationships/theme" Target="../theme/theme9.xml"/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/Relationships>
</file>

<file path=ppt/slideMasters/_rels/slideMaster10.xml.rels><?xml version="1.0" encoding="UTF-8" standalone="yes"?>
<Relationships xmlns="http://schemas.openxmlformats.org/package/2006/relationships"><Relationship Id="rId5" Type="http://schemas.openxmlformats.org/officeDocument/2006/relationships/theme" Target="../theme/theme10.xml"/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/Relationships>
</file>

<file path=ppt/slideMasters/_rels/slideMaster1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1.xml"/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/Relationships>
</file>

<file path=ppt/slideMasters/_rels/slideMaster12.xml.rels><?xml version="1.0" encoding="UTF-8" standalone="yes"?>
<Relationships xmlns="http://schemas.openxmlformats.org/package/2006/relationships"><Relationship Id="rId5" Type="http://schemas.openxmlformats.org/officeDocument/2006/relationships/theme" Target="../theme/theme12.xml"/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677" y="5726430"/>
            <a:ext cx="2748647" cy="448662"/>
          </a:xfrm>
          <a:prstGeom prst="rect">
            <a:avLst/>
          </a:prstGeom>
        </p:spPr>
      </p:pic>
      <p:sp>
        <p:nvSpPr>
          <p:cNvPr id="30" name="六边形 29"/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目录</a:t>
              </a:r>
              <a:endPara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4504267" y="260138"/>
            <a:ext cx="7687727" cy="41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多一句没有，少一句不行，用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  <a:sym typeface="华文楷体" panose="02010600040101010101" pitchFamily="2" charset="-122"/>
              </a:rPr>
              <a:t>更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短时间，教会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  <a:sym typeface="华文楷体" panose="02010600040101010101" pitchFamily="2" charset="-122"/>
              </a:rPr>
              <a:t>更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任意形状 21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713" y="2604635"/>
            <a:ext cx="2314575" cy="95596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12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12.png"/><Relationship Id="rId1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12.png"/><Relationship Id="rId1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12.png"/><Relationship Id="rId1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12.png"/><Relationship Id="rId1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tags" Target="../tags/tag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24.png"/><Relationship Id="rId1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24.png"/><Relationship Id="rId2" Type="http://schemas.openxmlformats.org/officeDocument/2006/relationships/image" Target="../media/image26.png"/><Relationship Id="rId1" Type="http://schemas.openxmlformats.org/officeDocument/2006/relationships/tags" Target="../tags/tag2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24.png"/><Relationship Id="rId1" Type="http://schemas.openxmlformats.org/officeDocument/2006/relationships/image" Target="../media/image2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24.pn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24.png"/><Relationship Id="rId1" Type="http://schemas.openxmlformats.org/officeDocument/2006/relationships/image" Target="../media/image28.pn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24.png"/><Relationship Id="rId1" Type="http://schemas.openxmlformats.org/officeDocument/2006/relationships/image" Target="../media/image29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0.png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1" Type="http://schemas.openxmlformats.org/officeDocument/2006/relationships/image" Target="../media/image31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30.png"/><Relationship Id="rId1" Type="http://schemas.openxmlformats.org/officeDocument/2006/relationships/image" Target="../media/image32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30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30.png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30.png"/><Relationship Id="rId2" Type="http://schemas.openxmlformats.org/officeDocument/2006/relationships/image" Target="../media/image33.png"/><Relationship Id="rId1" Type="http://schemas.openxmlformats.org/officeDocument/2006/relationships/hyperlink" Target="https://pythontutor.com/render.html" TargetMode="External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30.png"/><Relationship Id="rId1" Type="http://schemas.openxmlformats.org/officeDocument/2006/relationships/image" Target="../media/image34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825500" y="2158365"/>
            <a:ext cx="10541000" cy="1158875"/>
          </a:xfrm>
        </p:spPr>
        <p:txBody>
          <a:bodyPr/>
          <a:p>
            <a:r>
              <a:rPr lang="en-US" altLang="zh-CN" sz="4400" dirty="0">
                <a:solidFill>
                  <a:schemeClr val="accent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P</a:t>
            </a:r>
            <a:r>
              <a:rPr lang="en-US" altLang="zh-CN" sz="4400" dirty="0">
                <a:solidFill>
                  <a:schemeClr val="accent3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y</a:t>
            </a:r>
            <a:r>
              <a:rPr lang="en-US" altLang="zh-CN" sz="4400" dirty="0">
                <a:solidFill>
                  <a:schemeClr val="accent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t</a:t>
            </a:r>
            <a:r>
              <a:rPr lang="en-US" altLang="zh-CN" sz="4400" dirty="0">
                <a:solidFill>
                  <a:schemeClr val="accent5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h</a:t>
            </a:r>
            <a:r>
              <a:rPr lang="en-US" altLang="zh-CN" sz="4400" dirty="0">
                <a:solidFill>
                  <a:schemeClr val="accent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o</a:t>
            </a:r>
            <a:r>
              <a:rPr lang="en-US" altLang="zh-CN" sz="4400" dirty="0">
                <a:solidFill>
                  <a:srgbClr val="92D05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n</a:t>
            </a:r>
            <a:r>
              <a:rPr lang="zh-CN" altLang="en-US" sz="4400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函数进阶</a:t>
            </a:r>
            <a:endParaRPr lang="zh-CN" altLang="en-US" sz="44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pic>
        <p:nvPicPr>
          <p:cNvPr id="6" name="图片 5" descr="01 (140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6720" y="4218305"/>
            <a:ext cx="1179195" cy="1179195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 dirty="0"/>
              <a:t>人生苦短，我学</a:t>
            </a:r>
            <a:r>
              <a:rPr kumimoji="1" lang="en-US" altLang="zh-CN" dirty="0"/>
              <a:t>Python!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4892258" y="590966"/>
            <a:ext cx="5973761" cy="4256405"/>
          </a:xfrm>
        </p:spPr>
        <p:txBody>
          <a:bodyPr/>
          <a:p>
            <a:r>
              <a:rPr lang="zh-CN" altLang="en-US" dirty="0">
                <a:solidFill>
                  <a:schemeClr val="tx1"/>
                </a:solidFill>
                <a:sym typeface="+mn-ea"/>
              </a:rPr>
              <a:t>函数说明文档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  <a:sym typeface="+mn-ea"/>
              </a:rPr>
              <a:t>函数的嵌套调用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  <a:sym typeface="+mn-ea"/>
              </a:rPr>
              <a:t>变量的作用域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函数多返回值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函数多种传参方式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  <a:latin typeface="阿里巴巴普惠体 3.0 45 Light" panose="00020600040101010101" charset="-122"/>
                <a:ea typeface="阿里巴巴普惠体 3.0 45 Light" panose="00020600040101010101" charset="-122"/>
                <a:sym typeface="+mn-ea"/>
              </a:rPr>
              <a:t>匿名函数</a:t>
            </a:r>
            <a:endParaRPr lang="en-US" altLang="zh-CN" dirty="0">
              <a:solidFill>
                <a:schemeClr val="tx1"/>
              </a:solidFill>
              <a:latin typeface="阿里巴巴普惠体 3.0 45 Light" panose="00020600040101010101" charset="-122"/>
              <a:ea typeface="阿里巴巴普惠体 3.0 45 Light" panose="00020600040101010101" charset="-122"/>
            </a:endParaRPr>
          </a:p>
          <a:p>
            <a:r>
              <a:rPr lang="zh-CN" altLang="en-US" dirty="0">
                <a:latin typeface="阿里巴巴普惠体 3.0 45 Light" panose="00020600040101010101" charset="-122"/>
                <a:ea typeface="阿里巴巴普惠体 3.0 45 Light" panose="00020600040101010101" charset="-122"/>
                <a:sym typeface="+mn-ea"/>
              </a:rPr>
              <a:t>递归函数</a:t>
            </a:r>
            <a:endParaRPr lang="en-US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4892258" y="590966"/>
            <a:ext cx="5973761" cy="4256405"/>
          </a:xfrm>
        </p:spPr>
        <p:txBody>
          <a:bodyPr/>
          <a:p>
            <a:r>
              <a:rPr lang="zh-CN" altLang="en-US" dirty="0">
                <a:solidFill>
                  <a:srgbClr val="C00000"/>
                </a:solidFill>
                <a:sym typeface="+mn-ea"/>
              </a:rPr>
              <a:t>函数说明文档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  <a:sym typeface="+mn-ea"/>
              </a:rPr>
              <a:t>函数的嵌套调用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  <a:sym typeface="+mn-ea"/>
              </a:rPr>
              <a:t>变量的作用域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函数多返回值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函数多种传参方式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  <a:latin typeface="阿里巴巴普惠体 3.0 45 Light" panose="00020600040101010101" charset="-122"/>
                <a:ea typeface="阿里巴巴普惠体 3.0 45 Light" panose="00020600040101010101" charset="-122"/>
                <a:sym typeface="+mn-ea"/>
              </a:rPr>
              <a:t>匿名函数</a:t>
            </a:r>
            <a:endParaRPr lang="en-US" altLang="zh-CN" dirty="0">
              <a:solidFill>
                <a:schemeClr val="tx1"/>
              </a:solidFill>
              <a:latin typeface="阿里巴巴普惠体 3.0 45 Light" panose="00020600040101010101" charset="-122"/>
              <a:ea typeface="阿里巴巴普惠体 3.0 45 Light" panose="00020600040101010101" charset="-122"/>
            </a:endParaRPr>
          </a:p>
          <a:p>
            <a:r>
              <a:rPr lang="zh-CN" altLang="en-US" dirty="0">
                <a:latin typeface="阿里巴巴普惠体 3.0 45 Light" panose="00020600040101010101" charset="-122"/>
                <a:ea typeface="阿里巴巴普惠体 3.0 45 Light" panose="00020600040101010101" charset="-122"/>
                <a:sym typeface="+mn-ea"/>
              </a:rPr>
              <a:t>递归函数</a:t>
            </a:r>
            <a:endParaRPr lang="en-US" altLang="zh-C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738370" y="1118870"/>
            <a:ext cx="6654165" cy="329374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rgbClr val="C00000"/>
                </a:solidFill>
              </a:rPr>
              <a:t>掌握通过注释对函数进行解释说明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函数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函数：是</a:t>
            </a:r>
            <a:r>
              <a:rPr lang="zh-CN" altLang="en-US">
                <a:solidFill>
                  <a:schemeClr val="accent6">
                    <a:lumMod val="75000"/>
                  </a:schemeClr>
                </a:solidFill>
              </a:rPr>
              <a:t>组织好的</a:t>
            </a:r>
            <a:r>
              <a:rPr lang="zh-CN" altLang="en-US"/>
              <a:t>，</a:t>
            </a:r>
            <a:r>
              <a:rPr lang="zh-CN" altLang="en-US">
                <a:solidFill>
                  <a:schemeClr val="accent6">
                    <a:lumMod val="75000"/>
                  </a:schemeClr>
                </a:solidFill>
              </a:rPr>
              <a:t>可重复使用的</a:t>
            </a:r>
            <a:r>
              <a:rPr lang="zh-CN" altLang="en-US"/>
              <a:t>，用来实现特定功能的</a:t>
            </a:r>
            <a:r>
              <a:rPr lang="zh-CN" altLang="en-US">
                <a:solidFill>
                  <a:schemeClr val="accent6">
                    <a:lumMod val="75000"/>
                  </a:schemeClr>
                </a:solidFill>
              </a:rPr>
              <a:t>代码段</a:t>
            </a:r>
            <a:r>
              <a:rPr lang="zh-CN" altLang="en-US"/>
              <a:t>。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275" y="2570480"/>
            <a:ext cx="2895600" cy="23907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图片 4" descr="01 (106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4030" y="2602230"/>
            <a:ext cx="2327275" cy="2327275"/>
          </a:xfrm>
          <a:prstGeom prst="rect">
            <a:avLst/>
          </a:prstGeom>
        </p:spPr>
      </p:pic>
      <p:sp>
        <p:nvSpPr>
          <p:cNvPr id="16" name="文本占位符 2"/>
          <p:cNvSpPr>
            <a:spLocks noGrp="1"/>
          </p:cNvSpPr>
          <p:nvPr/>
        </p:nvSpPr>
        <p:spPr>
          <a:xfrm>
            <a:off x="4304030" y="4961255"/>
            <a:ext cx="2910840" cy="49339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sz="1800" b="1">
                <a:solidFill>
                  <a:schemeClr val="tx1"/>
                </a:solidFill>
                <a:latin typeface="纤黑体" panose="02000000000000000000" charset="-122"/>
                <a:ea typeface="纤黑体" panose="02000000000000000000" charset="-122"/>
              </a:rPr>
              <a:t>它使用说明怎么看</a:t>
            </a:r>
            <a:r>
              <a:rPr lang="en-US" altLang="zh-CN" sz="1800" b="1">
                <a:solidFill>
                  <a:schemeClr val="tx1"/>
                </a:solidFill>
                <a:latin typeface="纤黑体" panose="02000000000000000000" charset="-122"/>
                <a:ea typeface="纤黑体" panose="02000000000000000000" charset="-122"/>
              </a:rPr>
              <a:t>?</a:t>
            </a:r>
            <a:endParaRPr lang="en-US" altLang="zh-CN" sz="1800" b="1">
              <a:solidFill>
                <a:schemeClr val="tx1"/>
              </a:solidFill>
              <a:latin typeface="纤黑体" panose="02000000000000000000" charset="-122"/>
              <a:ea typeface="纤黑体" panose="02000000000000000000" charset="-122"/>
            </a:endParaRPr>
          </a:p>
        </p:txBody>
      </p:sp>
      <p:sp>
        <p:nvSpPr>
          <p:cNvPr id="6" name="文本占位符 2"/>
          <p:cNvSpPr>
            <a:spLocks noGrp="1"/>
          </p:cNvSpPr>
          <p:nvPr/>
        </p:nvSpPr>
        <p:spPr>
          <a:xfrm>
            <a:off x="7150100" y="2728595"/>
            <a:ext cx="4519295" cy="49339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800" b="1">
                <a:solidFill>
                  <a:schemeClr val="tx1"/>
                </a:solidFill>
                <a:latin typeface="纤黑体" panose="02000000000000000000" charset="-122"/>
                <a:ea typeface="纤黑体" panose="02000000000000000000" charset="-122"/>
              </a:rPr>
              <a:t>比如</a:t>
            </a:r>
            <a:r>
              <a:rPr lang="en-US" altLang="zh-CN" sz="1800" b="1">
                <a:solidFill>
                  <a:schemeClr val="tx1"/>
                </a:solidFill>
                <a:latin typeface="纤黑体" panose="02000000000000000000" charset="-122"/>
                <a:ea typeface="纤黑体" panose="02000000000000000000" charset="-122"/>
              </a:rPr>
              <a:t>:len()</a:t>
            </a:r>
            <a:r>
              <a:rPr lang="zh-CN" altLang="en-US" sz="1800" b="1">
                <a:solidFill>
                  <a:schemeClr val="tx1"/>
                </a:solidFill>
                <a:latin typeface="纤黑体" panose="02000000000000000000" charset="-122"/>
                <a:ea typeface="纤黑体" panose="02000000000000000000" charset="-122"/>
              </a:rPr>
              <a:t>就是</a:t>
            </a:r>
            <a:r>
              <a:rPr lang="en-US" altLang="zh-CN" sz="1800" b="1">
                <a:solidFill>
                  <a:schemeClr val="tx1"/>
                </a:solidFill>
                <a:latin typeface="纤黑体" panose="02000000000000000000" charset="-122"/>
                <a:ea typeface="纤黑体" panose="02000000000000000000" charset="-122"/>
              </a:rPr>
              <a:t>Python</a:t>
            </a:r>
            <a:r>
              <a:rPr lang="zh-CN" altLang="en-US" sz="1800" b="1">
                <a:solidFill>
                  <a:schemeClr val="tx1"/>
                </a:solidFill>
                <a:latin typeface="纤黑体" panose="02000000000000000000" charset="-122"/>
                <a:ea typeface="纤黑体" panose="02000000000000000000" charset="-122"/>
              </a:rPr>
              <a:t>内置的函数：</a:t>
            </a:r>
            <a:endParaRPr lang="zh-CN" altLang="en-US" sz="1800" b="1">
              <a:solidFill>
                <a:schemeClr val="tx1"/>
              </a:solidFill>
              <a:latin typeface="纤黑体" panose="02000000000000000000" charset="-122"/>
              <a:ea typeface="纤黑体" panose="02000000000000000000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800" b="1">
                <a:solidFill>
                  <a:schemeClr val="tx1"/>
                </a:solidFill>
                <a:latin typeface="纤黑体" panose="02000000000000000000" charset="-122"/>
                <a:ea typeface="纤黑体" panose="02000000000000000000" charset="-122"/>
              </a:rPr>
              <a:t>它是提前写好的</a:t>
            </a:r>
            <a:endParaRPr lang="zh-CN" altLang="en-US" sz="1800" b="1">
              <a:solidFill>
                <a:schemeClr val="tx1"/>
              </a:solidFill>
              <a:latin typeface="纤黑体" panose="02000000000000000000" charset="-122"/>
              <a:ea typeface="纤黑体" panose="02000000000000000000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800" b="1">
                <a:solidFill>
                  <a:schemeClr val="tx1"/>
                </a:solidFill>
                <a:latin typeface="纤黑体" panose="02000000000000000000" charset="-122"/>
                <a:ea typeface="纤黑体" panose="02000000000000000000" charset="-122"/>
              </a:rPr>
              <a:t>可以重复使用</a:t>
            </a:r>
            <a:endParaRPr lang="zh-CN" altLang="en-US" sz="1800" b="1">
              <a:solidFill>
                <a:schemeClr val="tx1"/>
              </a:solidFill>
              <a:latin typeface="纤黑体" panose="02000000000000000000" charset="-122"/>
              <a:ea typeface="纤黑体" panose="02000000000000000000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800" b="1">
                <a:solidFill>
                  <a:schemeClr val="tx1"/>
                </a:solidFill>
                <a:latin typeface="纤黑体" panose="02000000000000000000" charset="-122"/>
                <a:ea typeface="纤黑体" panose="02000000000000000000" charset="-122"/>
              </a:rPr>
              <a:t>实现统计长度这一特定功能的代码段</a:t>
            </a:r>
            <a:endParaRPr lang="zh-CN" altLang="en-US" sz="1800" b="1">
              <a:solidFill>
                <a:schemeClr val="tx1"/>
              </a:solidFill>
              <a:latin typeface="纤黑体" panose="02000000000000000000" charset="-122"/>
              <a:ea typeface="纤黑体" panose="020000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1"/>
      <p:bldP spid="6" grpId="1"/>
      <p:bldP spid="16" grpId="2"/>
      <p:bldP spid="6" grpId="2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函数的说明文档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pPr>
              <a:buFont typeface="Arial" panose="020B0604020202020204" pitchFamily="34" charset="0"/>
            </a:pPr>
            <a:r>
              <a:rPr lang="zh-CN" altLang="en-US"/>
              <a:t>函数是纯代码语言，想要理解其含义，就需要一行行的去阅读理解代码，效率比较低。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我们可以给函数添加说明文档，辅助理解函数的作用。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语法如下：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通过多行注释的形式，对函数进行说明解释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内容应写在函数体之前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6790" y="2548890"/>
            <a:ext cx="2409825" cy="2433955"/>
          </a:xfrm>
          <a:prstGeom prst="rect">
            <a:avLst/>
          </a:prstGeom>
        </p:spPr>
      </p:pic>
      <p:pic>
        <p:nvPicPr>
          <p:cNvPr id="4" name="图片 3" descr="01 (58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2190" y="5560060"/>
            <a:ext cx="1019810" cy="10198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在</a:t>
            </a:r>
            <a:r>
              <a:rPr lang="en-US" altLang="zh-CN"/>
              <a:t>PyCharm</a:t>
            </a:r>
            <a:r>
              <a:t>中查看函数说明文档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在</a:t>
            </a:r>
            <a:r>
              <a:rPr lang="en-US" altLang="zh-CN"/>
              <a:t>PyCharm</a:t>
            </a:r>
            <a:r>
              <a:rPr lang="zh-CN" altLang="en-US"/>
              <a:t>编写代码时，可以通过鼠标悬停，查看调用函数的说明文档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4475" y="2129790"/>
            <a:ext cx="3955415" cy="406463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图片 4" descr="01 (58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2190" y="5560060"/>
            <a:ext cx="1019810" cy="10198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1. </a:t>
            </a:r>
            <a:r>
              <a:rPr lang="zh-CN" altLang="en-US"/>
              <a:t>函数说明文档的作用是？</a:t>
            </a:r>
            <a:endParaRPr lang="zh-CN" altLang="en-US"/>
          </a:p>
          <a:p>
            <a:pPr marL="0" indent="0">
              <a:buNone/>
            </a:pPr>
            <a:r>
              <a:rPr lang="zh-CN" altLang="en-US" sz="1400"/>
              <a:t>对函数进行说明解释，帮助更好理解函数的功能</a:t>
            </a:r>
            <a:endParaRPr lang="zh-CN" altLang="en-US" sz="1400"/>
          </a:p>
          <a:p>
            <a:pPr marL="0" indent="0">
              <a:buNone/>
            </a:pPr>
            <a:r>
              <a:rPr lang="en-US" altLang="zh-CN"/>
              <a:t>2. </a:t>
            </a:r>
            <a:r>
              <a:rPr lang="zh-CN" altLang="en-US"/>
              <a:t>定义语法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/>
              <a:t>:param </a:t>
            </a:r>
            <a:r>
              <a:rPr lang="zh-CN" altLang="en-US" sz="1400"/>
              <a:t>用于解释参数</a:t>
            </a:r>
            <a:endParaRPr lang="zh-CN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/>
              <a:t>:return </a:t>
            </a:r>
            <a:r>
              <a:rPr lang="zh-CN" altLang="en-US" sz="1400"/>
              <a:t>用于解释返回值</a:t>
            </a:r>
            <a:endParaRPr lang="zh-CN" altLang="en-US" sz="1400"/>
          </a:p>
          <a:p>
            <a:pPr marL="0" indent="0">
              <a:buNone/>
            </a:pPr>
            <a:endParaRPr lang="zh-CN" altLang="en-US" sz="14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00700" y="2611755"/>
            <a:ext cx="2582545" cy="24936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4892258" y="590966"/>
            <a:ext cx="5973761" cy="4256405"/>
          </a:xfrm>
        </p:spPr>
        <p:txBody>
          <a:bodyPr/>
          <a:p>
            <a:r>
              <a:rPr lang="zh-CN" altLang="en-US" dirty="0">
                <a:solidFill>
                  <a:schemeClr val="tx1"/>
                </a:solidFill>
                <a:sym typeface="+mn-ea"/>
              </a:rPr>
              <a:t>函数说明文档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rgbClr val="C00000"/>
                </a:solidFill>
                <a:sym typeface="+mn-ea"/>
              </a:rPr>
              <a:t>函数的嵌套调用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  <a:sym typeface="+mn-ea"/>
              </a:rPr>
              <a:t>变量的作用域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函数多返回值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函数多种传参方式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  <a:latin typeface="阿里巴巴普惠体 3.0 45 Light" panose="00020600040101010101" charset="-122"/>
                <a:ea typeface="阿里巴巴普惠体 3.0 45 Light" panose="00020600040101010101" charset="-122"/>
                <a:sym typeface="+mn-ea"/>
              </a:rPr>
              <a:t>匿名函数</a:t>
            </a:r>
            <a:endParaRPr lang="en-US" altLang="zh-CN" dirty="0">
              <a:solidFill>
                <a:schemeClr val="tx1"/>
              </a:solidFill>
              <a:latin typeface="阿里巴巴普惠体 3.0 45 Light" panose="00020600040101010101" charset="-122"/>
              <a:ea typeface="阿里巴巴普惠体 3.0 45 Light" panose="00020600040101010101" charset="-122"/>
            </a:endParaRPr>
          </a:p>
          <a:p>
            <a:r>
              <a:rPr lang="zh-CN" altLang="en-US" dirty="0">
                <a:latin typeface="阿里巴巴普惠体 3.0 45 Light" panose="00020600040101010101" charset="-122"/>
                <a:ea typeface="阿里巴巴普惠体 3.0 45 Light" panose="00020600040101010101" charset="-122"/>
                <a:sym typeface="+mn-ea"/>
              </a:rPr>
              <a:t>递归函数</a:t>
            </a:r>
            <a:endParaRPr lang="en-US" altLang="zh-C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738370" y="1118870"/>
            <a:ext cx="6654165" cy="3293745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>
                <a:solidFill>
                  <a:srgbClr val="C00000"/>
                </a:solidFill>
              </a:rPr>
              <a:t>1. </a:t>
            </a:r>
            <a:r>
              <a:rPr lang="zh-CN" altLang="en-US" dirty="0">
                <a:solidFill>
                  <a:srgbClr val="C00000"/>
                </a:solidFill>
              </a:rPr>
              <a:t>掌握函数的嵌套调用</a:t>
            </a:r>
            <a:endParaRPr lang="zh-CN" altLang="en-US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C00000"/>
                </a:solidFill>
              </a:rPr>
              <a:t>2. </a:t>
            </a:r>
            <a:r>
              <a:rPr lang="zh-CN" altLang="en-US" dirty="0">
                <a:solidFill>
                  <a:srgbClr val="C00000"/>
                </a:solidFill>
              </a:rPr>
              <a:t>理解嵌套调用的执行流程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所谓函数嵌套调用指的是</a:t>
            </a:r>
            <a:r>
              <a:rPr lang="zh-CN" altLang="en-US" dirty="0">
                <a:solidFill>
                  <a:srgbClr val="B60206"/>
                </a:solidFill>
              </a:rPr>
              <a:t>一个函数里面又调用了另外一个函数</a:t>
            </a: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                      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执行效果：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什么是函数的嵌套</a:t>
            </a:r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785" y="2260600"/>
            <a:ext cx="2140585" cy="374015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4175" y="3927475"/>
            <a:ext cx="1781175" cy="16287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图片 4" descr="01 (58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2190" y="5560060"/>
            <a:ext cx="1019810" cy="101981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1. </a:t>
            </a:r>
            <a:r>
              <a:rPr lang="zh-CN" altLang="en-US"/>
              <a:t>什么是嵌套调用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在一个函数中，调用另外一个函数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2. </a:t>
            </a:r>
            <a:r>
              <a:rPr lang="zh-CN" altLang="en-US"/>
              <a:t>执行流程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函数</a:t>
            </a:r>
            <a:r>
              <a:rPr lang="en-US" altLang="zh-CN"/>
              <a:t>A</a:t>
            </a:r>
            <a:r>
              <a:rPr lang="zh-CN" altLang="en-US"/>
              <a:t>中执行到调用函数</a:t>
            </a:r>
            <a:r>
              <a:rPr lang="en-US" altLang="zh-CN"/>
              <a:t>B</a:t>
            </a:r>
            <a:r>
              <a:rPr lang="zh-CN" altLang="en-US"/>
              <a:t>的语句，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会将函数</a:t>
            </a:r>
            <a:r>
              <a:rPr lang="en-US" altLang="zh-CN"/>
              <a:t>B</a:t>
            </a:r>
            <a:r>
              <a:rPr lang="zh-CN" altLang="en-US"/>
              <a:t>全部执行完成后，继续执行函数</a:t>
            </a:r>
            <a:r>
              <a:rPr lang="en-US" altLang="zh-CN"/>
              <a:t>A</a:t>
            </a:r>
            <a:r>
              <a:rPr lang="zh-CN" altLang="en-US"/>
              <a:t>的剩余内容</a:t>
            </a:r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4892258" y="590966"/>
            <a:ext cx="5973761" cy="4256405"/>
          </a:xfrm>
        </p:spPr>
        <p:txBody>
          <a:bodyPr/>
          <a:p>
            <a:r>
              <a:rPr lang="zh-CN" altLang="en-US" dirty="0">
                <a:solidFill>
                  <a:schemeClr val="tx1"/>
                </a:solidFill>
                <a:sym typeface="+mn-ea"/>
              </a:rPr>
              <a:t>函数说明文档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  <a:sym typeface="+mn-ea"/>
              </a:rPr>
              <a:t>函数的嵌套调用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rgbClr val="C00000"/>
                </a:solidFill>
                <a:sym typeface="+mn-ea"/>
              </a:rPr>
              <a:t>变量的作用域</a:t>
            </a:r>
            <a:endParaRPr lang="zh-CN" altLang="en-US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函数多返回值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函数多种传参方式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  <a:latin typeface="阿里巴巴普惠体 3.0 45 Light" panose="00020600040101010101" charset="-122"/>
                <a:ea typeface="阿里巴巴普惠体 3.0 45 Light" panose="00020600040101010101" charset="-122"/>
                <a:sym typeface="+mn-ea"/>
              </a:rPr>
              <a:t>匿名函数</a:t>
            </a:r>
            <a:endParaRPr lang="en-US" altLang="zh-CN" dirty="0">
              <a:solidFill>
                <a:schemeClr val="tx1"/>
              </a:solidFill>
              <a:latin typeface="阿里巴巴普惠体 3.0 45 Light" panose="00020600040101010101" charset="-122"/>
              <a:ea typeface="阿里巴巴普惠体 3.0 45 Light" panose="00020600040101010101" charset="-122"/>
            </a:endParaRPr>
          </a:p>
          <a:p>
            <a:r>
              <a:rPr lang="zh-CN" altLang="en-US" dirty="0">
                <a:latin typeface="阿里巴巴普惠体 3.0 45 Light" panose="00020600040101010101" charset="-122"/>
                <a:ea typeface="阿里巴巴普惠体 3.0 45 Light" panose="00020600040101010101" charset="-122"/>
                <a:sym typeface="+mn-ea"/>
              </a:rPr>
              <a:t>递归函数</a:t>
            </a:r>
            <a:endParaRPr lang="en-US" altLang="zh-C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776431" y="620382"/>
            <a:ext cx="6654482" cy="4855845"/>
          </a:xfrm>
        </p:spPr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知道什么是局部变量</a:t>
            </a:r>
            <a:endParaRPr lang="zh-CN" altLang="en-US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rgbClr val="C00000"/>
                </a:solidFill>
              </a:rPr>
              <a:t>知道什么是全局变量</a:t>
            </a:r>
            <a:endParaRPr lang="zh-CN" altLang="en-US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局部变量</a:t>
            </a:r>
            <a:endParaRPr lang="en-US" altLang="zh-CN" dirty="0"/>
          </a:p>
        </p:txBody>
      </p:sp>
      <p:sp>
        <p:nvSpPr>
          <p:cNvPr id="9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635973"/>
            <a:ext cx="10749598" cy="5004924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变量</a:t>
            </a:r>
            <a:r>
              <a:rPr lang="zh-CN" altLang="en-US" dirty="0">
                <a:solidFill>
                  <a:srgbClr val="C00000"/>
                </a:solidFill>
              </a:rPr>
              <a:t>作用域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指的是变量的作用范围（变量在哪里可用，在哪里不可用）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主要分为两类：</a:t>
            </a:r>
            <a:r>
              <a:rPr lang="zh-CN" altLang="en-US" dirty="0">
                <a:solidFill>
                  <a:srgbClr val="B60206"/>
                </a:solidFill>
              </a:rPr>
              <a:t>局部变量和全局变量</a:t>
            </a: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所谓局部变量是</a:t>
            </a:r>
            <a:r>
              <a:rPr lang="zh-CN" altLang="en-US" dirty="0">
                <a:solidFill>
                  <a:srgbClr val="B60206"/>
                </a:solidFill>
              </a:rPr>
              <a:t>定义在函数体内部的变量，即只在函数体内部生效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</a:rPr>
              <a:t>变量</a:t>
            </a:r>
            <a:r>
              <a:rPr dirty="0">
                <a:solidFill>
                  <a:schemeClr val="tx1"/>
                </a:solidFill>
              </a:rPr>
              <a:t>num</a:t>
            </a:r>
            <a:r>
              <a:rPr lang="zh-CN" altLang="en-US" dirty="0">
                <a:solidFill>
                  <a:schemeClr val="tx1"/>
                </a:solidFill>
              </a:rPr>
              <a:t>是定义在</a:t>
            </a:r>
            <a:r>
              <a:rPr lang="en-US" altLang="zh-CN" dirty="0">
                <a:solidFill>
                  <a:schemeClr val="tx1"/>
                </a:solidFill>
              </a:rPr>
              <a:t>`</a:t>
            </a:r>
            <a:r>
              <a:rPr lang="en-US" altLang="zh-CN" dirty="0" err="1">
                <a:solidFill>
                  <a:schemeClr val="tx1"/>
                </a:solidFill>
              </a:rPr>
              <a:t>testA</a:t>
            </a:r>
            <a:r>
              <a:rPr lang="en-US" altLang="zh-CN" dirty="0">
                <a:solidFill>
                  <a:schemeClr val="tx1"/>
                </a:solidFill>
              </a:rPr>
              <a:t>`</a:t>
            </a:r>
            <a:r>
              <a:rPr lang="zh-CN" altLang="en-US" dirty="0">
                <a:solidFill>
                  <a:schemeClr val="tx1"/>
                </a:solidFill>
              </a:rPr>
              <a:t>函数内部的变量，在函数外部访问报错</a:t>
            </a:r>
            <a:r>
              <a:rPr lang="en-US" altLang="zh-CN" dirty="0">
                <a:solidFill>
                  <a:schemeClr val="tx1"/>
                </a:solidFill>
              </a:rPr>
              <a:t>.</a:t>
            </a: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B60206"/>
                </a:solidFill>
              </a:rPr>
              <a:t>局部变量的作用：</a:t>
            </a:r>
            <a:r>
              <a:rPr lang="zh-CN" altLang="en-US" dirty="0">
                <a:solidFill>
                  <a:schemeClr val="tx1"/>
                </a:solidFill>
              </a:rPr>
              <a:t>在函数体内部，临时保存数据，即当函数调用完成后，则销毁局部变量</a:t>
            </a:r>
            <a:endParaRPr lang="en-US" altLang="zh-CN" dirty="0">
              <a:solidFill>
                <a:schemeClr val="tx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8915" y="3041015"/>
            <a:ext cx="6297295" cy="1997075"/>
          </a:xfrm>
          <a:prstGeom prst="rect">
            <a:avLst/>
          </a:prstGeom>
        </p:spPr>
      </p:pic>
      <p:pic>
        <p:nvPicPr>
          <p:cNvPr id="5" name="图片 4" descr="01 (58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2190" y="5560060"/>
            <a:ext cx="1019810" cy="101981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全局变量</a:t>
            </a:r>
            <a:endParaRPr lang="en-US" altLang="zh-CN" dirty="0"/>
          </a:p>
        </p:txBody>
      </p:sp>
      <p:sp>
        <p:nvSpPr>
          <p:cNvPr id="9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426423"/>
            <a:ext cx="10749598" cy="5004924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所谓全局变量，指的是</a:t>
            </a:r>
            <a:r>
              <a:rPr lang="zh-CN" altLang="en-US" dirty="0">
                <a:solidFill>
                  <a:srgbClr val="B60206"/>
                </a:solidFill>
              </a:rPr>
              <a:t>在函数体内、外都能生效的变量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思考：如果有一个数据，在函数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和函数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中都要使用，该怎么办？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答：将这个数据存储在一个全局变量里面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1085" y="2691765"/>
            <a:ext cx="6068695" cy="3455035"/>
          </a:xfrm>
          <a:prstGeom prst="rect">
            <a:avLst/>
          </a:prstGeom>
        </p:spPr>
      </p:pic>
      <p:pic>
        <p:nvPicPr>
          <p:cNvPr id="5" name="图片 4" descr="01 (58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2190" y="5560060"/>
            <a:ext cx="1019810" cy="101981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global</a:t>
            </a:r>
            <a:r>
              <a:rPr lang="zh-CN" altLang="en-US" dirty="0"/>
              <a:t>关键字</a:t>
            </a:r>
            <a:endParaRPr lang="en-US" altLang="zh-CN" dirty="0"/>
          </a:p>
        </p:txBody>
      </p:sp>
      <p:sp>
        <p:nvSpPr>
          <p:cNvPr id="9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635973"/>
            <a:ext cx="10749598" cy="5004924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思考：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`</a:t>
            </a: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testB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`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函数需要修改变量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num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的值为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200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，如何修改程序？</a:t>
            </a: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C00000"/>
                </a:solidFill>
              </a:rPr>
              <a:t>`</a:t>
            </a:r>
            <a:r>
              <a:rPr lang="en-US" altLang="zh-CN" dirty="0" err="1">
                <a:solidFill>
                  <a:srgbClr val="C00000"/>
                </a:solidFill>
              </a:rPr>
              <a:t>testB</a:t>
            </a:r>
            <a:r>
              <a:rPr lang="en-US" altLang="zh-CN" dirty="0">
                <a:solidFill>
                  <a:srgbClr val="C00000"/>
                </a:solidFill>
              </a:rPr>
              <a:t>`</a:t>
            </a:r>
            <a:r>
              <a:rPr lang="zh-CN" altLang="en-US" dirty="0">
                <a:solidFill>
                  <a:srgbClr val="C00000"/>
                </a:solidFill>
              </a:rPr>
              <a:t>函数内部的 </a:t>
            </a:r>
            <a:r>
              <a:rPr dirty="0">
                <a:solidFill>
                  <a:srgbClr val="C00000"/>
                </a:solidFill>
              </a:rPr>
              <a:t>num</a:t>
            </a:r>
            <a:r>
              <a:rPr lang="en-GB" altLang="zh-CN" dirty="0">
                <a:solidFill>
                  <a:srgbClr val="C00000"/>
                </a:solidFill>
              </a:rPr>
              <a:t> = 200</a:t>
            </a:r>
            <a:r>
              <a:rPr lang="zh-CN" altLang="en-US" dirty="0">
                <a:solidFill>
                  <a:srgbClr val="C00000"/>
                </a:solidFill>
              </a:rPr>
              <a:t> 是定义了一个局部变量</a:t>
            </a:r>
            <a:endParaRPr lang="en-US" altLang="zh-CN" dirty="0">
              <a:solidFill>
                <a:srgbClr val="C00000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150" y="2049780"/>
            <a:ext cx="6174740" cy="3757930"/>
          </a:xfrm>
          <a:prstGeom prst="rect">
            <a:avLst/>
          </a:prstGeom>
        </p:spPr>
      </p:pic>
      <p:pic>
        <p:nvPicPr>
          <p:cNvPr id="5" name="图片 4" descr="01 (58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2190" y="5560060"/>
            <a:ext cx="1019810" cy="101981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global</a:t>
            </a:r>
            <a:r>
              <a:rPr lang="zh-CN" altLang="en-US" dirty="0"/>
              <a:t>关键字</a:t>
            </a:r>
            <a:endParaRPr lang="en-US" altLang="zh-CN" dirty="0"/>
          </a:p>
        </p:txBody>
      </p:sp>
      <p:sp>
        <p:nvSpPr>
          <p:cNvPr id="9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286723"/>
            <a:ext cx="10749598" cy="5004924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☆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使用 </a:t>
            </a:r>
            <a:r>
              <a:rPr lang="en-US" altLang="zh-CN" dirty="0">
                <a:solidFill>
                  <a:srgbClr val="C00000"/>
                </a:solidFill>
              </a:rPr>
              <a:t>global</a:t>
            </a:r>
            <a:r>
              <a:rPr lang="zh-CN" altLang="en-US" dirty="0">
                <a:solidFill>
                  <a:srgbClr val="C00000"/>
                </a:solidFill>
              </a:rPr>
              <a:t>关键字 </a:t>
            </a:r>
            <a:r>
              <a:rPr lang="zh-CN" altLang="en-US" dirty="0"/>
              <a:t>可以在</a:t>
            </a:r>
            <a:r>
              <a:rPr lang="zh-CN" altLang="en-US" dirty="0">
                <a:solidFill>
                  <a:srgbClr val="C00000"/>
                </a:solidFill>
              </a:rPr>
              <a:t>函数内部声明变量为全局变量</a:t>
            </a:r>
            <a:r>
              <a:rPr lang="en-US" altLang="zh-CN" dirty="0"/>
              <a:t>,</a:t>
            </a:r>
            <a:r>
              <a:rPr lang="zh-CN" altLang="en-US" dirty="0"/>
              <a:t> 如下所示</a:t>
            </a:r>
            <a:endParaRPr lang="en-US" altLang="zh-CN" dirty="0"/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1865" y="1758315"/>
            <a:ext cx="6396355" cy="4642485"/>
          </a:xfrm>
          <a:prstGeom prst="rect">
            <a:avLst/>
          </a:prstGeom>
        </p:spPr>
      </p:pic>
      <p:pic>
        <p:nvPicPr>
          <p:cNvPr id="2" name="图片 1" descr="01 (58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2190" y="5560060"/>
            <a:ext cx="1019810" cy="101981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1. </a:t>
            </a:r>
            <a:r>
              <a:rPr lang="zh-CN" altLang="en-US"/>
              <a:t>什么是局部变量</a:t>
            </a:r>
            <a:endParaRPr lang="zh-CN" altLang="en-US"/>
          </a:p>
          <a:p>
            <a:pPr marL="0" indent="0">
              <a:buNone/>
            </a:pPr>
            <a:r>
              <a:rPr lang="zh-CN" altLang="en-US" sz="1400"/>
              <a:t>作用范围在函数内部，在函数外部无法使用</a:t>
            </a:r>
            <a:endParaRPr lang="zh-CN" altLang="en-US" sz="1600"/>
          </a:p>
          <a:p>
            <a:pPr marL="0" indent="0">
              <a:buNone/>
            </a:pPr>
            <a:r>
              <a:rPr lang="en-US" altLang="zh-CN"/>
              <a:t>2. </a:t>
            </a:r>
            <a:r>
              <a:rPr lang="zh-CN" altLang="en-US"/>
              <a:t>什么是全局变量</a:t>
            </a:r>
            <a:endParaRPr lang="zh-CN" altLang="en-US"/>
          </a:p>
          <a:p>
            <a:pPr marL="0" indent="0">
              <a:buNone/>
            </a:pPr>
            <a:r>
              <a:rPr lang="zh-CN" altLang="en-US" sz="1400"/>
              <a:t>在函数内部和外部均可使用</a:t>
            </a:r>
            <a:endParaRPr lang="zh-CN" altLang="en-US" sz="1400"/>
          </a:p>
          <a:p>
            <a:pPr marL="0" indent="0">
              <a:buNone/>
            </a:pPr>
            <a:r>
              <a:rPr lang="en-US" altLang="zh-CN"/>
              <a:t>3. </a:t>
            </a:r>
            <a:r>
              <a:rPr lang="zh-CN" altLang="en-US"/>
              <a:t>如何将函数内定义的变量声明为全局变量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/>
              <a:t>使用</a:t>
            </a:r>
            <a:r>
              <a:rPr lang="en-US" altLang="zh-CN" sz="1400"/>
              <a:t>global</a:t>
            </a:r>
            <a:r>
              <a:rPr lang="zh-CN" altLang="en-US" sz="1400"/>
              <a:t>关键字，</a:t>
            </a:r>
            <a:r>
              <a:rPr lang="en-US" altLang="zh-CN" sz="1400"/>
              <a:t>global </a:t>
            </a:r>
            <a:r>
              <a:rPr lang="zh-CN" altLang="en-US" sz="1400"/>
              <a:t>变量</a:t>
            </a:r>
            <a:endParaRPr lang="zh-CN" altLang="en-US" sz="1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4892258" y="590966"/>
            <a:ext cx="5973761" cy="4256405"/>
          </a:xfrm>
        </p:spPr>
        <p:txBody>
          <a:bodyPr/>
          <a:p>
            <a:r>
              <a:rPr lang="zh-CN" altLang="en-US" dirty="0">
                <a:solidFill>
                  <a:schemeClr val="tx1"/>
                </a:solidFill>
                <a:sym typeface="+mn-ea"/>
              </a:rPr>
              <a:t>函数说明文档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  <a:sym typeface="+mn-ea"/>
              </a:rPr>
              <a:t>函数的嵌套调用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  <a:sym typeface="+mn-ea"/>
              </a:rPr>
              <a:t>变量的作用域</a:t>
            </a:r>
            <a:endParaRPr lang="zh-CN" altLang="en-US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rgbClr val="C00000"/>
                </a:solidFill>
              </a:rPr>
              <a:t>函数多返回值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函数多种传参方式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  <a:latin typeface="阿里巴巴普惠体 3.0 45 Light" panose="00020600040101010101" charset="-122"/>
                <a:ea typeface="阿里巴巴普惠体 3.0 45 Light" panose="00020600040101010101" charset="-122"/>
                <a:sym typeface="+mn-ea"/>
              </a:rPr>
              <a:t>匿名函数</a:t>
            </a:r>
            <a:endParaRPr lang="en-US" altLang="zh-CN" dirty="0">
              <a:solidFill>
                <a:schemeClr val="tx1"/>
              </a:solidFill>
              <a:latin typeface="阿里巴巴普惠体 3.0 45 Light" panose="00020600040101010101" charset="-122"/>
              <a:ea typeface="阿里巴巴普惠体 3.0 45 Light" panose="00020600040101010101" charset="-122"/>
            </a:endParaRPr>
          </a:p>
          <a:p>
            <a:r>
              <a:rPr lang="zh-CN" altLang="en-US" dirty="0">
                <a:latin typeface="阿里巴巴普惠体 3.0 45 Light" panose="00020600040101010101" charset="-122"/>
                <a:ea typeface="阿里巴巴普惠体 3.0 45 Light" panose="00020600040101010101" charset="-122"/>
                <a:sym typeface="+mn-ea"/>
              </a:rPr>
              <a:t>递归函数</a:t>
            </a:r>
            <a:endParaRPr lang="en-US" altLang="zh-CN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799581" y="423612"/>
            <a:ext cx="6654482" cy="4855845"/>
          </a:xfrm>
        </p:spPr>
        <p:txBody>
          <a:bodyPr/>
          <a:lstStyle/>
          <a:p>
            <a:r>
              <a:rPr lang="zh-CN" altLang="en-US" dirty="0"/>
              <a:t>知道函数如何返回多个返回值</a:t>
            </a:r>
            <a:endParaRPr lang="zh-CN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758813" y="1482797"/>
            <a:ext cx="6589767" cy="771314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zh-CN" altLang="en-US" b="1" dirty="0">
                <a:solidFill>
                  <a:srgbClr val="C00000"/>
                </a:solidFill>
              </a:rPr>
              <a:t>问</a:t>
            </a:r>
            <a:r>
              <a:rPr lang="en-US" altLang="zh-CN" b="1" dirty="0">
                <a:solidFill>
                  <a:srgbClr val="C00000"/>
                </a:solidFill>
              </a:rPr>
              <a:t>:</a:t>
            </a:r>
            <a:r>
              <a:rPr lang="zh-CN" altLang="en-US" b="1" dirty="0">
                <a:solidFill>
                  <a:srgbClr val="C00000"/>
                </a:solidFill>
              </a:rPr>
              <a:t> </a:t>
            </a:r>
            <a:r>
              <a:rPr lang="zh-CN" altLang="en-US" dirty="0"/>
              <a:t>如果一个函数如些两个</a:t>
            </a:r>
            <a:r>
              <a:rPr lang="en-GB" altLang="zh-CN" dirty="0"/>
              <a:t>return (</a:t>
            </a:r>
            <a:r>
              <a:rPr lang="zh-CN" altLang="en-US" dirty="0"/>
              <a:t>如下所示</a:t>
            </a:r>
            <a:r>
              <a:rPr lang="en-US" altLang="zh-CN" dirty="0"/>
              <a:t>)</a:t>
            </a:r>
            <a:r>
              <a:rPr lang="zh-CN" altLang="en-US" dirty="0"/>
              <a:t>，程序如何执行？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9022" y="2129424"/>
            <a:ext cx="3302000" cy="25654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文本框 4"/>
          <p:cNvSpPr txBox="1"/>
          <p:nvPr/>
        </p:nvSpPr>
        <p:spPr>
          <a:xfrm>
            <a:off x="4758813" y="5121857"/>
            <a:ext cx="69910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答：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只执行了第一个</a:t>
            </a:r>
            <a:r>
              <a:rPr lang="en-GB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return</a:t>
            </a:r>
            <a:r>
              <a:rPr lang="zh-CN" altLang="en-GB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原因是因为</a:t>
            </a:r>
            <a:r>
              <a:rPr lang="en-GB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return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可以退出当前函数，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导致</a:t>
            </a:r>
            <a:r>
              <a:rPr lang="en-GB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return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下方的代码不执行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0" y="1646133"/>
            <a:ext cx="10964563" cy="4985779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如果一个函数要有</a:t>
            </a:r>
            <a:r>
              <a:rPr lang="zh-CN" altLang="en-US" dirty="0">
                <a:solidFill>
                  <a:srgbClr val="C00000"/>
                </a:solidFill>
              </a:rPr>
              <a:t>多个返回值</a:t>
            </a:r>
            <a:r>
              <a:rPr lang="zh-CN" altLang="en-US" dirty="0"/>
              <a:t>，该如何书写代码？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>
              <a:solidFill>
                <a:srgbClr val="B700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700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70006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B70006"/>
                </a:solidFill>
              </a:rPr>
              <a:t>按照返回值的顺序，写对应顺序的多个变量接收即可</a:t>
            </a:r>
            <a:endParaRPr lang="zh-CN" altLang="en-US" dirty="0">
              <a:solidFill>
                <a:srgbClr val="B70006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B70006"/>
                </a:solidFill>
              </a:rPr>
              <a:t>变量之间用逗号隔开</a:t>
            </a:r>
            <a:endParaRPr lang="zh-CN" altLang="en-US" dirty="0">
              <a:solidFill>
                <a:srgbClr val="B70006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B70006"/>
                </a:solidFill>
              </a:rPr>
              <a:t>支持不同类型的数据</a:t>
            </a:r>
            <a:r>
              <a:rPr dirty="0">
                <a:solidFill>
                  <a:srgbClr val="B70006"/>
                </a:solidFill>
              </a:rPr>
              <a:t>return</a:t>
            </a:r>
            <a:endParaRPr dirty="0">
              <a:solidFill>
                <a:srgbClr val="B70006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多个返回值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79145" y="2270125"/>
            <a:ext cx="2505075" cy="1933575"/>
          </a:xfrm>
          <a:prstGeom prst="rect">
            <a:avLst/>
          </a:prstGeom>
        </p:spPr>
      </p:pic>
      <p:pic>
        <p:nvPicPr>
          <p:cNvPr id="8" name="图片 7" descr="播仔素材库【1】035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5665" y="5358130"/>
            <a:ext cx="1104265" cy="110426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4892258" y="590966"/>
            <a:ext cx="5973761" cy="4256405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  <a:sym typeface="+mn-ea"/>
              </a:rPr>
              <a:t>函数说明文档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  <a:sym typeface="+mn-ea"/>
              </a:rPr>
              <a:t>函数的嵌套调用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  <a:sym typeface="+mn-ea"/>
              </a:rPr>
              <a:t>变量的作用域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函数多返回值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rgbClr val="C00000"/>
                </a:solidFill>
              </a:rPr>
              <a:t>函数多种传参方式</a:t>
            </a:r>
            <a:endParaRPr lang="zh-CN" altLang="en-US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  <a:latin typeface="阿里巴巴普惠体 3.0 45 Light" panose="00020600040101010101" charset="-122"/>
                <a:ea typeface="阿里巴巴普惠体 3.0 45 Light" panose="00020600040101010101" charset="-122"/>
                <a:sym typeface="+mn-ea"/>
              </a:rPr>
              <a:t>匿名函数</a:t>
            </a:r>
            <a:endParaRPr lang="en-US" altLang="zh-CN" dirty="0">
              <a:solidFill>
                <a:schemeClr val="tx1"/>
              </a:solidFill>
              <a:latin typeface="阿里巴巴普惠体 3.0 45 Light" panose="00020600040101010101" charset="-122"/>
              <a:ea typeface="阿里巴巴普惠体 3.0 45 Light" panose="00020600040101010101" charset="-122"/>
            </a:endParaRPr>
          </a:p>
          <a:p>
            <a:r>
              <a:rPr lang="zh-CN" altLang="en-US" dirty="0">
                <a:latin typeface="阿里巴巴普惠体 3.0 45 Light" panose="00020600040101010101" charset="-122"/>
                <a:ea typeface="阿里巴巴普惠体 3.0 45 Light" panose="00020600040101010101" charset="-122"/>
                <a:sym typeface="+mn-ea"/>
              </a:rPr>
              <a:t>递归函数</a:t>
            </a:r>
            <a:endParaRPr lang="en-US" altLang="zh-CN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799581" y="423612"/>
            <a:ext cx="6654482" cy="4855845"/>
          </a:xfrm>
        </p:spPr>
        <p:txBody>
          <a:bodyPr/>
          <a:lstStyle/>
          <a:p>
            <a:r>
              <a:rPr lang="zh-CN" altLang="en-US" dirty="0"/>
              <a:t>掌握位置参数</a:t>
            </a:r>
            <a:endParaRPr lang="zh-CN" altLang="en-US" dirty="0"/>
          </a:p>
          <a:p>
            <a:r>
              <a:rPr lang="zh-CN" altLang="en-US" dirty="0">
                <a:solidFill>
                  <a:srgbClr val="C00000"/>
                </a:solidFill>
              </a:rPr>
              <a:t>掌握关键字参数</a:t>
            </a:r>
            <a:endParaRPr lang="zh-CN" altLang="en-US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rgbClr val="C00000"/>
                </a:solidFill>
              </a:rPr>
              <a:t>掌握不定长参数</a:t>
            </a:r>
            <a:endParaRPr lang="zh-CN" altLang="en-US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rgbClr val="C00000"/>
                </a:solidFill>
              </a:rPr>
              <a:t>掌握缺省参数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rgbClr val="C00000"/>
                </a:solidFill>
              </a:rPr>
              <a:t>使用方式</a:t>
            </a:r>
            <a:r>
              <a:rPr lang="zh-CN" altLang="en-US" dirty="0"/>
              <a:t>上的不同</a:t>
            </a:r>
            <a:r>
              <a:rPr lang="en-US" altLang="zh-CN" dirty="0"/>
              <a:t>,</a:t>
            </a:r>
            <a:r>
              <a:rPr lang="zh-CN" altLang="en-US" dirty="0"/>
              <a:t> 函数有</a:t>
            </a:r>
            <a:r>
              <a:rPr lang="en-US" altLang="zh-CN" dirty="0"/>
              <a:t>4</a:t>
            </a:r>
            <a:r>
              <a:rPr lang="zh-CN" altLang="en-US" dirty="0"/>
              <a:t>中常见参数使用方式</a:t>
            </a:r>
            <a:r>
              <a:rPr lang="en-US" altLang="zh-CN" dirty="0"/>
              <a:t>: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位置参数</a:t>
            </a:r>
            <a:endParaRPr lang="zh-CN" altLang="en-US" dirty="0">
              <a:solidFill>
                <a:srgbClr val="C00000"/>
              </a:solidFill>
            </a:endParaRPr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关键字参数</a:t>
            </a:r>
            <a:endParaRPr lang="zh-CN" altLang="en-US" dirty="0">
              <a:solidFill>
                <a:srgbClr val="C00000"/>
              </a:solidFill>
            </a:endParaRPr>
          </a:p>
          <a:p>
            <a:pPr lvl="1"/>
            <a:r>
              <a:rPr lang="zh-CN" altLang="en-US">
                <a:solidFill>
                  <a:srgbClr val="C00000"/>
                </a:solidFill>
                <a:sym typeface="+mn-ea"/>
              </a:rPr>
              <a:t>缺省参数</a:t>
            </a:r>
            <a:endParaRPr lang="zh-CN" altLang="en-US">
              <a:solidFill>
                <a:srgbClr val="C00000"/>
              </a:solidFill>
              <a:sym typeface="+mn-ea"/>
            </a:endParaRPr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不定长参数</a:t>
            </a:r>
            <a:endParaRPr lang="zh-CN" altLang="en-US" dirty="0">
              <a:solidFill>
                <a:srgbClr val="C00000"/>
              </a:solidFill>
            </a:endParaRPr>
          </a:p>
          <a:p>
            <a:pPr lvl="1"/>
            <a:endParaRPr lang="zh-CN" altLang="en-US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函数参数种类</a:t>
            </a:r>
            <a:endParaRPr lang="zh-CN" altLang="en-US" dirty="0"/>
          </a:p>
        </p:txBody>
      </p:sp>
      <p:pic>
        <p:nvPicPr>
          <p:cNvPr id="3" name="图片 2" descr="播仔素材库【1】008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0285" y="5508625"/>
            <a:ext cx="1021715" cy="102171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b="1" dirty="0">
                <a:solidFill>
                  <a:srgbClr val="C00000"/>
                </a:solidFill>
              </a:rPr>
              <a:t>位置参数：</a:t>
            </a:r>
            <a:r>
              <a:rPr lang="zh-CN" altLang="en-US" dirty="0"/>
              <a:t>调用函数时根据函数定义的</a:t>
            </a:r>
            <a:r>
              <a:rPr lang="zh-CN" altLang="en-US" dirty="0">
                <a:solidFill>
                  <a:srgbClr val="C00000"/>
                </a:solidFill>
              </a:rPr>
              <a:t>参数位置来传递参数</a:t>
            </a:r>
            <a:endParaRPr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zh-CN" altLang="en-US" dirty="0"/>
              <a:t>注意：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 </a:t>
            </a:r>
            <a:r>
              <a:rPr lang="zh-CN" altLang="en-US" dirty="0">
                <a:solidFill>
                  <a:srgbClr val="C00000"/>
                </a:solidFill>
              </a:rPr>
              <a:t>传递的参数和定义的参数的顺序及个数必须一致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位置参数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798" y="2308182"/>
            <a:ext cx="6248400" cy="17907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图片 4" descr="播仔素材库【1】008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0285" y="5508625"/>
            <a:ext cx="1021715" cy="102171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b="1" dirty="0">
                <a:solidFill>
                  <a:srgbClr val="C00000"/>
                </a:solidFill>
              </a:rPr>
              <a:t>关键字参数：</a:t>
            </a:r>
            <a:r>
              <a:rPr lang="zh-CN" altLang="en-US" dirty="0"/>
              <a:t>函数调用时通过“键</a:t>
            </a:r>
            <a:r>
              <a:rPr lang="en-US" altLang="zh-CN" dirty="0"/>
              <a:t>=</a:t>
            </a:r>
            <a:r>
              <a:rPr lang="zh-CN" altLang="en-US" dirty="0"/>
              <a:t>值”形式传递参数</a:t>
            </a:r>
            <a:r>
              <a:rPr lang="en-US" altLang="zh-CN" dirty="0"/>
              <a:t>.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b="1" dirty="0">
                <a:solidFill>
                  <a:srgbClr val="C00000"/>
                </a:solidFill>
              </a:rPr>
              <a:t>作用</a:t>
            </a:r>
            <a:r>
              <a:rPr lang="en-US" altLang="zh-CN" b="1" dirty="0">
                <a:solidFill>
                  <a:srgbClr val="C00000"/>
                </a:solidFill>
              </a:rPr>
              <a:t>:</a:t>
            </a:r>
            <a:r>
              <a:rPr lang="zh-CN" altLang="en-US" b="1" dirty="0">
                <a:solidFill>
                  <a:srgbClr val="C00000"/>
                </a:solidFill>
              </a:rPr>
              <a:t> </a:t>
            </a:r>
            <a:r>
              <a:rPr lang="zh-CN" altLang="en-US" dirty="0"/>
              <a:t>可以让函数更加清晰、容易使用，同时也清除了参数的顺序需求</a:t>
            </a:r>
            <a:r>
              <a:rPr lang="en-US" altLang="zh-CN" dirty="0"/>
              <a:t>.</a:t>
            </a:r>
            <a:endParaRPr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zh-CN" altLang="en-US" dirty="0"/>
              <a:t>注意：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b="1" dirty="0"/>
              <a:t>       </a:t>
            </a:r>
            <a:r>
              <a:rPr lang="zh-CN" altLang="en-US" dirty="0">
                <a:solidFill>
                  <a:srgbClr val="C00000"/>
                </a:solidFill>
              </a:rPr>
              <a:t>函数调用时，如果有位置参数时，位置参数必须在关键字参数的前面，但关键字参数之间不存在先后顺序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关键字参数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13435" y="2515870"/>
            <a:ext cx="6144260" cy="2376805"/>
          </a:xfrm>
          <a:prstGeom prst="rect">
            <a:avLst/>
          </a:prstGeom>
          <a:ln>
            <a:solidFill>
              <a:srgbClr val="515151"/>
            </a:solidFill>
          </a:ln>
        </p:spPr>
      </p:pic>
      <p:pic>
        <p:nvPicPr>
          <p:cNvPr id="5" name="图片 4" descr="播仔素材库【1】008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0285" y="5508625"/>
            <a:ext cx="1021715" cy="102171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b="1" dirty="0">
                <a:solidFill>
                  <a:srgbClr val="C00000"/>
                </a:solidFill>
              </a:rPr>
              <a:t>缺省参数：</a:t>
            </a:r>
            <a:r>
              <a:rPr lang="zh-CN" altLang="en-US" dirty="0"/>
              <a:t>缺省参数也叫默认参数，用于定义函数，为参数提供默认值，调用函数时可不传该默认参数的值（注意：所有位置参数必须出现在默认参数前，包括函数定义和调用）</a:t>
            </a:r>
            <a:r>
              <a:rPr lang="en-US" altLang="zh-CN" dirty="0"/>
              <a:t>.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b="1" dirty="0">
                <a:solidFill>
                  <a:srgbClr val="C00000"/>
                </a:solidFill>
              </a:rPr>
              <a:t>作用</a:t>
            </a:r>
            <a:r>
              <a:rPr lang="en-US" altLang="zh-CN" b="1" dirty="0">
                <a:solidFill>
                  <a:srgbClr val="C00000"/>
                </a:solidFill>
              </a:rPr>
              <a:t>:</a:t>
            </a:r>
            <a:r>
              <a:rPr lang="zh-CN" altLang="en-US" b="1" dirty="0">
                <a:solidFill>
                  <a:srgbClr val="C00000"/>
                </a:solidFill>
              </a:rPr>
              <a:t> </a:t>
            </a:r>
            <a:r>
              <a:rPr lang="zh-CN" altLang="en-US" dirty="0"/>
              <a:t>当调用函数时没有传递参数</a:t>
            </a:r>
            <a:r>
              <a:rPr lang="en-US" altLang="zh-CN" dirty="0"/>
              <a:t>,</a:t>
            </a:r>
            <a:r>
              <a:rPr lang="zh-CN" altLang="en-US" dirty="0"/>
              <a:t> 就会使用默认是用缺省参数对应的值</a:t>
            </a:r>
            <a:r>
              <a:rPr lang="en-US" altLang="zh-CN" dirty="0"/>
              <a:t>.</a:t>
            </a:r>
            <a:endParaRPr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zh-CN" altLang="en-US" dirty="0"/>
              <a:t>注意：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  </a:t>
            </a:r>
            <a:r>
              <a:rPr lang="zh-CN" altLang="en-US" dirty="0">
                <a:solidFill>
                  <a:srgbClr val="C00000"/>
                </a:solidFill>
              </a:rPr>
              <a:t>函数调用时，如果为缺省参数传值则修改默认参数值</a:t>
            </a:r>
            <a:r>
              <a:rPr lang="en-US" altLang="zh-CN" dirty="0">
                <a:solidFill>
                  <a:srgbClr val="C00000"/>
                </a:solidFill>
              </a:rPr>
              <a:t>,</a:t>
            </a:r>
            <a:r>
              <a:rPr lang="zh-CN" altLang="en-US" dirty="0">
                <a:solidFill>
                  <a:srgbClr val="C00000"/>
                </a:solidFill>
              </a:rPr>
              <a:t> 否则使用这个默认值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缺省参数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562" y="2806613"/>
            <a:ext cx="7023100" cy="21717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图片 4" descr="播仔素材库【1】008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0285" y="5508625"/>
            <a:ext cx="1021715" cy="102171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b="1" dirty="0">
                <a:solidFill>
                  <a:srgbClr val="C00000"/>
                </a:solidFill>
              </a:rPr>
              <a:t>不定长参数：</a:t>
            </a:r>
            <a:r>
              <a:rPr lang="zh-CN" altLang="en-US" dirty="0"/>
              <a:t>不定长参数也叫可变参数</a:t>
            </a:r>
            <a:r>
              <a:rPr lang="en-US" altLang="zh-CN" dirty="0"/>
              <a:t>.</a:t>
            </a:r>
            <a:r>
              <a:rPr lang="zh-CN" altLang="en-US" dirty="0"/>
              <a:t> 用于不确定调用的时候会传递多少个参数</a:t>
            </a:r>
            <a:r>
              <a:rPr lang="en-US" altLang="zh-CN" dirty="0"/>
              <a:t>(</a:t>
            </a:r>
            <a:r>
              <a:rPr lang="zh-CN" altLang="en-US" dirty="0"/>
              <a:t>不传参也可以</a:t>
            </a:r>
            <a:r>
              <a:rPr lang="en-US" altLang="zh-CN" dirty="0"/>
              <a:t>)</a:t>
            </a:r>
            <a:r>
              <a:rPr lang="zh-CN" altLang="en-US" dirty="0"/>
              <a:t>的场景</a:t>
            </a:r>
            <a:r>
              <a:rPr lang="en-US" altLang="zh-CN" dirty="0"/>
              <a:t>.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b="1" dirty="0">
                <a:solidFill>
                  <a:srgbClr val="C00000"/>
                </a:solidFill>
              </a:rPr>
              <a:t>作用</a:t>
            </a:r>
            <a:r>
              <a:rPr lang="en-US" altLang="zh-CN" b="1" dirty="0">
                <a:solidFill>
                  <a:srgbClr val="C00000"/>
                </a:solidFill>
              </a:rPr>
              <a:t>:</a:t>
            </a:r>
            <a:r>
              <a:rPr lang="zh-CN" altLang="en-US" b="1" dirty="0">
                <a:solidFill>
                  <a:srgbClr val="C00000"/>
                </a:solidFill>
              </a:rPr>
              <a:t> </a:t>
            </a:r>
            <a:r>
              <a:rPr lang="zh-CN" altLang="en-US" dirty="0"/>
              <a:t>当调用函数时不确定参数个数时</a:t>
            </a:r>
            <a:r>
              <a:rPr lang="en-US" altLang="zh-CN" dirty="0"/>
              <a:t>,</a:t>
            </a:r>
            <a:r>
              <a:rPr lang="zh-CN" altLang="en-US" dirty="0"/>
              <a:t> 可以使用不定长参数</a:t>
            </a:r>
            <a:endParaRPr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zh-CN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zh-CN" altLang="en-US" b="1" dirty="0">
                <a:solidFill>
                  <a:srgbClr val="C00000"/>
                </a:solidFill>
              </a:rPr>
              <a:t>不定长参数的类型</a:t>
            </a:r>
            <a:r>
              <a:rPr lang="en-US" altLang="zh-CN" b="1" dirty="0">
                <a:solidFill>
                  <a:srgbClr val="C00000"/>
                </a:solidFill>
              </a:rPr>
              <a:t>:</a:t>
            </a:r>
            <a:endParaRPr lang="en-US" altLang="zh-CN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C00000"/>
                </a:solidFill>
              </a:rPr>
              <a:t>     ①位置传递</a:t>
            </a:r>
            <a:endParaRPr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C00000"/>
                </a:solidFill>
              </a:rPr>
              <a:t>     ②关键字传递</a:t>
            </a:r>
            <a:endParaRPr lang="zh-CN" altLang="en-US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不定长参数</a:t>
            </a:r>
            <a:endParaRPr lang="zh-CN" altLang="en-US" dirty="0"/>
          </a:p>
        </p:txBody>
      </p:sp>
      <p:pic>
        <p:nvPicPr>
          <p:cNvPr id="3" name="图片 2" descr="播仔素材库【1】008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0285" y="5508625"/>
            <a:ext cx="1021715" cy="102171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0" y="1646133"/>
            <a:ext cx="11376735" cy="4316256"/>
          </a:xfrm>
        </p:spPr>
        <p:txBody>
          <a:bodyPr/>
          <a:lstStyle/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zh-CN" altLang="en-US" dirty="0"/>
              <a:t>注意：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 传进的</a:t>
            </a:r>
            <a:r>
              <a:rPr lang="zh-CN" altLang="en-US" dirty="0">
                <a:solidFill>
                  <a:srgbClr val="C00000"/>
                </a:solidFill>
              </a:rPr>
              <a:t>所有参数</a:t>
            </a:r>
            <a:r>
              <a:rPr lang="zh-CN" altLang="en-US" dirty="0"/>
              <a:t>都会被</a:t>
            </a:r>
            <a:r>
              <a:rPr lang="en-GB" altLang="zh-CN" dirty="0">
                <a:solidFill>
                  <a:srgbClr val="C00000"/>
                </a:solidFill>
              </a:rPr>
              <a:t>args</a:t>
            </a:r>
            <a:r>
              <a:rPr lang="zh-CN" altLang="en-US" dirty="0">
                <a:solidFill>
                  <a:srgbClr val="C00000"/>
                </a:solidFill>
              </a:rPr>
              <a:t>变量收集</a:t>
            </a:r>
            <a:r>
              <a:rPr lang="zh-CN" altLang="en-US" dirty="0"/>
              <a:t>，它会根据传进参数的位置合并为一个元组</a:t>
            </a:r>
            <a:r>
              <a:rPr lang="en-US" altLang="zh-CN" dirty="0"/>
              <a:t>(</a:t>
            </a:r>
            <a:r>
              <a:rPr lang="en-GB" altLang="zh-CN" dirty="0"/>
              <a:t>tuple)</a:t>
            </a:r>
            <a:r>
              <a:rPr lang="zh-CN" altLang="en-GB" dirty="0"/>
              <a:t>，</a:t>
            </a:r>
            <a:r>
              <a:rPr lang="en-GB" altLang="zh-CN" dirty="0">
                <a:solidFill>
                  <a:srgbClr val="C00000"/>
                </a:solidFill>
              </a:rPr>
              <a:t>args</a:t>
            </a:r>
            <a:r>
              <a:rPr lang="zh-CN" altLang="en-US" dirty="0">
                <a:solidFill>
                  <a:srgbClr val="C00000"/>
                </a:solidFill>
              </a:rPr>
              <a:t>是元组类型</a:t>
            </a:r>
            <a:r>
              <a:rPr lang="zh-CN" altLang="en-US" dirty="0"/>
              <a:t>，这就是</a:t>
            </a:r>
            <a:r>
              <a:rPr lang="zh-CN" altLang="en-US" dirty="0">
                <a:solidFill>
                  <a:srgbClr val="C00000"/>
                </a:solidFill>
              </a:rPr>
              <a:t>位置传递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位置传递</a:t>
            </a:r>
            <a:endParaRPr lang="zh-CN" altLang="en-US" dirty="0">
              <a:solidFill>
                <a:schemeClr val="tx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880" y="1736855"/>
            <a:ext cx="3492500" cy="29083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图片 4" descr="播仔素材库【1】008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0285" y="5508625"/>
            <a:ext cx="1021715" cy="102171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0" y="1646133"/>
            <a:ext cx="11376735" cy="4316256"/>
          </a:xfrm>
        </p:spPr>
        <p:txBody>
          <a:bodyPr/>
          <a:lstStyle/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zh-CN" altLang="en-US" dirty="0"/>
              <a:t>注意：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 参数是</a:t>
            </a:r>
            <a:r>
              <a:rPr lang="zh-CN" altLang="en-US" dirty="0">
                <a:solidFill>
                  <a:srgbClr val="C00000"/>
                </a:solidFill>
              </a:rPr>
              <a:t>“键</a:t>
            </a:r>
            <a:r>
              <a:rPr lang="en-US" altLang="zh-CN" dirty="0">
                <a:solidFill>
                  <a:srgbClr val="C00000"/>
                </a:solidFill>
              </a:rPr>
              <a:t>=</a:t>
            </a:r>
            <a:r>
              <a:rPr lang="zh-CN" altLang="en-US" dirty="0">
                <a:solidFill>
                  <a:srgbClr val="C00000"/>
                </a:solidFill>
              </a:rPr>
              <a:t>值”</a:t>
            </a:r>
            <a:r>
              <a:rPr lang="zh-CN" altLang="en-US" dirty="0"/>
              <a:t>形式的形式的情况下</a:t>
            </a:r>
            <a:r>
              <a:rPr lang="en-US" altLang="zh-CN" dirty="0"/>
              <a:t>,</a:t>
            </a:r>
            <a:r>
              <a:rPr lang="zh-CN" altLang="en-US" dirty="0"/>
              <a:t> 所有的“键</a:t>
            </a:r>
            <a:r>
              <a:rPr lang="en-US" altLang="zh-CN" dirty="0"/>
              <a:t>=</a:t>
            </a:r>
            <a:r>
              <a:rPr lang="zh-CN" altLang="en-US" dirty="0"/>
              <a:t>值”都会被</a:t>
            </a:r>
            <a:r>
              <a:rPr lang="en-US" altLang="zh-CN" dirty="0" err="1">
                <a:solidFill>
                  <a:srgbClr val="C00000"/>
                </a:solidFill>
              </a:rPr>
              <a:t>kwargs</a:t>
            </a:r>
            <a:r>
              <a:rPr lang="zh-CN" altLang="en-US" dirty="0">
                <a:solidFill>
                  <a:srgbClr val="C00000"/>
                </a:solidFill>
              </a:rPr>
              <a:t>接受</a:t>
            </a:r>
            <a:r>
              <a:rPr lang="en-US" altLang="zh-CN" dirty="0"/>
              <a:t>,</a:t>
            </a:r>
            <a:r>
              <a:rPr lang="zh-CN" altLang="en-US" dirty="0"/>
              <a:t> 同时会根据“键</a:t>
            </a:r>
            <a:r>
              <a:rPr lang="en-US" altLang="zh-CN" dirty="0"/>
              <a:t>=</a:t>
            </a:r>
            <a:r>
              <a:rPr lang="zh-CN" altLang="en-US" dirty="0"/>
              <a:t>值”组成</a:t>
            </a:r>
            <a:r>
              <a:rPr lang="zh-CN" altLang="en-US" dirty="0">
                <a:solidFill>
                  <a:srgbClr val="C00000"/>
                </a:solidFill>
              </a:rPr>
              <a:t>字典</a:t>
            </a:r>
            <a:r>
              <a:rPr lang="en-US" altLang="zh-CN" dirty="0"/>
              <a:t>.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关键字传递</a:t>
            </a:r>
            <a:endParaRPr lang="zh-CN" altLang="en-US" dirty="0">
              <a:solidFill>
                <a:schemeClr val="tx1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880" y="1804878"/>
            <a:ext cx="5041900" cy="21209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图片 2" descr="播仔素材库【1】008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0285" y="5508625"/>
            <a:ext cx="1021715" cy="102171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651331" y="1839280"/>
            <a:ext cx="6096000" cy="4431030"/>
          </a:xfrm>
          <a:prstGeom prst="rect">
            <a:avLst/>
          </a:prstGeom>
        </p:spPr>
        <p:txBody>
          <a:bodyPr>
            <a:spAutoFit/>
          </a:bodyPr>
          <a:lstStyle/>
          <a:p>
            <a:pPr lvl="1"/>
            <a:r>
              <a:rPr lang="en-US" altLang="zh-CN" dirty="0">
                <a:solidFill>
                  <a:srgbClr val="C00000"/>
                </a:solidFill>
              </a:rPr>
              <a:t>1.</a:t>
            </a:r>
            <a:r>
              <a:rPr lang="zh-CN" altLang="en-US" dirty="0">
                <a:solidFill>
                  <a:srgbClr val="C00000"/>
                </a:solidFill>
              </a:rPr>
              <a:t> 掌握位置参数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zh-CN" altLang="en-US" dirty="0"/>
              <a:t>     </a:t>
            </a:r>
            <a:r>
              <a:rPr lang="en-US" altLang="zh-CN" sz="1400" dirty="0"/>
              <a:t>·</a:t>
            </a:r>
            <a:r>
              <a:rPr lang="zh-CN" altLang="en-US" sz="1400" dirty="0"/>
              <a:t>根据参数位置来传递参数</a:t>
            </a:r>
            <a:endParaRPr lang="en-US" altLang="zh-CN" dirty="0"/>
          </a:p>
          <a:p>
            <a:pPr lvl="1"/>
            <a:endParaRPr lang="zh-CN" altLang="en-US" dirty="0">
              <a:solidFill>
                <a:srgbClr val="C00000"/>
              </a:solidFill>
            </a:endParaRPr>
          </a:p>
          <a:p>
            <a:pPr lvl="1"/>
            <a:r>
              <a:rPr lang="en-US" altLang="zh-CN" dirty="0">
                <a:solidFill>
                  <a:srgbClr val="C00000"/>
                </a:solidFill>
              </a:rPr>
              <a:t>2.</a:t>
            </a:r>
            <a:r>
              <a:rPr lang="zh-CN" altLang="en-US" dirty="0">
                <a:solidFill>
                  <a:srgbClr val="C00000"/>
                </a:solidFill>
              </a:rPr>
              <a:t> 掌握关键字参数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  </a:t>
            </a:r>
            <a:r>
              <a:rPr lang="zh-CN" altLang="en-US" sz="1400" dirty="0">
                <a:solidFill>
                  <a:srgbClr val="C00000"/>
                </a:solidFill>
              </a:rPr>
              <a:t>   </a:t>
            </a:r>
            <a:r>
              <a:rPr lang="en-US" altLang="zh-CN" sz="1400" dirty="0"/>
              <a:t>·</a:t>
            </a:r>
            <a:r>
              <a:rPr lang="zh-CN" altLang="en-US" sz="1400" dirty="0"/>
              <a:t>通过“键</a:t>
            </a:r>
            <a:r>
              <a:rPr lang="en-US" altLang="zh-CN" sz="1400" dirty="0"/>
              <a:t>=</a:t>
            </a:r>
            <a:r>
              <a:rPr lang="zh-CN" altLang="en-US" sz="1400" dirty="0"/>
              <a:t>值”形式传递参数，可以不限参数顺序</a:t>
            </a:r>
            <a:endParaRPr lang="zh-CN" altLang="en-US" sz="1400" dirty="0"/>
          </a:p>
          <a:p>
            <a:pPr lvl="1"/>
            <a:r>
              <a:rPr lang="en-US" altLang="zh-CN" sz="1400" dirty="0">
                <a:sym typeface="+mn-ea"/>
              </a:rPr>
              <a:t>      ·</a:t>
            </a:r>
            <a:r>
              <a:rPr lang="zh-CN" altLang="en-US" sz="1400" dirty="0"/>
              <a:t>可以和位置参数混用，位置参数需在前</a:t>
            </a:r>
            <a:endParaRPr lang="en-US" altLang="zh-CN" sz="1400" dirty="0"/>
          </a:p>
          <a:p>
            <a:pPr lvl="1"/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en-US" altLang="zh-CN" dirty="0">
                <a:solidFill>
                  <a:srgbClr val="C00000"/>
                </a:solidFill>
              </a:rPr>
              <a:t>3.</a:t>
            </a:r>
            <a:r>
              <a:rPr lang="zh-CN" altLang="en-US" dirty="0">
                <a:solidFill>
                  <a:srgbClr val="C00000"/>
                </a:solidFill>
              </a:rPr>
              <a:t> 掌握缺省参数</a:t>
            </a:r>
            <a:endParaRPr lang="zh-CN" altLang="en-US" dirty="0">
              <a:solidFill>
                <a:srgbClr val="C00000"/>
              </a:solidFill>
            </a:endParaRPr>
          </a:p>
          <a:p>
            <a:pPr lvl="1"/>
            <a:r>
              <a:rPr lang="zh-CN" altLang="en-US" dirty="0"/>
              <a:t>    </a:t>
            </a:r>
            <a:r>
              <a:rPr lang="zh-CN" altLang="en-US" sz="1400" dirty="0"/>
              <a:t> </a:t>
            </a:r>
            <a:r>
              <a:rPr lang="en-US" altLang="zh-CN" sz="1400" dirty="0"/>
              <a:t>·</a:t>
            </a:r>
            <a:r>
              <a:rPr lang="zh-CN" altLang="en-US" sz="1400" dirty="0"/>
              <a:t>不传递参数值时会使用默认的参数值</a:t>
            </a:r>
            <a:endParaRPr lang="zh-CN" altLang="en-US" sz="1400" dirty="0"/>
          </a:p>
          <a:p>
            <a:pPr lvl="1" algn="l">
              <a:buClrTx/>
              <a:buSzTx/>
              <a:buFontTx/>
            </a:pPr>
            <a:r>
              <a:rPr lang="zh-CN" altLang="en-US" sz="1400" dirty="0">
                <a:sym typeface="+mn-ea"/>
              </a:rPr>
              <a:t>     </a:t>
            </a:r>
            <a:r>
              <a:rPr lang="en-US" altLang="zh-CN" sz="1400" dirty="0">
                <a:sym typeface="+mn-ea"/>
              </a:rPr>
              <a:t> </a:t>
            </a:r>
            <a:r>
              <a:rPr lang="zh-CN" altLang="en-US" sz="1400" dirty="0">
                <a:sym typeface="+mn-ea"/>
              </a:rPr>
              <a:t>·默认值的参数必须定义在最后</a:t>
            </a:r>
            <a:endParaRPr lang="zh-CN" altLang="en-US" sz="1400" dirty="0"/>
          </a:p>
          <a:p>
            <a:pPr lvl="1"/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en-US" altLang="zh-CN" dirty="0">
                <a:solidFill>
                  <a:srgbClr val="C00000"/>
                </a:solidFill>
              </a:rPr>
              <a:t>4.</a:t>
            </a:r>
            <a:r>
              <a:rPr lang="zh-CN" altLang="en-US" dirty="0">
                <a:solidFill>
                  <a:srgbClr val="C00000"/>
                </a:solidFill>
              </a:rPr>
              <a:t> 掌握不定长参数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zh-CN" altLang="en-US" dirty="0"/>
              <a:t>     </a:t>
            </a:r>
            <a:r>
              <a:rPr lang="en-US" altLang="zh-CN" sz="1400" dirty="0"/>
              <a:t>·</a:t>
            </a:r>
            <a:r>
              <a:rPr lang="zh-CN" altLang="en-US" sz="1400" dirty="0"/>
              <a:t> 位置不定长传递以</a:t>
            </a:r>
            <a:r>
              <a:rPr lang="en-US" altLang="zh-CN" sz="1400" dirty="0"/>
              <a:t>*</a:t>
            </a:r>
            <a:r>
              <a:rPr lang="zh-CN" altLang="en-US" sz="1400" dirty="0"/>
              <a:t>号标记一个形式参数，以元组的形式接受参数，形式参数一般命名为</a:t>
            </a:r>
            <a:r>
              <a:rPr lang="en-US" altLang="zh-CN" sz="1400" dirty="0"/>
              <a:t>args</a:t>
            </a:r>
            <a:endParaRPr lang="en-US" altLang="zh-CN" sz="1400" dirty="0"/>
          </a:p>
          <a:p>
            <a:pPr lvl="1"/>
            <a:r>
              <a:rPr lang="zh-CN" altLang="en-US" sz="1400" dirty="0"/>
              <a:t>     </a:t>
            </a:r>
            <a:r>
              <a:rPr lang="en-US" altLang="zh-CN" sz="1400" dirty="0"/>
              <a:t> </a:t>
            </a:r>
            <a:r>
              <a:rPr lang="en-US" altLang="zh-CN" sz="1400" dirty="0">
                <a:sym typeface="+mn-ea"/>
              </a:rPr>
              <a:t>·</a:t>
            </a:r>
            <a:r>
              <a:rPr lang="zh-CN" altLang="en-US" sz="1400" dirty="0">
                <a:sym typeface="+mn-ea"/>
              </a:rPr>
              <a:t> 关键字不定长传递以</a:t>
            </a:r>
            <a:r>
              <a:rPr lang="en-US" altLang="zh-CN" sz="1400" dirty="0">
                <a:sym typeface="+mn-ea"/>
              </a:rPr>
              <a:t>**</a:t>
            </a:r>
            <a:r>
              <a:rPr lang="zh-CN" altLang="en-US" sz="1400" dirty="0">
                <a:sym typeface="+mn-ea"/>
              </a:rPr>
              <a:t>号标记一个形式参数，以字典的形式接受参数，形式参数一般命名为</a:t>
            </a:r>
            <a:r>
              <a:rPr lang="en-US" altLang="zh-CN" sz="1400" dirty="0">
                <a:sym typeface="+mn-ea"/>
              </a:rPr>
              <a:t>kwargs</a:t>
            </a:r>
            <a:endParaRPr lang="en-US" altLang="zh-CN" sz="1400" dirty="0"/>
          </a:p>
          <a:p>
            <a:pPr lvl="1"/>
            <a:endParaRPr lang="en-US" altLang="zh-CN" sz="14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799581" y="301156"/>
            <a:ext cx="6654482" cy="4855845"/>
          </a:xfrm>
        </p:spPr>
        <p:txBody>
          <a:bodyPr/>
          <a:p>
            <a:r>
              <a:rPr lang="zh-CN" altLang="en-US" dirty="0">
                <a:solidFill>
                  <a:schemeClr val="tx1"/>
                </a:solidFill>
                <a:sym typeface="+mn-ea"/>
              </a:rPr>
              <a:t>函数说明文档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  <a:sym typeface="+mn-ea"/>
              </a:rPr>
              <a:t>函数的嵌套调用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  <a:sym typeface="+mn-ea"/>
              </a:rPr>
              <a:t>变量的作用域</a:t>
            </a:r>
            <a:endParaRPr lang="zh-CN" altLang="en-US" dirty="0">
              <a:solidFill>
                <a:schemeClr val="tx1"/>
              </a:solidFill>
              <a:sym typeface="+mn-ea"/>
            </a:endParaRPr>
          </a:p>
          <a:p>
            <a:r>
              <a:rPr lang="zh-CN" altLang="en-US" dirty="0">
                <a:solidFill>
                  <a:schemeClr val="tx1"/>
                </a:solidFill>
                <a:sym typeface="+mn-ea"/>
              </a:rPr>
              <a:t>函数多返回值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  <a:sym typeface="+mn-ea"/>
              </a:rPr>
              <a:t>函数多种传参方式</a:t>
            </a:r>
            <a:endParaRPr lang="zh-CN" altLang="en-US" dirty="0">
              <a:solidFill>
                <a:schemeClr val="tx1"/>
              </a:solidFill>
              <a:latin typeface="阿里巴巴普惠体 3.0 45 Light" panose="00020600040101010101" charset="-122"/>
              <a:ea typeface="阿里巴巴普惠体 3.0 45 Light" panose="00020600040101010101" charset="-122"/>
            </a:endParaRPr>
          </a:p>
          <a:p>
            <a:r>
              <a:rPr lang="zh-CN" altLang="en-US" dirty="0">
                <a:solidFill>
                  <a:srgbClr val="C00000"/>
                </a:solidFill>
                <a:latin typeface="阿里巴巴普惠体 3.0 45 Light" panose="00020600040101010101" charset="-122"/>
                <a:ea typeface="阿里巴巴普惠体 3.0 45 Light" panose="00020600040101010101" charset="-122"/>
              </a:rPr>
              <a:t>匿名函数</a:t>
            </a:r>
            <a:endParaRPr lang="en-US" altLang="zh-CN" dirty="0">
              <a:solidFill>
                <a:srgbClr val="C00000"/>
              </a:solidFill>
              <a:latin typeface="阿里巴巴普惠体 3.0 45 Light" panose="00020600040101010101" charset="-122"/>
              <a:ea typeface="阿里巴巴普惠体 3.0 45 Light" panose="00020600040101010101" charset="-122"/>
            </a:endParaRPr>
          </a:p>
          <a:p>
            <a:r>
              <a:rPr lang="zh-CN" altLang="en-US" dirty="0">
                <a:latin typeface="阿里巴巴普惠体 3.0 45 Light" panose="00020600040101010101" charset="-122"/>
                <a:ea typeface="阿里巴巴普惠体 3.0 45 Light" panose="00020600040101010101" charset="-122"/>
              </a:rPr>
              <a:t>递归函数</a:t>
            </a:r>
            <a:endParaRPr lang="zh-CN" altLang="en-US" dirty="0">
              <a:latin typeface="阿里巴巴普惠体 3.0 45 Light" panose="00020600040101010101" charset="-122"/>
              <a:ea typeface="阿里巴巴普惠体 3.0 45 Light" panose="00020600040101010101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lambda</a:t>
            </a:r>
            <a:r>
              <a:rPr lang="zh-CN" altLang="en-US"/>
              <a:t>表达式简介</a:t>
            </a:r>
            <a:endParaRPr lang="en-US" altLang="zh-CN" dirty="0"/>
          </a:p>
        </p:txBody>
      </p:sp>
      <p:sp>
        <p:nvSpPr>
          <p:cNvPr id="9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>
                <a:solidFill>
                  <a:srgbClr val="B60206"/>
                </a:solidFill>
              </a:rPr>
              <a:t>lambda</a:t>
            </a:r>
            <a:r>
              <a:rPr lang="zh-CN" altLang="en-US">
                <a:solidFill>
                  <a:srgbClr val="B60206"/>
                </a:solidFill>
              </a:rPr>
              <a:t>表达式：简单函数的简洁写法，它又叫匿名函数。</a:t>
            </a:r>
            <a:endParaRPr lang="en-US" altLang="zh-CN">
              <a:solidFill>
                <a:srgbClr val="B60206"/>
              </a:solidFill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</a:rPr>
              <a:t>语法形式：</a:t>
            </a:r>
            <a:endParaRPr lang="en-US" altLang="zh-CN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rgbClr val="B60206"/>
                </a:solidFill>
              </a:rPr>
              <a:t>lambda </a:t>
            </a:r>
            <a:r>
              <a:rPr lang="zh-CN" altLang="en-US">
                <a:solidFill>
                  <a:srgbClr val="B60206"/>
                </a:solidFill>
              </a:rPr>
              <a:t>形参</a:t>
            </a:r>
            <a:r>
              <a:rPr lang="en-US" altLang="zh-CN">
                <a:solidFill>
                  <a:srgbClr val="B60206"/>
                </a:solidFill>
              </a:rPr>
              <a:t>1, </a:t>
            </a:r>
            <a:r>
              <a:rPr lang="zh-CN" altLang="en-US">
                <a:solidFill>
                  <a:srgbClr val="B60206"/>
                </a:solidFill>
              </a:rPr>
              <a:t>形参</a:t>
            </a:r>
            <a:r>
              <a:rPr lang="en-US" altLang="zh-CN">
                <a:solidFill>
                  <a:srgbClr val="B60206"/>
                </a:solidFill>
              </a:rPr>
              <a:t>2, ... : </a:t>
            </a:r>
            <a:r>
              <a:rPr lang="zh-CN" altLang="en-US">
                <a:solidFill>
                  <a:srgbClr val="B60206"/>
                </a:solidFill>
              </a:rPr>
              <a:t>单行表达式 或 函数调用</a:t>
            </a:r>
            <a:endParaRPr lang="en-US" altLang="zh-CN">
              <a:solidFill>
                <a:srgbClr val="B60206"/>
              </a:solidFill>
            </a:endParaRPr>
          </a:p>
          <a:p>
            <a:endParaRPr lang="en-US" altLang="zh-CN">
              <a:solidFill>
                <a:srgbClr val="B60206"/>
              </a:solidFill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</a:rPr>
              <a:t>注意点：</a:t>
            </a:r>
            <a:endParaRPr lang="en-US" altLang="zh-CN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</a:rPr>
              <a:t>1</a:t>
            </a:r>
            <a:r>
              <a:rPr lang="zh-CN" altLang="en-US">
                <a:solidFill>
                  <a:schemeClr val="tx1"/>
                </a:solidFill>
              </a:rPr>
              <a:t>）匿名函数中不能使用 </a:t>
            </a:r>
            <a:r>
              <a:rPr lang="en-US" altLang="zh-CN">
                <a:solidFill>
                  <a:schemeClr val="tx1"/>
                </a:solidFill>
              </a:rPr>
              <a:t>while </a:t>
            </a:r>
            <a:r>
              <a:rPr lang="zh-CN" altLang="en-US">
                <a:solidFill>
                  <a:schemeClr val="tx1"/>
                </a:solidFill>
              </a:rPr>
              <a:t>循环、</a:t>
            </a:r>
            <a:r>
              <a:rPr lang="en-US" altLang="zh-CN">
                <a:solidFill>
                  <a:schemeClr val="tx1"/>
                </a:solidFill>
              </a:rPr>
              <a:t>for </a:t>
            </a:r>
            <a:r>
              <a:rPr lang="zh-CN" altLang="en-US">
                <a:solidFill>
                  <a:schemeClr val="tx1"/>
                </a:solidFill>
              </a:rPr>
              <a:t>循环，只能编写单行的表达式，或函数调用</a:t>
            </a:r>
            <a:endParaRPr lang="zh-CN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</a:rPr>
              <a:t>2</a:t>
            </a:r>
            <a:r>
              <a:rPr lang="zh-CN" altLang="en-US">
                <a:solidFill>
                  <a:schemeClr val="tx1"/>
                </a:solidFill>
              </a:rPr>
              <a:t>）匿名函数中返回结果不需要使用 </a:t>
            </a:r>
            <a:r>
              <a:rPr lang="en-US" altLang="zh-CN">
                <a:solidFill>
                  <a:schemeClr val="tx1"/>
                </a:solidFill>
              </a:rPr>
              <a:t>return</a:t>
            </a:r>
            <a:r>
              <a:rPr lang="zh-CN" altLang="en-US">
                <a:solidFill>
                  <a:schemeClr val="tx1"/>
                </a:solidFill>
              </a:rPr>
              <a:t>，表达式的运行结果就是返回结果</a:t>
            </a:r>
            <a:endParaRPr lang="zh-CN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</a:rPr>
              <a:t>3</a:t>
            </a:r>
            <a:r>
              <a:rPr lang="zh-CN" altLang="en-US">
                <a:solidFill>
                  <a:schemeClr val="tx1"/>
                </a:solidFill>
              </a:rPr>
              <a:t>）匿名函数中也可以不返回结果。例如： </a:t>
            </a:r>
            <a:r>
              <a:rPr lang="en-US" altLang="zh-CN">
                <a:solidFill>
                  <a:schemeClr val="tx1"/>
                </a:solidFill>
              </a:rPr>
              <a:t>lambda : print('hello world')</a:t>
            </a:r>
            <a:endParaRPr lang="en-US" altLang="zh-CN">
              <a:solidFill>
                <a:schemeClr val="tx1"/>
              </a:solidFill>
            </a:endParaRPr>
          </a:p>
        </p:txBody>
      </p:sp>
      <p:pic>
        <p:nvPicPr>
          <p:cNvPr id="2" name="图片 1" descr="播仔素材库【1】009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0110" y="5547995"/>
            <a:ext cx="1075055" cy="107505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lambda</a:t>
            </a:r>
            <a:r>
              <a:rPr lang="zh-CN" altLang="en-US"/>
              <a:t>表达式示例</a:t>
            </a:r>
            <a:endParaRPr lang="en-US" altLang="zh-CN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880" y="1646132"/>
            <a:ext cx="10198179" cy="4183167"/>
          </a:xfrm>
          <a:prstGeom prst="rect">
            <a:avLst/>
          </a:prstGeom>
          <a:ln>
            <a:solidFill>
              <a:srgbClr val="D9D9D9"/>
            </a:solidFill>
          </a:ln>
        </p:spPr>
      </p:pic>
      <p:pic>
        <p:nvPicPr>
          <p:cNvPr id="2" name="图片 1" descr="播仔素材库【1】009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0110" y="5547995"/>
            <a:ext cx="1075055" cy="107505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Font typeface="+mj-lt"/>
              <a:buNone/>
            </a:pPr>
            <a:r>
              <a:rPr lang="zh-CN" altLang="en-US">
                <a:solidFill>
                  <a:srgbClr val="C00000"/>
                </a:solidFill>
                <a:latin typeface="阿里巴巴普惠体" panose="00020600040101010101" pitchFamily="18" charset="-122"/>
                <a:ea typeface="Alibaba PuHuiTi R" pitchFamily="18" charset="-122"/>
              </a:rPr>
              <a:t>什么是</a:t>
            </a:r>
            <a:r>
              <a:rPr lang="en-US" altLang="zh-CN">
                <a:solidFill>
                  <a:srgbClr val="C00000"/>
                </a:solidFill>
                <a:latin typeface="阿里巴巴普惠体" panose="00020600040101010101" pitchFamily="18" charset="-122"/>
                <a:ea typeface="Alibaba PuHuiTi R" pitchFamily="18" charset="-122"/>
              </a:rPr>
              <a:t>lambda</a:t>
            </a:r>
            <a:r>
              <a:rPr lang="zh-CN" altLang="en-US">
                <a:solidFill>
                  <a:srgbClr val="C00000"/>
                </a:solidFill>
                <a:latin typeface="阿里巴巴普惠体" panose="00020600040101010101" pitchFamily="18" charset="-122"/>
                <a:ea typeface="Alibaba PuHuiTi R" pitchFamily="18" charset="-122"/>
              </a:rPr>
              <a:t>表达式？如何定义？</a:t>
            </a:r>
            <a:endParaRPr lang="zh-CN" altLang="en-US">
              <a:solidFill>
                <a:srgbClr val="C00000"/>
              </a:solidFill>
              <a:latin typeface="阿里巴巴普惠体" panose="00020600040101010101" pitchFamily="18" charset="-122"/>
              <a:ea typeface="Alibaba PuHuiTi R" pitchFamily="18" charset="-122"/>
            </a:endParaRPr>
          </a:p>
          <a:p>
            <a:pPr marL="447675" lvl="1" indent="-3619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b="0">
                <a:ea typeface="Alibaba PuHuiTi R" pitchFamily="18" charset="-122"/>
              </a:rPr>
              <a:t>简单函数的简洁写法，它又叫匿名函数。</a:t>
            </a:r>
            <a:endParaRPr lang="en-US" altLang="zh-CN" sz="1600" b="0">
              <a:ea typeface="Alibaba PuHuiTi R" pitchFamily="18" charset="-122"/>
            </a:endParaRPr>
          </a:p>
          <a:p>
            <a:pPr marL="447675" lvl="1" indent="-3619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b="0">
                <a:ea typeface="Alibaba PuHuiTi R" pitchFamily="18" charset="-122"/>
              </a:rPr>
              <a:t>lambda </a:t>
            </a:r>
            <a:r>
              <a:rPr lang="zh-CN" altLang="en-US" sz="1600" b="0">
                <a:ea typeface="Alibaba PuHuiTi R" pitchFamily="18" charset="-122"/>
              </a:rPr>
              <a:t>形参</a:t>
            </a:r>
            <a:r>
              <a:rPr lang="en-US" altLang="zh-CN" sz="1600" b="0">
                <a:ea typeface="Alibaba PuHuiTi R" pitchFamily="18" charset="-122"/>
              </a:rPr>
              <a:t>1, </a:t>
            </a:r>
            <a:r>
              <a:rPr lang="zh-CN" altLang="en-US" sz="1600" b="0">
                <a:ea typeface="Alibaba PuHuiTi R" pitchFamily="18" charset="-122"/>
              </a:rPr>
              <a:t>形参</a:t>
            </a:r>
            <a:r>
              <a:rPr lang="en-US" altLang="zh-CN" sz="1600" b="0">
                <a:ea typeface="Alibaba PuHuiTi R" pitchFamily="18" charset="-122"/>
              </a:rPr>
              <a:t>2, ... : </a:t>
            </a:r>
            <a:r>
              <a:rPr lang="zh-CN" altLang="en-US" sz="1600" b="0">
                <a:ea typeface="Alibaba PuHuiTi R" pitchFamily="18" charset="-122"/>
              </a:rPr>
              <a:t>单行表达式 或 函数调用</a:t>
            </a:r>
            <a:endParaRPr lang="zh-CN" altLang="en-US" sz="1600" b="0">
              <a:ea typeface="Alibaba PuHuiTi R" pitchFamily="18" charset="-122"/>
            </a:endParaRPr>
          </a:p>
          <a:p>
            <a:endParaRPr lang="zh-CN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799581" y="301156"/>
            <a:ext cx="6654482" cy="4855845"/>
          </a:xfrm>
        </p:spPr>
        <p:txBody>
          <a:bodyPr/>
          <a:p>
            <a:r>
              <a:rPr lang="zh-CN" altLang="en-US" dirty="0">
                <a:solidFill>
                  <a:schemeClr val="tx1"/>
                </a:solidFill>
                <a:sym typeface="+mn-ea"/>
              </a:rPr>
              <a:t>函数说明文档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  <a:sym typeface="+mn-ea"/>
              </a:rPr>
              <a:t>函数的嵌套调用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  <a:sym typeface="+mn-ea"/>
              </a:rPr>
              <a:t>变量的作用域</a:t>
            </a:r>
            <a:endParaRPr lang="zh-CN" altLang="en-US" dirty="0">
              <a:solidFill>
                <a:schemeClr val="tx1"/>
              </a:solidFill>
              <a:sym typeface="+mn-ea"/>
            </a:endParaRPr>
          </a:p>
          <a:p>
            <a:r>
              <a:rPr lang="zh-CN" altLang="en-US" dirty="0">
                <a:solidFill>
                  <a:schemeClr val="tx1"/>
                </a:solidFill>
                <a:sym typeface="+mn-ea"/>
              </a:rPr>
              <a:t>函数多返回值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  <a:sym typeface="+mn-ea"/>
              </a:rPr>
              <a:t>函数多种传参方式</a:t>
            </a:r>
            <a:endParaRPr lang="zh-CN" altLang="en-US" dirty="0">
              <a:solidFill>
                <a:schemeClr val="tx1"/>
              </a:solidFill>
              <a:latin typeface="阿里巴巴普惠体 3.0 45 Light" panose="00020600040101010101" charset="-122"/>
              <a:ea typeface="阿里巴巴普惠体 3.0 45 Light" panose="00020600040101010101" charset="-122"/>
            </a:endParaRPr>
          </a:p>
          <a:p>
            <a:r>
              <a:rPr lang="zh-CN" altLang="en-US" dirty="0">
                <a:solidFill>
                  <a:schemeClr val="tx1"/>
                </a:solidFill>
                <a:latin typeface="阿里巴巴普惠体 3.0 45 Light" panose="00020600040101010101" charset="-122"/>
                <a:ea typeface="阿里巴巴普惠体 3.0 45 Light" panose="00020600040101010101" charset="-122"/>
              </a:rPr>
              <a:t>匿名函数</a:t>
            </a:r>
            <a:endParaRPr lang="en-US" altLang="zh-CN" dirty="0">
              <a:solidFill>
                <a:schemeClr val="tx1"/>
              </a:solidFill>
              <a:latin typeface="阿里巴巴普惠体 3.0 45 Light" panose="00020600040101010101" charset="-122"/>
              <a:ea typeface="阿里巴巴普惠体 3.0 45 Light" panose="00020600040101010101" charset="-122"/>
            </a:endParaRPr>
          </a:p>
          <a:p>
            <a:r>
              <a:rPr lang="zh-CN" altLang="en-US" dirty="0">
                <a:solidFill>
                  <a:srgbClr val="C00000"/>
                </a:solidFill>
                <a:latin typeface="阿里巴巴普惠体 3.0 45 Light" panose="00020600040101010101" charset="-122"/>
                <a:ea typeface="阿里巴巴普惠体 3.0 45 Light" panose="00020600040101010101" charset="-122"/>
              </a:rPr>
              <a:t>递归函数</a:t>
            </a:r>
            <a:endParaRPr lang="zh-CN" altLang="en-US" dirty="0">
              <a:solidFill>
                <a:srgbClr val="C00000"/>
              </a:solidFill>
              <a:latin typeface="阿里巴巴普惠体 3.0 45 Light" panose="00020600040101010101" charset="-122"/>
              <a:ea typeface="阿里巴巴普惠体 3.0 45 Light" panose="00020600040101010101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 dirty="0">
                <a:sym typeface="+mn-ea"/>
              </a:rPr>
              <a:t>递归</a:t>
            </a:r>
            <a:r>
              <a:rPr kumimoji="1">
                <a:sym typeface="+mn-ea"/>
              </a:rPr>
              <a:t>函数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5080338" y="2482596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什么是递归呢？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84907" y="3018926"/>
            <a:ext cx="5822185" cy="1356478"/>
          </a:xfrm>
          <a:prstGeom prst="rect">
            <a:avLst/>
          </a:prstGeom>
        </p:spPr>
      </p:pic>
      <p:pic>
        <p:nvPicPr>
          <p:cNvPr id="2" name="图片 1" descr="播仔素材库【1】009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0110" y="5547995"/>
            <a:ext cx="1075055" cy="1075055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 dirty="0">
                <a:sym typeface="+mn-ea"/>
              </a:rPr>
              <a:t>递归的应用场景？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710565" y="1649095"/>
            <a:ext cx="828230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 panose="020F0502020204030204"/>
                <a:ea typeface="Alibaba PuHuiTi R" pitchFamily="18" charset="-122"/>
                <a:cs typeface="+mn-cs"/>
              </a:rPr>
              <a:t>递归就是某个函数直接或者间接地调用自身的一种设计程序思想，这样原问题的求解就转换为了许多性质相同但是规模更小的子问题。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 panose="020F0502020204030204"/>
              <a:ea typeface="Alibaba PuHuiTi R" pitchFamily="18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 panose="020F0502020204030204"/>
              <a:ea typeface="Alibaba PuHuiTi R" pitchFamily="18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 panose="020F0502020204030204"/>
                <a:ea typeface="Alibaba PuHuiTi R" pitchFamily="18" charset="-122"/>
                <a:cs typeface="+mn-cs"/>
              </a:rPr>
              <a:t>在实际工作中，递归有多种应用场景：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alibri" panose="020F0502020204030204"/>
              <a:ea typeface="Alibaba PuHuiTi R" pitchFamily="18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Alibaba PuHuiTi R" pitchFamily="18" charset="-122"/>
                <a:cs typeface="+mn-cs"/>
              </a:rPr>
              <a:t>① 实现复杂的数学计算，如斐波那契数列，求汉诺塔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Alibaba PuHuiTi R" pitchFamily="18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Alibaba PuHuiTi R" pitchFamily="18" charset="-122"/>
                <a:cs typeface="+mn-cs"/>
              </a:rPr>
              <a:t>② 实现文件递归查询，递归查询某个目录以及子目录下的所有文件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Alibaba PuHuiTi R" pitchFamily="18" charset="-122"/>
              <a:cs typeface="+mn-cs"/>
            </a:endParaRPr>
          </a:p>
        </p:txBody>
      </p:sp>
      <p:pic>
        <p:nvPicPr>
          <p:cNvPr id="4" name="图片 3" descr="播仔素材库【1】009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0110" y="5547995"/>
            <a:ext cx="1075055" cy="1075055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 dirty="0">
                <a:sym typeface="+mn-ea"/>
              </a:rPr>
              <a:t>递归三要素</a:t>
            </a:r>
            <a:endParaRPr lang="zh-CN" altLang="en-US" dirty="0"/>
          </a:p>
        </p:txBody>
      </p:sp>
      <p:sp>
        <p:nvSpPr>
          <p:cNvPr id="7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646133"/>
            <a:ext cx="10749598" cy="421957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rgbClr val="B60206"/>
                </a:solidFill>
              </a:rPr>
              <a:t>① 明确你这个函数想要干什么</a:t>
            </a:r>
            <a:endParaRPr lang="zh-CN" altLang="en-US" dirty="0">
              <a:solidFill>
                <a:srgbClr val="B60206"/>
              </a:solidFill>
            </a:endParaRPr>
          </a:p>
          <a:p>
            <a:pPr marL="0" indent="0">
              <a:buNone/>
            </a:pPr>
            <a:r>
              <a:rPr lang="zh-CN" altLang="en-US">
                <a:sym typeface="+mn-ea"/>
              </a:rPr>
              <a:t>对于递归，很重要的一个事就是，</a:t>
            </a:r>
            <a:r>
              <a:rPr lang="zh-CN" altLang="en-US" b="1">
                <a:solidFill>
                  <a:srgbClr val="B60206"/>
                </a:solidFill>
                <a:sym typeface="+mn-ea"/>
              </a:rPr>
              <a:t>这个函数的功能是什么，他要完成什么样的一件事</a:t>
            </a:r>
            <a:r>
              <a:rPr lang="zh-CN" altLang="en-US">
                <a:sym typeface="+mn-ea"/>
              </a:rPr>
              <a:t>，而这个，是完全由你自己来定义的。也就是说，我们先不管函数里面的代码什么，而是要先明白，你这个函数是要用来干什么。</a:t>
            </a: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B60206"/>
                </a:solidFill>
              </a:rPr>
              <a:t>② 寻找递归结束条件</a:t>
            </a:r>
            <a:endParaRPr lang="zh-CN" altLang="en-US" dirty="0">
              <a:solidFill>
                <a:srgbClr val="B60206"/>
              </a:solidFill>
            </a:endParaRPr>
          </a:p>
          <a:p>
            <a:pPr marL="0" indent="0">
              <a:buNone/>
            </a:pPr>
            <a:r>
              <a:rPr lang="zh-CN" altLang="en-US">
                <a:sym typeface="+mn-ea"/>
              </a:rPr>
              <a:t>所谓递归，就是会在函数内部代码中，调用这个函数本身，所以，我们必须要找出</a:t>
            </a:r>
            <a:r>
              <a:rPr lang="zh-CN" altLang="en-US" b="1">
                <a:solidFill>
                  <a:srgbClr val="B60206"/>
                </a:solidFill>
                <a:sym typeface="+mn-ea"/>
              </a:rPr>
              <a:t>递归的结束条件</a:t>
            </a:r>
            <a:r>
              <a:rPr lang="zh-CN" altLang="en-US">
                <a:sym typeface="+mn-ea"/>
              </a:rPr>
              <a:t>，不然的话，会一直调用自己，进入无底洞。也就是说，我们需要找出</a:t>
            </a:r>
            <a:r>
              <a:rPr lang="zh-CN" altLang="en-US" b="1">
                <a:solidFill>
                  <a:srgbClr val="B60206"/>
                </a:solidFill>
                <a:sym typeface="+mn-ea"/>
              </a:rPr>
              <a:t>当参数为啥时，递归结束，之后直接把结果返回</a:t>
            </a:r>
            <a:r>
              <a:rPr lang="zh-CN" altLang="en-US">
                <a:sym typeface="+mn-ea"/>
              </a:rPr>
              <a:t>，请注意，这个时候我们必须能根据这个参数的值，能够</a:t>
            </a:r>
            <a:r>
              <a:rPr lang="zh-CN" altLang="en-US" b="1">
                <a:sym typeface="+mn-ea"/>
              </a:rPr>
              <a:t>直接</a:t>
            </a:r>
            <a:r>
              <a:rPr lang="zh-CN" altLang="en-US">
                <a:sym typeface="+mn-ea"/>
              </a:rPr>
              <a:t>知道函数的结果是什么。</a:t>
            </a: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B60206"/>
                </a:solidFill>
              </a:rPr>
              <a:t>③ 找出函数的等价关系式</a:t>
            </a:r>
            <a:endParaRPr lang="zh-CN" altLang="en-US" dirty="0">
              <a:solidFill>
                <a:srgbClr val="B60206"/>
              </a:solidFill>
            </a:endParaRPr>
          </a:p>
          <a:p>
            <a:pPr marL="0" indent="0">
              <a:buNone/>
            </a:pPr>
            <a:r>
              <a:rPr lang="zh-CN" altLang="en-US">
                <a:sym typeface="+mn-ea"/>
              </a:rPr>
              <a:t>第三要素就是，我们要</a:t>
            </a:r>
            <a:r>
              <a:rPr lang="zh-CN" altLang="en-US" b="1">
                <a:solidFill>
                  <a:srgbClr val="B60206"/>
                </a:solidFill>
                <a:sym typeface="+mn-ea"/>
              </a:rPr>
              <a:t>不断缩小参数的范围</a:t>
            </a:r>
            <a:r>
              <a:rPr lang="zh-CN" altLang="en-US">
                <a:sym typeface="+mn-ea"/>
              </a:rPr>
              <a:t>，缩小之后，我们可以通过一些辅助的变量或者操作，使原函数的结果不变。</a:t>
            </a:r>
            <a:endParaRPr lang="zh-CN" altLang="en-US" dirty="0"/>
          </a:p>
          <a:p>
            <a:pPr marL="0" indent="0">
              <a:buNone/>
            </a:pPr>
            <a:endParaRPr lang="zh-CN" altLang="en-US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zh-CN" altLang="en-US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zh-CN" altLang="en-US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zh-CN" altLang="en-US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zh-CN" altLang="en-US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zh-CN" altLang="en-US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zh-CN" altLang="en-US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zh-CN" altLang="en-US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zh-CN" altLang="en-US" dirty="0">
              <a:solidFill>
                <a:schemeClr val="tx1"/>
              </a:solidFill>
            </a:endParaRPr>
          </a:p>
        </p:txBody>
      </p:sp>
      <p:pic>
        <p:nvPicPr>
          <p:cNvPr id="2" name="图片 1" descr="播仔素材库【1】009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0110" y="5547995"/>
            <a:ext cx="1075055" cy="10750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 dirty="0">
                <a:sym typeface="+mn-ea"/>
              </a:rPr>
              <a:t>递归示例</a:t>
            </a:r>
            <a:r>
              <a:rPr kumimoji="1" lang="en-US" altLang="zh-CN" dirty="0">
                <a:sym typeface="+mn-ea"/>
              </a:rPr>
              <a:t>1</a:t>
            </a:r>
            <a:endParaRPr kumimoji="1" lang="en-US" altLang="zh-CN" dirty="0">
              <a:sym typeface="+mn-ea"/>
            </a:endParaRPr>
          </a:p>
        </p:txBody>
      </p:sp>
      <p:sp>
        <p:nvSpPr>
          <p:cNvPr id="7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646133"/>
            <a:ext cx="10749598" cy="4219575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800" dirty="0">
                <a:solidFill>
                  <a:srgbClr val="B60206"/>
                </a:solidFill>
              </a:rPr>
              <a:t>使用递归求</a:t>
            </a:r>
            <a:r>
              <a:rPr sz="1800" dirty="0">
                <a:solidFill>
                  <a:srgbClr val="B60206"/>
                </a:solidFill>
              </a:rPr>
              <a:t>1-5</a:t>
            </a:r>
            <a:r>
              <a:rPr lang="zh-CN" altLang="en-US" sz="1800" dirty="0">
                <a:solidFill>
                  <a:srgbClr val="B60206"/>
                </a:solidFill>
              </a:rPr>
              <a:t>累加结果</a:t>
            </a:r>
            <a:endParaRPr lang="zh-CN" altLang="en-US" sz="1800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zh-CN" altLang="en-US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zh-CN" altLang="en-US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zh-CN" altLang="en-US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zh-CN" altLang="en-US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zh-CN" altLang="en-US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zh-CN" altLang="en-US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zh-CN" altLang="en-US" dirty="0">
              <a:solidFill>
                <a:srgbClr val="B60206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B60206"/>
                </a:solidFill>
              </a:rPr>
              <a:t>拓展工具</a:t>
            </a:r>
            <a:r>
              <a:rPr dirty="0">
                <a:solidFill>
                  <a:srgbClr val="B60206"/>
                </a:solidFill>
              </a:rPr>
              <a:t>: </a:t>
            </a:r>
            <a:r>
              <a:rPr dirty="0">
                <a:solidFill>
                  <a:srgbClr val="B60206"/>
                </a:solidFill>
                <a:hlinkClick r:id="rId1" action="ppaction://hlinkfile"/>
              </a:rPr>
              <a:t>https://pythontutor.com/render.html</a:t>
            </a:r>
            <a:endParaRPr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zh-CN" altLang="en-US" dirty="0">
              <a:solidFill>
                <a:schemeClr val="tx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555" y="2340610"/>
            <a:ext cx="7475220" cy="2409190"/>
          </a:xfrm>
          <a:prstGeom prst="rect">
            <a:avLst/>
          </a:prstGeom>
        </p:spPr>
      </p:pic>
      <p:pic>
        <p:nvPicPr>
          <p:cNvPr id="4" name="图片 3" descr="播仔素材库【1】009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0110" y="5547995"/>
            <a:ext cx="1075055" cy="10750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三角形 9"/>
          <p:cNvSpPr/>
          <p:nvPr/>
        </p:nvSpPr>
        <p:spPr>
          <a:xfrm rot="2651319">
            <a:off x="766390" y="2755655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34341" y="2869686"/>
            <a:ext cx="9773285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一个正整数的阶乘（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factorial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）是所有小于及等于该数的正整数的积，如：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n!=1×2×3×...×(n-1)×n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69864" y="2370555"/>
            <a:ext cx="10302240" cy="1135547"/>
          </a:xfrm>
          <a:prstGeom prst="rect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59776" y="2471542"/>
            <a:ext cx="1053296" cy="300942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注意事项</a:t>
            </a:r>
            <a:endParaRPr kumimoji="1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kumimoji="1" lang="zh-CN" altLang="en-US" dirty="0">
                <a:sym typeface="+mn-ea"/>
              </a:rPr>
              <a:t>递归示例</a:t>
            </a:r>
            <a:r>
              <a:rPr kumimoji="1" lang="en-US" altLang="zh-CN" dirty="0">
                <a:sym typeface="+mn-ea"/>
              </a:rPr>
              <a:t>2</a:t>
            </a:r>
            <a:endParaRPr kumimoji="1" lang="en-US" altLang="zh-CN" dirty="0">
              <a:sym typeface="+mn-ea"/>
            </a:endParaRPr>
          </a:p>
        </p:txBody>
      </p:sp>
      <p:sp>
        <p:nvSpPr>
          <p:cNvPr id="10" name="文本占位符 1"/>
          <p:cNvSpPr>
            <a:spLocks noGrp="1"/>
          </p:cNvSpPr>
          <p:nvPr/>
        </p:nvSpPr>
        <p:spPr>
          <a:xfrm>
            <a:off x="710565" y="1645920"/>
            <a:ext cx="10749915" cy="197548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800" dirty="0">
                <a:solidFill>
                  <a:srgbClr val="B60206"/>
                </a:solidFill>
              </a:rPr>
              <a:t>需求</a:t>
            </a:r>
            <a:r>
              <a:rPr sz="1800" dirty="0">
                <a:solidFill>
                  <a:srgbClr val="B60206"/>
                </a:solidFill>
              </a:rPr>
              <a:t>: </a:t>
            </a:r>
            <a:r>
              <a:rPr lang="zh-CN" altLang="en-US" sz="1800" dirty="0">
                <a:solidFill>
                  <a:srgbClr val="B60206"/>
                </a:solidFill>
              </a:rPr>
              <a:t>使用递归求</a:t>
            </a:r>
            <a:r>
              <a:rPr sz="1800" dirty="0">
                <a:solidFill>
                  <a:srgbClr val="B60206"/>
                </a:solidFill>
              </a:rPr>
              <a:t>1-10</a:t>
            </a:r>
            <a:r>
              <a:rPr lang="zh-CN" altLang="en-US" sz="1800" dirty="0">
                <a:solidFill>
                  <a:srgbClr val="B60206"/>
                </a:solidFill>
              </a:rPr>
              <a:t>的阶乘</a:t>
            </a:r>
            <a:r>
              <a:rPr sz="1800" dirty="0">
                <a:solidFill>
                  <a:srgbClr val="B60206"/>
                </a:solidFill>
              </a:rPr>
              <a:t>!</a:t>
            </a:r>
            <a:endParaRPr lang="zh-CN" altLang="en-US" sz="1800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zh-CN" altLang="en-US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zh-CN" altLang="en-US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zh-CN" altLang="en-US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zh-CN" altLang="en-US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zh-CN" altLang="en-US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zh-CN" altLang="en-US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zh-CN" altLang="en-US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zh-CN" altLang="en-US" dirty="0">
              <a:solidFill>
                <a:schemeClr val="tx1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9950" y="3678555"/>
            <a:ext cx="5480050" cy="2851150"/>
          </a:xfrm>
          <a:prstGeom prst="rect">
            <a:avLst/>
          </a:prstGeom>
        </p:spPr>
      </p:pic>
      <p:pic>
        <p:nvPicPr>
          <p:cNvPr id="2" name="图片 1" descr="播仔素材库【1】009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0110" y="5547995"/>
            <a:ext cx="1075055" cy="10750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1</a:t>
            </a:r>
            <a:r>
              <a:rPr lang="zh-CN" altLang="en-US" dirty="0"/>
              <a:t>、递归的应用场景？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2</a:t>
            </a:r>
            <a:r>
              <a:rPr lang="zh-CN" altLang="en-US" dirty="0"/>
              <a:t>、递归三要素？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>
                <a:sym typeface="+mn-ea"/>
              </a:rPr>
              <a:t>不死神兔(斐波那契数列) 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2195195" y="1656080"/>
            <a:ext cx="7952740" cy="4219575"/>
          </a:xfrm>
        </p:spPr>
        <p:txBody>
          <a:bodyPr/>
          <a:lstStyle/>
          <a:p>
            <a:r>
              <a:t>故事得从西元1202年说起，话说有一位意大利青年，名叫斐波那契。在他的一部著作中提出了一个有趣的问题：假设一对刚出生的小兔一个月后就能长成大兔，再过一个月就能生下一对小兔，并且此后每个月都生一对小兔，一年内没有发生死亡，问：一对刚出生的兔子，一年内繁殖成多少对兔子?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3045,&quot;width&quot;:3945}"/>
</p:tagLst>
</file>

<file path=ppt/tags/tag2.xml><?xml version="1.0" encoding="utf-8"?>
<p:tagLst xmlns:p="http://schemas.openxmlformats.org/presentationml/2006/main">
  <p:tag name="KSO_WM_UNIT_PLACING_PICTURE_USER_VIEWPORT" val="{&quot;height&quot;:5640,&quot;width&quot;:14580}"/>
</p:tagLst>
</file>

<file path=ppt/tags/tag3.xml><?xml version="1.0" encoding="utf-8"?>
<p:tagLst xmlns:p="http://schemas.openxmlformats.org/presentationml/2006/main">
  <p:tag name="COMMONDATA" val="eyJoZGlkIjoiNDhiY2VkMGUwZjljMDllYTk3ZWVhNzg1MGY3MjdkNGMifQ=="/>
  <p:tag name="KSO_WPP_MARK_KEY" val="54ac30cc-69be-4165-9b86-554af290b604"/>
  <p:tag name="commondata" val="eyJoZGlkIjoiZjFlMjg2MmYxODM4Yjk5ZDc5MGVmYjg0M2JjYjM0MTgifQ==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3492</Words>
  <Application>WPS 演示</Application>
  <PresentationFormat>宽屏</PresentationFormat>
  <Paragraphs>398</Paragraphs>
  <Slides>46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12</vt:i4>
      </vt:variant>
      <vt:variant>
        <vt:lpstr>幻灯片标题</vt:lpstr>
      </vt:variant>
      <vt:variant>
        <vt:i4>46</vt:i4>
      </vt:variant>
    </vt:vector>
  </HeadingPairs>
  <TitlesOfParts>
    <vt:vector size="78" baseType="lpstr">
      <vt:lpstr>Arial</vt:lpstr>
      <vt:lpstr>宋体</vt:lpstr>
      <vt:lpstr>Wingdings</vt:lpstr>
      <vt:lpstr>Calibri</vt:lpstr>
      <vt:lpstr>黑体</vt:lpstr>
      <vt:lpstr>Alibaba PuHuiTi B</vt:lpstr>
      <vt:lpstr>Alibaba PuHuiTi R</vt:lpstr>
      <vt:lpstr>Segoe UI</vt:lpstr>
      <vt:lpstr>微软雅黑</vt:lpstr>
      <vt:lpstr>Verdana</vt:lpstr>
      <vt:lpstr>阿里巴巴普惠体</vt:lpstr>
      <vt:lpstr>华文楷体</vt:lpstr>
      <vt:lpstr>Alibaba PuHuiTi M</vt:lpstr>
      <vt:lpstr>Segoe UI Light</vt:lpstr>
      <vt:lpstr>微软雅黑 Light</vt:lpstr>
      <vt:lpstr>阿里巴巴普惠体 3.0 45 Light</vt:lpstr>
      <vt:lpstr>纤黑体</vt:lpstr>
      <vt:lpstr>Arial Unicode MS</vt:lpstr>
      <vt:lpstr>等线</vt:lpstr>
      <vt:lpstr>Calibri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1_学习目标</vt:lpstr>
      <vt:lpstr>2_学习目标</vt:lpstr>
      <vt:lpstr>3_学习目标</vt:lpstr>
      <vt:lpstr>4_学习目标</vt:lpstr>
      <vt:lpstr>5_学习目标</vt:lpstr>
      <vt:lpstr>Python函数进阶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武常斌</cp:lastModifiedBy>
  <cp:revision>947</cp:revision>
  <dcterms:created xsi:type="dcterms:W3CDTF">2020-03-31T02:23:00Z</dcterms:created>
  <dcterms:modified xsi:type="dcterms:W3CDTF">2025-04-21T01:46:14Z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FFFCC13386AA4C53BD3831436542D787</vt:lpwstr>
  </property>
  <property fmtid="{D5CDD505-2E9C-101B-9397-08002B2CF9AE}" pid="3" name="KSOProductBuildVer">
    <vt:lpwstr>2052-12.1.0.20305</vt:lpwstr>
  </property>
</Properties>
</file>