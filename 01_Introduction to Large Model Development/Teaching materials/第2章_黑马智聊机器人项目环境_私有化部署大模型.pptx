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3"/>
    <p:sldMasterId id="2147483660" r:id="rId4"/>
    <p:sldMasterId id="2147483663" r:id="rId5"/>
    <p:sldMasterId id="2147483665" r:id="rId6"/>
    <p:sldMasterId id="2147483668" r:id="rId7"/>
    <p:sldMasterId id="2147483687" r:id="rId8"/>
    <p:sldMasterId id="2147483689" r:id="rId9"/>
    <p:sldMasterId id="2147483692" r:id="rId10"/>
    <p:sldMasterId id="2147483695" r:id="rId11"/>
    <p:sldMasterId id="2147483698" r:id="rId12"/>
    <p:sldMasterId id="2147483701" r:id="rId13"/>
    <p:sldMasterId id="2147483704" r:id="rId14"/>
    <p:sldMasterId id="2147483707" r:id="rId15"/>
    <p:sldMasterId id="2147483710" r:id="rId16"/>
    <p:sldMasterId id="2147483729" r:id="rId17"/>
    <p:sldMasterId id="2147483732" r:id="rId18"/>
    <p:sldMasterId id="2147483735" r:id="rId19"/>
    <p:sldMasterId id="2147483738" r:id="rId20"/>
    <p:sldMasterId id="2147483757" r:id="rId21"/>
    <p:sldMasterId id="2147483760" r:id="rId22"/>
    <p:sldMasterId id="2147483763" r:id="rId23"/>
    <p:sldMasterId id="2147483766" r:id="rId24"/>
    <p:sldMasterId id="2147483769" r:id="rId25"/>
    <p:sldMasterId id="2147483772" r:id="rId26"/>
    <p:sldMasterId id="2147483791" r:id="rId27"/>
    <p:sldMasterId id="2147483794" r:id="rId28"/>
    <p:sldMasterId id="2147483797" r:id="rId29"/>
    <p:sldMasterId id="2147483800" r:id="rId30"/>
    <p:sldMasterId id="2147483803" r:id="rId31"/>
    <p:sldMasterId id="2147483806" r:id="rId32"/>
    <p:sldMasterId id="2147483809" r:id="rId33"/>
    <p:sldMasterId id="2147483812" r:id="rId34"/>
    <p:sldMasterId id="2147483815" r:id="rId35"/>
    <p:sldMasterId id="2147483818" r:id="rId36"/>
    <p:sldMasterId id="2147483821" r:id="rId37"/>
    <p:sldMasterId id="2147483824" r:id="rId38"/>
    <p:sldMasterId id="2147483827" r:id="rId39"/>
    <p:sldMasterId id="2147483830" r:id="rId40"/>
    <p:sldMasterId id="2147483833" r:id="rId41"/>
    <p:sldMasterId id="2147483836" r:id="rId42"/>
    <p:sldMasterId id="2147483839" r:id="rId43"/>
  </p:sldMasterIdLst>
  <p:notesMasterIdLst>
    <p:notesMasterId r:id="rId45"/>
  </p:notesMasterIdLst>
  <p:handoutMasterIdLst>
    <p:handoutMasterId r:id="rId91"/>
  </p:handoutMasterIdLst>
  <p:sldIdLst>
    <p:sldId id="462" r:id="rId44"/>
    <p:sldId id="1620" r:id="rId46"/>
    <p:sldId id="1621" r:id="rId47"/>
    <p:sldId id="1577" r:id="rId48"/>
    <p:sldId id="1174" r:id="rId49"/>
    <p:sldId id="1575" r:id="rId50"/>
    <p:sldId id="1574" r:id="rId51"/>
    <p:sldId id="1173" r:id="rId52"/>
    <p:sldId id="1622" r:id="rId53"/>
    <p:sldId id="1588" r:id="rId54"/>
    <p:sldId id="1579" r:id="rId55"/>
    <p:sldId id="1619" r:id="rId56"/>
    <p:sldId id="1617" r:id="rId57"/>
    <p:sldId id="1618" r:id="rId58"/>
    <p:sldId id="1589" r:id="rId59"/>
    <p:sldId id="1623" r:id="rId60"/>
    <p:sldId id="868" r:id="rId61"/>
    <p:sldId id="869" r:id="rId62"/>
    <p:sldId id="1631" r:id="rId63"/>
    <p:sldId id="1590" r:id="rId64"/>
    <p:sldId id="1633" r:id="rId65"/>
    <p:sldId id="1634" r:id="rId66"/>
    <p:sldId id="493" r:id="rId67"/>
    <p:sldId id="1624" r:id="rId68"/>
    <p:sldId id="1635" r:id="rId69"/>
    <p:sldId id="1636" r:id="rId70"/>
    <p:sldId id="1637" r:id="rId71"/>
    <p:sldId id="1711" r:id="rId72"/>
    <p:sldId id="1712" r:id="rId73"/>
    <p:sldId id="1640" r:id="rId74"/>
    <p:sldId id="1641" r:id="rId75"/>
    <p:sldId id="1625" r:id="rId76"/>
    <p:sldId id="1697" r:id="rId77"/>
    <p:sldId id="1698" r:id="rId78"/>
    <p:sldId id="1704" r:id="rId79"/>
    <p:sldId id="1705" r:id="rId80"/>
    <p:sldId id="1706" r:id="rId81"/>
    <p:sldId id="1700" r:id="rId82"/>
    <p:sldId id="1701" r:id="rId83"/>
    <p:sldId id="1702" r:id="rId84"/>
    <p:sldId id="1703" r:id="rId85"/>
    <p:sldId id="1707" r:id="rId86"/>
    <p:sldId id="1708" r:id="rId87"/>
    <p:sldId id="1709" r:id="rId88"/>
    <p:sldId id="1710" r:id="rId89"/>
    <p:sldId id="264" r:id="rId90"/>
  </p:sldIdLst>
  <p:sldSz cx="12192000" cy="6858000"/>
  <p:notesSz cx="6858000" cy="9144000"/>
  <p:embeddedFontLst>
    <p:embeddedFont>
      <p:font typeface="Calibri" panose="020F0502020204030204" pitchFamily="34" charset="0"/>
      <p:regular r:id="rId96"/>
      <p:bold r:id="rId97"/>
      <p:italic r:id="rId98"/>
      <p:boldItalic r:id="rId99"/>
    </p:embeddedFont>
    <p:embeddedFont>
      <p:font typeface="黑体" panose="02010609060101010101" pitchFamily="49" charset="-122"/>
      <p:regular r:id="rId100"/>
    </p:embeddedFont>
    <p:embeddedFont>
      <p:font typeface="Verdana" panose="020B0604030504040204" pitchFamily="34" charset="0"/>
      <p:regular r:id="rId101"/>
      <p:bold r:id="rId102"/>
      <p:italic r:id="rId103"/>
      <p:boldItalic r:id="rId104"/>
    </p:embeddedFont>
    <p:embeddedFont>
      <p:font typeface="华文楷体" panose="02010600040101010101" pitchFamily="2" charset="-122"/>
      <p:regular r:id="rId105"/>
    </p:embeddedFont>
    <p:embeddedFont>
      <p:font typeface="等线" panose="02010600030101010101" charset="-122"/>
      <p:regular r:id="rId106"/>
    </p:embeddedFont>
  </p:embeddedFontLst>
  <p:custDataLst>
    <p:tags r:id="rId10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8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A26"/>
    <a:srgbClr val="FFFFFF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5344" autoAdjust="0"/>
  </p:normalViewPr>
  <p:slideViewPr>
    <p:cSldViewPr snapToGrid="0" showGuides="1">
      <p:cViewPr varScale="1">
        <p:scale>
          <a:sx n="93" d="100"/>
          <a:sy n="93" d="100"/>
        </p:scale>
        <p:origin x="216" y="520"/>
      </p:cViewPr>
      <p:guideLst>
        <p:guide orient="horz" pos="648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font" Target="fonts/font4.fntdata"/><Relationship Id="rId98" Type="http://schemas.openxmlformats.org/officeDocument/2006/relationships/font" Target="fonts/font3.fntdata"/><Relationship Id="rId97" Type="http://schemas.openxmlformats.org/officeDocument/2006/relationships/font" Target="fonts/font2.fntdata"/><Relationship Id="rId96" Type="http://schemas.openxmlformats.org/officeDocument/2006/relationships/font" Target="fonts/font1.fntdata"/><Relationship Id="rId95" Type="http://schemas.openxmlformats.org/officeDocument/2006/relationships/commentAuthors" Target="commentAuthors.xml"/><Relationship Id="rId94" Type="http://schemas.openxmlformats.org/officeDocument/2006/relationships/tableStyles" Target="tableStyles.xml"/><Relationship Id="rId93" Type="http://schemas.openxmlformats.org/officeDocument/2006/relationships/viewProps" Target="viewProps.xml"/><Relationship Id="rId92" Type="http://schemas.openxmlformats.org/officeDocument/2006/relationships/presProps" Target="presProps.xml"/><Relationship Id="rId91" Type="http://schemas.openxmlformats.org/officeDocument/2006/relationships/handoutMaster" Target="handoutMasters/handoutMaster1.xml"/><Relationship Id="rId90" Type="http://schemas.openxmlformats.org/officeDocument/2006/relationships/slide" Target="slides/slide46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45.xml"/><Relationship Id="rId88" Type="http://schemas.openxmlformats.org/officeDocument/2006/relationships/slide" Target="slides/slide44.xml"/><Relationship Id="rId87" Type="http://schemas.openxmlformats.org/officeDocument/2006/relationships/slide" Target="slides/slide43.xml"/><Relationship Id="rId86" Type="http://schemas.openxmlformats.org/officeDocument/2006/relationships/slide" Target="slides/slide42.xml"/><Relationship Id="rId85" Type="http://schemas.openxmlformats.org/officeDocument/2006/relationships/slide" Target="slides/slide41.xml"/><Relationship Id="rId84" Type="http://schemas.openxmlformats.org/officeDocument/2006/relationships/slide" Target="slides/slide40.xml"/><Relationship Id="rId83" Type="http://schemas.openxmlformats.org/officeDocument/2006/relationships/slide" Target="slides/slide39.xml"/><Relationship Id="rId82" Type="http://schemas.openxmlformats.org/officeDocument/2006/relationships/slide" Target="slides/slide38.xml"/><Relationship Id="rId81" Type="http://schemas.openxmlformats.org/officeDocument/2006/relationships/slide" Target="slides/slide37.xml"/><Relationship Id="rId80" Type="http://schemas.openxmlformats.org/officeDocument/2006/relationships/slide" Target="slides/slide36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5.xml"/><Relationship Id="rId78" Type="http://schemas.openxmlformats.org/officeDocument/2006/relationships/slide" Target="slides/slide34.xml"/><Relationship Id="rId77" Type="http://schemas.openxmlformats.org/officeDocument/2006/relationships/slide" Target="slides/slide33.xml"/><Relationship Id="rId76" Type="http://schemas.openxmlformats.org/officeDocument/2006/relationships/slide" Target="slides/slide32.xml"/><Relationship Id="rId75" Type="http://schemas.openxmlformats.org/officeDocument/2006/relationships/slide" Target="slides/slide31.xml"/><Relationship Id="rId74" Type="http://schemas.openxmlformats.org/officeDocument/2006/relationships/slide" Target="slides/slide30.xml"/><Relationship Id="rId73" Type="http://schemas.openxmlformats.org/officeDocument/2006/relationships/slide" Target="slides/slide29.xml"/><Relationship Id="rId72" Type="http://schemas.openxmlformats.org/officeDocument/2006/relationships/slide" Target="slides/slide28.xml"/><Relationship Id="rId71" Type="http://schemas.openxmlformats.org/officeDocument/2006/relationships/slide" Target="slides/slide27.xml"/><Relationship Id="rId70" Type="http://schemas.openxmlformats.org/officeDocument/2006/relationships/slide" Target="slides/slide26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5.xml"/><Relationship Id="rId68" Type="http://schemas.openxmlformats.org/officeDocument/2006/relationships/slide" Target="slides/slide24.xml"/><Relationship Id="rId67" Type="http://schemas.openxmlformats.org/officeDocument/2006/relationships/slide" Target="slides/slide23.xml"/><Relationship Id="rId66" Type="http://schemas.openxmlformats.org/officeDocument/2006/relationships/slide" Target="slides/slide22.xml"/><Relationship Id="rId65" Type="http://schemas.openxmlformats.org/officeDocument/2006/relationships/slide" Target="slides/slide21.xml"/><Relationship Id="rId64" Type="http://schemas.openxmlformats.org/officeDocument/2006/relationships/slide" Target="slides/slide20.xml"/><Relationship Id="rId63" Type="http://schemas.openxmlformats.org/officeDocument/2006/relationships/slide" Target="slides/slide19.xml"/><Relationship Id="rId62" Type="http://schemas.openxmlformats.org/officeDocument/2006/relationships/slide" Target="slides/slide18.xml"/><Relationship Id="rId61" Type="http://schemas.openxmlformats.org/officeDocument/2006/relationships/slide" Target="slides/slide17.xml"/><Relationship Id="rId60" Type="http://schemas.openxmlformats.org/officeDocument/2006/relationships/slide" Target="slides/slide16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5.xml"/><Relationship Id="rId58" Type="http://schemas.openxmlformats.org/officeDocument/2006/relationships/slide" Target="slides/slide14.xml"/><Relationship Id="rId57" Type="http://schemas.openxmlformats.org/officeDocument/2006/relationships/slide" Target="slides/slide13.xml"/><Relationship Id="rId56" Type="http://schemas.openxmlformats.org/officeDocument/2006/relationships/slide" Target="slides/slide12.xml"/><Relationship Id="rId55" Type="http://schemas.openxmlformats.org/officeDocument/2006/relationships/slide" Target="slides/slide11.xml"/><Relationship Id="rId54" Type="http://schemas.openxmlformats.org/officeDocument/2006/relationships/slide" Target="slides/slide10.xml"/><Relationship Id="rId53" Type="http://schemas.openxmlformats.org/officeDocument/2006/relationships/slide" Target="slides/slide9.xml"/><Relationship Id="rId52" Type="http://schemas.openxmlformats.org/officeDocument/2006/relationships/slide" Target="slides/slide8.xml"/><Relationship Id="rId51" Type="http://schemas.openxmlformats.org/officeDocument/2006/relationships/slide" Target="slides/slide7.xml"/><Relationship Id="rId50" Type="http://schemas.openxmlformats.org/officeDocument/2006/relationships/slide" Target="slides/slide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5.xml"/><Relationship Id="rId48" Type="http://schemas.openxmlformats.org/officeDocument/2006/relationships/slide" Target="slides/slide4.xml"/><Relationship Id="rId47" Type="http://schemas.openxmlformats.org/officeDocument/2006/relationships/slide" Target="slides/slide3.xml"/><Relationship Id="rId46" Type="http://schemas.openxmlformats.org/officeDocument/2006/relationships/slide" Target="slides/slide2.xml"/><Relationship Id="rId45" Type="http://schemas.openxmlformats.org/officeDocument/2006/relationships/notesMaster" Target="notesMasters/notesMaster1.xml"/><Relationship Id="rId44" Type="http://schemas.openxmlformats.org/officeDocument/2006/relationships/slide" Target="slides/slide1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7" Type="http://schemas.openxmlformats.org/officeDocument/2006/relationships/tags" Target="tags/tag1.xml"/><Relationship Id="rId106" Type="http://schemas.openxmlformats.org/officeDocument/2006/relationships/font" Target="fonts/font11.fntdata"/><Relationship Id="rId105" Type="http://schemas.openxmlformats.org/officeDocument/2006/relationships/font" Target="fonts/font10.fntdata"/><Relationship Id="rId104" Type="http://schemas.openxmlformats.org/officeDocument/2006/relationships/font" Target="fonts/font9.fntdata"/><Relationship Id="rId103" Type="http://schemas.openxmlformats.org/officeDocument/2006/relationships/font" Target="fonts/font8.fntdata"/><Relationship Id="rId102" Type="http://schemas.openxmlformats.org/officeDocument/2006/relationships/font" Target="fonts/font7.fntdata"/><Relationship Id="rId101" Type="http://schemas.openxmlformats.org/officeDocument/2006/relationships/font" Target="fonts/font6.fntdata"/><Relationship Id="rId100" Type="http://schemas.openxmlformats.org/officeDocument/2006/relationships/font" Target="fonts/font5.fntdata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4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/Relationships>
</file>

<file path=ppt/slideMasters/_rels/slideMaster13.xml.rels><?xml version="1.0" encoding="UTF-8" standalone="yes"?>
<Relationships xmlns="http://schemas.openxmlformats.org/package/2006/relationships"><Relationship Id="rId5" Type="http://schemas.openxmlformats.org/officeDocument/2006/relationships/theme" Target="../theme/theme1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0" Type="http://schemas.openxmlformats.org/officeDocument/2006/relationships/theme" Target="../theme/theme15.xml"/><Relationship Id="rId2" Type="http://schemas.openxmlformats.org/officeDocument/2006/relationships/slideLayout" Target="../slideLayouts/slideLayout5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16.xml.rels><?xml version="1.0" encoding="UTF-8" standalone="yes"?>
<Relationships xmlns="http://schemas.openxmlformats.org/package/2006/relationships"><Relationship Id="rId5" Type="http://schemas.openxmlformats.org/officeDocument/2006/relationships/theme" Target="../theme/theme1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7.xml.rels><?xml version="1.0" encoding="UTF-8" standalone="yes"?>
<Relationships xmlns="http://schemas.openxmlformats.org/package/2006/relationships"><Relationship Id="rId5" Type="http://schemas.openxmlformats.org/officeDocument/2006/relationships/theme" Target="../theme/theme1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/Relationships>
</file>

<file path=ppt/slideMasters/_rels/slideMaster18.xml.rels><?xml version="1.0" encoding="UTF-8" standalone="yes"?>
<Relationships xmlns="http://schemas.openxmlformats.org/package/2006/relationships"><Relationship Id="rId5" Type="http://schemas.openxmlformats.org/officeDocument/2006/relationships/theme" Target="../theme/theme1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7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" Type="http://schemas.openxmlformats.org/officeDocument/2006/relationships/slideLayout" Target="../slideLayouts/slideLayout73.xml"/></Relationships>
</file>

<file path=ppt/slideMasters/_rels/slideMaster20.xml.rels><?xml version="1.0" encoding="UTF-8" standalone="yes"?>
<Relationships xmlns="http://schemas.openxmlformats.org/package/2006/relationships"><Relationship Id="rId5" Type="http://schemas.openxmlformats.org/officeDocument/2006/relationships/theme" Target="../theme/theme2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/Relationships>
</file>

<file path=ppt/slideMasters/_rels/slideMaster21.xml.rels><?xml version="1.0" encoding="UTF-8" standalone="yes"?>
<Relationships xmlns="http://schemas.openxmlformats.org/package/2006/relationships"><Relationship Id="rId5" Type="http://schemas.openxmlformats.org/officeDocument/2006/relationships/theme" Target="../theme/theme2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/Relationships>
</file>

<file path=ppt/slideMasters/_rels/slideMaster2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/Relationships>
</file>

<file path=ppt/slideMasters/_rels/slideMaster23.xml.rels><?xml version="1.0" encoding="UTF-8" standalone="yes"?>
<Relationships xmlns="http://schemas.openxmlformats.org/package/2006/relationships"><Relationship Id="rId5" Type="http://schemas.openxmlformats.org/officeDocument/2006/relationships/theme" Target="../theme/theme2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/Relationships>
</file>

<file path=ppt/slideMasters/_rels/slideMaster24.xml.rels><?xml version="1.0" encoding="UTF-8" standalone="yes"?>
<Relationships xmlns="http://schemas.openxmlformats.org/package/2006/relationships"><Relationship Id="rId5" Type="http://schemas.openxmlformats.org/officeDocument/2006/relationships/theme" Target="../theme/theme2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0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_rels/slideMaster26.xml.rels><?xml version="1.0" encoding="UTF-8" standalone="yes"?>
<Relationships xmlns="http://schemas.openxmlformats.org/package/2006/relationships"><Relationship Id="rId5" Type="http://schemas.openxmlformats.org/officeDocument/2006/relationships/theme" Target="../theme/theme2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/Relationships>
</file>

<file path=ppt/slideMasters/_rels/slideMaster27.xml.rels><?xml version="1.0" encoding="UTF-8" standalone="yes"?>
<Relationships xmlns="http://schemas.openxmlformats.org/package/2006/relationships"><Relationship Id="rId5" Type="http://schemas.openxmlformats.org/officeDocument/2006/relationships/theme" Target="../theme/theme2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/Relationships>
</file>

<file path=ppt/slideMasters/_rels/slideMaster28.xml.rels><?xml version="1.0" encoding="UTF-8" standalone="yes"?>
<Relationships xmlns="http://schemas.openxmlformats.org/package/2006/relationships"><Relationship Id="rId5" Type="http://schemas.openxmlformats.org/officeDocument/2006/relationships/theme" Target="../theme/theme2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/Relationships>
</file>

<file path=ppt/slideMasters/_rels/slideMaster29.xml.rels><?xml version="1.0" encoding="UTF-8" standalone="yes"?>
<Relationships xmlns="http://schemas.openxmlformats.org/package/2006/relationships"><Relationship Id="rId5" Type="http://schemas.openxmlformats.org/officeDocument/2006/relationships/theme" Target="../theme/theme2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/Relationships>
</file>

<file path=ppt/slideMasters/_rels/slideMaster30.xml.rels><?xml version="1.0" encoding="UTF-8" standalone="yes"?>
<Relationships xmlns="http://schemas.openxmlformats.org/package/2006/relationships"><Relationship Id="rId5" Type="http://schemas.openxmlformats.org/officeDocument/2006/relationships/theme" Target="../theme/theme3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/Relationships>
</file>

<file path=ppt/slideMasters/_rels/slideMaster31.xml.rels><?xml version="1.0" encoding="UTF-8" standalone="yes"?>
<Relationships xmlns="http://schemas.openxmlformats.org/package/2006/relationships"><Relationship Id="rId5" Type="http://schemas.openxmlformats.org/officeDocument/2006/relationships/theme" Target="../theme/theme3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9.xml"/></Relationships>
</file>

<file path=ppt/slideMasters/_rels/slideMaster32.xml.rels><?xml version="1.0" encoding="UTF-8" standalone="yes"?>
<Relationships xmlns="http://schemas.openxmlformats.org/package/2006/relationships"><Relationship Id="rId5" Type="http://schemas.openxmlformats.org/officeDocument/2006/relationships/theme" Target="../theme/theme3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/Relationships>
</file>

<file path=ppt/slideMasters/_rels/slideMaster3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/Relationships>
</file>

<file path=ppt/slideMasters/_rels/slideMaster34.xml.rels><?xml version="1.0" encoding="UTF-8" standalone="yes"?>
<Relationships xmlns="http://schemas.openxmlformats.org/package/2006/relationships"><Relationship Id="rId5" Type="http://schemas.openxmlformats.org/officeDocument/2006/relationships/theme" Target="../theme/theme3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/Relationships>
</file>

<file path=ppt/slideMasters/_rels/slideMaster35.xml.rels><?xml version="1.0" encoding="UTF-8" standalone="yes"?>
<Relationships xmlns="http://schemas.openxmlformats.org/package/2006/relationships"><Relationship Id="rId5" Type="http://schemas.openxmlformats.org/officeDocument/2006/relationships/theme" Target="../theme/theme35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37.xml"/></Relationships>
</file>

<file path=ppt/slideMasters/_rels/slideMaster36.xml.rels><?xml version="1.0" encoding="UTF-8" standalone="yes"?>
<Relationships xmlns="http://schemas.openxmlformats.org/package/2006/relationships"><Relationship Id="rId5" Type="http://schemas.openxmlformats.org/officeDocument/2006/relationships/theme" Target="../theme/theme3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/Relationships>
</file>

<file path=ppt/slideMasters/_rels/slideMaster37.xml.rels><?xml version="1.0" encoding="UTF-8" standalone="yes"?>
<Relationships xmlns="http://schemas.openxmlformats.org/package/2006/relationships"><Relationship Id="rId5" Type="http://schemas.openxmlformats.org/officeDocument/2006/relationships/theme" Target="../theme/theme3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/Relationships>
</file>

<file path=ppt/slideMasters/_rels/slideMaster38.xml.rels><?xml version="1.0" encoding="UTF-8" standalone="yes"?>
<Relationships xmlns="http://schemas.openxmlformats.org/package/2006/relationships"><Relationship Id="rId5" Type="http://schemas.openxmlformats.org/officeDocument/2006/relationships/theme" Target="../theme/theme3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/Relationships>
</file>

<file path=ppt/slideMasters/_rels/slideMaster39.xml.rels><?xml version="1.0" encoding="UTF-8" standalone="yes"?>
<Relationships xmlns="http://schemas.openxmlformats.org/package/2006/relationships"><Relationship Id="rId5" Type="http://schemas.openxmlformats.org/officeDocument/2006/relationships/theme" Target="../theme/theme3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45.xml"/></Relationships>
</file>

<file path=ppt/slideMasters/_rels/slideMaster40.xml.rels><?xml version="1.0" encoding="UTF-8" standalone="yes"?>
<Relationships xmlns="http://schemas.openxmlformats.org/package/2006/relationships"><Relationship Id="rId5" Type="http://schemas.openxmlformats.org/officeDocument/2006/relationships/theme" Target="../theme/theme4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/Relationships>
</file>

<file path=ppt/slideMasters/_rels/slideMaster41.xml.rels><?xml version="1.0" encoding="UTF-8" standalone="yes"?>
<Relationships xmlns="http://schemas.openxmlformats.org/package/2006/relationships"><Relationship Id="rId5" Type="http://schemas.openxmlformats.org/officeDocument/2006/relationships/theme" Target="../theme/theme4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/Relationships>
</file>

<file path=ppt/slideMasters/_rels/slideMaster42.xml.rels><?xml version="1.0" encoding="UTF-8" standalone="yes"?>
<Relationships xmlns="http://schemas.openxmlformats.org/package/2006/relationships"><Relationship Id="rId5" Type="http://schemas.openxmlformats.org/officeDocument/2006/relationships/theme" Target="../theme/theme4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hyperlink" Target="https://ollama.co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hyperlink" Target="https://ollama.com/library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hyperlink" Target="https://ollama.com/library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19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hyperlink" Target="https://ollama.com/library" TargetMode="Externa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19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hyperlink" Target="https://ollama.com/library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9.png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hyperlink" Target="https://ollama.com/library" TargetMode="Externa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hyperlink" Target="https://ollama.com/library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7.png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9.png"/><Relationship Id="rId1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39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39.png"/><Relationship Id="rId3" Type="http://schemas.openxmlformats.org/officeDocument/2006/relationships/image" Target="../media/image46.png"/><Relationship Id="rId2" Type="http://schemas.openxmlformats.org/officeDocument/2006/relationships/image" Target="../media/image22.png"/><Relationship Id="rId1" Type="http://schemas.openxmlformats.org/officeDocument/2006/relationships/hyperlink" Target="https://ollama.com/library" TargetMode="Externa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39.png"/><Relationship Id="rId3" Type="http://schemas.openxmlformats.org/officeDocument/2006/relationships/image" Target="../media/image47.png"/><Relationship Id="rId2" Type="http://schemas.openxmlformats.org/officeDocument/2006/relationships/image" Target="../media/image24.png"/><Relationship Id="rId1" Type="http://schemas.openxmlformats.org/officeDocument/2006/relationships/hyperlink" Target="https://ollama.com/library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9.png"/><Relationship Id="rId1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6.png"/><Relationship Id="rId1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50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zh-CN" altLang="en-US" sz="4400" dirty="0">
                <a:sym typeface="+mn-ea"/>
              </a:rPr>
              <a:t>黑马智聊机器人</a:t>
            </a:r>
            <a:r>
              <a:rPr kumimoji="1" lang="zh-CN" altLang="en-US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项目环境部署</a:t>
            </a:r>
            <a:endParaRPr kumimoji="1" lang="zh-CN" altLang="en-US" sz="4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26648" y="117504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/>
              <a:t>黑马智聊机器人私有大模型方案</a:t>
            </a:r>
            <a:endParaRPr lang="zh-CN" altLang="en-US" sz="1600" dirty="0"/>
          </a:p>
          <a:p>
            <a:pPr algn="l"/>
            <a:r>
              <a:rPr lang="en-US" altLang="zh-CN" sz="1600" dirty="0"/>
              <a:t>ollama</a:t>
            </a:r>
            <a:r>
              <a:rPr lang="zh-CN" altLang="en-US" sz="1600" dirty="0"/>
              <a:t>介绍和各版本下载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window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部署私有大模型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mac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</a:t>
            </a:r>
            <a:r>
              <a:rPr lang="zh-CN" altLang="en-US" sz="1600" dirty="0">
                <a:sym typeface="+mn-ea"/>
              </a:rPr>
              <a:t>私有</a:t>
            </a:r>
            <a:r>
              <a:rPr lang="zh-CN" altLang="en-US" sz="1600" dirty="0"/>
              <a:t>大模型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linux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</a:t>
            </a:r>
            <a:r>
              <a:rPr lang="zh-CN" altLang="en-US" sz="1600" dirty="0">
                <a:sym typeface="+mn-ea"/>
              </a:rPr>
              <a:t>私有</a:t>
            </a:r>
            <a:r>
              <a:rPr lang="zh-CN" altLang="en-US" sz="1600" dirty="0"/>
              <a:t>大模型</a:t>
            </a:r>
            <a:endParaRPr lang="zh-CN" altLang="en-US" sz="1600" dirty="0"/>
          </a:p>
          <a:p>
            <a:pPr algn="l"/>
            <a:endParaRPr lang="zh-CN" altLang="en-US" sz="1600" dirty="0"/>
          </a:p>
          <a:p>
            <a:pPr algn="l"/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26648" y="117504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olidFill>
                  <a:srgbClr val="AD2A26"/>
                </a:solidFill>
              </a:rPr>
              <a:t>黑马智聊机器人私有大模型方案</a:t>
            </a:r>
            <a:endParaRPr lang="zh-CN" altLang="en-US" sz="1600" dirty="0">
              <a:solidFill>
                <a:srgbClr val="AD2A26"/>
              </a:solidFill>
            </a:endParaRPr>
          </a:p>
          <a:p>
            <a:pPr algn="l"/>
            <a:r>
              <a:rPr lang="en-US" altLang="zh-CN" sz="1600" dirty="0"/>
              <a:t>ollama</a:t>
            </a:r>
            <a:r>
              <a:rPr lang="zh-CN" altLang="en-US" sz="1600" dirty="0"/>
              <a:t>介绍和各版本下载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window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部署私有大模型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mac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</a:t>
            </a:r>
            <a:r>
              <a:rPr lang="zh-CN" altLang="en-US" sz="1600" dirty="0">
                <a:sym typeface="+mn-ea"/>
              </a:rPr>
              <a:t>私有</a:t>
            </a:r>
            <a:r>
              <a:rPr lang="zh-CN" altLang="en-US" sz="1600" dirty="0"/>
              <a:t>大模型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linux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</a:t>
            </a:r>
            <a:r>
              <a:rPr lang="zh-CN" altLang="en-US" sz="1600" dirty="0">
                <a:sym typeface="+mn-ea"/>
              </a:rPr>
              <a:t>私有</a:t>
            </a:r>
            <a:r>
              <a:rPr lang="zh-CN" altLang="en-US" sz="1600" dirty="0"/>
              <a:t>大模型</a:t>
            </a:r>
            <a:endParaRPr lang="zh-CN" altLang="en-US" sz="1600" dirty="0"/>
          </a:p>
          <a:p>
            <a:pPr algn="l"/>
            <a:endParaRPr lang="zh-CN" altLang="en-US" sz="1600" dirty="0"/>
          </a:p>
          <a:p>
            <a:pPr algn="l"/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65036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了解为什么要有私有大模型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知道智聊项目选择的私有大模型方案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为什么要有私有大模型</a:t>
            </a:r>
            <a:endParaRPr lang="zh-CN" altLang="en-US"/>
          </a:p>
        </p:txBody>
      </p:sp>
      <p:sp>
        <p:nvSpPr>
          <p:cNvPr id="27" name="圆角右箭头 26"/>
          <p:cNvSpPr/>
          <p:nvPr/>
        </p:nvSpPr>
        <p:spPr>
          <a:xfrm flipH="1" flipV="1">
            <a:off x="2901315" y="4983480"/>
            <a:ext cx="1445895" cy="580390"/>
          </a:xfrm>
          <a:prstGeom prst="ben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圆角右箭头 24"/>
          <p:cNvSpPr/>
          <p:nvPr/>
        </p:nvSpPr>
        <p:spPr>
          <a:xfrm flipV="1">
            <a:off x="6649720" y="4983480"/>
            <a:ext cx="1445895" cy="580390"/>
          </a:xfrm>
          <a:prstGeom prst="ben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圆角右箭头 23"/>
          <p:cNvSpPr/>
          <p:nvPr/>
        </p:nvSpPr>
        <p:spPr>
          <a:xfrm flipH="1">
            <a:off x="2901315" y="2227580"/>
            <a:ext cx="1445895" cy="580390"/>
          </a:xfrm>
          <a:prstGeom prst="ben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71180" y="4983480"/>
            <a:ext cx="3126105" cy="9759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algn="just" fontAlgn="auto">
              <a:lnSpc>
                <a:spcPct val="120000"/>
              </a:lnSpc>
            </a:pPr>
            <a:r>
              <a:rPr lang="zh-CN" altLang="en-US" sz="1600" dirty="0" err="1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Alibaba PuHuiTi Regular" panose="00020600040101010101" charset="-122"/>
              </a:rPr>
              <a:t>长期来看，本地部署可能比持续支付云服务费用更经济，且允许根据需求灵活调整硬件资源。</a:t>
            </a:r>
            <a:endParaRPr lang="zh-CN" altLang="en-US" sz="1600" dirty="0" err="1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Alibaba PuHuiTi Regular" panose="0002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35225" y="1929765"/>
            <a:ext cx="212026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r"/>
            <a:r>
              <a:rPr lang="zh-CN" altLang="en-US" b="1" dirty="0" err="1">
                <a:solidFill>
                  <a:schemeClr val="accent6">
                    <a:lumMod val="75000"/>
                  </a:schemeClr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定制化与自主控制</a:t>
            </a:r>
            <a:endParaRPr lang="zh-CN" altLang="en-US" b="1" dirty="0" err="1">
              <a:solidFill>
                <a:schemeClr val="accent6">
                  <a:lumMod val="75000"/>
                </a:schemeClr>
              </a:solidFill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</p:txBody>
      </p:sp>
      <p:sp>
        <p:nvSpPr>
          <p:cNvPr id="7" name="圆角右箭头 6"/>
          <p:cNvSpPr/>
          <p:nvPr/>
        </p:nvSpPr>
        <p:spPr>
          <a:xfrm>
            <a:off x="6649720" y="2226310"/>
            <a:ext cx="1445895" cy="580390"/>
          </a:xfrm>
          <a:prstGeom prst="ben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0565" y="2214880"/>
            <a:ext cx="2275840" cy="120142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p>
            <a:pPr indent="0" algn="just" fontAlgn="auto">
              <a:lnSpc>
                <a:spcPct val="120000"/>
              </a:lnSpc>
            </a:pPr>
            <a:r>
              <a:rPr lang="zh-CN" altLang="en-US" sz="1600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Alibaba PuHuiTi Regular" panose="00020600040101010101" charset="-122"/>
              </a:rPr>
              <a:t>允许高度定制和完全自主控制，灵活性更高，且不依赖外部网络，适合特定场景需求</a:t>
            </a:r>
            <a:endParaRPr lang="zh-CN" altLang="en-US" sz="1600" dirty="0" err="1">
              <a:latin typeface="阿里巴巴普惠体 R" panose="00020600040101010101" pitchFamily="18" charset="-122"/>
              <a:ea typeface="阿里巴巴普惠体 R" panose="00020600040101010101" pitchFamily="18" charset="-122"/>
              <a:cs typeface="Alibaba PuHuiTi Regular" panose="000206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76085" y="5526405"/>
            <a:ext cx="119316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r"/>
            <a:r>
              <a:rPr lang="zh-CN" altLang="en-US" b="1" dirty="0" err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成本控制</a:t>
            </a:r>
            <a:endParaRPr lang="zh-CN" altLang="en-US" b="1" dirty="0" err="1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99200" y="1898015"/>
            <a:ext cx="195326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r"/>
            <a:r>
              <a:rPr lang="zh-CN" altLang="en-US" b="1" dirty="0" err="1">
                <a:solidFill>
                  <a:srgbClr val="FF0000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数据隐私与安全</a:t>
            </a:r>
            <a:endParaRPr lang="zh-CN" altLang="en-US" b="1" dirty="0" err="1">
              <a:solidFill>
                <a:srgbClr val="FF0000"/>
              </a:solidFill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254365" y="2153285"/>
            <a:ext cx="2917825" cy="126936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p>
            <a:pPr indent="0" algn="just" fontAlgn="auto">
              <a:lnSpc>
                <a:spcPct val="120000"/>
              </a:lnSpc>
            </a:pPr>
            <a:r>
              <a:rPr lang="zh-CN" altLang="en-US" sz="1600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Alibaba PuHuiTi Regular" panose="00020600040101010101" charset="-122"/>
              </a:rPr>
              <a:t>确保敏感数据不离开内部网络，避免云服务可能带来的数据泄露风险，尤其适合有严格合规要求的行业。</a:t>
            </a:r>
            <a:endParaRPr lang="zh-CN" altLang="en-US" sz="1600" dirty="0" err="1">
              <a:latin typeface="阿里巴巴普惠体 R" panose="00020600040101010101" pitchFamily="18" charset="-122"/>
              <a:ea typeface="阿里巴巴普惠体 R" panose="00020600040101010101" pitchFamily="18" charset="-122"/>
              <a:cs typeface="Alibaba PuHuiTi Regular" panose="0002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 flipH="1">
            <a:off x="827405" y="4866640"/>
            <a:ext cx="2058670" cy="86868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p>
            <a:pPr indent="0" algn="just" fontAlgn="auto">
              <a:lnSpc>
                <a:spcPct val="120000"/>
              </a:lnSpc>
            </a:pPr>
            <a:r>
              <a:rPr lang="zh-CN" altLang="en-US" sz="1600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Alibaba PuHuiTi Regular" panose="00020600040101010101" charset="-122"/>
              </a:rPr>
              <a:t>减少数据传输时间，提供低延迟和稳定性能，适合需要实时响应的应用场景。</a:t>
            </a:r>
            <a:endParaRPr lang="zh-CN" altLang="en-US" sz="1600" dirty="0" err="1">
              <a:latin typeface="阿里巴巴普惠体 R" panose="00020600040101010101" pitchFamily="18" charset="-122"/>
              <a:ea typeface="阿里巴巴普惠体 R" panose="00020600040101010101" pitchFamily="18" charset="-122"/>
              <a:cs typeface="Alibaba PuHuiTi Regular" panose="0002060004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 flipH="1">
            <a:off x="2926080" y="5506720"/>
            <a:ext cx="142176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r"/>
            <a:r>
              <a:rPr lang="zh-CN" altLang="en-US" b="1" dirty="0" err="1">
                <a:solidFill>
                  <a:schemeClr val="accent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性能与延迟</a:t>
            </a:r>
            <a:endParaRPr lang="zh-CN" altLang="en-US" b="1" dirty="0" err="1">
              <a:solidFill>
                <a:schemeClr val="accent1"/>
              </a:solidFill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6040" y="2807970"/>
            <a:ext cx="3257550" cy="2172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1" animBg="1"/>
      <p:bldP spid="25" grpId="1" animBg="1"/>
      <p:bldP spid="24" grpId="1" animBg="1"/>
      <p:bldP spid="9" grpId="1"/>
      <p:bldP spid="10" grpId="1"/>
      <p:bldP spid="7" grpId="1" animBg="1"/>
      <p:bldP spid="12" grpId="1"/>
      <p:bldP spid="15" grpId="1"/>
      <p:bldP spid="17" grpId="1"/>
      <p:bldP spid="18" grpId="1"/>
      <p:bldP spid="11" grpId="1"/>
      <p:bldP spid="23" grpId="1"/>
      <p:bldP spid="10" grpId="2"/>
      <p:bldP spid="24" grpId="2" animBg="1"/>
      <p:bldP spid="12" grpId="2"/>
      <p:bldP spid="17" grpId="2"/>
      <p:bldP spid="7" grpId="2" animBg="1"/>
      <p:bldP spid="18" grpId="2"/>
      <p:bldP spid="11" grpId="2"/>
      <p:bldP spid="27" grpId="2" animBg="1"/>
      <p:bldP spid="23" grpId="2"/>
      <p:bldP spid="25" grpId="2" animBg="1"/>
      <p:bldP spid="9" grpId="2"/>
      <p:bldP spid="15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私有大模型解决方案</a:t>
            </a:r>
            <a:endParaRPr lang="zh-CN" altLang="en-US"/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590040"/>
            <a:ext cx="9852660" cy="2105025"/>
          </a:xfrm>
        </p:spPr>
        <p:txBody>
          <a:bodyPr/>
          <a:p>
            <a:pPr>
              <a:lnSpc>
                <a:spcPct val="200000"/>
              </a:lnSpc>
            </a:pPr>
            <a:r>
              <a:rPr lang="zh-CN" altLang="en-US"/>
              <a:t>随着</a:t>
            </a:r>
            <a:r>
              <a:rPr lang="en-US" altLang="zh-CN"/>
              <a:t>AI</a:t>
            </a:r>
            <a:r>
              <a:rPr lang="zh-CN" altLang="en-US"/>
              <a:t>的发展，越来越多的开发者投入到大模型开发中，他们期望能自身笔记本上运行大模型，以便开发。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zh-CN" altLang="en-US"/>
              <a:t>越来越多的企业积极改造自身产品，融入</a:t>
            </a:r>
            <a:r>
              <a:rPr lang="en-US" altLang="zh-CN"/>
              <a:t>AI</a:t>
            </a:r>
            <a:r>
              <a:rPr lang="zh-CN" altLang="en-US"/>
              <a:t>技术，他们期望能私有化大模型以保证数据安全。这些诉求直接推动社区出现了两个这方面的产品</a:t>
            </a:r>
            <a:r>
              <a:rPr lang="en-US" altLang="zh-CN"/>
              <a:t>Ollama</a:t>
            </a:r>
            <a:r>
              <a:rPr lang="zh-CN" altLang="en-US"/>
              <a:t>和</a:t>
            </a:r>
            <a:r>
              <a:rPr lang="en-US" altLang="zh-CN"/>
              <a:t>LMstudio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760" y="3176270"/>
            <a:ext cx="5309235" cy="34982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143125" y="3175635"/>
            <a:ext cx="5310505" cy="349948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5" name="图片 4" descr="01 (4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6575" y="4823460"/>
            <a:ext cx="1871345" cy="1871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olidFill>
                  <a:schemeClr val="tx1"/>
                </a:solidFill>
                <a:sym typeface="+mn-ea"/>
              </a:rPr>
              <a:t>智聊项目私有大模型方案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58520" y="1656080"/>
            <a:ext cx="8827135" cy="4219575"/>
          </a:xfrm>
        </p:spPr>
        <p:txBody>
          <a:bodyPr/>
          <a:p>
            <a:pPr indent="457200">
              <a:lnSpc>
                <a:spcPct val="180000"/>
              </a:lnSpc>
            </a:pPr>
            <a:r>
              <a:rPr lang="en-US" altLang="zh-CN"/>
              <a:t>ollama </a:t>
            </a:r>
            <a:r>
              <a:rPr lang="zh-CN" altLang="en-US"/>
              <a:t>作为一个开源的轻量级工具，适合熟悉命令行界面的开发人员和高级用户进行模型实验和微调。</a:t>
            </a:r>
            <a:endParaRPr lang="zh-CN" altLang="en-US"/>
          </a:p>
          <a:p>
            <a:pPr indent="457200">
              <a:lnSpc>
                <a:spcPct val="180000"/>
              </a:lnSpc>
            </a:pPr>
            <a:endParaRPr lang="zh-CN" altLang="en-US"/>
          </a:p>
          <a:p>
            <a:pPr indent="457200">
              <a:lnSpc>
                <a:spcPct val="180000"/>
              </a:lnSpc>
            </a:pPr>
            <a:r>
              <a:rPr lang="zh-CN" altLang="en-US"/>
              <a:t>它提供了广泛的预训练模型和灵活的定制选项，同时保持了高度的便捷性和安全性。最重要它是开源的，同时还提供</a:t>
            </a:r>
            <a:r>
              <a:rPr lang="en-US" altLang="zh-CN"/>
              <a:t>API</a:t>
            </a:r>
            <a:r>
              <a:rPr lang="zh-CN" altLang="en-US"/>
              <a:t>，对于开发有先天优势，备受欢迎和使用</a:t>
            </a:r>
            <a:r>
              <a:rPr lang="en-US" altLang="zh-CN"/>
              <a:t>!</a:t>
            </a:r>
            <a:endParaRPr lang="en-US" altLang="zh-CN"/>
          </a:p>
          <a:p>
            <a:pPr>
              <a:lnSpc>
                <a:spcPct val="180000"/>
              </a:lnSpc>
            </a:pPr>
            <a:endParaRPr lang="zh-CN" altLang="en-US"/>
          </a:p>
          <a:p>
            <a:pPr indent="457200">
              <a:lnSpc>
                <a:spcPct val="180000"/>
              </a:lnSpc>
            </a:pPr>
            <a:r>
              <a:rPr lang="zh-CN" altLang="en-US"/>
              <a:t>因此</a:t>
            </a:r>
            <a:r>
              <a:rPr lang="zh-CN" altLang="en-US" b="1"/>
              <a:t>黑马智聊机器人项目选择基于</a:t>
            </a:r>
            <a:r>
              <a:rPr lang="en-US" altLang="zh-CN" b="1"/>
              <a:t>Ollama</a:t>
            </a:r>
            <a:r>
              <a:rPr lang="zh-CN" altLang="en-US" b="1"/>
              <a:t>在本地部署</a:t>
            </a:r>
            <a:r>
              <a:rPr lang="en-US" altLang="zh-CN" b="1"/>
              <a:t>DeepSeek,Qwen</a:t>
            </a:r>
            <a:r>
              <a:rPr lang="zh-CN" altLang="en-US" b="1"/>
              <a:t>等大模型</a:t>
            </a:r>
            <a:r>
              <a:rPr lang="zh-CN" altLang="en-US"/>
              <a:t>。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5" name="图片 4" descr="01 (4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6575" y="4823460"/>
            <a:ext cx="1871345" cy="1871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2134" y="1069975"/>
            <a:ext cx="5760538" cy="4511040"/>
          </a:xfrm>
        </p:spPr>
        <p:txBody>
          <a:bodyPr/>
          <a:p>
            <a:pPr marL="0" indent="0">
              <a:buNone/>
            </a:pPr>
            <a:r>
              <a:rPr lang="zh-CN" dirty="0">
                <a:sym typeface="+mn-ea"/>
              </a:rPr>
              <a:t>黑马智聊机器人项目私有大模型部署方案</a:t>
            </a:r>
            <a:r>
              <a:rPr lang="en-US" altLang="zh-CN" dirty="0">
                <a:sym typeface="+mn-ea"/>
              </a:rPr>
              <a:t>?</a:t>
            </a:r>
            <a:endParaRPr lang="zh-CN" dirty="0">
              <a:sym typeface="+mn-ea"/>
            </a:endParaRPr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黑马智聊机器人项目选择基于</a:t>
            </a:r>
            <a:r>
              <a:rPr lang="en-US" altLang="zh-CN" sz="1600">
                <a:sym typeface="+mn-ea"/>
              </a:rPr>
              <a:t>Ollama</a:t>
            </a:r>
            <a:r>
              <a:rPr lang="zh-CN" altLang="en-US" sz="1600">
                <a:sym typeface="+mn-ea"/>
              </a:rPr>
              <a:t>在本地部署</a:t>
            </a:r>
            <a:r>
              <a:rPr lang="en-US" altLang="zh-CN" sz="1600">
                <a:sym typeface="+mn-ea"/>
              </a:rPr>
              <a:t>DeepSeek,Qwen</a:t>
            </a:r>
            <a:r>
              <a:rPr lang="zh-CN" altLang="en-US" sz="1600">
                <a:sym typeface="+mn-ea"/>
              </a:rPr>
              <a:t>等大模型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26648" y="117504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/>
              <a:t>黑马智聊机器人私有大模型方案</a:t>
            </a:r>
            <a:endParaRPr lang="zh-CN" altLang="en-US" sz="1600" dirty="0"/>
          </a:p>
          <a:p>
            <a:pPr algn="l"/>
            <a:r>
              <a:rPr lang="en-US" altLang="zh-CN" sz="1600" dirty="0">
                <a:solidFill>
                  <a:srgbClr val="AD2A26"/>
                </a:solidFill>
              </a:rPr>
              <a:t>ollama</a:t>
            </a:r>
            <a:r>
              <a:rPr lang="zh-CN" altLang="en-US" sz="1600" dirty="0">
                <a:solidFill>
                  <a:srgbClr val="AD2A26"/>
                </a:solidFill>
              </a:rPr>
              <a:t>介绍和各版本下载</a:t>
            </a:r>
            <a:endParaRPr lang="zh-CN" altLang="en-US" sz="1600" dirty="0">
              <a:solidFill>
                <a:srgbClr val="AD2A26"/>
              </a:solidFill>
            </a:endParaRPr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window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部署私有大模型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mac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</a:t>
            </a:r>
            <a:r>
              <a:rPr lang="zh-CN" altLang="en-US" sz="1600" dirty="0">
                <a:sym typeface="+mn-ea"/>
              </a:rPr>
              <a:t>私有</a:t>
            </a:r>
            <a:r>
              <a:rPr lang="zh-CN" altLang="en-US" sz="1600" dirty="0"/>
              <a:t>大模型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linux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</a:t>
            </a:r>
            <a:r>
              <a:rPr lang="zh-CN" altLang="en-US" sz="1600" dirty="0">
                <a:sym typeface="+mn-ea"/>
              </a:rPr>
              <a:t>私有</a:t>
            </a:r>
            <a:r>
              <a:rPr lang="zh-CN" altLang="en-US" sz="1600" dirty="0"/>
              <a:t>大模型</a:t>
            </a:r>
            <a:endParaRPr lang="zh-CN" altLang="en-US" sz="1600" dirty="0"/>
          </a:p>
          <a:p>
            <a:pPr algn="l"/>
            <a:endParaRPr lang="zh-CN" altLang="en-US" sz="1600" dirty="0"/>
          </a:p>
          <a:p>
            <a:pPr algn="l"/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了解</a:t>
            </a:r>
            <a:r>
              <a:rPr lang="en-US" altLang="zh-CN" dirty="0">
                <a:solidFill>
                  <a:schemeClr val="tx1"/>
                </a:solidFill>
              </a:rPr>
              <a:t>ollama</a:t>
            </a:r>
            <a:r>
              <a:rPr lang="zh-CN" altLang="en-US" dirty="0">
                <a:solidFill>
                  <a:schemeClr val="tx1"/>
                </a:solidFill>
              </a:rPr>
              <a:t>功能与版本下载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t>介绍</a:t>
            </a: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386840"/>
            <a:ext cx="10189845" cy="4219575"/>
          </a:xfrm>
        </p:spPr>
        <p:txBody>
          <a:bodyPr/>
          <a:p>
            <a:pPr>
              <a:lnSpc>
                <a:spcPct val="200000"/>
              </a:lnSpc>
            </a:pPr>
            <a:r>
              <a:rPr lang="en-US" altLang="zh-CN"/>
              <a:t>ollama</a:t>
            </a:r>
            <a:r>
              <a:rPr lang="zh-CN" altLang="en-US"/>
              <a:t>：是一款旨在简化大型语言模型本地部署和运行过程的开源软件。</a:t>
            </a:r>
            <a:endParaRPr lang="en-US" altLang="zh-CN"/>
          </a:p>
          <a:p>
            <a:pPr>
              <a:lnSpc>
                <a:spcPct val="200000"/>
              </a:lnSpc>
            </a:pPr>
            <a:r>
              <a:rPr lang="en-US" altLang="zh-CN"/>
              <a:t>ollama</a:t>
            </a:r>
            <a:r>
              <a:rPr lang="zh-CN" altLang="en-US"/>
              <a:t>提供了一个轻量级、易于扩展的框架，让开发者能够在本地机器上轻松构建和管理</a:t>
            </a:r>
            <a:r>
              <a:rPr lang="en-US" altLang="zh-CN"/>
              <a:t>LLMs</a:t>
            </a:r>
            <a:r>
              <a:rPr lang="zh-CN" altLang="en-US"/>
              <a:t>（大型语言模型）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zh-CN" altLang="en-US"/>
              <a:t>通过</a:t>
            </a:r>
            <a:r>
              <a:rPr lang="en-US" altLang="zh-CN">
                <a:sym typeface="+mn-ea"/>
              </a:rPr>
              <a:t>o</a:t>
            </a:r>
            <a:r>
              <a:rPr lang="en-US" altLang="zh-CN"/>
              <a:t>llama</a:t>
            </a:r>
            <a:r>
              <a:rPr lang="zh-CN" altLang="en-US"/>
              <a:t>，开发者可以导入和定制自己的模型，无需关注复杂的底层实现细节。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zh-CN" altLang="en-US">
                <a:sym typeface="+mn-ea"/>
              </a:rPr>
              <a:t>网址：</a:t>
            </a:r>
            <a:r>
              <a:rPr lang="en-US" altLang="zh-CN">
                <a:sym typeface="+mn-ea"/>
                <a:hlinkClick r:id="rId1" action="ppaction://hlinkfile"/>
              </a:rPr>
              <a:t>https://ollama.com</a:t>
            </a:r>
            <a:endParaRPr lang="en-US" altLang="zh-CN">
              <a:hlinkClick r:id="rId1" action="ppaction://hlinkfile"/>
            </a:endParaRPr>
          </a:p>
          <a:p>
            <a:pPr>
              <a:lnSpc>
                <a:spcPct val="200000"/>
              </a:lnSpc>
            </a:pPr>
            <a:endParaRPr lang="zh-CN" altLang="en-US"/>
          </a:p>
          <a:p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0" y="3627120"/>
            <a:ext cx="3346450" cy="2962275"/>
          </a:xfrm>
          <a:prstGeom prst="rect">
            <a:avLst/>
          </a:prstGeom>
        </p:spPr>
      </p:pic>
      <p:pic>
        <p:nvPicPr>
          <p:cNvPr id="3" name="图片 2" descr="01 (4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t>下载</a:t>
            </a: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386840"/>
            <a:ext cx="10189845" cy="4219575"/>
          </a:xfrm>
        </p:spPr>
        <p:txBody>
          <a:bodyPr/>
          <a:p>
            <a:pPr>
              <a:lnSpc>
                <a:spcPct val="200000"/>
              </a:lnSpc>
            </a:pPr>
            <a:r>
              <a:rPr lang="en-US" altLang="zh-CN"/>
              <a:t>ollama</a:t>
            </a:r>
            <a:r>
              <a:rPr lang="zh-CN" altLang="en-US"/>
              <a:t>：是一款旨在简化大型语言模型本地部署和运行过程的开源软件。</a:t>
            </a:r>
            <a:endParaRPr lang="en-US" altLang="zh-CN"/>
          </a:p>
          <a:p>
            <a:pPr>
              <a:lnSpc>
                <a:spcPct val="200000"/>
              </a:lnSpc>
            </a:pPr>
            <a:r>
              <a:rPr lang="en-US" altLang="zh-CN"/>
              <a:t>Ollama</a:t>
            </a:r>
            <a:r>
              <a:rPr lang="zh-CN" altLang="en-US"/>
              <a:t>共支持三种平台：</a:t>
            </a:r>
            <a:endParaRPr lang="en-US" altLang="zh-CN"/>
          </a:p>
          <a:p>
            <a:pPr indent="457200">
              <a:lnSpc>
                <a:spcPct val="200000"/>
              </a:lnSpc>
            </a:pPr>
            <a:r>
              <a:rPr lang="en-US" altLang="zh-CN"/>
              <a:t>- </a:t>
            </a:r>
            <a:r>
              <a:rPr lang="en-US" altLang="zh-CN" b="1"/>
              <a:t>Window</a:t>
            </a:r>
            <a:r>
              <a:rPr lang="zh-CN" altLang="en-US" b="1"/>
              <a:t>：</a:t>
            </a:r>
            <a:r>
              <a:rPr lang="en-US" altLang="zh-CN"/>
              <a:t>https://ollama.com/download/OllamaSetup.exe</a:t>
            </a:r>
            <a:endParaRPr lang="en-US" altLang="zh-CN"/>
          </a:p>
          <a:p>
            <a:pPr indent="457200">
              <a:lnSpc>
                <a:spcPct val="200000"/>
              </a:lnSpc>
            </a:pPr>
            <a:r>
              <a:rPr lang="en-US" altLang="zh-CN"/>
              <a:t>- </a:t>
            </a:r>
            <a:r>
              <a:rPr lang="en-US" altLang="zh-CN" b="1"/>
              <a:t>Mac</a:t>
            </a:r>
            <a:r>
              <a:rPr lang="zh-CN" altLang="en-US" b="1"/>
              <a:t>：</a:t>
            </a:r>
            <a:r>
              <a:rPr lang="en-US" altLang="zh-CN"/>
              <a:t>https://ollama.com/download/Ollama-darwin.zip</a:t>
            </a:r>
            <a:endParaRPr lang="en-US" altLang="zh-CN"/>
          </a:p>
          <a:p>
            <a:pPr indent="457200">
              <a:lnSpc>
                <a:spcPct val="200000"/>
              </a:lnSpc>
            </a:pPr>
            <a:r>
              <a:rPr lang="en-US" altLang="zh-CN"/>
              <a:t>- </a:t>
            </a:r>
            <a:r>
              <a:rPr lang="en-US" altLang="zh-CN" b="1"/>
              <a:t>Linux</a:t>
            </a:r>
            <a:r>
              <a:rPr lang="zh-CN" altLang="en-US" b="1"/>
              <a:t>：</a:t>
            </a:r>
            <a:r>
              <a:rPr lang="en-US" altLang="zh-CN"/>
              <a:t>https://ollama.com/download/ollama-linux-amd64</a:t>
            </a:r>
            <a:endParaRPr lang="en-US" altLang="zh-CN"/>
          </a:p>
          <a:p>
            <a:pPr>
              <a:lnSpc>
                <a:spcPct val="200000"/>
              </a:lnSpc>
            </a:pPr>
            <a:endParaRPr lang="en-US" altLang="zh-CN"/>
          </a:p>
          <a:p>
            <a:endParaRPr lang="en-US" altLang="zh-CN"/>
          </a:p>
        </p:txBody>
      </p:sp>
      <p:pic>
        <p:nvPicPr>
          <p:cNvPr id="3" name="图片 2" descr="01 (13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4105" y="1386840"/>
            <a:ext cx="3810000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t>特点</a:t>
            </a: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809115"/>
            <a:ext cx="8180705" cy="4470400"/>
          </a:xfrm>
        </p:spPr>
        <p:txBody>
          <a:bodyPr/>
          <a:p>
            <a:pPr>
              <a:lnSpc>
                <a:spcPct val="130000"/>
              </a:lnSpc>
            </a:pPr>
            <a:r>
              <a:rPr lang="en-US" altLang="zh-CN" b="1"/>
              <a:t>1. </a:t>
            </a:r>
            <a:r>
              <a:rPr lang="zh-CN" altLang="en-US" b="1"/>
              <a:t>简单易用</a:t>
            </a:r>
            <a:r>
              <a:rPr lang="en-US" altLang="zh-CN" b="1"/>
              <a:t>:</a:t>
            </a:r>
            <a:r>
              <a:rPr lang="zh-CN" altLang="en-US"/>
              <a:t>提供命令行工具和</a:t>
            </a:r>
            <a:r>
              <a:rPr lang="en-US" altLang="zh-CN"/>
              <a:t> API</a:t>
            </a:r>
            <a:r>
              <a:rPr lang="zh-CN" altLang="en-US"/>
              <a:t>，支持快速本地部署主流大语言模型（如</a:t>
            </a:r>
            <a:r>
              <a:rPr lang="en-US" altLang="zh-CN"/>
              <a:t> Llama 2</a:t>
            </a:r>
            <a:r>
              <a:rPr lang="zh-CN" altLang="en-US"/>
              <a:t>、</a:t>
            </a:r>
            <a:r>
              <a:rPr lang="en-US" altLang="zh-CN"/>
              <a:t>Mistral </a:t>
            </a:r>
            <a:r>
              <a:rPr lang="zh-CN" altLang="en-US"/>
              <a:t>等），适合开发者和研究人员快速上手。</a:t>
            </a:r>
            <a:endParaRPr lang="zh-CN" altLang="en-US"/>
          </a:p>
          <a:p>
            <a:pPr>
              <a:lnSpc>
                <a:spcPct val="130000"/>
              </a:lnSpc>
            </a:pP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 b="1"/>
              <a:t>2. </a:t>
            </a:r>
            <a:r>
              <a:rPr lang="zh-CN" altLang="en-US" b="1"/>
              <a:t>高效轻量</a:t>
            </a:r>
            <a:r>
              <a:rPr lang="en-US" altLang="zh-CN" b="1"/>
              <a:t>:</a:t>
            </a:r>
            <a:r>
              <a:rPr lang="zh-CN" altLang="en-US"/>
              <a:t>占用资源少，支持</a:t>
            </a:r>
            <a:r>
              <a:rPr lang="en-US" altLang="zh-CN"/>
              <a:t> GPU </a:t>
            </a:r>
            <a:r>
              <a:rPr lang="zh-CN" altLang="en-US"/>
              <a:t>加速和量化技术，能够在本地高效运行，降低对计算资源的依赖。</a:t>
            </a:r>
            <a:endParaRPr lang="zh-CN" altLang="en-US"/>
          </a:p>
          <a:p>
            <a:pPr>
              <a:lnSpc>
                <a:spcPct val="130000"/>
              </a:lnSpc>
            </a:pP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 b="1"/>
              <a:t>3. </a:t>
            </a:r>
            <a:r>
              <a:rPr lang="zh-CN" altLang="en-US" b="1"/>
              <a:t>灵活管理</a:t>
            </a:r>
            <a:r>
              <a:rPr lang="en-US" altLang="zh-CN" b="1"/>
              <a:t>: </a:t>
            </a:r>
            <a:r>
              <a:rPr lang="zh-CN" altLang="en-US"/>
              <a:t>支持通过</a:t>
            </a:r>
            <a:r>
              <a:rPr lang="en-US" altLang="zh-CN"/>
              <a:t> Modelfile </a:t>
            </a:r>
            <a:r>
              <a:rPr lang="zh-CN" altLang="en-US"/>
              <a:t>自定义模型参数，允许热加载和切换模型，并可从</a:t>
            </a:r>
            <a:r>
              <a:rPr lang="en-US" altLang="zh-CN"/>
              <a:t> Hugging Face </a:t>
            </a:r>
            <a:r>
              <a:rPr lang="zh-CN" altLang="en-US"/>
              <a:t>等平台导入自定义模型。</a:t>
            </a:r>
            <a:endParaRPr lang="zh-CN" altLang="en-US"/>
          </a:p>
          <a:p>
            <a:pPr>
              <a:lnSpc>
                <a:spcPct val="130000"/>
              </a:lnSpc>
            </a:pP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 b="1"/>
              <a:t>4. </a:t>
            </a:r>
            <a:r>
              <a:rPr lang="zh-CN" altLang="en-US" b="1"/>
              <a:t>隐私安全</a:t>
            </a:r>
            <a:r>
              <a:rPr lang="en-US" altLang="zh-CN" b="1"/>
              <a:t>:</a:t>
            </a:r>
            <a:r>
              <a:rPr lang="zh-CN" altLang="en-US"/>
              <a:t>本地化部署确保数据不上传云端，适合对隐私和安全性要求高的场景，如医疗、金融等领域。</a:t>
            </a:r>
            <a:endParaRPr lang="zh-CN" altLang="en-US"/>
          </a:p>
        </p:txBody>
      </p:sp>
      <p:pic>
        <p:nvPicPr>
          <p:cNvPr id="7" name="图片 6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ollama</a:t>
            </a:r>
            <a:r>
              <a:t>模型库</a:t>
            </a: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710565" y="1564640"/>
            <a:ext cx="10031730" cy="4470400"/>
          </a:xfrm>
        </p:spPr>
        <p:txBody>
          <a:bodyPr/>
          <a:p>
            <a:pPr>
              <a:lnSpc>
                <a:spcPct val="130000"/>
              </a:lnSpc>
            </a:pPr>
            <a:r>
              <a:rPr lang="en-US" altLang="zh-CN"/>
              <a:t>ollama </a:t>
            </a:r>
            <a:r>
              <a:rPr lang="zh-CN" altLang="en-US"/>
              <a:t>支持多种开源模型，涵盖文本生成、代码生成、多模态推理等场景。用户可以根据需求选择合适的模型，并通过简单的命令行操作在本地运行。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/>
              <a:t>ollama </a:t>
            </a:r>
            <a:r>
              <a:rPr lang="zh-CN" altLang="en-US"/>
              <a:t>官方模型库</a:t>
            </a:r>
            <a:r>
              <a:rPr lang="en-US" altLang="zh-CN"/>
              <a:t>: </a:t>
            </a:r>
            <a:r>
              <a:rPr lang="en-US" altLang="zh-CN">
                <a:hlinkClick r:id="rId1" action="ppaction://hlinkfile"/>
              </a:rPr>
              <a:t>https://ollama.com/library</a:t>
            </a:r>
            <a:endParaRPr lang="en-US" altLang="zh-CN">
              <a:hlinkClick r:id="rId1" action="ppaction://hlinkfile"/>
            </a:endParaRPr>
          </a:p>
          <a:p>
            <a:pPr>
              <a:lnSpc>
                <a:spcPct val="130000"/>
              </a:lnSpc>
            </a:pP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0" y="2647950"/>
            <a:ext cx="7671435" cy="3968115"/>
          </a:xfrm>
          <a:prstGeom prst="rect">
            <a:avLst/>
          </a:prstGeom>
        </p:spPr>
      </p:pic>
      <p:pic>
        <p:nvPicPr>
          <p:cNvPr id="5" name="图片 4" descr="01 (4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245" y="5031740"/>
            <a:ext cx="1671955" cy="16719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80440" y="2647950"/>
            <a:ext cx="7752715" cy="405574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29480" y="2152015"/>
            <a:ext cx="6130925" cy="4511040"/>
          </a:xfrm>
        </p:spPr>
        <p:txBody>
          <a:bodyPr/>
          <a:p>
            <a:pPr marL="0" indent="0">
              <a:buNone/>
            </a:pPr>
            <a:r>
              <a:rPr lang="en-US" altLang="zh-CN" sz="1600" dirty="0">
                <a:sym typeface="+mn-ea"/>
              </a:rPr>
              <a:t>1.ollama</a:t>
            </a:r>
            <a:r>
              <a:rPr lang="zh-CN" altLang="en-US" sz="1600" dirty="0">
                <a:sym typeface="+mn-ea"/>
              </a:rPr>
              <a:t>是什么</a:t>
            </a:r>
            <a:r>
              <a:rPr lang="en-US" altLang="zh-CN" sz="1600" dirty="0">
                <a:sym typeface="+mn-ea"/>
              </a:rPr>
              <a:t>?</a:t>
            </a:r>
            <a:endParaRPr lang="zh-CN" sz="1600" dirty="0">
              <a:sym typeface="+mn-ea"/>
            </a:endParaRPr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是一款旨在简化大型语言模型本地部署和运行过程的开源软件。</a:t>
            </a:r>
            <a:endParaRPr lang="zh-CN" altLang="en-US" sz="1600">
              <a:sym typeface="+mn-ea"/>
            </a:endParaRPr>
          </a:p>
          <a:p>
            <a:pPr marL="0" indent="0">
              <a:buNone/>
            </a:pPr>
            <a:r>
              <a:rPr lang="en-US" altLang="zh-CN" sz="1600">
                <a:sym typeface="+mn-ea"/>
              </a:rPr>
              <a:t>2.</a:t>
            </a:r>
            <a:r>
              <a:rPr lang="zh-CN" altLang="en-US" sz="1600">
                <a:sym typeface="+mn-ea"/>
              </a:rPr>
              <a:t>如何查看</a:t>
            </a:r>
            <a:r>
              <a:rPr lang="en-US" altLang="zh-CN" sz="1600">
                <a:sym typeface="+mn-ea"/>
              </a:rPr>
              <a:t>ollama</a:t>
            </a:r>
            <a:r>
              <a:rPr lang="zh-CN" altLang="en-US" sz="1600">
                <a:sym typeface="+mn-ea"/>
              </a:rPr>
              <a:t>支持的模型</a:t>
            </a:r>
            <a:r>
              <a:rPr lang="en-US" altLang="zh-CN" sz="1600">
                <a:sym typeface="+mn-ea"/>
              </a:rPr>
              <a:t>?</a:t>
            </a:r>
            <a:endParaRPr lang="en-US" altLang="zh-CN" sz="1600">
              <a:sym typeface="+mn-ea"/>
            </a:endParaRPr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通过</a:t>
            </a:r>
            <a:r>
              <a:rPr lang="en-US" altLang="zh-CN" sz="1600">
                <a:sym typeface="+mn-ea"/>
              </a:rPr>
              <a:t>ollama </a:t>
            </a:r>
            <a:r>
              <a:rPr lang="zh-CN" altLang="en-US" sz="1600">
                <a:sym typeface="+mn-ea"/>
              </a:rPr>
              <a:t>官方模型库</a:t>
            </a:r>
            <a:r>
              <a:rPr lang="en-US" altLang="zh-CN" sz="1600">
                <a:sym typeface="+mn-ea"/>
              </a:rPr>
              <a:t>: </a:t>
            </a:r>
            <a:r>
              <a:rPr lang="en-US" altLang="zh-CN" sz="1600">
                <a:sym typeface="+mn-ea"/>
                <a:hlinkClick r:id="rId1" action="ppaction://hlinkfile"/>
              </a:rPr>
              <a:t>https://ollama.com/library</a:t>
            </a:r>
            <a:endParaRPr lang="en-US" altLang="zh-CN" sz="1600">
              <a:sym typeface="+mn-ea"/>
            </a:endParaRPr>
          </a:p>
          <a:p>
            <a:pPr marL="0" indent="0">
              <a:buNone/>
            </a:pPr>
            <a:r>
              <a:rPr lang="en-US" altLang="zh-CN" sz="1600">
                <a:sym typeface="+mn-ea"/>
              </a:rPr>
              <a:t>deepseek-r1,qwen,llava</a:t>
            </a:r>
            <a:r>
              <a:rPr lang="zh-CN" altLang="en-US" sz="1600">
                <a:sym typeface="+mn-ea"/>
              </a:rPr>
              <a:t>等</a:t>
            </a:r>
            <a:endParaRPr lang="en-US" altLang="zh-CN" sz="1600">
              <a:sym typeface="+mn-ea"/>
            </a:endParaRPr>
          </a:p>
          <a:p>
            <a:pPr marL="0" indent="0">
              <a:buNone/>
            </a:pPr>
            <a:endParaRPr lang="en-US" altLang="zh-CN" sz="1600">
              <a:sym typeface="+mn-ea"/>
            </a:endParaRPr>
          </a:p>
          <a:p>
            <a:pPr marL="0" indent="0">
              <a:buNone/>
            </a:pPr>
            <a:endParaRPr lang="en-US" altLang="zh-CN" sz="1600"/>
          </a:p>
          <a:p>
            <a:pPr marL="0" indent="0">
              <a:buNone/>
            </a:pPr>
            <a:endParaRPr lang="zh-CN" alt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26648" y="117504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/>
              <a:t>黑马智聊机器人私有大模型方案</a:t>
            </a:r>
            <a:endParaRPr lang="zh-CN" altLang="en-US" sz="1600" dirty="0"/>
          </a:p>
          <a:p>
            <a:pPr algn="l"/>
            <a:r>
              <a:rPr lang="en-US" altLang="zh-CN" sz="1600" dirty="0"/>
              <a:t>ollama</a:t>
            </a:r>
            <a:r>
              <a:rPr lang="zh-CN" altLang="en-US" sz="1600" dirty="0"/>
              <a:t>介绍和各版本下载</a:t>
            </a:r>
            <a:endParaRPr lang="zh-CN" altLang="en-US" sz="1600" dirty="0"/>
          </a:p>
          <a:p>
            <a:pPr algn="l"/>
            <a:r>
              <a:rPr lang="zh-CN" altLang="en-US" sz="1600" dirty="0">
                <a:solidFill>
                  <a:srgbClr val="AD2A26"/>
                </a:solidFill>
              </a:rPr>
              <a:t>基于</a:t>
            </a:r>
            <a:r>
              <a:rPr lang="en-US" altLang="zh-CN" sz="1600" dirty="0">
                <a:solidFill>
                  <a:srgbClr val="AD2A26"/>
                </a:solidFill>
              </a:rPr>
              <a:t>window</a:t>
            </a:r>
            <a:r>
              <a:rPr lang="zh-CN" altLang="en-US" sz="1600" dirty="0">
                <a:solidFill>
                  <a:srgbClr val="AD2A26"/>
                </a:solidFill>
              </a:rPr>
              <a:t>中</a:t>
            </a:r>
            <a:r>
              <a:rPr lang="en-US" altLang="zh-CN" sz="1600" dirty="0">
                <a:solidFill>
                  <a:srgbClr val="AD2A26"/>
                </a:solidFill>
              </a:rPr>
              <a:t>ollama</a:t>
            </a:r>
            <a:r>
              <a:rPr lang="zh-CN" altLang="en-US" sz="1600" dirty="0">
                <a:solidFill>
                  <a:srgbClr val="AD2A26"/>
                </a:solidFill>
              </a:rPr>
              <a:t>部署私有大模型</a:t>
            </a:r>
            <a:endParaRPr lang="zh-CN" altLang="en-US" sz="1600" dirty="0">
              <a:solidFill>
                <a:srgbClr val="AD2A26"/>
              </a:solidFill>
            </a:endParaRPr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mac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</a:t>
            </a:r>
            <a:r>
              <a:rPr lang="zh-CN" altLang="en-US" sz="1600" dirty="0">
                <a:sym typeface="+mn-ea"/>
              </a:rPr>
              <a:t>私有</a:t>
            </a:r>
            <a:r>
              <a:rPr lang="zh-CN" altLang="en-US" sz="1600" dirty="0"/>
              <a:t>大模型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linux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</a:t>
            </a:r>
            <a:r>
              <a:rPr lang="zh-CN" altLang="en-US" sz="1600" dirty="0">
                <a:sym typeface="+mn-ea"/>
              </a:rPr>
              <a:t>私有</a:t>
            </a:r>
            <a:r>
              <a:rPr lang="zh-CN" altLang="en-US" sz="1600" dirty="0"/>
              <a:t>大模型</a:t>
            </a:r>
            <a:endParaRPr lang="zh-CN" altLang="en-US" sz="1600" dirty="0"/>
          </a:p>
          <a:p>
            <a:pPr algn="l"/>
            <a:endParaRPr lang="zh-CN" altLang="en-US" sz="1600" dirty="0"/>
          </a:p>
          <a:p>
            <a:pPr algn="l"/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34890" y="1525905"/>
            <a:ext cx="6298565" cy="2513965"/>
          </a:xfrm>
        </p:spPr>
        <p:txBody>
          <a:bodyPr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掌握基于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window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中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ollama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部署私有大模型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window</a:t>
            </a:r>
            <a:r>
              <a:rPr>
                <a:solidFill>
                  <a:schemeClr val="tx1"/>
                </a:solidFill>
                <a:sym typeface="+mn-ea"/>
              </a:rPr>
              <a:t>系统安装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en-US" altLang="zh-CN"/>
              <a:t>1.</a:t>
            </a:r>
            <a:r>
              <a:rPr lang="zh-CN" altLang="en-US"/>
              <a:t>双击提前下载好的</a:t>
            </a:r>
            <a:r>
              <a:rPr lang="en-US" altLang="zh-CN"/>
              <a:t>OllamaSetup.exe</a:t>
            </a:r>
            <a:r>
              <a:rPr lang="zh-CN" altLang="en-US"/>
              <a:t>安装包</a:t>
            </a:r>
            <a:r>
              <a:rPr lang="en-US" altLang="zh-CN"/>
              <a:t>,</a:t>
            </a:r>
            <a:r>
              <a:rPr lang="zh-CN" altLang="en-US"/>
              <a:t>选择</a:t>
            </a:r>
            <a:r>
              <a:rPr lang="en-US" altLang="zh-CN"/>
              <a:t>install,</a:t>
            </a:r>
            <a:r>
              <a:rPr lang="zh-CN" altLang="en-US"/>
              <a:t>然后一直默认安装即可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236470"/>
            <a:ext cx="5397500" cy="1593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30" y="2172970"/>
            <a:ext cx="4611370" cy="3611880"/>
          </a:xfrm>
          <a:prstGeom prst="rect">
            <a:avLst/>
          </a:prstGeom>
        </p:spPr>
      </p:pic>
      <p:pic>
        <p:nvPicPr>
          <p:cNvPr id="6" name="图片 5" descr="01 (5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window</a:t>
            </a:r>
            <a:r>
              <a:rPr>
                <a:solidFill>
                  <a:schemeClr val="tx1"/>
                </a:solidFill>
                <a:sym typeface="+mn-ea"/>
              </a:rPr>
              <a:t>系统安装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en-US" altLang="zh-CN"/>
              <a:t>2.win+R</a:t>
            </a:r>
            <a:r>
              <a:rPr lang="zh-CN" altLang="en-US"/>
              <a:t>打开终端</a:t>
            </a:r>
            <a:r>
              <a:rPr lang="en-US" altLang="zh-CN"/>
              <a:t>,</a:t>
            </a:r>
            <a:r>
              <a:rPr lang="zh-CN" altLang="en-US"/>
              <a:t>输入</a:t>
            </a:r>
            <a:r>
              <a:rPr lang="en-US" altLang="zh-CN"/>
              <a:t>ollama -v</a:t>
            </a:r>
            <a:r>
              <a:rPr lang="zh-CN" altLang="en-US"/>
              <a:t>命令查看是否安装成功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90" y="2310765"/>
            <a:ext cx="3905250" cy="20256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915" y="2310765"/>
            <a:ext cx="4483100" cy="2063750"/>
          </a:xfrm>
          <a:prstGeom prst="rect">
            <a:avLst/>
          </a:prstGeom>
        </p:spPr>
      </p:pic>
      <p:pic>
        <p:nvPicPr>
          <p:cNvPr id="4" name="图片 3" descr="01 (5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olidFill>
                  <a:schemeClr val="tx1"/>
                </a:solidFill>
                <a:sym typeface="+mn-ea"/>
              </a:rPr>
              <a:t>基于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window</a:t>
            </a:r>
            <a:r>
              <a:rPr>
                <a:solidFill>
                  <a:schemeClr val="tx1"/>
                </a:solidFill>
                <a:sym typeface="+mn-ea"/>
              </a:rPr>
              <a:t>中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r>
              <a:rPr>
                <a:solidFill>
                  <a:schemeClr val="tx1"/>
                </a:solidFill>
                <a:sym typeface="+mn-ea"/>
              </a:rPr>
              <a:t>部署私有大模型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507490"/>
            <a:ext cx="97720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>
                <a:highlight>
                  <a:srgbClr val="FFFF00"/>
                </a:highlight>
              </a:rPr>
              <a:t>示例</a:t>
            </a:r>
            <a:r>
              <a:rPr lang="en-US" altLang="zh-CN">
                <a:highlight>
                  <a:srgbClr val="FFFF00"/>
                </a:highlight>
              </a:rPr>
              <a:t>1: </a:t>
            </a:r>
            <a:r>
              <a:rPr lang="zh-CN" altLang="en-US">
                <a:highlight>
                  <a:srgbClr val="FFFF00"/>
                </a:highlight>
              </a:rPr>
              <a:t>部署</a:t>
            </a:r>
            <a:r>
              <a:rPr lang="en-US" altLang="zh-CN">
                <a:highlight>
                  <a:srgbClr val="FFFF00"/>
                </a:highlight>
              </a:rPr>
              <a:t>deepseek</a:t>
            </a:r>
            <a:r>
              <a:rPr lang="zh-CN" altLang="en-US">
                <a:highlight>
                  <a:srgbClr val="FFFF00"/>
                </a:highlight>
              </a:rPr>
              <a:t>大模型</a:t>
            </a:r>
            <a:endParaRPr lang="zh-CN" altLang="en-US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</a:pPr>
            <a:r>
              <a:rPr lang="zh-CN" altLang="en-US"/>
              <a:t>通过</a:t>
            </a:r>
            <a:r>
              <a:rPr lang="en-US" altLang="zh-CN">
                <a:hlinkClick r:id="rId1" action="ppaction://hlinkfile"/>
              </a:rPr>
              <a:t>https://ollama.com/library</a:t>
            </a:r>
            <a:r>
              <a:rPr lang="zh-CN" altLang="en-US"/>
              <a:t>查找要使用的模型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05" y="2493010"/>
            <a:ext cx="5755005" cy="3933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286125"/>
            <a:ext cx="4486275" cy="3032760"/>
          </a:xfrm>
          <a:prstGeom prst="rect">
            <a:avLst/>
          </a:prstGeom>
        </p:spPr>
      </p:pic>
      <p:pic>
        <p:nvPicPr>
          <p:cNvPr id="6" name="图片 5" descr="01 (5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olidFill>
                  <a:schemeClr val="tx1"/>
                </a:solidFill>
                <a:sym typeface="+mn-ea"/>
              </a:rPr>
              <a:t>基于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window</a:t>
            </a:r>
            <a:r>
              <a:rPr>
                <a:solidFill>
                  <a:schemeClr val="tx1"/>
                </a:solidFill>
                <a:sym typeface="+mn-ea"/>
              </a:rPr>
              <a:t>中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r>
              <a:rPr>
                <a:solidFill>
                  <a:schemeClr val="tx1"/>
                </a:solidFill>
                <a:sym typeface="+mn-ea"/>
              </a:rPr>
              <a:t>部署私有大模型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507490"/>
            <a:ext cx="97720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>
                <a:highlight>
                  <a:srgbClr val="FFFF00"/>
                </a:highlight>
              </a:rPr>
              <a:t>示例</a:t>
            </a:r>
            <a:r>
              <a:rPr lang="en-US" altLang="zh-CN">
                <a:highlight>
                  <a:srgbClr val="FFFF00"/>
                </a:highlight>
              </a:rPr>
              <a:t>2: </a:t>
            </a:r>
            <a:r>
              <a:rPr lang="zh-CN" altLang="en-US">
                <a:highlight>
                  <a:srgbClr val="FFFF00"/>
                </a:highlight>
              </a:rPr>
              <a:t>部署</a:t>
            </a:r>
            <a:r>
              <a:rPr lang="en-US" altLang="zh-CN">
                <a:highlight>
                  <a:srgbClr val="FFFF00"/>
                </a:highlight>
              </a:rPr>
              <a:t>qwen</a:t>
            </a:r>
            <a:r>
              <a:rPr lang="zh-CN" altLang="en-US">
                <a:highlight>
                  <a:srgbClr val="FFFF00"/>
                </a:highlight>
              </a:rPr>
              <a:t>大模型</a:t>
            </a:r>
            <a:endParaRPr lang="zh-CN" altLang="en-US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</a:pPr>
            <a:r>
              <a:rPr lang="zh-CN" altLang="en-US"/>
              <a:t>通过</a:t>
            </a:r>
            <a:r>
              <a:rPr lang="en-US" altLang="zh-CN">
                <a:hlinkClick r:id="rId1" action="ppaction://hlinkfile"/>
              </a:rPr>
              <a:t>https://ollama.com/library</a:t>
            </a:r>
            <a:r>
              <a:rPr lang="zh-CN" altLang="en-US"/>
              <a:t>查找要使用的模型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" y="2486660"/>
            <a:ext cx="6242050" cy="37693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665" y="3197225"/>
            <a:ext cx="4234180" cy="2707005"/>
          </a:xfrm>
          <a:prstGeom prst="rect">
            <a:avLst/>
          </a:prstGeom>
        </p:spPr>
      </p:pic>
      <p:pic>
        <p:nvPicPr>
          <p:cNvPr id="4" name="图片 3" descr="01 (5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2950" y="5070475"/>
            <a:ext cx="1563370" cy="1563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olidFill>
                  <a:schemeClr val="tx1"/>
                </a:solidFill>
                <a:sym typeface="+mn-ea"/>
              </a:rPr>
              <a:t>基于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window</a:t>
            </a:r>
            <a:r>
              <a:rPr>
                <a:solidFill>
                  <a:schemeClr val="tx1"/>
                </a:solidFill>
                <a:sym typeface="+mn-ea"/>
              </a:rPr>
              <a:t>中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r>
              <a:rPr>
                <a:solidFill>
                  <a:schemeClr val="tx1"/>
                </a:solidFill>
                <a:sym typeface="+mn-ea"/>
              </a:rPr>
              <a:t>部署私有大模型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507490"/>
            <a:ext cx="97720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 b="1"/>
              <a:t>模型下载到哪里了</a:t>
            </a:r>
            <a:r>
              <a:rPr lang="en-US" altLang="zh-CN" b="1"/>
              <a:t>?</a:t>
            </a:r>
            <a:endParaRPr lang="zh-CN" altLang="en-US" b="1"/>
          </a:p>
          <a:p>
            <a:pPr>
              <a:buFont typeface="Arial" panose="020B0604020202020204" pitchFamily="34" charset="0"/>
            </a:pPr>
            <a:r>
              <a:rPr lang="zh-CN" altLang="en-US"/>
              <a:t>默认安装路径</a:t>
            </a:r>
            <a:r>
              <a:rPr lang="en-US" altLang="zh-CN"/>
              <a:t>: 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</a:rPr>
              <a:t>C:\Users\Lenovo\.ollama\models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 b="1"/>
          </a:p>
          <a:p>
            <a:pPr>
              <a:buFont typeface="Arial" panose="020B0604020202020204" pitchFamily="34" charset="0"/>
            </a:pPr>
            <a:endParaRPr lang="en-US" altLang="zh-CN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580" y="2800985"/>
            <a:ext cx="7670800" cy="2161540"/>
          </a:xfrm>
          <a:prstGeom prst="rect">
            <a:avLst/>
          </a:prstGeom>
        </p:spPr>
      </p:pic>
      <p:pic>
        <p:nvPicPr>
          <p:cNvPr id="6" name="图片 5" descr="01 (5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4205" y="4951730"/>
            <a:ext cx="1682115" cy="1682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b="1" dirty="0"/>
              <a:t>window</a:t>
            </a:r>
            <a:r>
              <a:rPr lang="zh-CN" altLang="en-US" sz="1600" b="1" dirty="0"/>
              <a:t>系统如何部署本地私有大模型？</a:t>
            </a:r>
            <a:endParaRPr lang="zh-CN" altLang="en-US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ym typeface="+mn-ea"/>
              </a:rPr>
              <a:t>1.</a:t>
            </a:r>
            <a:r>
              <a:rPr lang="zh-CN" altLang="en-US" sz="1600">
                <a:sym typeface="+mn-ea"/>
              </a:rPr>
              <a:t>先安装</a:t>
            </a:r>
            <a:r>
              <a:rPr lang="en-US" altLang="zh-CN" sz="1600">
                <a:sym typeface="+mn-ea"/>
              </a:rPr>
              <a:t>ollama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ym typeface="+mn-ea"/>
              </a:rPr>
              <a:t>2.</a:t>
            </a:r>
            <a:r>
              <a:rPr lang="zh-CN" altLang="en-US" sz="1600">
                <a:sym typeface="+mn-ea"/>
              </a:rPr>
              <a:t>终端里使用</a:t>
            </a:r>
            <a:r>
              <a:rPr lang="en-US" altLang="zh-CN" sz="1600">
                <a:sym typeface="+mn-ea"/>
              </a:rPr>
              <a:t>ollama</a:t>
            </a:r>
            <a:r>
              <a:rPr lang="zh-CN" altLang="en-US" sz="1600">
                <a:sym typeface="+mn-ea"/>
              </a:rPr>
              <a:t>命令安装大模型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26648" y="117504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/>
              <a:t>黑马智聊机器人私有大模型方案</a:t>
            </a:r>
            <a:endParaRPr lang="zh-CN" altLang="en-US" sz="1600" dirty="0"/>
          </a:p>
          <a:p>
            <a:pPr algn="l"/>
            <a:r>
              <a:rPr lang="en-US" altLang="zh-CN" sz="1600" dirty="0"/>
              <a:t>ollama</a:t>
            </a:r>
            <a:r>
              <a:rPr lang="zh-CN" altLang="en-US" sz="1600" dirty="0"/>
              <a:t>介绍和各版本下载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window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部署私有大模型</a:t>
            </a:r>
            <a:endParaRPr lang="zh-CN" altLang="en-US" sz="1600" dirty="0"/>
          </a:p>
          <a:p>
            <a:pPr algn="l"/>
            <a:r>
              <a:rPr lang="zh-CN" altLang="en-US" sz="1600" dirty="0">
                <a:solidFill>
                  <a:srgbClr val="AD2A26"/>
                </a:solidFill>
              </a:rPr>
              <a:t>基于</a:t>
            </a:r>
            <a:r>
              <a:rPr lang="en-US" altLang="zh-CN" sz="1600" dirty="0">
                <a:solidFill>
                  <a:srgbClr val="AD2A26"/>
                </a:solidFill>
              </a:rPr>
              <a:t>mac</a:t>
            </a:r>
            <a:r>
              <a:rPr lang="zh-CN" altLang="en-US" sz="1600" dirty="0">
                <a:solidFill>
                  <a:srgbClr val="AD2A26"/>
                </a:solidFill>
              </a:rPr>
              <a:t>中</a:t>
            </a:r>
            <a:r>
              <a:rPr lang="en-US" altLang="zh-CN" sz="1600" dirty="0">
                <a:solidFill>
                  <a:srgbClr val="AD2A26"/>
                </a:solidFill>
              </a:rPr>
              <a:t>ollama</a:t>
            </a:r>
            <a:r>
              <a:rPr lang="zh-CN" altLang="en-US" sz="1600" dirty="0">
                <a:solidFill>
                  <a:srgbClr val="AD2A26"/>
                </a:solidFill>
              </a:rPr>
              <a:t>部署</a:t>
            </a:r>
            <a:r>
              <a:rPr lang="zh-CN" altLang="en-US" sz="1600" dirty="0">
                <a:solidFill>
                  <a:srgbClr val="AD2A26"/>
                </a:solidFill>
                <a:sym typeface="+mn-ea"/>
              </a:rPr>
              <a:t>私有</a:t>
            </a:r>
            <a:r>
              <a:rPr lang="zh-CN" altLang="en-US" sz="1600" dirty="0">
                <a:solidFill>
                  <a:srgbClr val="AD2A26"/>
                </a:solidFill>
              </a:rPr>
              <a:t>大模型</a:t>
            </a:r>
            <a:endParaRPr lang="zh-CN" altLang="en-US" sz="1600" dirty="0">
              <a:solidFill>
                <a:srgbClr val="AD2A26"/>
              </a:solidFill>
            </a:endParaRPr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linux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</a:t>
            </a:r>
            <a:r>
              <a:rPr lang="zh-CN" altLang="en-US" sz="1600" dirty="0">
                <a:sym typeface="+mn-ea"/>
              </a:rPr>
              <a:t>私有</a:t>
            </a:r>
            <a:r>
              <a:rPr lang="zh-CN" altLang="en-US" sz="1600" dirty="0"/>
              <a:t>大模型</a:t>
            </a:r>
            <a:endParaRPr lang="zh-CN" altLang="en-US" sz="1600" dirty="0"/>
          </a:p>
          <a:p>
            <a:pPr algn="l"/>
            <a:endParaRPr lang="zh-CN" altLang="en-US" sz="1600" dirty="0"/>
          </a:p>
          <a:p>
            <a:pPr algn="l"/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34890" y="1525905"/>
            <a:ext cx="6298565" cy="2513965"/>
          </a:xfrm>
        </p:spPr>
        <p:txBody>
          <a:bodyPr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掌握基于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mac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中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ollama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部署私有大模型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mac</a:t>
            </a:r>
            <a:r>
              <a:rPr>
                <a:solidFill>
                  <a:schemeClr val="tx1"/>
                </a:solidFill>
                <a:sym typeface="+mn-ea"/>
              </a:rPr>
              <a:t>系统安装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en-US" altLang="zh-CN"/>
              <a:t>1.</a:t>
            </a:r>
            <a:r>
              <a:rPr lang="zh-CN" altLang="en-US"/>
              <a:t>找提前下载好的</a:t>
            </a:r>
            <a:r>
              <a:rPr lang="en-US" altLang="zh-CN"/>
              <a:t>mac</a:t>
            </a:r>
            <a:r>
              <a:rPr lang="zh-CN" altLang="en-US"/>
              <a:t>版本</a:t>
            </a:r>
            <a:r>
              <a:rPr lang="en-US" altLang="zh-CN"/>
              <a:t>Ollama</a:t>
            </a:r>
            <a:r>
              <a:rPr lang="zh-CN" altLang="en-US"/>
              <a:t>安装包</a:t>
            </a:r>
            <a:r>
              <a:rPr lang="en-US" altLang="zh-CN"/>
              <a:t>,</a:t>
            </a:r>
            <a:r>
              <a:rPr lang="zh-CN" altLang="en-US"/>
              <a:t>安装即可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6980" y="2757805"/>
            <a:ext cx="3295650" cy="971550"/>
          </a:xfrm>
          <a:prstGeom prst="rect">
            <a:avLst/>
          </a:prstGeom>
        </p:spPr>
      </p:pic>
      <p:pic>
        <p:nvPicPr>
          <p:cNvPr id="6" name="图片 5" descr="01 (5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765" y="5104130"/>
            <a:ext cx="1519555" cy="15195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" y="2060575"/>
            <a:ext cx="5801360" cy="31502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120" y="2171700"/>
            <a:ext cx="5559425" cy="3150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en-US" altLang="zh-CN"/>
              <a:t>2.</a:t>
            </a:r>
            <a:r>
              <a:rPr lang="zh-CN" altLang="en-US"/>
              <a:t>打开终端</a:t>
            </a:r>
            <a:r>
              <a:rPr lang="en-US" altLang="zh-CN"/>
              <a:t>,</a:t>
            </a:r>
            <a:r>
              <a:rPr lang="zh-CN" altLang="en-US"/>
              <a:t>输入</a:t>
            </a:r>
            <a:r>
              <a:rPr lang="en-US" altLang="zh-CN"/>
              <a:t>ollama -v</a:t>
            </a:r>
            <a:r>
              <a:rPr lang="zh-CN" altLang="en-US"/>
              <a:t>命令查看是否安装成功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4255" y="2813685"/>
            <a:ext cx="3295650" cy="971550"/>
          </a:xfrm>
          <a:prstGeom prst="rect">
            <a:avLst/>
          </a:prstGeom>
        </p:spPr>
      </p:pic>
      <p:pic>
        <p:nvPicPr>
          <p:cNvPr id="6" name="图片 5" descr="01 (5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530" y="4874895"/>
            <a:ext cx="1748790" cy="17487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2125980"/>
            <a:ext cx="4834890" cy="34334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300" y="2125980"/>
            <a:ext cx="5835015" cy="3433445"/>
          </a:xfrm>
          <a:prstGeom prst="rect">
            <a:avLst/>
          </a:prstGeom>
        </p:spPr>
      </p:pic>
      <p:sp>
        <p:nvSpPr>
          <p:cNvPr id="9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  <a:sym typeface="+mn-ea"/>
              </a:rPr>
              <a:t>mac</a:t>
            </a:r>
            <a:r>
              <a:rPr>
                <a:solidFill>
                  <a:schemeClr val="tx1"/>
                </a:solidFill>
                <a:sym typeface="+mn-ea"/>
              </a:rPr>
              <a:t>系统安装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endParaRPr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 altLang="en-US">
                <a:highlight>
                  <a:srgbClr val="FFFF00"/>
                </a:highlight>
                <a:sym typeface="+mn-ea"/>
              </a:rPr>
              <a:t>示例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1: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部署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deepseek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大模型</a:t>
            </a:r>
            <a:endParaRPr lang="zh-CN" altLang="en-US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  <a:hlinkClick r:id="rId1" action="ppaction://hlinkfile"/>
              </a:rPr>
              <a:t>https://ollama.com/library</a:t>
            </a:r>
            <a:r>
              <a:rPr lang="zh-CN" altLang="en-US">
                <a:sym typeface="+mn-ea"/>
              </a:rPr>
              <a:t>查找要使用的模型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534285"/>
            <a:ext cx="4844415" cy="32124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2534285"/>
            <a:ext cx="5854700" cy="3341370"/>
          </a:xfrm>
          <a:prstGeom prst="rect">
            <a:avLst/>
          </a:prstGeom>
        </p:spPr>
      </p:pic>
      <p:sp>
        <p:nvSpPr>
          <p:cNvPr id="6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  <a:sym typeface="+mn-ea"/>
              </a:rPr>
              <a:t>mac</a:t>
            </a:r>
            <a:r>
              <a:rPr>
                <a:solidFill>
                  <a:schemeClr val="tx1"/>
                </a:solidFill>
                <a:sym typeface="+mn-ea"/>
              </a:rPr>
              <a:t>系统安装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endParaRPr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 altLang="en-US">
                <a:highlight>
                  <a:srgbClr val="FFFF00"/>
                </a:highlight>
                <a:sym typeface="+mn-ea"/>
              </a:rPr>
              <a:t>示例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2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: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部署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qwen2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大模型</a:t>
            </a:r>
            <a:endParaRPr lang="zh-CN" altLang="en-US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  <a:hlinkClick r:id="rId1" action="ppaction://hlinkfile"/>
              </a:rPr>
              <a:t>https://ollama.com/library</a:t>
            </a:r>
            <a:r>
              <a:rPr lang="zh-CN" altLang="en-US">
                <a:sym typeface="+mn-ea"/>
              </a:rPr>
              <a:t>查找要使用的模型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30" y="2466340"/>
            <a:ext cx="4758690" cy="34093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110" y="2466975"/>
            <a:ext cx="5798820" cy="3532505"/>
          </a:xfrm>
          <a:prstGeom prst="rect">
            <a:avLst/>
          </a:prstGeom>
        </p:spPr>
      </p:pic>
      <p:sp>
        <p:nvSpPr>
          <p:cNvPr id="6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chemeClr val="tx1"/>
                </a:solidFill>
                <a:sym typeface="+mn-ea"/>
              </a:rPr>
              <a:t>mac</a:t>
            </a:r>
            <a:r>
              <a:rPr>
                <a:solidFill>
                  <a:schemeClr val="tx1"/>
                </a:solidFill>
                <a:sym typeface="+mn-ea"/>
              </a:rPr>
              <a:t>系统安装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endParaRPr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mac</a:t>
            </a:r>
            <a:r>
              <a:rPr>
                <a:solidFill>
                  <a:schemeClr val="tx1"/>
                </a:solidFill>
                <a:sym typeface="+mn-ea"/>
              </a:rPr>
              <a:t>中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r>
              <a:rPr>
                <a:solidFill>
                  <a:schemeClr val="tx1"/>
                </a:solidFill>
                <a:sym typeface="+mn-ea"/>
              </a:rPr>
              <a:t>部署私有大模型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507490"/>
            <a:ext cx="97720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 b="1"/>
              <a:t>模型下载到哪里了</a:t>
            </a:r>
            <a:r>
              <a:rPr lang="en-US" altLang="zh-CN" b="1"/>
              <a:t>?</a:t>
            </a:r>
            <a:endParaRPr lang="zh-CN" altLang="en-US" b="1"/>
          </a:p>
          <a:p>
            <a:pPr>
              <a:buFont typeface="Arial" panose="020B0604020202020204" pitchFamily="34" charset="0"/>
            </a:pPr>
            <a:r>
              <a:rPr lang="zh-CN" altLang="en-US"/>
              <a:t>默认安装路径</a:t>
            </a:r>
            <a:r>
              <a:rPr lang="en-US" altLang="zh-CN"/>
              <a:t>:  ~/.ollama/models 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 b="1"/>
          </a:p>
          <a:p>
            <a:pPr>
              <a:buFont typeface="Arial" panose="020B0604020202020204" pitchFamily="34" charset="0"/>
            </a:pPr>
            <a:endParaRPr lang="en-US" altLang="zh-CN" b="1"/>
          </a:p>
        </p:txBody>
      </p:sp>
      <p:pic>
        <p:nvPicPr>
          <p:cNvPr id="6" name="图片 5" descr="01 (5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720" y="5252085"/>
            <a:ext cx="1371600" cy="1371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25" y="2595880"/>
            <a:ext cx="9315450" cy="334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b="1" dirty="0"/>
              <a:t>mac</a:t>
            </a:r>
            <a:r>
              <a:rPr lang="zh-CN" altLang="en-US" sz="1600" b="1" dirty="0"/>
              <a:t>系统如何部署本地私有大模型？</a:t>
            </a:r>
            <a:endParaRPr lang="zh-CN" altLang="en-US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ym typeface="+mn-ea"/>
              </a:rPr>
              <a:t>1.</a:t>
            </a:r>
            <a:r>
              <a:rPr lang="zh-CN" altLang="en-US" sz="1600">
                <a:sym typeface="+mn-ea"/>
              </a:rPr>
              <a:t>先安装</a:t>
            </a:r>
            <a:r>
              <a:rPr lang="en-US" altLang="zh-CN" sz="1600">
                <a:sym typeface="+mn-ea"/>
              </a:rPr>
              <a:t>ollama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ym typeface="+mn-ea"/>
              </a:rPr>
              <a:t>2.</a:t>
            </a:r>
            <a:r>
              <a:rPr lang="zh-CN" altLang="en-US" sz="1600">
                <a:sym typeface="+mn-ea"/>
              </a:rPr>
              <a:t>终端里使用</a:t>
            </a:r>
            <a:r>
              <a:rPr lang="en-US" altLang="zh-CN" sz="1600">
                <a:sym typeface="+mn-ea"/>
              </a:rPr>
              <a:t>ollama</a:t>
            </a:r>
            <a:r>
              <a:rPr lang="zh-CN" altLang="en-US" sz="1600">
                <a:sym typeface="+mn-ea"/>
              </a:rPr>
              <a:t>命令安装大模型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26648" y="117504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/>
              <a:t>黑马智聊机器人私有大模型方案</a:t>
            </a:r>
            <a:endParaRPr lang="zh-CN" altLang="en-US" sz="1600" dirty="0"/>
          </a:p>
          <a:p>
            <a:pPr algn="l"/>
            <a:r>
              <a:rPr lang="en-US" altLang="zh-CN" sz="1600" dirty="0"/>
              <a:t>ollama</a:t>
            </a:r>
            <a:r>
              <a:rPr lang="zh-CN" altLang="en-US" sz="1600" dirty="0"/>
              <a:t>介绍和各版本下载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window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部署私有大模型</a:t>
            </a:r>
            <a:endParaRPr lang="zh-CN" altLang="en-US" sz="1600" dirty="0"/>
          </a:p>
          <a:p>
            <a:pPr algn="l"/>
            <a:r>
              <a:rPr lang="zh-CN" altLang="en-US" sz="1600" dirty="0"/>
              <a:t>基于</a:t>
            </a:r>
            <a:r>
              <a:rPr lang="en-US" altLang="zh-CN" sz="1600" dirty="0"/>
              <a:t>mac</a:t>
            </a:r>
            <a:r>
              <a:rPr lang="zh-CN" altLang="en-US" sz="1600" dirty="0"/>
              <a:t>中</a:t>
            </a:r>
            <a:r>
              <a:rPr lang="en-US" altLang="zh-CN" sz="1600" dirty="0"/>
              <a:t>ollama</a:t>
            </a:r>
            <a:r>
              <a:rPr lang="zh-CN" altLang="en-US" sz="1600" dirty="0"/>
              <a:t>部署</a:t>
            </a:r>
            <a:r>
              <a:rPr lang="zh-CN" altLang="en-US" sz="1600" dirty="0">
                <a:sym typeface="+mn-ea"/>
              </a:rPr>
              <a:t>私有</a:t>
            </a:r>
            <a:r>
              <a:rPr lang="zh-CN" altLang="en-US" sz="1600" dirty="0"/>
              <a:t>大模型</a:t>
            </a:r>
            <a:endParaRPr lang="zh-CN" altLang="en-US" sz="1600" dirty="0"/>
          </a:p>
          <a:p>
            <a:pPr algn="l"/>
            <a:r>
              <a:rPr lang="zh-CN" altLang="en-US" sz="1600" dirty="0">
                <a:solidFill>
                  <a:srgbClr val="AD2A26"/>
                </a:solidFill>
              </a:rPr>
              <a:t>基于</a:t>
            </a:r>
            <a:r>
              <a:rPr lang="en-US" altLang="zh-CN" sz="1600" dirty="0">
                <a:solidFill>
                  <a:srgbClr val="AD2A26"/>
                </a:solidFill>
              </a:rPr>
              <a:t>linux</a:t>
            </a:r>
            <a:r>
              <a:rPr lang="zh-CN" altLang="en-US" sz="1600" dirty="0">
                <a:solidFill>
                  <a:srgbClr val="AD2A26"/>
                </a:solidFill>
              </a:rPr>
              <a:t>中</a:t>
            </a:r>
            <a:r>
              <a:rPr lang="en-US" altLang="zh-CN" sz="1600" dirty="0">
                <a:solidFill>
                  <a:srgbClr val="AD2A26"/>
                </a:solidFill>
              </a:rPr>
              <a:t>ollama</a:t>
            </a:r>
            <a:r>
              <a:rPr lang="zh-CN" altLang="en-US" sz="1600" dirty="0">
                <a:solidFill>
                  <a:srgbClr val="AD2A26"/>
                </a:solidFill>
              </a:rPr>
              <a:t>部署</a:t>
            </a:r>
            <a:r>
              <a:rPr lang="zh-CN" altLang="en-US" sz="1600" dirty="0">
                <a:solidFill>
                  <a:srgbClr val="AD2A26"/>
                </a:solidFill>
                <a:sym typeface="+mn-ea"/>
              </a:rPr>
              <a:t>私有</a:t>
            </a:r>
            <a:r>
              <a:rPr lang="zh-CN" altLang="en-US" sz="1600" dirty="0">
                <a:solidFill>
                  <a:srgbClr val="AD2A26"/>
                </a:solidFill>
              </a:rPr>
              <a:t>大模型</a:t>
            </a:r>
            <a:r>
              <a:rPr lang="en-US" altLang="zh-CN" sz="1600" dirty="0">
                <a:solidFill>
                  <a:srgbClr val="AD2A26"/>
                </a:solidFill>
              </a:rPr>
              <a:t>[</a:t>
            </a:r>
            <a:r>
              <a:rPr lang="zh-CN" altLang="en-US" sz="1600" dirty="0">
                <a:solidFill>
                  <a:srgbClr val="AD2A26"/>
                </a:solidFill>
              </a:rPr>
              <a:t>拓展</a:t>
            </a:r>
            <a:r>
              <a:rPr lang="en-US" altLang="zh-CN" sz="1600" dirty="0">
                <a:solidFill>
                  <a:srgbClr val="AD2A26"/>
                </a:solidFill>
              </a:rPr>
              <a:t>]</a:t>
            </a:r>
            <a:endParaRPr lang="zh-CN" altLang="en-US" sz="1600" dirty="0">
              <a:solidFill>
                <a:srgbClr val="AD2A26"/>
              </a:solidFill>
            </a:endParaRPr>
          </a:p>
          <a:p>
            <a:pPr algn="l"/>
            <a:endParaRPr lang="zh-CN" altLang="en-US" sz="1600" dirty="0"/>
          </a:p>
          <a:p>
            <a:pPr algn="l"/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34890" y="1525905"/>
            <a:ext cx="6298565" cy="2513965"/>
          </a:xfrm>
        </p:spPr>
        <p:txBody>
          <a:bodyPr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掌握基于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linux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中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ollama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部署私有大模型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linux</a:t>
            </a:r>
            <a:r>
              <a:rPr>
                <a:solidFill>
                  <a:schemeClr val="tx1"/>
                </a:solidFill>
                <a:sym typeface="+mn-ea"/>
              </a:rPr>
              <a:t>系统安装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en-US" altLang="zh-CN"/>
              <a:t>1.</a:t>
            </a:r>
            <a:r>
              <a:rPr lang="zh-CN" altLang="en-US"/>
              <a:t>客户端上传提前下载好的</a:t>
            </a:r>
            <a:r>
              <a:rPr lang="en-US" altLang="zh-CN"/>
              <a:t>ollama-linux-amd64.tgz</a:t>
            </a:r>
            <a:r>
              <a:rPr lang="zh-CN" altLang="en-US"/>
              <a:t>包到</a:t>
            </a:r>
            <a:r>
              <a:rPr lang="en-US" altLang="zh-CN"/>
              <a:t>linux</a:t>
            </a:r>
            <a:r>
              <a:rPr lang="zh-CN" altLang="en-US"/>
              <a:t>系统任意位置</a:t>
            </a:r>
            <a:r>
              <a:rPr lang="en-US" altLang="zh-CN"/>
              <a:t>,</a:t>
            </a:r>
            <a:r>
              <a:rPr lang="zh-CN" altLang="en-US"/>
              <a:t>比如</a:t>
            </a:r>
            <a:r>
              <a:rPr lang="en-US" altLang="zh-CN"/>
              <a:t>/root/resource</a:t>
            </a:r>
            <a:r>
              <a:rPr lang="zh-CN" altLang="en-US"/>
              <a:t>目录中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05" y="2300605"/>
            <a:ext cx="10114280" cy="3400425"/>
          </a:xfrm>
          <a:prstGeom prst="rect">
            <a:avLst/>
          </a:prstGeom>
        </p:spPr>
      </p:pic>
      <p:pic>
        <p:nvPicPr>
          <p:cNvPr id="4" name="图片 3" descr="01 (9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7230" y="5295900"/>
            <a:ext cx="1562100" cy="1562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linux</a:t>
            </a:r>
            <a:r>
              <a:rPr>
                <a:solidFill>
                  <a:schemeClr val="tx1"/>
                </a:solidFill>
                <a:sym typeface="+mn-ea"/>
              </a:rPr>
              <a:t>系统安装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en-US" altLang="zh-CN"/>
              <a:t>2.cd</a:t>
            </a:r>
            <a:r>
              <a:rPr lang="zh-CN" altLang="en-US"/>
              <a:t>进入</a:t>
            </a:r>
            <a:r>
              <a:rPr lang="en-US" altLang="zh-CN"/>
              <a:t>ollama-linux-amd64.tgz</a:t>
            </a:r>
            <a:r>
              <a:rPr lang="zh-CN" altLang="en-US"/>
              <a:t>包所在目录</a:t>
            </a:r>
            <a:r>
              <a:rPr lang="en-US" altLang="zh-CN"/>
              <a:t>,</a:t>
            </a:r>
            <a:r>
              <a:rPr lang="zh-CN" altLang="en-US"/>
              <a:t>使用</a:t>
            </a:r>
            <a:r>
              <a:rPr lang="en-US" altLang="zh-CN"/>
              <a:t>tar</a:t>
            </a:r>
            <a:r>
              <a:rPr lang="zh-CN" altLang="en-US"/>
              <a:t>解压到</a:t>
            </a:r>
            <a:r>
              <a:rPr lang="en-US" altLang="zh-CN"/>
              <a:t>/usr</a:t>
            </a:r>
            <a:r>
              <a:rPr lang="zh-CN" altLang="en-US"/>
              <a:t>目录即可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3.</a:t>
            </a:r>
            <a:r>
              <a:rPr lang="zh-CN" altLang="en-US"/>
              <a:t>解压之后，可以通过查看版本指令来验证是否安装成功</a:t>
            </a:r>
            <a:r>
              <a:rPr lang="en-US" altLang="zh-CN"/>
              <a:t>,(</a:t>
            </a:r>
            <a:r>
              <a:rPr lang="zh-CN" altLang="en-US"/>
              <a:t>此时有警告是正常的</a:t>
            </a:r>
            <a:r>
              <a:rPr lang="en-US" altLang="zh-CN"/>
              <a:t>,</a:t>
            </a:r>
            <a:r>
              <a:rPr lang="zh-CN" altLang="en-US"/>
              <a:t>后续配置完就正常了</a:t>
            </a:r>
            <a:r>
              <a:rPr lang="en-US" altLang="zh-CN"/>
              <a:t>)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40" y="2151380"/>
            <a:ext cx="9848215" cy="806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40" y="3956050"/>
            <a:ext cx="9848215" cy="1054100"/>
          </a:xfrm>
          <a:prstGeom prst="rect">
            <a:avLst/>
          </a:prstGeom>
        </p:spPr>
      </p:pic>
      <p:pic>
        <p:nvPicPr>
          <p:cNvPr id="6" name="图片 5" descr="01 (9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5030470"/>
            <a:ext cx="1827530" cy="1827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linux</a:t>
            </a:r>
            <a:r>
              <a:rPr>
                <a:solidFill>
                  <a:schemeClr val="tx1"/>
                </a:solidFill>
                <a:sym typeface="+mn-ea"/>
              </a:rPr>
              <a:t>系统安装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en-US" altLang="zh-CN"/>
              <a:t>4.</a:t>
            </a:r>
            <a:r>
              <a:rPr lang="zh-CN" altLang="en-US"/>
              <a:t>执行命令</a:t>
            </a:r>
            <a:r>
              <a:rPr lang="en-US" altLang="zh-CN"/>
              <a:t>vim /etc/systemd/system/ollama.service</a:t>
            </a:r>
            <a:r>
              <a:rPr lang="zh-CN" altLang="en-US"/>
              <a:t>，打开文件并把以下内容复制粘贴到文件中：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 sz="1000">
                <a:solidFill>
                  <a:schemeClr val="accent1"/>
                </a:solidFill>
              </a:rPr>
              <a:t>[Unit]</a:t>
            </a: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000">
                <a:solidFill>
                  <a:schemeClr val="accent1"/>
                </a:solidFill>
              </a:rPr>
              <a:t>Description=Ollama Service</a:t>
            </a: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000">
                <a:solidFill>
                  <a:schemeClr val="accent1"/>
                </a:solidFill>
              </a:rPr>
              <a:t>After=network-online.target</a:t>
            </a: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000">
                <a:solidFill>
                  <a:schemeClr val="accent1"/>
                </a:solidFill>
              </a:rPr>
              <a:t>[Service]</a:t>
            </a: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000">
                <a:solidFill>
                  <a:schemeClr val="accent1"/>
                </a:solidFill>
              </a:rPr>
              <a:t>ExecStart=/usr/bin/ollama serve</a:t>
            </a: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000">
                <a:solidFill>
                  <a:schemeClr val="accent1"/>
                </a:solidFill>
              </a:rPr>
              <a:t>User=root</a:t>
            </a: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000">
                <a:solidFill>
                  <a:schemeClr val="accent1"/>
                </a:solidFill>
              </a:rPr>
              <a:t>Group=root</a:t>
            </a: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000">
                <a:solidFill>
                  <a:schemeClr val="accent1"/>
                </a:solidFill>
              </a:rPr>
              <a:t>Restart=always</a:t>
            </a: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000">
                <a:solidFill>
                  <a:schemeClr val="accent1"/>
                </a:solidFill>
              </a:rPr>
              <a:t>RestartSec=3</a:t>
            </a: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000">
                <a:solidFill>
                  <a:schemeClr val="accent1"/>
                </a:solidFill>
              </a:rPr>
              <a:t>[Install]</a:t>
            </a: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000">
                <a:solidFill>
                  <a:schemeClr val="accent1"/>
                </a:solidFill>
              </a:rPr>
              <a:t>WantedBy=default.target</a:t>
            </a:r>
            <a:endParaRPr lang="en-US" altLang="zh-CN" sz="100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endParaRPr lang="en-US" altLang="zh-CN" sz="1000">
              <a:solidFill>
                <a:schemeClr val="accent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00" y="2116455"/>
            <a:ext cx="10693400" cy="5715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73430" y="2843530"/>
            <a:ext cx="3636645" cy="3441700"/>
          </a:xfrm>
          <a:prstGeom prst="rect">
            <a:avLst/>
          </a:prstGeom>
          <a:ln w="9525" cap="flat" cmpd="sng" algn="ctr">
            <a:solidFill>
              <a:srgbClr val="C00000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indent="0" fontAlgn="auto">
              <a:lnSpc>
                <a:spcPts val="1800"/>
              </a:lnSpc>
            </a:pPr>
            <a:endParaRPr lang="en-US" altLang="zh-CN" sz="1600" b="0" i="1">
              <a:solidFill>
                <a:srgbClr val="AAAAAA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4" name="图片 3" descr="01 (9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5030470"/>
            <a:ext cx="1827530" cy="1827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linux</a:t>
            </a:r>
            <a:r>
              <a:rPr>
                <a:solidFill>
                  <a:schemeClr val="tx1"/>
                </a:solidFill>
                <a:sym typeface="+mn-ea"/>
              </a:rPr>
              <a:t>系统安装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en-US" altLang="zh-CN"/>
              <a:t>5.</a:t>
            </a:r>
            <a:r>
              <a:rPr lang="zh-CN" altLang="en-US"/>
              <a:t>执行以下命令让服务生效</a:t>
            </a:r>
            <a:r>
              <a:rPr lang="en-US" altLang="zh-CN"/>
              <a:t>,</a:t>
            </a:r>
            <a:r>
              <a:rPr lang="zh-CN" altLang="en-US"/>
              <a:t>并设置开机自启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6.</a:t>
            </a:r>
            <a:r>
              <a:rPr lang="zh-CN" altLang="en-US"/>
              <a:t>启动</a:t>
            </a:r>
            <a:r>
              <a:rPr lang="en-US" altLang="zh-CN"/>
              <a:t>ollama</a:t>
            </a:r>
            <a:r>
              <a:rPr lang="zh-CN" altLang="en-US"/>
              <a:t>服务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7.</a:t>
            </a:r>
            <a:r>
              <a:rPr lang="zh-CN" altLang="en-US"/>
              <a:t>再次查看版本</a:t>
            </a:r>
            <a:r>
              <a:rPr lang="en-US" altLang="zh-CN"/>
              <a:t>,</a:t>
            </a:r>
            <a:r>
              <a:rPr lang="zh-CN" altLang="en-US"/>
              <a:t>会正常展示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 sz="100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190" y="2063750"/>
            <a:ext cx="10763250" cy="13652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75" y="4132580"/>
            <a:ext cx="10731500" cy="622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90" y="5464175"/>
            <a:ext cx="10674350" cy="812800"/>
          </a:xfrm>
          <a:prstGeom prst="rect">
            <a:avLst/>
          </a:prstGeom>
        </p:spPr>
      </p:pic>
      <p:pic>
        <p:nvPicPr>
          <p:cNvPr id="6" name="图片 5" descr="01 (99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800" y="5030470"/>
            <a:ext cx="1827530" cy="1827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olidFill>
                  <a:schemeClr val="tx1"/>
                </a:solidFill>
                <a:sym typeface="+mn-ea"/>
              </a:rPr>
              <a:t>基于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linux</a:t>
            </a:r>
            <a:r>
              <a:rPr>
                <a:solidFill>
                  <a:schemeClr val="tx1"/>
                </a:solidFill>
                <a:sym typeface="+mn-ea"/>
              </a:rPr>
              <a:t>中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r>
              <a:rPr>
                <a:solidFill>
                  <a:schemeClr val="tx1"/>
                </a:solidFill>
                <a:sym typeface="+mn-ea"/>
              </a:rPr>
              <a:t>部署私有大模型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507490"/>
            <a:ext cx="97720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>
                <a:highlight>
                  <a:srgbClr val="FFFF00"/>
                </a:highlight>
              </a:rPr>
              <a:t>示例</a:t>
            </a:r>
            <a:r>
              <a:rPr lang="en-US" altLang="zh-CN">
                <a:highlight>
                  <a:srgbClr val="FFFF00"/>
                </a:highlight>
              </a:rPr>
              <a:t>1: </a:t>
            </a:r>
            <a:r>
              <a:rPr lang="zh-CN" altLang="en-US">
                <a:highlight>
                  <a:srgbClr val="FFFF00"/>
                </a:highlight>
              </a:rPr>
              <a:t>部署</a:t>
            </a:r>
            <a:r>
              <a:rPr lang="en-US" altLang="zh-CN">
                <a:highlight>
                  <a:srgbClr val="FFFF00"/>
                </a:highlight>
              </a:rPr>
              <a:t>deepseek</a:t>
            </a:r>
            <a:r>
              <a:rPr lang="zh-CN" altLang="en-US">
                <a:highlight>
                  <a:srgbClr val="FFFF00"/>
                </a:highlight>
              </a:rPr>
              <a:t>大模型</a:t>
            </a:r>
            <a:endParaRPr lang="zh-CN" altLang="en-US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</a:pPr>
            <a:r>
              <a:rPr lang="zh-CN" altLang="en-US"/>
              <a:t>通过</a:t>
            </a:r>
            <a:r>
              <a:rPr lang="en-US" altLang="zh-CN">
                <a:hlinkClick r:id="rId1" action="ppaction://hlinkfile"/>
              </a:rPr>
              <a:t>https://ollama.com/library</a:t>
            </a:r>
            <a:r>
              <a:rPr lang="zh-CN" altLang="en-US"/>
              <a:t>查找要使用的模型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05" y="2493010"/>
            <a:ext cx="5755005" cy="3933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30" y="3903345"/>
            <a:ext cx="4429125" cy="2313940"/>
          </a:xfrm>
          <a:prstGeom prst="rect">
            <a:avLst/>
          </a:prstGeom>
        </p:spPr>
      </p:pic>
      <p:pic>
        <p:nvPicPr>
          <p:cNvPr id="5" name="图片 4" descr="01 (99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800" y="5030470"/>
            <a:ext cx="1827530" cy="1827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olidFill>
                  <a:schemeClr val="tx1"/>
                </a:solidFill>
                <a:sym typeface="+mn-ea"/>
              </a:rPr>
              <a:t>基于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linux</a:t>
            </a:r>
            <a:r>
              <a:rPr>
                <a:solidFill>
                  <a:schemeClr val="tx1"/>
                </a:solidFill>
                <a:sym typeface="+mn-ea"/>
              </a:rPr>
              <a:t>中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r>
              <a:rPr>
                <a:solidFill>
                  <a:schemeClr val="tx1"/>
                </a:solidFill>
                <a:sym typeface="+mn-ea"/>
              </a:rPr>
              <a:t>部署私有大模型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507490"/>
            <a:ext cx="97720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>
                <a:highlight>
                  <a:srgbClr val="FFFF00"/>
                </a:highlight>
              </a:rPr>
              <a:t>示例</a:t>
            </a:r>
            <a:r>
              <a:rPr lang="en-US" altLang="zh-CN">
                <a:highlight>
                  <a:srgbClr val="FFFF00"/>
                </a:highlight>
              </a:rPr>
              <a:t>2: </a:t>
            </a:r>
            <a:r>
              <a:rPr lang="zh-CN" altLang="en-US">
                <a:highlight>
                  <a:srgbClr val="FFFF00"/>
                </a:highlight>
              </a:rPr>
              <a:t>部署</a:t>
            </a:r>
            <a:r>
              <a:rPr lang="en-US" altLang="zh-CN">
                <a:highlight>
                  <a:srgbClr val="FFFF00"/>
                </a:highlight>
              </a:rPr>
              <a:t>qwen</a:t>
            </a:r>
            <a:r>
              <a:rPr lang="zh-CN" altLang="en-US">
                <a:highlight>
                  <a:srgbClr val="FFFF00"/>
                </a:highlight>
              </a:rPr>
              <a:t>大模型</a:t>
            </a:r>
            <a:endParaRPr lang="zh-CN" altLang="en-US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</a:pPr>
            <a:r>
              <a:rPr lang="zh-CN" altLang="en-US"/>
              <a:t>通过</a:t>
            </a:r>
            <a:r>
              <a:rPr lang="en-US" altLang="zh-CN">
                <a:hlinkClick r:id="rId1" action="ppaction://hlinkfile"/>
              </a:rPr>
              <a:t>https://ollama.com/library</a:t>
            </a:r>
            <a:r>
              <a:rPr lang="zh-CN" altLang="en-US"/>
              <a:t>查找要使用的模型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" y="2486660"/>
            <a:ext cx="6242050" cy="37693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535" y="3599815"/>
            <a:ext cx="4589145" cy="2289175"/>
          </a:xfrm>
          <a:prstGeom prst="rect">
            <a:avLst/>
          </a:prstGeom>
        </p:spPr>
      </p:pic>
      <p:pic>
        <p:nvPicPr>
          <p:cNvPr id="5" name="图片 4" descr="01 (99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4585" y="5600065"/>
            <a:ext cx="1202690" cy="1202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olidFill>
                  <a:schemeClr val="tx1"/>
                </a:solidFill>
                <a:sym typeface="+mn-ea"/>
              </a:rPr>
              <a:t>基于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linux</a:t>
            </a:r>
            <a:r>
              <a:rPr>
                <a:solidFill>
                  <a:schemeClr val="tx1"/>
                </a:solidFill>
                <a:sym typeface="+mn-ea"/>
              </a:rPr>
              <a:t>中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r>
              <a:rPr>
                <a:solidFill>
                  <a:schemeClr val="tx1"/>
                </a:solidFill>
                <a:sym typeface="+mn-ea"/>
              </a:rPr>
              <a:t>部署私有大模型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507490"/>
            <a:ext cx="97720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 b="1"/>
              <a:t>模型下载到哪里了</a:t>
            </a:r>
            <a:r>
              <a:rPr lang="en-US" altLang="zh-CN" b="1"/>
              <a:t>?</a:t>
            </a:r>
            <a:endParaRPr lang="zh-CN" altLang="en-US" b="1"/>
          </a:p>
          <a:p>
            <a:pPr>
              <a:buFont typeface="Arial" panose="020B0604020202020204" pitchFamily="34" charset="0"/>
            </a:pPr>
            <a:r>
              <a:rPr lang="zh-CN" altLang="en-US"/>
              <a:t>默认安装路径</a:t>
            </a:r>
            <a:r>
              <a:rPr lang="en-US" altLang="zh-CN"/>
              <a:t>: </a:t>
            </a:r>
            <a:r>
              <a:rPr lang="en-US" altLang="zh-CN">
                <a:highlight>
                  <a:srgbClr val="FFFF00"/>
                </a:highlight>
              </a:rPr>
              <a:t>/root/.ollama/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</a:rPr>
              <a:t>models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 b="1"/>
          </a:p>
          <a:p>
            <a:pPr>
              <a:buFont typeface="Arial" panose="020B0604020202020204" pitchFamily="34" charset="0"/>
            </a:pPr>
            <a:endParaRPr lang="en-US" altLang="zh-CN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785" y="2740660"/>
            <a:ext cx="6991350" cy="3028950"/>
          </a:xfrm>
          <a:prstGeom prst="rect">
            <a:avLst/>
          </a:prstGeom>
        </p:spPr>
      </p:pic>
      <p:pic>
        <p:nvPicPr>
          <p:cNvPr id="6" name="图片 5" descr="01 (9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5030470"/>
            <a:ext cx="1827530" cy="1827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b="1" dirty="0"/>
              <a:t>linux</a:t>
            </a:r>
            <a:r>
              <a:rPr lang="zh-CN" altLang="en-US" sz="1600" b="1" dirty="0"/>
              <a:t>系统如何部署本地私有大模型？</a:t>
            </a:r>
            <a:endParaRPr lang="zh-CN" altLang="en-US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ym typeface="+mn-ea"/>
              </a:rPr>
              <a:t>1.</a:t>
            </a:r>
            <a:r>
              <a:rPr lang="zh-CN" altLang="en-US" sz="1600">
                <a:sym typeface="+mn-ea"/>
              </a:rPr>
              <a:t>先安装</a:t>
            </a:r>
            <a:r>
              <a:rPr lang="en-US" altLang="zh-CN" sz="1600">
                <a:sym typeface="+mn-ea"/>
              </a:rPr>
              <a:t>ollama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ym typeface="+mn-ea"/>
              </a:rPr>
              <a:t>2.</a:t>
            </a:r>
            <a:r>
              <a:rPr lang="zh-CN" altLang="en-US" sz="1600">
                <a:sym typeface="+mn-ea"/>
              </a:rPr>
              <a:t>终端里使用</a:t>
            </a:r>
            <a:r>
              <a:rPr lang="en-US" altLang="zh-CN" sz="1600">
                <a:sym typeface="+mn-ea"/>
              </a:rPr>
              <a:t>ollama</a:t>
            </a:r>
            <a:r>
              <a:rPr lang="zh-CN" altLang="en-US" sz="1600">
                <a:sym typeface="+mn-ea"/>
              </a:rPr>
              <a:t>命令安装大模型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34890" y="1525905"/>
            <a:ext cx="6298565" cy="2513965"/>
          </a:xfrm>
        </p:spPr>
        <p:txBody>
          <a:bodyPr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学会开启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ollama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远程访问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linux</a:t>
            </a:r>
            <a:r>
              <a:rPr>
                <a:solidFill>
                  <a:schemeClr val="tx1"/>
                </a:solidFill>
                <a:sym typeface="+mn-ea"/>
              </a:rPr>
              <a:t>系统开启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r>
              <a:rPr>
                <a:solidFill>
                  <a:schemeClr val="tx1"/>
                </a:solidFill>
                <a:sym typeface="+mn-ea"/>
              </a:rPr>
              <a:t>远程访问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/>
              <a:t>为了在本机（</a:t>
            </a:r>
            <a:r>
              <a:rPr lang="en-US" altLang="zh-CN"/>
              <a:t>window</a:t>
            </a:r>
            <a:r>
              <a:rPr lang="zh-CN" altLang="en-US"/>
              <a:t>或者</a:t>
            </a:r>
            <a:r>
              <a:rPr lang="en-US" altLang="zh-CN"/>
              <a:t>mac</a:t>
            </a:r>
            <a:r>
              <a:rPr lang="zh-CN" altLang="en-US"/>
              <a:t>环境）中能远程访问虚拟机中的</a:t>
            </a:r>
            <a:r>
              <a:rPr lang="en-US" altLang="zh-CN"/>
              <a:t>Ollama</a:t>
            </a:r>
            <a:r>
              <a:rPr lang="zh-CN" altLang="en-US"/>
              <a:t>，我们需要先开通</a:t>
            </a:r>
            <a:r>
              <a:rPr lang="en-US" altLang="zh-CN"/>
              <a:t>Ollama</a:t>
            </a:r>
            <a:r>
              <a:rPr lang="zh-CN" altLang="en-US"/>
              <a:t>的远程访问权限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 b="1"/>
              <a:t>1.</a:t>
            </a:r>
            <a:r>
              <a:rPr lang="zh-CN" altLang="en-US" b="1"/>
              <a:t>添加环境变量</a:t>
            </a: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2568575"/>
            <a:ext cx="11080750" cy="3784600"/>
          </a:xfrm>
          <a:prstGeom prst="rect">
            <a:avLst/>
          </a:prstGeom>
        </p:spPr>
      </p:pic>
      <p:pic>
        <p:nvPicPr>
          <p:cNvPr id="5" name="图片 4" descr="01 (5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740" y="4894580"/>
            <a:ext cx="1750060" cy="1750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linux</a:t>
            </a:r>
            <a:r>
              <a:rPr>
                <a:solidFill>
                  <a:schemeClr val="tx1"/>
                </a:solidFill>
                <a:sym typeface="+mn-ea"/>
              </a:rPr>
              <a:t>系统开启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r>
              <a:rPr>
                <a:solidFill>
                  <a:schemeClr val="tx1"/>
                </a:solidFill>
                <a:sym typeface="+mn-ea"/>
              </a:rPr>
              <a:t>远程访问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/>
              <a:t>为了在本机（</a:t>
            </a:r>
            <a:r>
              <a:rPr lang="en-US" altLang="zh-CN"/>
              <a:t>window</a:t>
            </a:r>
            <a:r>
              <a:rPr lang="zh-CN" altLang="en-US"/>
              <a:t>或者</a:t>
            </a:r>
            <a:r>
              <a:rPr lang="en-US" altLang="zh-CN"/>
              <a:t>mac</a:t>
            </a:r>
            <a:r>
              <a:rPr lang="zh-CN" altLang="en-US"/>
              <a:t>环境）中能远程访问虚拟机中的</a:t>
            </a:r>
            <a:r>
              <a:rPr lang="en-US" altLang="zh-CN"/>
              <a:t>Ollama</a:t>
            </a:r>
            <a:r>
              <a:rPr lang="zh-CN" altLang="en-US"/>
              <a:t>，我们需要先开通</a:t>
            </a:r>
            <a:r>
              <a:rPr lang="en-US" altLang="zh-CN"/>
              <a:t>Ollama</a:t>
            </a:r>
            <a:r>
              <a:rPr lang="zh-CN" altLang="en-US"/>
              <a:t>的远程访问权限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 b="1"/>
              <a:t>2.</a:t>
            </a:r>
            <a:r>
              <a:rPr lang="zh-CN" altLang="en-US" b="1"/>
              <a:t>添加服务变量</a:t>
            </a: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45" y="2534285"/>
            <a:ext cx="6887210" cy="4140200"/>
          </a:xfrm>
          <a:prstGeom prst="rect">
            <a:avLst/>
          </a:prstGeom>
        </p:spPr>
      </p:pic>
      <p:pic>
        <p:nvPicPr>
          <p:cNvPr id="6" name="图片 5" descr="01 (4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515" y="4906010"/>
            <a:ext cx="1797685" cy="1797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linux</a:t>
            </a:r>
            <a:r>
              <a:rPr>
                <a:solidFill>
                  <a:schemeClr val="tx1"/>
                </a:solidFill>
                <a:sym typeface="+mn-ea"/>
              </a:rPr>
              <a:t>系统开启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ollama</a:t>
            </a:r>
            <a:r>
              <a:rPr>
                <a:solidFill>
                  <a:schemeClr val="tx1"/>
                </a:solidFill>
                <a:sym typeface="+mn-ea"/>
              </a:rPr>
              <a:t>远程访问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/>
              <a:t>为了后续在本机（</a:t>
            </a:r>
            <a:r>
              <a:rPr lang="en-US" altLang="zh-CN"/>
              <a:t>window</a:t>
            </a:r>
            <a:r>
              <a:rPr lang="zh-CN" altLang="en-US"/>
              <a:t>或者</a:t>
            </a:r>
            <a:r>
              <a:rPr lang="en-US" altLang="zh-CN"/>
              <a:t>mac</a:t>
            </a:r>
            <a:r>
              <a:rPr lang="zh-CN" altLang="en-US"/>
              <a:t>环境）中能远程访问虚拟机中的</a:t>
            </a:r>
            <a:r>
              <a:rPr lang="en-US" altLang="zh-CN"/>
              <a:t>Ollama</a:t>
            </a:r>
            <a:r>
              <a:rPr lang="zh-CN" altLang="en-US"/>
              <a:t>，我们可以提前开通</a:t>
            </a:r>
            <a:r>
              <a:rPr lang="en-US" altLang="zh-CN"/>
              <a:t>Ollama</a:t>
            </a:r>
            <a:r>
              <a:rPr lang="zh-CN" altLang="en-US"/>
              <a:t>的远程访问权限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 b="1"/>
              <a:t>3.</a:t>
            </a:r>
            <a:r>
              <a:rPr lang="zh-CN" altLang="en-US" b="1"/>
              <a:t>重新加载并重启服务</a:t>
            </a: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en-US" altLang="zh-CN" b="1"/>
          </a:p>
          <a:p>
            <a:pPr>
              <a:buFont typeface="Arial" panose="020B0604020202020204" pitchFamily="34" charset="0"/>
            </a:pPr>
            <a:r>
              <a:rPr lang="en-US" altLang="zh-CN" b="1"/>
              <a:t>4.</a:t>
            </a:r>
            <a:r>
              <a:rPr lang="zh-CN" altLang="en-US" b="1"/>
              <a:t>关闭防火墙</a:t>
            </a:r>
            <a:endParaRPr lang="zh-CN" altLang="en-US" b="1"/>
          </a:p>
          <a:p>
            <a:pPr>
              <a:buFont typeface="Arial" panose="020B0604020202020204" pitchFamily="34" charset="0"/>
            </a:pPr>
            <a:endParaRPr lang="en-US" altLang="zh-CN" b="1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265" y="2538730"/>
            <a:ext cx="11207750" cy="1631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65" y="5069840"/>
            <a:ext cx="11099800" cy="539750"/>
          </a:xfrm>
          <a:prstGeom prst="rect">
            <a:avLst/>
          </a:prstGeom>
        </p:spPr>
      </p:pic>
      <p:pic>
        <p:nvPicPr>
          <p:cNvPr id="4" name="图片 3" descr="01 (5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740" y="4894580"/>
            <a:ext cx="1750060" cy="1750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jFlMjg2MmYxODM4Yjk5ZDc5MGVmYjg0M2JjYjM0MTgifQ=="/>
  <p:tag name="KSO_WPP_MARK_KEY" val="216ea374-5a2a-4dbc-86e3-012f022b80e2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2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2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2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2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2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3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3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3841</Words>
  <Application>WPS 演示</Application>
  <PresentationFormat>宽屏</PresentationFormat>
  <Paragraphs>319</Paragraphs>
  <Slides>46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42</vt:i4>
      </vt:variant>
      <vt:variant>
        <vt:lpstr>幻灯片标题</vt:lpstr>
      </vt:variant>
      <vt:variant>
        <vt:i4>46</vt:i4>
      </vt:variant>
    </vt:vector>
  </HeadingPairs>
  <TitlesOfParts>
    <vt:vector size="110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华文楷体</vt:lpstr>
      <vt:lpstr>阿里巴巴普惠体 R</vt:lpstr>
      <vt:lpstr>Alibaba PuHuiTi Regular</vt:lpstr>
      <vt:lpstr>阿里巴巴普惠体 2.0 65 Medium</vt:lpstr>
      <vt:lpstr>Consolas</vt:lpstr>
      <vt:lpstr>纤黑体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3_学习目标</vt:lpstr>
      <vt:lpstr>4_学习目标</vt:lpstr>
      <vt:lpstr>5_学习目标</vt:lpstr>
      <vt:lpstr>6_学习目标</vt:lpstr>
      <vt:lpstr>7_学习目标</vt:lpstr>
      <vt:lpstr>1_正文设计方案</vt:lpstr>
      <vt:lpstr>8_学习目标</vt:lpstr>
      <vt:lpstr>9_学习目标</vt:lpstr>
      <vt:lpstr>10_学习目标</vt:lpstr>
      <vt:lpstr>2_正文设计方案</vt:lpstr>
      <vt:lpstr>11_学习目标</vt:lpstr>
      <vt:lpstr>12_学习目标</vt:lpstr>
      <vt:lpstr>13_学习目标</vt:lpstr>
      <vt:lpstr>14_学习目标</vt:lpstr>
      <vt:lpstr>15_学习目标</vt:lpstr>
      <vt:lpstr>3_正文设计方案</vt:lpstr>
      <vt:lpstr>16_学习目标</vt:lpstr>
      <vt:lpstr>17_学习目标</vt:lpstr>
      <vt:lpstr>18_学习目标</vt:lpstr>
      <vt:lpstr>19_学习目标</vt:lpstr>
      <vt:lpstr>20_学习目标</vt:lpstr>
      <vt:lpstr>21_学习目标</vt:lpstr>
      <vt:lpstr>22_学习目标</vt:lpstr>
      <vt:lpstr>23_学习目标</vt:lpstr>
      <vt:lpstr>24_学习目标</vt:lpstr>
      <vt:lpstr>25_学习目标</vt:lpstr>
      <vt:lpstr>26_学习目标</vt:lpstr>
      <vt:lpstr>27_学习目标</vt:lpstr>
      <vt:lpstr>28_学习目标</vt:lpstr>
      <vt:lpstr>29_学习目标</vt:lpstr>
      <vt:lpstr>30_学习目标</vt:lpstr>
      <vt:lpstr>31_学习目标</vt:lpstr>
      <vt:lpstr>32_学习目标</vt:lpstr>
      <vt:lpstr>黑马智聊机器人项目环境部署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1398</cp:revision>
  <dcterms:created xsi:type="dcterms:W3CDTF">2025-04-13T13:26:00Z</dcterms:created>
  <dcterms:modified xsi:type="dcterms:W3CDTF">2026-03-31T07:28:49Z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F9474AA414E5A7544BBBFB6775754B88_43</vt:lpwstr>
  </property>
  <property fmtid="{D5CDD505-2E9C-101B-9397-08002B2CF9AE}" pid="3" name="KSOProductBuildVer">
    <vt:lpwstr>2052-12.1.0.25225</vt:lpwstr>
  </property>
  <property fmtid="{D5CDD505-2E9C-101B-9397-08002B2CF9AE}" pid="4" name="commondata">
    <vt:lpwstr>eyJoZGlkIjoiMDAzZmIwZjU2YjM3ZmIyZjYxNWQ1NTViMjdhYzBlM2EifQ==</vt:lpwstr>
  </property>
</Properties>
</file>